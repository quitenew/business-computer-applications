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3"/>
  </p:notesMasterIdLst>
  <p:sldIdLst>
    <p:sldId id="2109" r:id="rId2"/>
    <p:sldId id="1754" r:id="rId3"/>
    <p:sldId id="2144" r:id="rId4"/>
    <p:sldId id="2167" r:id="rId5"/>
    <p:sldId id="2147" r:id="rId6"/>
    <p:sldId id="2168" r:id="rId7"/>
    <p:sldId id="2148" r:id="rId8"/>
    <p:sldId id="2169" r:id="rId9"/>
    <p:sldId id="2158" r:id="rId10"/>
    <p:sldId id="2186" r:id="rId11"/>
    <p:sldId id="2150" r:id="rId12"/>
    <p:sldId id="2175" r:id="rId13"/>
    <p:sldId id="2176" r:id="rId14"/>
    <p:sldId id="2177" r:id="rId15"/>
    <p:sldId id="2178" r:id="rId16"/>
    <p:sldId id="2179" r:id="rId17"/>
    <p:sldId id="2180" r:id="rId18"/>
    <p:sldId id="2181" r:id="rId19"/>
    <p:sldId id="2185" r:id="rId20"/>
    <p:sldId id="2103" r:id="rId21"/>
    <p:sldId id="210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32"/>
    <a:srgbClr val="D80EC0"/>
    <a:srgbClr val="FAB4E8"/>
    <a:srgbClr val="B40CA0"/>
    <a:srgbClr val="EBEB79"/>
    <a:srgbClr val="E16519"/>
    <a:srgbClr val="F2802A"/>
    <a:srgbClr val="FAD35B"/>
    <a:srgbClr val="517BA9"/>
    <a:srgbClr val="F77D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544" autoAdjust="0"/>
    <p:restoredTop sz="93673" autoAdjust="0"/>
  </p:normalViewPr>
  <p:slideViewPr>
    <p:cSldViewPr>
      <p:cViewPr varScale="1">
        <p:scale>
          <a:sx n="65" d="100"/>
          <a:sy n="65" d="100"/>
        </p:scale>
        <p:origin x="1016" y="60"/>
      </p:cViewPr>
      <p:guideLst>
        <p:guide orient="horz" pos="2160"/>
        <p:guide pos="2880"/>
      </p:guideLst>
    </p:cSldViewPr>
  </p:slideViewPr>
  <p:notesTextViewPr>
    <p:cViewPr>
      <p:scale>
        <a:sx n="1" d="1"/>
        <a:sy n="1" d="1"/>
      </p:scale>
      <p:origin x="0" y="0"/>
    </p:cViewPr>
  </p:notesTextViewPr>
  <p:sorterViewPr>
    <p:cViewPr varScale="1">
      <p:scale>
        <a:sx n="1" d="1"/>
        <a:sy n="1" d="1"/>
      </p:scale>
      <p:origin x="0" y="-3067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17AF0F-4442-42BF-B078-989F64832F36}" type="datetimeFigureOut">
              <a:rPr lang="en-US" smtClean="0"/>
              <a:pPr/>
              <a:t>9/9/2024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E1A061F-D6B6-40D9-9777-425CAAB91A12}" type="slidenum">
              <a:rPr lang="en-US" smtClean="0"/>
              <a:pPr/>
              <a:t>‹#›</a:t>
            </a:fld>
            <a:endParaRPr lang="en-US" dirty="0"/>
          </a:p>
        </p:txBody>
      </p:sp>
    </p:spTree>
    <p:extLst>
      <p:ext uri="{BB962C8B-B14F-4D97-AF65-F5344CB8AC3E}">
        <p14:creationId xmlns:p14="http://schemas.microsoft.com/office/powerpoint/2010/main" val="190597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913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67494"/>
            <a:ext cx="8229600" cy="1399032"/>
          </a:xfrm>
        </p:spPr>
        <p:txBody>
          <a:bodyPr/>
          <a:lstStyle/>
          <a:p>
            <a:r>
              <a:rPr kumimoji="0" lang="th-TH" smtClean="0"/>
              <a:t>คลิกเพื่อแก้ไขลักษณะชื่อเรื่องต้นแบบ</a:t>
            </a:r>
            <a:endParaRPr kumimoji="0" lang="en-US"/>
          </a:p>
        </p:txBody>
      </p:sp>
      <p:sp>
        <p:nvSpPr>
          <p:cNvPr id="3" name="ตัวยึดเนื้อหา 2"/>
          <p:cNvSpPr>
            <a:spLocks noGrp="1"/>
          </p:cNvSpPr>
          <p:nvPr>
            <p:ph idx="1"/>
          </p:nvPr>
        </p:nvSpPr>
        <p:spPr>
          <a:xfrm>
            <a:off x="457200" y="1882808"/>
            <a:ext cx="8229600" cy="4572000"/>
          </a:xfrm>
        </p:spPr>
        <p:txBody>
          <a:bodyPr/>
          <a:lstStyle/>
          <a:p>
            <a:pPr lvl="0" eaLnBrk="1" latinLnBrk="0" hangingPunct="1"/>
            <a:r>
              <a:rPr lang="th-TH" smtClean="0"/>
              <a:t>คลิกเพื่อแก้ไขลักษณะของข้อความต้นแบบ</a:t>
            </a:r>
          </a:p>
          <a:p>
            <a:pPr lvl="1" eaLnBrk="1" latinLnBrk="0" hangingPunct="1"/>
            <a:r>
              <a:rPr lang="th-TH" smtClean="0"/>
              <a:t>ระดับที่สอง</a:t>
            </a:r>
          </a:p>
          <a:p>
            <a:pPr lvl="2" eaLnBrk="1" latinLnBrk="0" hangingPunct="1"/>
            <a:r>
              <a:rPr lang="th-TH" smtClean="0"/>
              <a:t>ระดับที่สาม</a:t>
            </a:r>
          </a:p>
          <a:p>
            <a:pPr lvl="3" eaLnBrk="1" latinLnBrk="0" hangingPunct="1"/>
            <a:r>
              <a:rPr lang="th-TH" smtClean="0"/>
              <a:t>ระดับที่สี่</a:t>
            </a:r>
          </a:p>
          <a:p>
            <a:pPr lvl="4" eaLnBrk="1" latinLnBrk="0" hangingPunct="1"/>
            <a:r>
              <a:rPr lang="th-TH" smtClean="0"/>
              <a:t>ระดับที่ห้า</a:t>
            </a:r>
            <a:endParaRPr kumimoji="0" lang="en-US"/>
          </a:p>
        </p:txBody>
      </p:sp>
      <p:sp>
        <p:nvSpPr>
          <p:cNvPr id="4" name="ตัวยึดวันที่ 3"/>
          <p:cNvSpPr>
            <a:spLocks noGrp="1"/>
          </p:cNvSpPr>
          <p:nvPr>
            <p:ph type="dt" sz="half" idx="10"/>
          </p:nvPr>
        </p:nvSpPr>
        <p:spPr>
          <a:xfrm>
            <a:off x="4791456" y="6480048"/>
            <a:ext cx="2133600" cy="301752"/>
          </a:xfrm>
        </p:spPr>
        <p:txBody>
          <a:bodyPr/>
          <a:lstStyle/>
          <a:p>
            <a:fld id="{B7C8B310-829C-4548-BECB-84206EE8B18D}" type="datetime1">
              <a:rPr lang="th-TH" smtClean="0"/>
              <a:pPr/>
              <a:t>09/09/67</a:t>
            </a:fld>
            <a:endParaRPr lang="th-TH"/>
          </a:p>
        </p:txBody>
      </p:sp>
      <p:sp>
        <p:nvSpPr>
          <p:cNvPr id="5" name="ตัวยึดท้ายกระดาษ 4"/>
          <p:cNvSpPr>
            <a:spLocks noGrp="1"/>
          </p:cNvSpPr>
          <p:nvPr>
            <p:ph type="ftr" sz="quarter" idx="11"/>
          </p:nvPr>
        </p:nvSpPr>
        <p:spPr>
          <a:xfrm>
            <a:off x="457200" y="6480969"/>
            <a:ext cx="4260056" cy="300831"/>
          </a:xfrm>
        </p:spPr>
        <p:txBody>
          <a:bodyPr/>
          <a:lstStyle/>
          <a:p>
            <a:endParaRPr lang="th-TH"/>
          </a:p>
        </p:txBody>
      </p:sp>
      <p:sp>
        <p:nvSpPr>
          <p:cNvPr id="6" name="ตัวยึดหมายเลขภาพนิ่ง 5"/>
          <p:cNvSpPr>
            <a:spLocks noGrp="1"/>
          </p:cNvSpPr>
          <p:nvPr>
            <p:ph type="sldNum" sz="quarter" idx="12"/>
          </p:nvPr>
        </p:nvSpPr>
        <p:spPr/>
        <p:txBody>
          <a:bodyPr/>
          <a:lstStyle/>
          <a:p>
            <a:fld id="{B2F4933C-246D-4C2D-BF23-31330A08DB85}" type="slidenum">
              <a:rPr lang="th-TH" smtClean="0"/>
              <a:pPr/>
              <a:t>‹#›</a:t>
            </a:fld>
            <a:endParaRPr lang="th-TH"/>
          </a:p>
        </p:txBody>
      </p:sp>
    </p:spTree>
    <p:extLst>
      <p:ext uri="{BB962C8B-B14F-4D97-AF65-F5344CB8AC3E}">
        <p14:creationId xmlns:p14="http://schemas.microsoft.com/office/powerpoint/2010/main" val="2024457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FA441A-F2C1-46D9-A35C-E2269C12AC96}"/>
              </a:ext>
            </a:extLst>
          </p:cNvPr>
          <p:cNvSpPr/>
          <p:nvPr userDrawn="1"/>
        </p:nvSpPr>
        <p:spPr>
          <a:xfrm>
            <a:off x="0" y="0"/>
            <a:ext cx="9144000" cy="980316"/>
          </a:xfrm>
          <a:prstGeom prst="rect">
            <a:avLst/>
          </a:prstGeom>
          <a:solidFill>
            <a:schemeClr val="bg1">
              <a:lumMod val="95000"/>
            </a:schemeClr>
          </a:solidFill>
          <a:ln>
            <a:noFill/>
          </a:ln>
          <a:effectLst/>
        </p:spPr>
        <p:txBody>
          <a:bodyPr lIns="24490" tIns="12245" rIns="24490" bIns="12245" anchor="ctr"/>
          <a:lstStyle/>
          <a:p>
            <a:pPr marL="48906" marR="0" lvl="0" indent="-48906" algn="just" defTabSz="167130" eaLnBrk="1" fontAlgn="base" latinLnBrk="0" hangingPunct="1">
              <a:lnSpc>
                <a:spcPts val="295"/>
              </a:lnSpc>
              <a:spcBef>
                <a:spcPct val="0"/>
              </a:spcBef>
              <a:spcAft>
                <a:spcPct val="0"/>
              </a:spcAft>
              <a:buClr>
                <a:srgbClr val="000000"/>
              </a:buClr>
              <a:buSzTx/>
              <a:buFont typeface="Wingdings 3" pitchFamily="18" charset="2"/>
              <a:buChar char="}"/>
              <a:tabLst/>
              <a:defRPr/>
            </a:pPr>
            <a:endParaRPr kumimoji="0" lang="en-US" sz="321" b="0" i="0" u="none" strike="noStrike" kern="0" cap="none" spc="0" normalizeH="0" baseline="0" noProof="0" dirty="0">
              <a:ln>
                <a:noFill/>
              </a:ln>
              <a:solidFill>
                <a:srgbClr val="FFFFFF"/>
              </a:solidFill>
              <a:effectLst/>
              <a:uLnTx/>
              <a:uFillTx/>
              <a:latin typeface="Arial" charset="0"/>
              <a:cs typeface="Times New Roman" pitchFamily="18" charset="0"/>
            </a:endParaRPr>
          </a:p>
        </p:txBody>
      </p:sp>
    </p:spTree>
    <p:extLst>
      <p:ext uri="{BB962C8B-B14F-4D97-AF65-F5344CB8AC3E}">
        <p14:creationId xmlns:p14="http://schemas.microsoft.com/office/powerpoint/2010/main" val="485703443"/>
      </p:ext>
    </p:extLst>
  </p:cSld>
  <p:clrMap bg1="lt1" tx1="dk1" bg2="lt2" tx2="dk2" accent1="accent1" accent2="accent2" accent3="accent3" accent4="accent4" accent5="accent5" accent6="accent6" hlink="hlink" folHlink="folHlink"/>
  <p:sldLayoutIdLst>
    <p:sldLayoutId id="2147483661" r:id="rId1"/>
    <p:sldLayoutId id="2147483705" r:id="rId2"/>
  </p:sldLayoutIdLst>
  <p:hf sldNum="0" hdr="0" ftr="0" dt="0"/>
  <p:txStyles>
    <p:title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p:titleStyle>
    <p:bodyStyle>
      <a:lvl1pPr marL="192496" indent="-192496" algn="l" defTabSz="957998" rtl="0" eaLnBrk="1" fontAlgn="base" hangingPunct="1">
        <a:spcBef>
          <a:spcPts val="300"/>
        </a:spcBef>
        <a:spcAft>
          <a:spcPts val="300"/>
        </a:spcAft>
        <a:buFont typeface="Arial" pitchFamily="34" charset="0"/>
        <a:buChar char="•"/>
        <a:tabLst/>
        <a:defRPr sz="1600">
          <a:solidFill>
            <a:schemeClr val="tx2"/>
          </a:solidFill>
          <a:latin typeface="+mn-lt"/>
          <a:ea typeface="+mn-ea"/>
          <a:cs typeface="+mn-cs"/>
        </a:defRPr>
      </a:lvl1pPr>
      <a:lvl2pPr marL="420803" indent="-219355" algn="l" defTabSz="957998" rtl="0" eaLnBrk="1" fontAlgn="base" hangingPunct="1">
        <a:spcBef>
          <a:spcPts val="300"/>
        </a:spcBef>
        <a:spcAft>
          <a:spcPts val="300"/>
        </a:spcAft>
        <a:buFont typeface="Arial" pitchFamily="34" charset="0"/>
        <a:buChar char="‒"/>
        <a:tabLst/>
        <a:defRPr sz="1400">
          <a:solidFill>
            <a:schemeClr val="tx2"/>
          </a:solidFill>
          <a:latin typeface="+mn-lt"/>
        </a:defRPr>
      </a:lvl2pPr>
      <a:lvl3pPr marL="622252" indent="-183542" algn="l" defTabSz="957998" rtl="0" eaLnBrk="1" fontAlgn="base" hangingPunct="1">
        <a:spcBef>
          <a:spcPts val="300"/>
        </a:spcBef>
        <a:spcAft>
          <a:spcPts val="300"/>
        </a:spcAft>
        <a:buFont typeface="Arial" pitchFamily="34" charset="0"/>
        <a:buChar char="‒"/>
        <a:tabLst/>
        <a:defRPr sz="1200">
          <a:solidFill>
            <a:schemeClr val="tx2"/>
          </a:solidFill>
          <a:latin typeface="+mn-lt"/>
        </a:defRPr>
      </a:lvl3pPr>
      <a:lvl4pPr marL="811761" indent="-193988" algn="l" defTabSz="957998" rtl="0" eaLnBrk="1" fontAlgn="base" hangingPunct="1">
        <a:spcBef>
          <a:spcPts val="300"/>
        </a:spcBef>
        <a:spcAft>
          <a:spcPts val="300"/>
        </a:spcAft>
        <a:buFont typeface="Arial" pitchFamily="34" charset="0"/>
        <a:buChar char="‒"/>
        <a:defRPr sz="1100">
          <a:solidFill>
            <a:schemeClr val="tx2"/>
          </a:solidFill>
          <a:latin typeface="+mn-lt"/>
        </a:defRPr>
      </a:lvl4pPr>
      <a:lvl5pPr marL="1002764" indent="-191002" algn="l" defTabSz="957998" rtl="0" eaLnBrk="1" fontAlgn="base" hangingPunct="1">
        <a:spcBef>
          <a:spcPts val="300"/>
        </a:spcBef>
        <a:spcAft>
          <a:spcPts val="300"/>
        </a:spcAft>
        <a:buFont typeface="Arial" pitchFamily="34" charset="0"/>
        <a:buChar char="‒"/>
        <a:defRPr sz="1100">
          <a:solidFill>
            <a:schemeClr val="tx2"/>
          </a:solidFill>
          <a:latin typeface="+mn-lt"/>
        </a:defRPr>
      </a:lvl5pPr>
      <a:lvl6pPr marL="1175860" indent="-180558" algn="l" defTabSz="957998" rtl="0" eaLnBrk="1" fontAlgn="base" hangingPunct="1">
        <a:spcBef>
          <a:spcPct val="0"/>
        </a:spcBef>
        <a:spcAft>
          <a:spcPts val="564"/>
        </a:spcAft>
        <a:buFont typeface="Arial" charset="0"/>
        <a:buChar char="‒"/>
        <a:defRPr sz="1500">
          <a:solidFill>
            <a:schemeClr val="tx2"/>
          </a:solidFill>
          <a:latin typeface="+mn-lt"/>
        </a:defRPr>
      </a:lvl6pPr>
      <a:lvl7pPr marL="1605616" indent="-180558" algn="l" defTabSz="957998" rtl="0" eaLnBrk="1" fontAlgn="base" hangingPunct="1">
        <a:spcBef>
          <a:spcPct val="0"/>
        </a:spcBef>
        <a:spcAft>
          <a:spcPts val="564"/>
        </a:spcAft>
        <a:buFont typeface="Arial" charset="0"/>
        <a:buChar char="‒"/>
        <a:defRPr sz="1500">
          <a:solidFill>
            <a:schemeClr val="tx2"/>
          </a:solidFill>
          <a:latin typeface="+mn-lt"/>
        </a:defRPr>
      </a:lvl7pPr>
      <a:lvl8pPr marL="2035372" indent="-180558" algn="l" defTabSz="957998" rtl="0" eaLnBrk="1" fontAlgn="base" hangingPunct="1">
        <a:spcBef>
          <a:spcPct val="0"/>
        </a:spcBef>
        <a:spcAft>
          <a:spcPts val="564"/>
        </a:spcAft>
        <a:buFont typeface="Arial" charset="0"/>
        <a:buChar char="‒"/>
        <a:defRPr sz="1500">
          <a:solidFill>
            <a:schemeClr val="tx2"/>
          </a:solidFill>
          <a:latin typeface="+mn-lt"/>
        </a:defRPr>
      </a:lvl8pPr>
      <a:lvl9pPr marL="2465128" indent="-180558" algn="l" defTabSz="957998" rtl="0" eaLnBrk="1" fontAlgn="base" hangingPunct="1">
        <a:spcBef>
          <a:spcPct val="0"/>
        </a:spcBef>
        <a:spcAft>
          <a:spcPts val="564"/>
        </a:spcAft>
        <a:buFont typeface="Arial" charset="0"/>
        <a:buChar char="‒"/>
        <a:defRPr sz="1500">
          <a:solidFill>
            <a:schemeClr val="tx2"/>
          </a:solidFill>
          <a:latin typeface="+mn-lt"/>
        </a:defRPr>
      </a:lvl9pPr>
    </p:bodyStyle>
    <p:otherStyle>
      <a:defPPr>
        <a:defRPr lang="en-US"/>
      </a:defPPr>
      <a:lvl1pPr marL="0" algn="l" defTabSz="859512" rtl="0" eaLnBrk="1" latinLnBrk="0" hangingPunct="1">
        <a:defRPr sz="1700" kern="1200">
          <a:solidFill>
            <a:schemeClr val="tx1"/>
          </a:solidFill>
          <a:latin typeface="+mn-lt"/>
          <a:ea typeface="+mn-ea"/>
          <a:cs typeface="+mn-cs"/>
        </a:defRPr>
      </a:lvl1pPr>
      <a:lvl2pPr marL="429756" algn="l" defTabSz="859512" rtl="0" eaLnBrk="1" latinLnBrk="0" hangingPunct="1">
        <a:defRPr sz="1700" kern="1200">
          <a:solidFill>
            <a:schemeClr val="tx1"/>
          </a:solidFill>
          <a:latin typeface="+mn-lt"/>
          <a:ea typeface="+mn-ea"/>
          <a:cs typeface="+mn-cs"/>
        </a:defRPr>
      </a:lvl2pPr>
      <a:lvl3pPr marL="859512" algn="l" defTabSz="859512" rtl="0" eaLnBrk="1" latinLnBrk="0" hangingPunct="1">
        <a:defRPr sz="1700" kern="1200">
          <a:solidFill>
            <a:schemeClr val="tx1"/>
          </a:solidFill>
          <a:latin typeface="+mn-lt"/>
          <a:ea typeface="+mn-ea"/>
          <a:cs typeface="+mn-cs"/>
        </a:defRPr>
      </a:lvl3pPr>
      <a:lvl4pPr marL="1289268" algn="l" defTabSz="859512" rtl="0" eaLnBrk="1" latinLnBrk="0" hangingPunct="1">
        <a:defRPr sz="1700" kern="1200">
          <a:solidFill>
            <a:schemeClr val="tx1"/>
          </a:solidFill>
          <a:latin typeface="+mn-lt"/>
          <a:ea typeface="+mn-ea"/>
          <a:cs typeface="+mn-cs"/>
        </a:defRPr>
      </a:lvl4pPr>
      <a:lvl5pPr marL="1719024" algn="l" defTabSz="859512" rtl="0" eaLnBrk="1" latinLnBrk="0" hangingPunct="1">
        <a:defRPr sz="1700" kern="1200">
          <a:solidFill>
            <a:schemeClr val="tx1"/>
          </a:solidFill>
          <a:latin typeface="+mn-lt"/>
          <a:ea typeface="+mn-ea"/>
          <a:cs typeface="+mn-cs"/>
        </a:defRPr>
      </a:lvl5pPr>
      <a:lvl6pPr marL="2148780" algn="l" defTabSz="859512" rtl="0" eaLnBrk="1" latinLnBrk="0" hangingPunct="1">
        <a:defRPr sz="1700" kern="1200">
          <a:solidFill>
            <a:schemeClr val="tx1"/>
          </a:solidFill>
          <a:latin typeface="+mn-lt"/>
          <a:ea typeface="+mn-ea"/>
          <a:cs typeface="+mn-cs"/>
        </a:defRPr>
      </a:lvl6pPr>
      <a:lvl7pPr marL="2578536" algn="l" defTabSz="859512" rtl="0" eaLnBrk="1" latinLnBrk="0" hangingPunct="1">
        <a:defRPr sz="1700" kern="1200">
          <a:solidFill>
            <a:schemeClr val="tx1"/>
          </a:solidFill>
          <a:latin typeface="+mn-lt"/>
          <a:ea typeface="+mn-ea"/>
          <a:cs typeface="+mn-cs"/>
        </a:defRPr>
      </a:lvl7pPr>
      <a:lvl8pPr marL="3008291" algn="l" defTabSz="859512" rtl="0" eaLnBrk="1" latinLnBrk="0" hangingPunct="1">
        <a:defRPr sz="1700" kern="1200">
          <a:solidFill>
            <a:schemeClr val="tx1"/>
          </a:solidFill>
          <a:latin typeface="+mn-lt"/>
          <a:ea typeface="+mn-ea"/>
          <a:cs typeface="+mn-cs"/>
        </a:defRPr>
      </a:lvl8pPr>
      <a:lvl9pPr marL="3438048" algn="l" defTabSz="859512"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slideboo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iVS-AuSjpOQ&amp;t=4s" TargetMode="External"/><Relationship Id="rId2" Type="http://schemas.openxmlformats.org/officeDocument/2006/relationships/hyperlink" Target="https://www.youtube.com/watch?v=Pl8OlkkwRpc" TargetMode="External"/><Relationship Id="rId1" Type="http://schemas.openxmlformats.org/officeDocument/2006/relationships/slideLayout" Target="../slideLayouts/slideLayout2.xml"/><Relationship Id="rId6" Type="http://schemas.openxmlformats.org/officeDocument/2006/relationships/hyperlink" Target="https://www.youtube.com/watch?v=20RgRQhBVik" TargetMode="External"/><Relationship Id="rId5" Type="http://schemas.openxmlformats.org/officeDocument/2006/relationships/hyperlink" Target="https://www.youtube.com/watch?v=wro3uoHR-ZY" TargetMode="External"/><Relationship Id="rId4" Type="http://schemas.openxmlformats.org/officeDocument/2006/relationships/hyperlink" Target="https://www.youtube.com/watch?v=0KOUzeE0h8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BF2711-4A0F-498C-90D2-8CFD2B263A94}"/>
              </a:ext>
            </a:extLst>
          </p:cNvPr>
          <p:cNvSpPr/>
          <p:nvPr/>
        </p:nvSpPr>
        <p:spPr>
          <a:xfrm>
            <a:off x="0" y="-22817"/>
            <a:ext cx="9144000" cy="3135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3" name="Rectangle 2">
            <a:hlinkClick r:id="rId2"/>
            <a:extLst>
              <a:ext uri="{FF2B5EF4-FFF2-40B4-BE49-F238E27FC236}">
                <a16:creationId xmlns:a16="http://schemas.microsoft.com/office/drawing/2014/main" id="{FD1865EF-0F65-48A6-AE05-15D009823A16}"/>
              </a:ext>
            </a:extLst>
          </p:cNvPr>
          <p:cNvSpPr/>
          <p:nvPr/>
        </p:nvSpPr>
        <p:spPr>
          <a:xfrm>
            <a:off x="0" y="3112706"/>
            <a:ext cx="9144000" cy="11544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 tIns="11430" rIns="22860" bIns="11430" numCol="1" spcCol="0" rtlCol="0" fromWordArt="0" anchor="ctr" anchorCtr="0" forceAA="0" compatLnSpc="1">
            <a:prstTxWarp prst="textNoShape">
              <a:avLst/>
            </a:prstTxWarp>
            <a:noAutofit/>
          </a:bodyPr>
          <a:lstStyle/>
          <a:p>
            <a:pPr algn="ctr" defTabSz="435356"/>
            <a:endParaRPr lang="en-US" sz="857" dirty="0">
              <a:solidFill>
                <a:prstClr val="white"/>
              </a:solidFill>
            </a:endParaRPr>
          </a:p>
        </p:txBody>
      </p:sp>
      <p:sp>
        <p:nvSpPr>
          <p:cNvPr id="4" name="TextBox 3">
            <a:extLst>
              <a:ext uri="{FF2B5EF4-FFF2-40B4-BE49-F238E27FC236}">
                <a16:creationId xmlns:a16="http://schemas.microsoft.com/office/drawing/2014/main" id="{407B1663-578C-4965-803E-6E8177F96AC7}"/>
              </a:ext>
            </a:extLst>
          </p:cNvPr>
          <p:cNvSpPr txBox="1"/>
          <p:nvPr/>
        </p:nvSpPr>
        <p:spPr>
          <a:xfrm>
            <a:off x="123864" y="3439180"/>
            <a:ext cx="8867736" cy="523220"/>
          </a:xfrm>
          <a:prstGeom prst="rect">
            <a:avLst/>
          </a:prstGeom>
          <a:noFill/>
        </p:spPr>
        <p:txBody>
          <a:bodyPr wrap="square" rtlCol="0">
            <a:spAutoFit/>
          </a:bodyPr>
          <a:lstStyle/>
          <a:p>
            <a:pPr defTabSz="435356"/>
            <a:r>
              <a:rPr lang="en-US" sz="2800" b="1" dirty="0" smtClean="0">
                <a:solidFill>
                  <a:schemeClr val="bg1"/>
                </a:solidFill>
                <a:latin typeface="Comic Sans MS" panose="030F0702030302020204" pitchFamily="66" charset="0"/>
              </a:rPr>
              <a:t>Industry 4.0 digital </a:t>
            </a:r>
            <a:r>
              <a:rPr lang="en-US" sz="2800" b="1" dirty="0" smtClean="0">
                <a:solidFill>
                  <a:schemeClr val="bg1"/>
                </a:solidFill>
                <a:latin typeface="Comic Sans MS" panose="030F0702030302020204" pitchFamily="66" charset="0"/>
              </a:rPr>
              <a:t>transformation </a:t>
            </a:r>
            <a:r>
              <a:rPr lang="en-US" sz="1600" b="1" i="1" dirty="0" smtClean="0">
                <a:solidFill>
                  <a:schemeClr val="bg1"/>
                </a:solidFill>
                <a:latin typeface="Comic Sans MS" panose="030F0702030302020204" pitchFamily="66" charset="0"/>
              </a:rPr>
              <a:t>– part II</a:t>
            </a:r>
            <a:endParaRPr lang="en-US" sz="1600" b="1" i="1" dirty="0" smtClean="0">
              <a:solidFill>
                <a:schemeClr val="bg1"/>
              </a:solidFill>
              <a:latin typeface="Comic Sans MS" panose="030F0702030302020204" pitchFamily="66" charset="0"/>
            </a:endParaRPr>
          </a:p>
        </p:txBody>
      </p:sp>
      <p:sp>
        <p:nvSpPr>
          <p:cNvPr id="6" name="TextBox 5">
            <a:extLst>
              <a:ext uri="{FF2B5EF4-FFF2-40B4-BE49-F238E27FC236}">
                <a16:creationId xmlns:a16="http://schemas.microsoft.com/office/drawing/2014/main" id="{DDFBAF2D-A175-44E7-9B43-AC97CDAEBEA6}"/>
              </a:ext>
            </a:extLst>
          </p:cNvPr>
          <p:cNvSpPr txBox="1"/>
          <p:nvPr/>
        </p:nvSpPr>
        <p:spPr>
          <a:xfrm>
            <a:off x="124648" y="597254"/>
            <a:ext cx="7876352" cy="461665"/>
          </a:xfrm>
          <a:prstGeom prst="rect">
            <a:avLst/>
          </a:prstGeom>
          <a:noFill/>
          <a:ln>
            <a:noFill/>
          </a:ln>
        </p:spPr>
        <p:txBody>
          <a:bodyPr wrap="square" rtlCol="0">
            <a:spAutoFit/>
          </a:bodyPr>
          <a:lstStyle/>
          <a:p>
            <a:pPr defTabSz="435356"/>
            <a:r>
              <a:rPr lang="en-US" sz="2400" b="1" dirty="0" smtClean="0">
                <a:solidFill>
                  <a:srgbClr val="002060"/>
                </a:solidFill>
              </a:rPr>
              <a:t>University American College Skopje</a:t>
            </a:r>
            <a:endParaRPr lang="en-US" sz="2400" b="1" dirty="0">
              <a:solidFill>
                <a:srgbClr val="002060"/>
              </a:solidFill>
            </a:endParaRPr>
          </a:p>
        </p:txBody>
      </p:sp>
      <p:sp>
        <p:nvSpPr>
          <p:cNvPr id="8" name="TextBox 7">
            <a:extLst>
              <a:ext uri="{FF2B5EF4-FFF2-40B4-BE49-F238E27FC236}">
                <a16:creationId xmlns:a16="http://schemas.microsoft.com/office/drawing/2014/main" id="{DDFBAF2D-A175-44E7-9B43-AC97CDAEBEA6}"/>
              </a:ext>
            </a:extLst>
          </p:cNvPr>
          <p:cNvSpPr txBox="1"/>
          <p:nvPr/>
        </p:nvSpPr>
        <p:spPr>
          <a:xfrm>
            <a:off x="124648" y="1448157"/>
            <a:ext cx="7876352" cy="369332"/>
          </a:xfrm>
          <a:prstGeom prst="rect">
            <a:avLst/>
          </a:prstGeom>
          <a:noFill/>
          <a:ln>
            <a:noFill/>
          </a:ln>
        </p:spPr>
        <p:txBody>
          <a:bodyPr wrap="square" rtlCol="0">
            <a:spAutoFit/>
          </a:bodyPr>
          <a:lstStyle/>
          <a:p>
            <a:pPr defTabSz="435356"/>
            <a:r>
              <a:rPr lang="en-US" b="1" dirty="0" smtClean="0">
                <a:solidFill>
                  <a:srgbClr val="002060"/>
                </a:solidFill>
              </a:rPr>
              <a:t>Course: Business </a:t>
            </a:r>
            <a:r>
              <a:rPr lang="en-US" b="1" smtClean="0">
                <a:solidFill>
                  <a:srgbClr val="002060"/>
                </a:solidFill>
              </a:rPr>
              <a:t>Computer Applications</a:t>
            </a:r>
            <a:endParaRPr lang="en-US" b="1" dirty="0">
              <a:solidFill>
                <a:srgbClr val="002060"/>
              </a:solidFill>
            </a:endParaRPr>
          </a:p>
        </p:txBody>
      </p:sp>
      <p:sp>
        <p:nvSpPr>
          <p:cNvPr id="9" name="TextBox 8">
            <a:extLst>
              <a:ext uri="{FF2B5EF4-FFF2-40B4-BE49-F238E27FC236}">
                <a16:creationId xmlns:a16="http://schemas.microsoft.com/office/drawing/2014/main" id="{DDFBAF2D-A175-44E7-9B43-AC97CDAEBEA6}"/>
              </a:ext>
            </a:extLst>
          </p:cNvPr>
          <p:cNvSpPr txBox="1"/>
          <p:nvPr/>
        </p:nvSpPr>
        <p:spPr>
          <a:xfrm>
            <a:off x="152032" y="5651956"/>
            <a:ext cx="7876352" cy="369332"/>
          </a:xfrm>
          <a:prstGeom prst="rect">
            <a:avLst/>
          </a:prstGeom>
          <a:noFill/>
          <a:ln>
            <a:noFill/>
          </a:ln>
        </p:spPr>
        <p:txBody>
          <a:bodyPr wrap="square" rtlCol="0">
            <a:spAutoFit/>
          </a:bodyPr>
          <a:lstStyle/>
          <a:p>
            <a:pPr defTabSz="435356"/>
            <a:r>
              <a:rPr lang="en-US" b="1" dirty="0" smtClean="0">
                <a:solidFill>
                  <a:schemeClr val="accent1">
                    <a:lumMod val="75000"/>
                  </a:schemeClr>
                </a:solidFill>
              </a:rPr>
              <a:t>Marija Stanojeska, PhD</a:t>
            </a:r>
            <a:endParaRPr lang="en-US" b="1" dirty="0" smtClean="0">
              <a:solidFill>
                <a:schemeClr val="accent1">
                  <a:lumMod val="75000"/>
                </a:schemeClr>
              </a:solidFill>
            </a:endParaRPr>
          </a:p>
        </p:txBody>
      </p:sp>
    </p:spTree>
    <p:extLst>
      <p:ext uri="{BB962C8B-B14F-4D97-AF65-F5344CB8AC3E}">
        <p14:creationId xmlns:p14="http://schemas.microsoft.com/office/powerpoint/2010/main" val="4083739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21416"/>
          <a:stretch/>
        </p:blipFill>
        <p:spPr>
          <a:xfrm>
            <a:off x="0" y="1988840"/>
            <a:ext cx="9144000" cy="3761309"/>
          </a:xfrm>
          <a:prstGeom prst="rect">
            <a:avLst/>
          </a:prstGeom>
        </p:spPr>
      </p:pic>
      <p:sp>
        <p:nvSpPr>
          <p:cNvPr id="2" name="Rectangle 1"/>
          <p:cNvSpPr/>
          <p:nvPr/>
        </p:nvSpPr>
        <p:spPr>
          <a:xfrm>
            <a:off x="719572" y="692696"/>
            <a:ext cx="7704856" cy="1169551"/>
          </a:xfrm>
          <a:prstGeom prst="rect">
            <a:avLst/>
          </a:prstGeom>
        </p:spPr>
        <p:txBody>
          <a:bodyPr wrap="square">
            <a:spAutoFit/>
          </a:bodyPr>
          <a:lstStyle/>
          <a:p>
            <a:pPr algn="ctr"/>
            <a:r>
              <a:rPr lang="en-US" sz="1400" dirty="0" smtClean="0">
                <a:solidFill>
                  <a:schemeClr val="accent1">
                    <a:lumMod val="75000"/>
                  </a:schemeClr>
                </a:solidFill>
              </a:rPr>
              <a:t>Based on the textbooks:</a:t>
            </a:r>
          </a:p>
          <a:p>
            <a:pPr algn="ctr"/>
            <a:endParaRPr lang="en-US" sz="1400" i="1" dirty="0" smtClean="0">
              <a:solidFill>
                <a:schemeClr val="accent1">
                  <a:lumMod val="75000"/>
                </a:schemeClr>
              </a:solidFill>
            </a:endParaRPr>
          </a:p>
          <a:p>
            <a:pPr algn="ctr"/>
            <a:r>
              <a:rPr lang="en-US" sz="1400" i="1" dirty="0" smtClean="0">
                <a:solidFill>
                  <a:schemeClr val="accent1">
                    <a:lumMod val="75000"/>
                  </a:schemeClr>
                </a:solidFill>
              </a:rPr>
              <a:t>Industry </a:t>
            </a:r>
            <a:r>
              <a:rPr lang="en-US" sz="1400" i="1" dirty="0">
                <a:solidFill>
                  <a:schemeClr val="accent1">
                    <a:lumMod val="75000"/>
                  </a:schemeClr>
                </a:solidFill>
              </a:rPr>
              <a:t>4.0: Managing </a:t>
            </a:r>
            <a:r>
              <a:rPr lang="en-US" sz="1400" i="1" dirty="0" smtClean="0">
                <a:solidFill>
                  <a:schemeClr val="accent1">
                    <a:lumMod val="75000"/>
                  </a:schemeClr>
                </a:solidFill>
              </a:rPr>
              <a:t>The Digital Transformation, </a:t>
            </a:r>
            <a:r>
              <a:rPr lang="en-US" sz="1400" i="1" dirty="0" err="1" smtClean="0">
                <a:solidFill>
                  <a:schemeClr val="accent1">
                    <a:lumMod val="75000"/>
                  </a:schemeClr>
                </a:solidFill>
              </a:rPr>
              <a:t>Ustundag</a:t>
            </a:r>
            <a:r>
              <a:rPr lang="en-US" sz="1400" i="1" dirty="0" smtClean="0">
                <a:solidFill>
                  <a:schemeClr val="accent1">
                    <a:lumMod val="75000"/>
                  </a:schemeClr>
                </a:solidFill>
              </a:rPr>
              <a:t> A., </a:t>
            </a:r>
            <a:r>
              <a:rPr lang="en-US" sz="1400" i="1" dirty="0" err="1" smtClean="0">
                <a:solidFill>
                  <a:schemeClr val="accent1">
                    <a:lumMod val="75000"/>
                  </a:schemeClr>
                </a:solidFill>
              </a:rPr>
              <a:t>Cevikcan</a:t>
            </a:r>
            <a:r>
              <a:rPr lang="en-US" sz="1400" i="1" dirty="0" smtClean="0">
                <a:solidFill>
                  <a:schemeClr val="accent1">
                    <a:lumMod val="75000"/>
                  </a:schemeClr>
                </a:solidFill>
              </a:rPr>
              <a:t> E.</a:t>
            </a:r>
            <a:endParaRPr lang="en-US" sz="1400" i="1" dirty="0">
              <a:solidFill>
                <a:schemeClr val="accent1">
                  <a:lumMod val="75000"/>
                </a:schemeClr>
              </a:solidFill>
            </a:endParaRPr>
          </a:p>
          <a:p>
            <a:pPr algn="ctr"/>
            <a:r>
              <a:rPr lang="en-US" sz="1400" i="1" dirty="0" smtClean="0">
                <a:solidFill>
                  <a:schemeClr val="accent1">
                    <a:lumMod val="75000"/>
                  </a:schemeClr>
                </a:solidFill>
              </a:rPr>
              <a:t>Industry </a:t>
            </a:r>
            <a:r>
              <a:rPr lang="en-US" sz="1400" i="1" dirty="0">
                <a:solidFill>
                  <a:schemeClr val="accent1">
                    <a:lumMod val="75000"/>
                  </a:schemeClr>
                </a:solidFill>
              </a:rPr>
              <a:t>4.0: The Industrial Internet of Things, Gilchrist A.</a:t>
            </a:r>
          </a:p>
          <a:p>
            <a:endParaRPr lang="en-US" sz="1400" dirty="0">
              <a:solidFill>
                <a:schemeClr val="accent1">
                  <a:lumMod val="75000"/>
                </a:schemeClr>
              </a:solidFill>
            </a:endParaRPr>
          </a:p>
        </p:txBody>
      </p:sp>
    </p:spTree>
    <p:extLst>
      <p:ext uri="{BB962C8B-B14F-4D97-AF65-F5344CB8AC3E}">
        <p14:creationId xmlns:p14="http://schemas.microsoft.com/office/powerpoint/2010/main" val="17366080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1613"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Augmented Reality - AR</a:t>
            </a:r>
          </a:p>
        </p:txBody>
      </p:sp>
      <p:sp>
        <p:nvSpPr>
          <p:cNvPr id="6" name="Rectangle 5"/>
          <p:cNvSpPr/>
          <p:nvPr/>
        </p:nvSpPr>
        <p:spPr>
          <a:xfrm>
            <a:off x="471948" y="1484784"/>
            <a:ext cx="8128819" cy="2785378"/>
          </a:xfrm>
          <a:prstGeom prst="rect">
            <a:avLst/>
          </a:prstGeom>
        </p:spPr>
        <p:txBody>
          <a:bodyPr wrap="square">
            <a:spAutoFit/>
          </a:bodyPr>
          <a:lstStyle/>
          <a:p>
            <a:pPr algn="just"/>
            <a:r>
              <a:rPr lang="en-US" sz="1400" dirty="0" smtClean="0">
                <a:solidFill>
                  <a:schemeClr val="accent1">
                    <a:lumMod val="75000"/>
                  </a:schemeClr>
                </a:solidFill>
              </a:rPr>
              <a:t>Augmented Reality (AR) </a:t>
            </a:r>
            <a:r>
              <a:rPr lang="en-US" sz="1400" dirty="0">
                <a:solidFill>
                  <a:schemeClr val="accent1">
                    <a:lumMod val="75000"/>
                  </a:schemeClr>
                </a:solidFill>
              </a:rPr>
              <a:t>is the technology that expands our physical world by adding layers of digital information onto it. AR appears in direct view of an existing environment and adds sounds, videos, graphics to it</a:t>
            </a:r>
            <a:r>
              <a:rPr lang="en-US" sz="1400" dirty="0" smtClean="0">
                <a:solidFill>
                  <a:schemeClr val="accent1">
                    <a:lumMod val="75000"/>
                  </a:schemeClr>
                </a:solidFill>
              </a:rPr>
              <a:t>.</a:t>
            </a:r>
          </a:p>
          <a:p>
            <a:pPr algn="just"/>
            <a:r>
              <a:rPr lang="en-US" sz="1400" dirty="0" smtClean="0">
                <a:solidFill>
                  <a:schemeClr val="accent1">
                    <a:lumMod val="75000"/>
                  </a:schemeClr>
                </a:solidFill>
              </a:rPr>
              <a:t>A wide application in different disciplines of this technology is notable.</a:t>
            </a:r>
          </a:p>
          <a:p>
            <a:pPr algn="just"/>
            <a:endParaRPr lang="en-US" sz="1400" dirty="0" smtClean="0">
              <a:solidFill>
                <a:schemeClr val="accent1">
                  <a:lumMod val="75000"/>
                </a:schemeClr>
              </a:solidFill>
            </a:endParaRPr>
          </a:p>
          <a:p>
            <a:pPr marL="742950" lvl="1" indent="-285750">
              <a:buFont typeface="Arial" panose="020B0604020202020204" pitchFamily="34" charset="0"/>
              <a:buChar char="•"/>
            </a:pPr>
            <a:r>
              <a:rPr lang="en-US" sz="1400" dirty="0" smtClean="0">
                <a:solidFill>
                  <a:schemeClr val="accent1">
                    <a:lumMod val="75000"/>
                  </a:schemeClr>
                </a:solidFill>
              </a:rPr>
              <a:t>Education </a:t>
            </a:r>
            <a:r>
              <a:rPr lang="en-US" sz="1400" dirty="0">
                <a:solidFill>
                  <a:schemeClr val="accent1">
                    <a:lumMod val="75000"/>
                  </a:schemeClr>
                </a:solidFill>
              </a:rPr>
              <a:t>&amp; </a:t>
            </a:r>
            <a:r>
              <a:rPr lang="en-US" sz="1400" dirty="0" smtClean="0">
                <a:solidFill>
                  <a:schemeClr val="accent1">
                    <a:lumMod val="75000"/>
                  </a:schemeClr>
                </a:solidFill>
              </a:rPr>
              <a:t>Science;</a:t>
            </a:r>
          </a:p>
          <a:p>
            <a:pPr marL="742950" lvl="1" indent="-285750">
              <a:buFont typeface="Arial" panose="020B0604020202020204" pitchFamily="34" charset="0"/>
              <a:buChar char="•"/>
            </a:pPr>
            <a:r>
              <a:rPr lang="en-US" sz="1400" dirty="0" smtClean="0">
                <a:solidFill>
                  <a:schemeClr val="accent1">
                    <a:lumMod val="75000"/>
                  </a:schemeClr>
                </a:solidFill>
              </a:rPr>
              <a:t>Navigation </a:t>
            </a:r>
            <a:r>
              <a:rPr lang="en-US" sz="1400" dirty="0">
                <a:solidFill>
                  <a:schemeClr val="accent1">
                    <a:lumMod val="75000"/>
                  </a:schemeClr>
                </a:solidFill>
              </a:rPr>
              <a:t>&amp; the Travel </a:t>
            </a:r>
            <a:r>
              <a:rPr lang="en-US" sz="1400" dirty="0" smtClean="0">
                <a:solidFill>
                  <a:schemeClr val="accent1">
                    <a:lumMod val="75000"/>
                  </a:schemeClr>
                </a:solidFill>
              </a:rPr>
              <a:t>Industry;</a:t>
            </a:r>
          </a:p>
          <a:p>
            <a:pPr marL="742950" lvl="1" indent="-285750">
              <a:buFont typeface="Arial" panose="020B0604020202020204" pitchFamily="34" charset="0"/>
              <a:buChar char="•"/>
            </a:pPr>
            <a:r>
              <a:rPr lang="en-US" sz="1400" dirty="0" smtClean="0">
                <a:solidFill>
                  <a:schemeClr val="accent1">
                    <a:lumMod val="75000"/>
                  </a:schemeClr>
                </a:solidFill>
              </a:rPr>
              <a:t>Retail </a:t>
            </a:r>
            <a:r>
              <a:rPr lang="en-US" sz="1400" dirty="0">
                <a:solidFill>
                  <a:schemeClr val="accent1">
                    <a:lumMod val="75000"/>
                  </a:schemeClr>
                </a:solidFill>
              </a:rPr>
              <a:t>&amp; </a:t>
            </a:r>
            <a:r>
              <a:rPr lang="en-US" sz="1400" dirty="0" smtClean="0">
                <a:solidFill>
                  <a:schemeClr val="accent1">
                    <a:lumMod val="75000"/>
                  </a:schemeClr>
                </a:solidFill>
              </a:rPr>
              <a:t>E-commerce;</a:t>
            </a:r>
          </a:p>
          <a:p>
            <a:pPr marL="742950" lvl="1" indent="-285750">
              <a:buFont typeface="Arial" panose="020B0604020202020204" pitchFamily="34" charset="0"/>
              <a:buChar char="•"/>
            </a:pPr>
            <a:r>
              <a:rPr lang="en-US" sz="1400" dirty="0" smtClean="0">
                <a:solidFill>
                  <a:schemeClr val="accent1">
                    <a:lumMod val="75000"/>
                  </a:schemeClr>
                </a:solidFill>
              </a:rPr>
              <a:t>Medicine;</a:t>
            </a:r>
            <a:endParaRPr lang="en-US" sz="1400" dirty="0">
              <a:solidFill>
                <a:schemeClr val="accent1">
                  <a:lumMod val="75000"/>
                </a:schemeClr>
              </a:solidFill>
            </a:endParaRPr>
          </a:p>
          <a:p>
            <a:pPr marL="742950" lvl="1" indent="-285750">
              <a:buFont typeface="Arial" panose="020B0604020202020204" pitchFamily="34" charset="0"/>
              <a:buChar char="•"/>
            </a:pPr>
            <a:r>
              <a:rPr lang="en-US" sz="1400" dirty="0" smtClean="0">
                <a:solidFill>
                  <a:schemeClr val="accent1">
                    <a:lumMod val="75000"/>
                  </a:schemeClr>
                </a:solidFill>
              </a:rPr>
              <a:t>Creative Industry;</a:t>
            </a:r>
          </a:p>
          <a:p>
            <a:pPr marL="742950" lvl="1" indent="-285750">
              <a:buFont typeface="Arial" panose="020B0604020202020204" pitchFamily="34" charset="0"/>
              <a:buChar char="•"/>
            </a:pPr>
            <a:r>
              <a:rPr lang="en-US" sz="1400" dirty="0" smtClean="0">
                <a:solidFill>
                  <a:schemeClr val="accent1">
                    <a:lumMod val="75000"/>
                  </a:schemeClr>
                </a:solidFill>
              </a:rPr>
              <a:t>Architecture;</a:t>
            </a:r>
          </a:p>
          <a:p>
            <a:pPr marL="742950" lvl="1" indent="-285750">
              <a:lnSpc>
                <a:spcPct val="150000"/>
              </a:lnSpc>
              <a:buFont typeface="Arial" panose="020B0604020202020204" pitchFamily="34" charset="0"/>
              <a:buChar char="•"/>
            </a:pPr>
            <a:r>
              <a:rPr lang="en-US" sz="1400" dirty="0" smtClean="0">
                <a:solidFill>
                  <a:schemeClr val="accent1">
                    <a:lumMod val="75000"/>
                  </a:schemeClr>
                </a:solidFill>
              </a:rPr>
              <a:t>……</a:t>
            </a:r>
            <a:endParaRPr lang="en-US" sz="1400" dirty="0">
              <a:solidFill>
                <a:schemeClr val="accent1">
                  <a:lumMod val="75000"/>
                </a:schemeClr>
              </a:solidFill>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pic>
        <p:nvPicPr>
          <p:cNvPr id="8" name="Picture 7">
            <a:extLst>
              <a:ext uri="{FF2B5EF4-FFF2-40B4-BE49-F238E27FC236}">
                <a16:creationId xmlns:a16="http://schemas.microsoft.com/office/drawing/2014/main" id="{A1F3E2BC-73FB-481C-A008-290B6EE5BDC7}"/>
              </a:ext>
            </a:extLst>
          </p:cNvPr>
          <p:cNvPicPr>
            <a:picLocks noChangeAspect="1"/>
          </p:cNvPicPr>
          <p:nvPr/>
        </p:nvPicPr>
        <p:blipFill>
          <a:blip r:embed="rId4"/>
          <a:stretch>
            <a:fillRect/>
          </a:stretch>
        </p:blipFill>
        <p:spPr>
          <a:xfrm>
            <a:off x="5584469" y="3379404"/>
            <a:ext cx="2943606" cy="27222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Rectangle 6"/>
          <p:cNvSpPr/>
          <p:nvPr/>
        </p:nvSpPr>
        <p:spPr>
          <a:xfrm>
            <a:off x="507599" y="4565446"/>
            <a:ext cx="5076870" cy="2031325"/>
          </a:xfrm>
          <a:prstGeom prst="rect">
            <a:avLst/>
          </a:prstGeom>
        </p:spPr>
        <p:txBody>
          <a:bodyPr wrap="square">
            <a:spAutoFit/>
          </a:bodyPr>
          <a:lstStyle/>
          <a:p>
            <a:r>
              <a:rPr lang="en-US" sz="1400" dirty="0">
                <a:solidFill>
                  <a:srgbClr val="C00000"/>
                </a:solidFill>
                <a:latin typeface="Comic Sans MS" panose="030F0702030302020204" pitchFamily="66" charset="0"/>
              </a:rPr>
              <a:t>Benefits of </a:t>
            </a:r>
            <a:r>
              <a:rPr lang="en-US" sz="1400" dirty="0" smtClean="0">
                <a:solidFill>
                  <a:srgbClr val="C00000"/>
                </a:solidFill>
                <a:latin typeface="Comic Sans MS" panose="030F0702030302020204" pitchFamily="66" charset="0"/>
              </a:rPr>
              <a:t>Augmented Reality </a:t>
            </a:r>
            <a:r>
              <a:rPr lang="en-US" sz="1400" dirty="0">
                <a:solidFill>
                  <a:srgbClr val="C00000"/>
                </a:solidFill>
                <a:latin typeface="Comic Sans MS" panose="030F0702030302020204" pitchFamily="66" charset="0"/>
              </a:rPr>
              <a:t>for </a:t>
            </a:r>
            <a:r>
              <a:rPr lang="en-US" sz="1400" dirty="0" smtClean="0">
                <a:solidFill>
                  <a:srgbClr val="C00000"/>
                </a:solidFill>
                <a:latin typeface="Comic Sans MS" panose="030F0702030302020204" pitchFamily="66" charset="0"/>
              </a:rPr>
              <a:t>business marketing</a:t>
            </a:r>
            <a:endParaRPr lang="en-US" sz="1400" dirty="0">
              <a:solidFill>
                <a:srgbClr val="C00000"/>
              </a:solidFill>
              <a:latin typeface="Comic Sans MS" panose="030F0702030302020204" pitchFamily="66" charset="0"/>
            </a:endParaRPr>
          </a:p>
          <a:p>
            <a:pPr>
              <a:buClr>
                <a:srgbClr val="F27E21"/>
              </a:buClr>
            </a:pPr>
            <a:endParaRPr lang="en-US" sz="1400" dirty="0">
              <a:solidFill>
                <a:srgbClr val="C00000"/>
              </a:solidFill>
              <a:latin typeface="Comic Sans MS" panose="030F0702030302020204" pitchFamily="66" charset="0"/>
            </a:endParaRPr>
          </a:p>
          <a:p>
            <a:pPr marL="742950" lvl="1"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Created </a:t>
            </a:r>
            <a:r>
              <a:rPr lang="en-US" sz="1400" dirty="0">
                <a:solidFill>
                  <a:schemeClr val="accent1">
                    <a:lumMod val="75000"/>
                  </a:schemeClr>
                </a:solidFill>
              </a:rPr>
              <a:t>a </a:t>
            </a:r>
            <a:r>
              <a:rPr lang="en-US" sz="1400" dirty="0" smtClean="0">
                <a:solidFill>
                  <a:schemeClr val="accent1">
                    <a:lumMod val="75000"/>
                  </a:schemeClr>
                </a:solidFill>
              </a:rPr>
              <a:t>rich </a:t>
            </a:r>
            <a:r>
              <a:rPr lang="en-US" sz="1400" dirty="0">
                <a:solidFill>
                  <a:schemeClr val="accent1">
                    <a:lumMod val="75000"/>
                  </a:schemeClr>
                </a:solidFill>
              </a:rPr>
              <a:t>and </a:t>
            </a:r>
            <a:r>
              <a:rPr lang="en-US" sz="1400" dirty="0" smtClean="0">
                <a:solidFill>
                  <a:schemeClr val="accent1">
                    <a:lumMod val="75000"/>
                  </a:schemeClr>
                </a:solidFill>
              </a:rPr>
              <a:t>immersive experience</a:t>
            </a:r>
            <a:r>
              <a:rPr lang="en-US" sz="1400" dirty="0">
                <a:solidFill>
                  <a:schemeClr val="accent1">
                    <a:lumMod val="75000"/>
                  </a:schemeClr>
                </a:solidFill>
              </a:rPr>
              <a:t>;</a:t>
            </a: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Growing i</a:t>
            </a:r>
            <a:r>
              <a:rPr lang="en-US" sz="1400" dirty="0" smtClean="0">
                <a:solidFill>
                  <a:schemeClr val="accent1">
                    <a:lumMod val="75000"/>
                  </a:schemeClr>
                </a:solidFill>
              </a:rPr>
              <a:t>ndustry;</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Bring the </a:t>
            </a:r>
            <a:r>
              <a:rPr lang="en-US" sz="1400" dirty="0" smtClean="0">
                <a:solidFill>
                  <a:schemeClr val="accent1">
                    <a:lumMod val="75000"/>
                  </a:schemeClr>
                </a:solidFill>
              </a:rPr>
              <a:t>store </a:t>
            </a:r>
            <a:r>
              <a:rPr lang="en-US" sz="1400" dirty="0">
                <a:solidFill>
                  <a:schemeClr val="accent1">
                    <a:lumMod val="75000"/>
                  </a:schemeClr>
                </a:solidFill>
              </a:rPr>
              <a:t>to the c</a:t>
            </a:r>
            <a:r>
              <a:rPr lang="en-US" sz="1400" dirty="0" smtClean="0">
                <a:solidFill>
                  <a:schemeClr val="accent1">
                    <a:lumMod val="75000"/>
                  </a:schemeClr>
                </a:solidFill>
              </a:rPr>
              <a:t>ustomer;</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Going </a:t>
            </a:r>
            <a:r>
              <a:rPr lang="en-US" sz="1400" dirty="0" smtClean="0">
                <a:solidFill>
                  <a:schemeClr val="accent1">
                    <a:lumMod val="75000"/>
                  </a:schemeClr>
                </a:solidFill>
              </a:rPr>
              <a:t>viral;</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a:solidFill>
                  <a:schemeClr val="accent1">
                    <a:lumMod val="75000"/>
                  </a:schemeClr>
                </a:solidFill>
              </a:rPr>
              <a:t>Reduce </a:t>
            </a:r>
            <a:r>
              <a:rPr lang="en-US" sz="1400" dirty="0" smtClean="0">
                <a:solidFill>
                  <a:schemeClr val="accent1">
                    <a:lumMod val="75000"/>
                  </a:schemeClr>
                </a:solidFill>
              </a:rPr>
              <a:t>language barriers;</a:t>
            </a:r>
            <a:endParaRPr lang="en-US" sz="1400" dirty="0">
              <a:solidFill>
                <a:schemeClr val="accent1">
                  <a:lumMod val="75000"/>
                </a:schemeClr>
              </a:solidFill>
            </a:endParaRPr>
          </a:p>
          <a:p>
            <a:pPr marL="742950" lvl="1"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Stand out from the rest;</a:t>
            </a:r>
          </a:p>
          <a:p>
            <a:pPr marL="742950" lvl="1"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Generate analytics.</a:t>
            </a:r>
            <a:endParaRPr lang="en-US" sz="1400" dirty="0">
              <a:solidFill>
                <a:schemeClr val="accent1">
                  <a:lumMod val="75000"/>
                </a:schemeClr>
              </a:solidFill>
            </a:endParaRPr>
          </a:p>
        </p:txBody>
      </p:sp>
    </p:spTree>
    <p:extLst>
      <p:ext uri="{BB962C8B-B14F-4D97-AF65-F5344CB8AC3E}">
        <p14:creationId xmlns:p14="http://schemas.microsoft.com/office/powerpoint/2010/main" val="30701013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Looking deeper into AR</a:t>
            </a:r>
            <a:endParaRPr lang="en-US" sz="1600" b="1" dirty="0">
              <a:solidFill>
                <a:schemeClr val="accent1">
                  <a:lumMod val="75000"/>
                </a:schemeClr>
              </a:solidFill>
              <a:latin typeface="Comic Sans MS" panose="030F0702030302020204" pitchFamily="66" charset="0"/>
              <a:cs typeface="Times New Roman" pitchFamily="18" charset="0"/>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3" name="Rectangle 2"/>
          <p:cNvSpPr/>
          <p:nvPr/>
        </p:nvSpPr>
        <p:spPr>
          <a:xfrm>
            <a:off x="513769" y="1268760"/>
            <a:ext cx="7992888" cy="2893100"/>
          </a:xfrm>
          <a:prstGeom prst="rect">
            <a:avLst/>
          </a:prstGeom>
        </p:spPr>
        <p:txBody>
          <a:bodyPr wrap="square">
            <a:spAutoFit/>
          </a:bodyPr>
          <a:lstStyle/>
          <a:p>
            <a:pPr algn="just"/>
            <a:r>
              <a:rPr lang="en-US" sz="1400" dirty="0">
                <a:solidFill>
                  <a:schemeClr val="accent1">
                    <a:lumMod val="75000"/>
                  </a:schemeClr>
                </a:solidFill>
              </a:rPr>
              <a:t>Augmented reality is an interactive experience in which a real world environment is enhanced with </a:t>
            </a:r>
            <a:r>
              <a:rPr lang="en-US" sz="1400" dirty="0" smtClean="0">
                <a:solidFill>
                  <a:schemeClr val="accent1">
                    <a:lumMod val="75000"/>
                  </a:schemeClr>
                </a:solidFill>
              </a:rPr>
              <a:t>computer-generated </a:t>
            </a:r>
            <a:r>
              <a:rPr lang="en-US" sz="1400" dirty="0">
                <a:solidFill>
                  <a:schemeClr val="accent1">
                    <a:lumMod val="75000"/>
                  </a:schemeClr>
                </a:solidFill>
              </a:rPr>
              <a:t>visual elements, sounds, and other stimuli. It can provide a user with a heightened, more immersive experience than they would experience otherwise that adds to the user's enjoyment or understanding. From a commercial perspective, augmented reality can increase brand awareness and boost sales</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dirty="0">
                <a:solidFill>
                  <a:schemeClr val="accent1">
                    <a:lumMod val="75000"/>
                  </a:schemeClr>
                </a:solidFill>
              </a:rPr>
              <a:t>Since augmented reality uses a real world environment in conjunction with computer-generated visual elements, it may be seen as more realistic than virtual reality, which is 100% computer-generated. However, advances in technology mean that even entirely virtual environments can seem fully realistic</a:t>
            </a:r>
            <a:r>
              <a:rPr lang="en-US" sz="1400" dirty="0" smtClean="0">
                <a:solidFill>
                  <a:schemeClr val="accent1">
                    <a:lumMod val="75000"/>
                  </a:schemeClr>
                </a:solidFill>
              </a:rPr>
              <a:t>.</a:t>
            </a:r>
          </a:p>
          <a:p>
            <a:pPr algn="just"/>
            <a:endParaRPr lang="en-US" sz="1400" dirty="0" smtClean="0">
              <a:solidFill>
                <a:schemeClr val="accent1">
                  <a:lumMod val="75000"/>
                </a:schemeClr>
              </a:solidFill>
            </a:endParaRPr>
          </a:p>
          <a:p>
            <a:pPr algn="just"/>
            <a:r>
              <a:rPr lang="en-US" sz="1400" dirty="0">
                <a:solidFill>
                  <a:schemeClr val="accent1">
                    <a:lumMod val="75000"/>
                  </a:schemeClr>
                </a:solidFill>
              </a:rPr>
              <a:t>The </a:t>
            </a:r>
            <a:r>
              <a:rPr lang="en-US" sz="1400" dirty="0" err="1">
                <a:solidFill>
                  <a:schemeClr val="accent1">
                    <a:lumMod val="75000"/>
                  </a:schemeClr>
                </a:solidFill>
              </a:rPr>
              <a:t>metaverse</a:t>
            </a:r>
            <a:r>
              <a:rPr lang="en-US" sz="1400" dirty="0">
                <a:solidFill>
                  <a:schemeClr val="accent1">
                    <a:lumMod val="75000"/>
                  </a:schemeClr>
                </a:solidFill>
              </a:rPr>
              <a:t> is a shared virtual environment with aspects of online gaming, augmented reality, and more that people can access via the </a:t>
            </a:r>
            <a:r>
              <a:rPr lang="en-US" sz="1400" dirty="0" smtClean="0">
                <a:solidFill>
                  <a:schemeClr val="accent1">
                    <a:lumMod val="75000"/>
                  </a:schemeClr>
                </a:solidFill>
              </a:rPr>
              <a:t>Internet.</a:t>
            </a:r>
            <a:endParaRPr lang="en-US" sz="1400" dirty="0">
              <a:solidFill>
                <a:schemeClr val="accent1">
                  <a:lumMod val="75000"/>
                </a:schemeClr>
              </a:solidFill>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32040" y="4437112"/>
            <a:ext cx="3384104" cy="2123525"/>
          </a:xfrm>
          <a:prstGeom prst="rect">
            <a:avLst/>
          </a:prstGeom>
        </p:spPr>
      </p:pic>
    </p:spTree>
    <p:extLst>
      <p:ext uri="{BB962C8B-B14F-4D97-AF65-F5344CB8AC3E}">
        <p14:creationId xmlns:p14="http://schemas.microsoft.com/office/powerpoint/2010/main" val="42713590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Big Data</a:t>
            </a:r>
          </a:p>
        </p:txBody>
      </p:sp>
      <p:sp>
        <p:nvSpPr>
          <p:cNvPr id="6" name="Rectangle 5"/>
          <p:cNvSpPr/>
          <p:nvPr/>
        </p:nvSpPr>
        <p:spPr>
          <a:xfrm>
            <a:off x="409906" y="1268760"/>
            <a:ext cx="8128819" cy="3323987"/>
          </a:xfrm>
          <a:prstGeom prst="rect">
            <a:avLst/>
          </a:prstGeom>
        </p:spPr>
        <p:txBody>
          <a:bodyPr wrap="square">
            <a:spAutoFit/>
          </a:bodyPr>
          <a:lstStyle/>
          <a:p>
            <a:r>
              <a:rPr lang="en-US" sz="1400" dirty="0">
                <a:solidFill>
                  <a:schemeClr val="accent1">
                    <a:lumMod val="75000"/>
                  </a:schemeClr>
                </a:solidFill>
              </a:rPr>
              <a:t>Big data is an evolving term that describes any voluminous amount of structured, semi structured and unstructured data that has the potential to be mined for information</a:t>
            </a:r>
            <a:r>
              <a:rPr lang="en-US" sz="1400" dirty="0" smtClean="0">
                <a:solidFill>
                  <a:schemeClr val="accent1">
                    <a:lumMod val="75000"/>
                  </a:schemeClr>
                </a:solidFill>
              </a:rPr>
              <a:t>. It is used for:</a:t>
            </a:r>
            <a:endParaRPr lang="en-US" sz="1400" dirty="0">
              <a:solidFill>
                <a:schemeClr val="accent1">
                  <a:lumMod val="75000"/>
                </a:schemeClr>
              </a:solidFill>
            </a:endParaRPr>
          </a:p>
          <a:p>
            <a:pPr marL="285750" indent="-285750" algn="just">
              <a:buClr>
                <a:schemeClr val="accent1">
                  <a:lumMod val="75000"/>
                </a:schemeClr>
              </a:buClr>
              <a:buFont typeface="Arial" panose="020B0604020202020204" pitchFamily="34" charset="0"/>
              <a:buChar char="•"/>
            </a:pPr>
            <a:endParaRPr lang="en-US" sz="1400" dirty="0" smtClean="0">
              <a:solidFill>
                <a:schemeClr val="accent1">
                  <a:lumMod val="75000"/>
                </a:schemeClr>
              </a:solidFill>
            </a:endParaRPr>
          </a:p>
          <a:p>
            <a:pPr marL="285750" indent="-285750">
              <a:buClr>
                <a:schemeClr val="accent1">
                  <a:lumMod val="75000"/>
                </a:schemeClr>
              </a:buClr>
              <a:buFont typeface="Arial" panose="020B0604020202020204" pitchFamily="34" charset="0"/>
              <a:buChar char="•"/>
            </a:pPr>
            <a:r>
              <a:rPr lang="en-US" sz="1400" dirty="0">
                <a:solidFill>
                  <a:schemeClr val="accent1">
                    <a:lumMod val="75000"/>
                  </a:schemeClr>
                </a:solidFill>
              </a:rPr>
              <a:t>Understanding and </a:t>
            </a:r>
            <a:r>
              <a:rPr lang="en-US" sz="1400" dirty="0" smtClean="0">
                <a:solidFill>
                  <a:schemeClr val="accent1">
                    <a:lumMod val="75000"/>
                  </a:schemeClr>
                </a:solidFill>
              </a:rPr>
              <a:t>targeting customers.</a:t>
            </a: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Understanding </a:t>
            </a:r>
            <a:r>
              <a:rPr lang="en-US" sz="1400" dirty="0">
                <a:solidFill>
                  <a:schemeClr val="accent1">
                    <a:lumMod val="75000"/>
                  </a:schemeClr>
                </a:solidFill>
              </a:rPr>
              <a:t>and </a:t>
            </a:r>
            <a:r>
              <a:rPr lang="en-US" sz="1400" dirty="0" smtClean="0">
                <a:solidFill>
                  <a:schemeClr val="accent1">
                    <a:lumMod val="75000"/>
                  </a:schemeClr>
                </a:solidFill>
              </a:rPr>
              <a:t>optimizing business processes.</a:t>
            </a:r>
            <a:endParaRPr lang="en-US" sz="1400" dirty="0">
              <a:solidFill>
                <a:schemeClr val="accent1">
                  <a:lumMod val="75000"/>
                </a:schemeClr>
              </a:solidFill>
            </a:endParaRP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Personal quantification </a:t>
            </a:r>
            <a:r>
              <a:rPr lang="en-US" sz="1400" dirty="0">
                <a:solidFill>
                  <a:schemeClr val="accent1">
                    <a:lumMod val="75000"/>
                  </a:schemeClr>
                </a:solidFill>
              </a:rPr>
              <a:t>and </a:t>
            </a:r>
            <a:r>
              <a:rPr lang="en-US" sz="1400" dirty="0" smtClean="0">
                <a:solidFill>
                  <a:schemeClr val="accent1">
                    <a:lumMod val="75000"/>
                  </a:schemeClr>
                </a:solidFill>
              </a:rPr>
              <a:t>performance optimization.</a:t>
            </a:r>
            <a:endParaRPr lang="en-US" sz="1400" dirty="0">
              <a:solidFill>
                <a:schemeClr val="accent1">
                  <a:lumMod val="75000"/>
                </a:schemeClr>
              </a:solidFill>
            </a:endParaRP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Improving healthcare </a:t>
            </a:r>
            <a:r>
              <a:rPr lang="en-US" sz="1400" dirty="0">
                <a:solidFill>
                  <a:schemeClr val="accent1">
                    <a:lumMod val="75000"/>
                  </a:schemeClr>
                </a:solidFill>
              </a:rPr>
              <a:t>and </a:t>
            </a:r>
            <a:r>
              <a:rPr lang="en-US" sz="1400" dirty="0" smtClean="0">
                <a:solidFill>
                  <a:schemeClr val="accent1">
                    <a:lumMod val="75000"/>
                  </a:schemeClr>
                </a:solidFill>
              </a:rPr>
              <a:t>public health.</a:t>
            </a:r>
            <a:endParaRPr lang="en-US" sz="1400" dirty="0">
              <a:solidFill>
                <a:schemeClr val="accent1">
                  <a:lumMod val="75000"/>
                </a:schemeClr>
              </a:solidFill>
            </a:endParaRP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Improving sports performance.</a:t>
            </a: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Improving science and research.</a:t>
            </a: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Optimizing machine and device performance.</a:t>
            </a: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Improving security </a:t>
            </a:r>
            <a:r>
              <a:rPr lang="en-US" sz="1400" dirty="0">
                <a:solidFill>
                  <a:schemeClr val="accent1">
                    <a:lumMod val="75000"/>
                  </a:schemeClr>
                </a:solidFill>
              </a:rPr>
              <a:t>and </a:t>
            </a:r>
            <a:r>
              <a:rPr lang="en-US" sz="1400" dirty="0" smtClean="0">
                <a:solidFill>
                  <a:schemeClr val="accent1">
                    <a:lumMod val="75000"/>
                  </a:schemeClr>
                </a:solidFill>
              </a:rPr>
              <a:t>law enforcement.</a:t>
            </a:r>
            <a:endParaRPr lang="en-US" sz="1400" dirty="0">
              <a:solidFill>
                <a:schemeClr val="accent1">
                  <a:lumMod val="75000"/>
                </a:schemeClr>
              </a:solidFill>
            </a:endParaRP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Improving </a:t>
            </a:r>
            <a:r>
              <a:rPr lang="en-US" sz="1400" dirty="0">
                <a:solidFill>
                  <a:schemeClr val="accent1">
                    <a:lumMod val="75000"/>
                  </a:schemeClr>
                </a:solidFill>
              </a:rPr>
              <a:t>and </a:t>
            </a:r>
            <a:r>
              <a:rPr lang="en-US" sz="1400" dirty="0" smtClean="0">
                <a:solidFill>
                  <a:schemeClr val="accent1">
                    <a:lumMod val="75000"/>
                  </a:schemeClr>
                </a:solidFill>
              </a:rPr>
              <a:t>optimizing cities and countries.</a:t>
            </a:r>
            <a:endParaRPr lang="en-US" sz="1400" dirty="0">
              <a:solidFill>
                <a:schemeClr val="accent1">
                  <a:lumMod val="75000"/>
                </a:schemeClr>
              </a:solidFill>
            </a:endParaRPr>
          </a:p>
          <a:p>
            <a:pPr marL="285750" indent="-285750">
              <a:buClr>
                <a:schemeClr val="accent1">
                  <a:lumMod val="75000"/>
                </a:schemeClr>
              </a:buClr>
              <a:buFont typeface="Arial" panose="020B0604020202020204" pitchFamily="34" charset="0"/>
              <a:buChar char="•"/>
            </a:pPr>
            <a:r>
              <a:rPr lang="en-US" sz="1400" dirty="0" smtClean="0">
                <a:solidFill>
                  <a:schemeClr val="accent1">
                    <a:lumMod val="75000"/>
                  </a:schemeClr>
                </a:solidFill>
              </a:rPr>
              <a:t>Financial trading.</a:t>
            </a:r>
            <a:endParaRPr lang="en-US" sz="1400" dirty="0">
              <a:solidFill>
                <a:schemeClr val="accent1">
                  <a:lumMod val="75000"/>
                </a:schemeClr>
              </a:solidFill>
            </a:endParaRPr>
          </a:p>
          <a:p>
            <a:endParaRPr lang="en-US" sz="1400" dirty="0"/>
          </a:p>
          <a:p>
            <a:pPr>
              <a:buClr>
                <a:srgbClr val="F27E21"/>
              </a:buClr>
            </a:pPr>
            <a:endParaRPr lang="en-US" sz="1400" i="1" dirty="0"/>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3" name="Rectangle 2"/>
          <p:cNvSpPr/>
          <p:nvPr/>
        </p:nvSpPr>
        <p:spPr>
          <a:xfrm>
            <a:off x="4334750" y="4603662"/>
            <a:ext cx="4572000" cy="2121093"/>
          </a:xfrm>
          <a:prstGeom prst="rect">
            <a:avLst/>
          </a:prstGeom>
        </p:spPr>
        <p:txBody>
          <a:bodyPr>
            <a:spAutoFit/>
          </a:bodyPr>
          <a:lstStyle/>
          <a:p>
            <a:pPr marL="54675" indent="-257175" defTabSz="685800">
              <a:spcAft>
                <a:spcPts val="675"/>
              </a:spcAft>
              <a:defRPr/>
            </a:pPr>
            <a:r>
              <a:rPr lang="en-US" sz="1400" dirty="0">
                <a:solidFill>
                  <a:srgbClr val="C00000"/>
                </a:solidFill>
                <a:latin typeface="Comic Sans MS" panose="030F0702030302020204" pitchFamily="66" charset="0"/>
              </a:rPr>
              <a:t>Benefits of </a:t>
            </a:r>
            <a:r>
              <a:rPr lang="en-US" sz="1400" dirty="0" smtClean="0">
                <a:solidFill>
                  <a:srgbClr val="C00000"/>
                </a:solidFill>
                <a:latin typeface="Comic Sans MS" panose="030F0702030302020204" pitchFamily="66" charset="0"/>
              </a:rPr>
              <a:t>Big Data </a:t>
            </a:r>
            <a:r>
              <a:rPr lang="en-US" sz="1400" dirty="0">
                <a:solidFill>
                  <a:srgbClr val="C00000"/>
                </a:solidFill>
                <a:latin typeface="Comic Sans MS" panose="030F0702030302020204" pitchFamily="66" charset="0"/>
              </a:rPr>
              <a:t>for </a:t>
            </a:r>
            <a:r>
              <a:rPr lang="en-US" sz="1400" dirty="0" smtClean="0">
                <a:solidFill>
                  <a:srgbClr val="C00000"/>
                </a:solidFill>
                <a:latin typeface="Comic Sans MS" panose="030F0702030302020204" pitchFamily="66" charset="0"/>
              </a:rPr>
              <a:t>business</a:t>
            </a:r>
            <a:endParaRPr lang="en-US" sz="1400" dirty="0">
              <a:solidFill>
                <a:srgbClr val="C00000"/>
              </a:solidFill>
              <a:latin typeface="Comic Sans MS" panose="030F0702030302020204" pitchFamily="66" charset="0"/>
            </a:endParaRPr>
          </a:p>
          <a:p>
            <a:pPr marL="83250" indent="-285750" defTabSz="685800">
              <a:spcBef>
                <a:spcPts val="0"/>
              </a:spcBef>
              <a:buSzTx/>
              <a:buFont typeface="Arial" panose="020B0604020202020204" pitchFamily="34" charset="0"/>
              <a:buChar char="•"/>
              <a:defRPr/>
            </a:pPr>
            <a:r>
              <a:rPr lang="en-US" sz="1400" dirty="0" smtClean="0">
                <a:solidFill>
                  <a:schemeClr val="accent1">
                    <a:lumMod val="75000"/>
                  </a:schemeClr>
                </a:solidFill>
                <a:cs typeface="Calibri" pitchFamily="34" charset="0"/>
              </a:rPr>
              <a:t>Better </a:t>
            </a:r>
            <a:r>
              <a:rPr lang="en-US" sz="1400" dirty="0">
                <a:solidFill>
                  <a:schemeClr val="accent1">
                    <a:lumMod val="75000"/>
                  </a:schemeClr>
                </a:solidFill>
                <a:cs typeface="Calibri" pitchFamily="34" charset="0"/>
              </a:rPr>
              <a:t>dialogue with </a:t>
            </a:r>
            <a:r>
              <a:rPr lang="en-US" sz="1400" dirty="0" smtClean="0">
                <a:solidFill>
                  <a:schemeClr val="accent1">
                    <a:lumMod val="75000"/>
                  </a:schemeClr>
                </a:solidFill>
                <a:cs typeface="Calibri" pitchFamily="34" charset="0"/>
              </a:rPr>
              <a:t>consumers.</a:t>
            </a:r>
            <a:endParaRPr lang="en-US" sz="1400" dirty="0">
              <a:solidFill>
                <a:schemeClr val="accent1">
                  <a:lumMod val="75000"/>
                </a:schemeClr>
              </a:solidFill>
              <a:cs typeface="Calibri" pitchFamily="34" charset="0"/>
            </a:endParaRP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Opportunity for product </a:t>
            </a:r>
            <a:r>
              <a:rPr lang="en-US" sz="1400" dirty="0" smtClean="0">
                <a:solidFill>
                  <a:schemeClr val="accent1">
                    <a:lumMod val="75000"/>
                  </a:schemeClr>
                </a:solidFill>
                <a:cs typeface="Calibri" pitchFamily="34" charset="0"/>
              </a:rPr>
              <a:t>re-development.</a:t>
            </a:r>
            <a:endParaRPr lang="en-US" sz="1400" dirty="0">
              <a:solidFill>
                <a:schemeClr val="accent1">
                  <a:lumMod val="75000"/>
                </a:schemeClr>
              </a:solidFill>
              <a:cs typeface="Calibri" pitchFamily="34" charset="0"/>
            </a:endParaRP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Efficient risk </a:t>
            </a:r>
            <a:r>
              <a:rPr lang="en-US" sz="1400" dirty="0" smtClean="0">
                <a:solidFill>
                  <a:schemeClr val="accent1">
                    <a:lumMod val="75000"/>
                  </a:schemeClr>
                </a:solidFill>
                <a:cs typeface="Calibri" pitchFamily="34" charset="0"/>
              </a:rPr>
              <a:t>analysis.</a:t>
            </a:r>
            <a:endParaRPr lang="en-US" sz="1400" dirty="0">
              <a:solidFill>
                <a:schemeClr val="accent1">
                  <a:lumMod val="75000"/>
                </a:schemeClr>
              </a:solidFill>
              <a:cs typeface="Calibri" pitchFamily="34" charset="0"/>
            </a:endParaRP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High level of data </a:t>
            </a:r>
            <a:r>
              <a:rPr lang="en-US" sz="1400" dirty="0" smtClean="0">
                <a:solidFill>
                  <a:schemeClr val="accent1">
                    <a:lumMod val="75000"/>
                  </a:schemeClr>
                </a:solidFill>
                <a:cs typeface="Calibri" pitchFamily="34" charset="0"/>
              </a:rPr>
              <a:t>safety.</a:t>
            </a:r>
            <a:endParaRPr lang="en-US" sz="1400" dirty="0">
              <a:solidFill>
                <a:schemeClr val="accent1">
                  <a:lumMod val="75000"/>
                </a:schemeClr>
              </a:solidFill>
              <a:cs typeface="Calibri" pitchFamily="34" charset="0"/>
            </a:endParaRP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New revenue </a:t>
            </a:r>
            <a:r>
              <a:rPr lang="en-US" sz="1400" dirty="0" smtClean="0">
                <a:solidFill>
                  <a:schemeClr val="accent1">
                    <a:lumMod val="75000"/>
                  </a:schemeClr>
                </a:solidFill>
                <a:cs typeface="Calibri" pitchFamily="34" charset="0"/>
              </a:rPr>
              <a:t>streams.</a:t>
            </a:r>
            <a:endParaRPr lang="en-US" sz="1400" dirty="0">
              <a:solidFill>
                <a:schemeClr val="accent1">
                  <a:lumMod val="75000"/>
                </a:schemeClr>
              </a:solidFill>
              <a:cs typeface="Calibri" pitchFamily="34" charset="0"/>
            </a:endParaRP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Real time website </a:t>
            </a:r>
            <a:r>
              <a:rPr lang="en-US" sz="1400" dirty="0" smtClean="0">
                <a:solidFill>
                  <a:schemeClr val="accent1">
                    <a:lumMod val="75000"/>
                  </a:schemeClr>
                </a:solidFill>
                <a:cs typeface="Calibri" pitchFamily="34" charset="0"/>
              </a:rPr>
              <a:t>customization.</a:t>
            </a:r>
            <a:endParaRPr lang="en-US" sz="1400" dirty="0">
              <a:solidFill>
                <a:schemeClr val="accent1">
                  <a:lumMod val="75000"/>
                </a:schemeClr>
              </a:solidFill>
              <a:cs typeface="Calibri" pitchFamily="34" charset="0"/>
            </a:endParaRP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Acquiring enterprise-wise </a:t>
            </a:r>
            <a:r>
              <a:rPr lang="en-US" sz="1400" dirty="0" smtClean="0">
                <a:solidFill>
                  <a:schemeClr val="accent1">
                    <a:lumMod val="75000"/>
                  </a:schemeClr>
                </a:solidFill>
                <a:cs typeface="Calibri" pitchFamily="34" charset="0"/>
              </a:rPr>
              <a:t>insights.</a:t>
            </a:r>
            <a:endParaRPr lang="en-US" sz="1400" dirty="0">
              <a:solidFill>
                <a:schemeClr val="accent1">
                  <a:lumMod val="75000"/>
                </a:schemeClr>
              </a:solidFill>
              <a:cs typeface="Calibri" pitchFamily="34" charset="0"/>
            </a:endParaRPr>
          </a:p>
          <a:p>
            <a:pPr marL="83250" indent="-285750" defTabSz="685800">
              <a:spcBef>
                <a:spcPts val="0"/>
              </a:spcBef>
              <a:buSzTx/>
              <a:buFont typeface="Arial" panose="020B0604020202020204" pitchFamily="34" charset="0"/>
              <a:buChar char="•"/>
              <a:defRPr/>
            </a:pPr>
            <a:r>
              <a:rPr lang="en-US" sz="1400" dirty="0">
                <a:solidFill>
                  <a:schemeClr val="accent1">
                    <a:lumMod val="75000"/>
                  </a:schemeClr>
                </a:solidFill>
                <a:cs typeface="Calibri" pitchFamily="34" charset="0"/>
              </a:rPr>
              <a:t>Making cities </a:t>
            </a:r>
            <a:r>
              <a:rPr lang="en-US" sz="1400" dirty="0" smtClean="0">
                <a:solidFill>
                  <a:schemeClr val="accent1">
                    <a:lumMod val="75000"/>
                  </a:schemeClr>
                </a:solidFill>
                <a:cs typeface="Calibri" pitchFamily="34" charset="0"/>
              </a:rPr>
              <a:t>smarter.</a:t>
            </a:r>
            <a:endParaRPr lang="en-US" sz="1400" dirty="0">
              <a:solidFill>
                <a:schemeClr val="accent1">
                  <a:lumMod val="75000"/>
                </a:schemeClr>
              </a:solidFill>
              <a:cs typeface="Calibri" pitchFamily="34" charset="0"/>
            </a:endParaRPr>
          </a:p>
        </p:txBody>
      </p:sp>
      <p:pic>
        <p:nvPicPr>
          <p:cNvPr id="5122" name="Picture 2" descr="The Evolution of Big Data | Orient Software"/>
          <p:cNvPicPr>
            <a:picLocks noChangeAspect="1" noChangeArrowheads="1"/>
          </p:cNvPicPr>
          <p:nvPr/>
        </p:nvPicPr>
        <p:blipFill rotWithShape="1">
          <a:blip r:embed="rId4">
            <a:extLst>
              <a:ext uri="{28A0092B-C50C-407E-A947-70E740481C1C}">
                <a14:useLocalDpi xmlns:a14="http://schemas.microsoft.com/office/drawing/2010/main" val="0"/>
              </a:ext>
            </a:extLst>
          </a:blip>
          <a:srcRect l="1" r="16118"/>
          <a:stretch/>
        </p:blipFill>
        <p:spPr bwMode="auto">
          <a:xfrm>
            <a:off x="179512" y="4603662"/>
            <a:ext cx="3126871" cy="178918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Big Data คืออะไร นำมาประยุกต์ใช้กับ Digital Marketing ได้หรือไม่"/>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4168" y="2060848"/>
            <a:ext cx="1999716" cy="1999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43988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Looking deeper into Big Data</a:t>
            </a:r>
            <a:endParaRPr lang="en-US" sz="1600" b="1" dirty="0">
              <a:solidFill>
                <a:schemeClr val="accent1">
                  <a:lumMod val="75000"/>
                </a:schemeClr>
              </a:solidFill>
              <a:latin typeface="Comic Sans MS" panose="030F0702030302020204" pitchFamily="66" charset="0"/>
              <a:cs typeface="Times New Roman" pitchFamily="18" charset="0"/>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3" name="Rectangle 2"/>
          <p:cNvSpPr/>
          <p:nvPr/>
        </p:nvSpPr>
        <p:spPr>
          <a:xfrm>
            <a:off x="534680" y="1700808"/>
            <a:ext cx="7992888" cy="5216813"/>
          </a:xfrm>
          <a:prstGeom prst="rect">
            <a:avLst/>
          </a:prstGeom>
        </p:spPr>
        <p:txBody>
          <a:bodyPr wrap="square">
            <a:spAutoFit/>
          </a:bodyPr>
          <a:lstStyle/>
          <a:p>
            <a:pPr algn="just"/>
            <a:r>
              <a:rPr lang="en-US" sz="1400" dirty="0" smtClean="0">
                <a:solidFill>
                  <a:schemeClr val="accent1">
                    <a:lumMod val="75000"/>
                  </a:schemeClr>
                </a:solidFill>
              </a:rPr>
              <a:t>Big </a:t>
            </a:r>
            <a:r>
              <a:rPr lang="en-US" sz="1400" dirty="0">
                <a:solidFill>
                  <a:schemeClr val="accent1">
                    <a:lumMod val="75000"/>
                  </a:schemeClr>
                </a:solidFill>
              </a:rPr>
              <a:t>data </a:t>
            </a:r>
            <a:r>
              <a:rPr lang="en-US" sz="1400" dirty="0" smtClean="0">
                <a:solidFill>
                  <a:schemeClr val="accent1">
                    <a:lumMod val="75000"/>
                  </a:schemeClr>
                </a:solidFill>
              </a:rPr>
              <a:t>exactly </a:t>
            </a:r>
            <a:r>
              <a:rPr lang="en-US" sz="1400" dirty="0">
                <a:solidFill>
                  <a:schemeClr val="accent1">
                    <a:lumMod val="75000"/>
                  </a:schemeClr>
                </a:solidFill>
              </a:rPr>
              <a:t>can be defined as data sets whose size or type is beyond the ability of </a:t>
            </a:r>
            <a:r>
              <a:rPr lang="en-US" sz="1400" dirty="0" smtClean="0">
                <a:solidFill>
                  <a:schemeClr val="accent1">
                    <a:lumMod val="75000"/>
                  </a:schemeClr>
                </a:solidFill>
              </a:rPr>
              <a:t>traditional relation databases</a:t>
            </a:r>
            <a:r>
              <a:rPr lang="en-US" sz="1400" dirty="0">
                <a:solidFill>
                  <a:schemeClr val="accent1">
                    <a:lumMod val="75000"/>
                  </a:schemeClr>
                </a:solidFill>
              </a:rPr>
              <a:t> to capture, manage and process the data with low latency. Characteristics of big data include high volume, high velocity and high variety. Sources of data are becoming more complex than those for traditional data because they are being driven </a:t>
            </a:r>
            <a:r>
              <a:rPr lang="en-US" sz="1400" dirty="0" smtClean="0">
                <a:solidFill>
                  <a:schemeClr val="accent1">
                    <a:lumMod val="75000"/>
                  </a:schemeClr>
                </a:solidFill>
              </a:rPr>
              <a:t>by artificial intelligence (AI), </a:t>
            </a:r>
            <a:r>
              <a:rPr lang="en-US" sz="1400" dirty="0">
                <a:solidFill>
                  <a:schemeClr val="accent1">
                    <a:lumMod val="75000"/>
                  </a:schemeClr>
                </a:solidFill>
              </a:rPr>
              <a:t>mobile devices, social media and the Internet of Things (</a:t>
            </a:r>
            <a:r>
              <a:rPr lang="en-US" sz="1400" dirty="0" err="1">
                <a:solidFill>
                  <a:schemeClr val="accent1">
                    <a:lumMod val="75000"/>
                  </a:schemeClr>
                </a:solidFill>
              </a:rPr>
              <a:t>IoT</a:t>
            </a:r>
            <a:r>
              <a:rPr lang="en-US" sz="1400" dirty="0">
                <a:solidFill>
                  <a:schemeClr val="accent1">
                    <a:lumMod val="75000"/>
                  </a:schemeClr>
                </a:solidFill>
              </a:rPr>
              <a:t>). For example, the different types of data originate from sensors, devices, video/audio, networks, log files, transactional applications, web and social media </a:t>
            </a:r>
            <a:r>
              <a:rPr lang="en-US" sz="1400" dirty="0" smtClean="0">
                <a:solidFill>
                  <a:schemeClr val="accent1">
                    <a:lumMod val="75000"/>
                  </a:schemeClr>
                </a:solidFill>
              </a:rPr>
              <a:t>- </a:t>
            </a:r>
            <a:r>
              <a:rPr lang="en-US" sz="1400" dirty="0">
                <a:solidFill>
                  <a:schemeClr val="accent1">
                    <a:lumMod val="75000"/>
                  </a:schemeClr>
                </a:solidFill>
              </a:rPr>
              <a:t>much of it generated in real time and at a very large scale</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marL="285750" indent="-285750" algn="just">
              <a:spcAft>
                <a:spcPts val="600"/>
              </a:spcAft>
              <a:buFont typeface="Arial" panose="020B0604020202020204" pitchFamily="34" charset="0"/>
              <a:buChar char="•"/>
            </a:pPr>
            <a:r>
              <a:rPr lang="en-US" sz="1400" dirty="0">
                <a:solidFill>
                  <a:schemeClr val="accent1">
                    <a:lumMod val="75000"/>
                  </a:schemeClr>
                </a:solidFill>
              </a:rPr>
              <a:t>Big data is a great quantity of diverse information that arrives in increasing volumes and with ever-higher velocity.</a:t>
            </a:r>
          </a:p>
          <a:p>
            <a:pPr marL="285750" indent="-285750" algn="just">
              <a:spcAft>
                <a:spcPts val="600"/>
              </a:spcAft>
              <a:buFont typeface="Arial" panose="020B0604020202020204" pitchFamily="34" charset="0"/>
              <a:buChar char="•"/>
            </a:pPr>
            <a:r>
              <a:rPr lang="en-US" sz="1400" dirty="0">
                <a:solidFill>
                  <a:schemeClr val="accent1">
                    <a:lumMod val="75000"/>
                  </a:schemeClr>
                </a:solidFill>
              </a:rPr>
              <a:t>Big data can be structured (often numeric, easily formatted and stored) or unstructured (more free-form, less quantifiable).</a:t>
            </a:r>
          </a:p>
          <a:p>
            <a:pPr marL="285750" indent="-285750" algn="just">
              <a:spcAft>
                <a:spcPts val="600"/>
              </a:spcAft>
              <a:buFont typeface="Arial" panose="020B0604020202020204" pitchFamily="34" charset="0"/>
              <a:buChar char="•"/>
            </a:pPr>
            <a:r>
              <a:rPr lang="en-US" sz="1400" dirty="0">
                <a:solidFill>
                  <a:schemeClr val="accent1">
                    <a:lumMod val="75000"/>
                  </a:schemeClr>
                </a:solidFill>
              </a:rPr>
              <a:t>Nearly every department in a company can utilize findings from big data analysis, but handling its clutter and noise can pose problems.</a:t>
            </a:r>
          </a:p>
          <a:p>
            <a:pPr marL="285750" indent="-285750" algn="just">
              <a:spcAft>
                <a:spcPts val="600"/>
              </a:spcAft>
              <a:buFont typeface="Arial" panose="020B0604020202020204" pitchFamily="34" charset="0"/>
              <a:buChar char="•"/>
            </a:pPr>
            <a:r>
              <a:rPr lang="en-US" sz="1400" dirty="0">
                <a:solidFill>
                  <a:schemeClr val="accent1">
                    <a:lumMod val="75000"/>
                  </a:schemeClr>
                </a:solidFill>
              </a:rPr>
              <a:t>Big data can be collected from publicly shared comments on social networks and websites, voluntarily gathered from personal electronics and apps, through questionnaires, product purchases, and electronic check-ins.</a:t>
            </a:r>
          </a:p>
          <a:p>
            <a:pPr marL="285750" indent="-285750" algn="just">
              <a:spcAft>
                <a:spcPts val="600"/>
              </a:spcAft>
              <a:buFont typeface="Arial" panose="020B0604020202020204" pitchFamily="34" charset="0"/>
              <a:buChar char="•"/>
            </a:pPr>
            <a:r>
              <a:rPr lang="en-US" sz="1400" dirty="0">
                <a:solidFill>
                  <a:schemeClr val="accent1">
                    <a:lumMod val="75000"/>
                  </a:schemeClr>
                </a:solidFill>
              </a:rPr>
              <a:t>Big data is most often stored in computer databases and is analyzed using software specifically designed to handle large, complex data sets.</a:t>
            </a:r>
          </a:p>
          <a:p>
            <a:pPr algn="just"/>
            <a:endParaRPr lang="en-US" sz="1400" dirty="0" smtClean="0">
              <a:solidFill>
                <a:schemeClr val="accent1">
                  <a:lumMod val="75000"/>
                </a:schemeClr>
              </a:solidFill>
            </a:endParaRPr>
          </a:p>
          <a:p>
            <a:pPr algn="just"/>
            <a:endParaRPr lang="en-US" sz="1400" dirty="0">
              <a:solidFill>
                <a:schemeClr val="accent1">
                  <a:lumMod val="75000"/>
                </a:schemeClr>
              </a:solidFill>
            </a:endParaRPr>
          </a:p>
          <a:p>
            <a:pPr algn="just"/>
            <a:endParaRPr lang="en-US" sz="1400" dirty="0">
              <a:solidFill>
                <a:schemeClr val="accent1">
                  <a:lumMod val="75000"/>
                </a:schemeClr>
              </a:solidFill>
            </a:endParaRPr>
          </a:p>
        </p:txBody>
      </p:sp>
    </p:spTree>
    <p:extLst>
      <p:ext uri="{BB962C8B-B14F-4D97-AF65-F5344CB8AC3E}">
        <p14:creationId xmlns:p14="http://schemas.microsoft.com/office/powerpoint/2010/main" val="18052205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Artificial Intelligence and Machine Learning</a:t>
            </a:r>
          </a:p>
        </p:txBody>
      </p:sp>
      <p:sp>
        <p:nvSpPr>
          <p:cNvPr id="6" name="Rectangle 5"/>
          <p:cNvSpPr/>
          <p:nvPr/>
        </p:nvSpPr>
        <p:spPr>
          <a:xfrm>
            <a:off x="556609" y="1340768"/>
            <a:ext cx="8128819" cy="2031325"/>
          </a:xfrm>
          <a:prstGeom prst="rect">
            <a:avLst/>
          </a:prstGeom>
        </p:spPr>
        <p:txBody>
          <a:bodyPr wrap="square">
            <a:spAutoFit/>
          </a:bodyPr>
          <a:lstStyle/>
          <a:p>
            <a:pPr algn="just"/>
            <a:r>
              <a:rPr lang="en-US" sz="1400" dirty="0">
                <a:solidFill>
                  <a:schemeClr val="accent1">
                    <a:lumMod val="75000"/>
                  </a:schemeClr>
                </a:solidFill>
              </a:rPr>
              <a:t>The amount of data generated by </a:t>
            </a:r>
            <a:r>
              <a:rPr lang="en-US" sz="1400" dirty="0" err="1" smtClean="0">
                <a:solidFill>
                  <a:schemeClr val="accent1">
                    <a:lumMod val="75000"/>
                  </a:schemeClr>
                </a:solidFill>
              </a:rPr>
              <a:t>IoT</a:t>
            </a:r>
            <a:r>
              <a:rPr lang="en-US" sz="1400" dirty="0" smtClean="0">
                <a:solidFill>
                  <a:schemeClr val="accent1">
                    <a:lumMod val="75000"/>
                  </a:schemeClr>
                </a:solidFill>
              </a:rPr>
              <a:t>- based </a:t>
            </a:r>
            <a:r>
              <a:rPr lang="en-US" sz="1400" dirty="0">
                <a:solidFill>
                  <a:schemeClr val="accent1">
                    <a:lumMod val="75000"/>
                  </a:schemeClr>
                </a:solidFill>
              </a:rPr>
              <a:t>networks makes it virtually impossible for humans to analyze and contextualize them. This is where artificial intelligence and machine learning become indispensable in making the gathered data valuable. </a:t>
            </a:r>
            <a:endParaRPr lang="en-US" sz="1400" dirty="0" smtClean="0">
              <a:solidFill>
                <a:schemeClr val="accent1">
                  <a:lumMod val="75000"/>
                </a:schemeClr>
              </a:solidFill>
            </a:endParaRPr>
          </a:p>
          <a:p>
            <a:pPr algn="just"/>
            <a:r>
              <a:rPr lang="en-US" sz="1400" dirty="0" smtClean="0">
                <a:solidFill>
                  <a:schemeClr val="accent1">
                    <a:lumMod val="75000"/>
                  </a:schemeClr>
                </a:solidFill>
              </a:rPr>
              <a:t>Artificial intelligence (AI) </a:t>
            </a:r>
            <a:r>
              <a:rPr lang="en-US" sz="1400" dirty="0">
                <a:solidFill>
                  <a:schemeClr val="accent1">
                    <a:lumMod val="75000"/>
                  </a:schemeClr>
                </a:solidFill>
              </a:rPr>
              <a:t>is the simulation of human intelligence processes by machines</a:t>
            </a:r>
            <a:r>
              <a:rPr lang="en-US" sz="1400" dirty="0" smtClean="0">
                <a:solidFill>
                  <a:schemeClr val="accent1">
                    <a:lumMod val="75000"/>
                  </a:schemeClr>
                </a:solidFill>
              </a:rPr>
              <a:t>. </a:t>
            </a:r>
            <a:r>
              <a:rPr lang="en-US" sz="1400" dirty="0">
                <a:solidFill>
                  <a:schemeClr val="accent1">
                    <a:lumMod val="75000"/>
                  </a:schemeClr>
                </a:solidFill>
              </a:rPr>
              <a:t/>
            </a:r>
            <a:br>
              <a:rPr lang="en-US" sz="1400" dirty="0">
                <a:solidFill>
                  <a:schemeClr val="accent1">
                    <a:lumMod val="75000"/>
                  </a:schemeClr>
                </a:solidFill>
              </a:rPr>
            </a:br>
            <a:r>
              <a:rPr lang="en-US" sz="1400" dirty="0">
                <a:solidFill>
                  <a:schemeClr val="accent1">
                    <a:lumMod val="75000"/>
                  </a:schemeClr>
                </a:solidFill>
              </a:rPr>
              <a:t>This includes learning (the acquisition of information and rules for using the information), reasoning (using the rules to reach approximate or definite conclusions) and </a:t>
            </a:r>
            <a:r>
              <a:rPr lang="en-US" sz="1400" dirty="0" smtClean="0">
                <a:solidFill>
                  <a:schemeClr val="accent1">
                    <a:lumMod val="75000"/>
                  </a:schemeClr>
                </a:solidFill>
              </a:rPr>
              <a:t>self-correction.</a:t>
            </a:r>
          </a:p>
          <a:p>
            <a:pPr algn="just"/>
            <a:r>
              <a:rPr lang="en-US" sz="1400" dirty="0" smtClean="0">
                <a:solidFill>
                  <a:schemeClr val="accent1">
                    <a:lumMod val="75000"/>
                  </a:schemeClr>
                </a:solidFill>
              </a:rPr>
              <a:t>Machine learning (ML) </a:t>
            </a:r>
            <a:r>
              <a:rPr lang="en-US" sz="1400" dirty="0">
                <a:solidFill>
                  <a:schemeClr val="accent1">
                    <a:lumMod val="75000"/>
                  </a:schemeClr>
                </a:solidFill>
              </a:rPr>
              <a:t>is a way to make AI possible.</a:t>
            </a:r>
          </a:p>
          <a:p>
            <a:pPr algn="just"/>
            <a:r>
              <a:rPr lang="en-US" sz="1400" dirty="0" smtClean="0">
                <a:solidFill>
                  <a:schemeClr val="accent1">
                    <a:lumMod val="75000"/>
                  </a:schemeClr>
                </a:solidFill>
              </a:rPr>
              <a:t>AI </a:t>
            </a:r>
            <a:r>
              <a:rPr lang="en-US" sz="1400" dirty="0">
                <a:solidFill>
                  <a:schemeClr val="accent1">
                    <a:lumMod val="75000"/>
                  </a:schemeClr>
                </a:solidFill>
              </a:rPr>
              <a:t>and </a:t>
            </a:r>
            <a:r>
              <a:rPr lang="en-US" sz="1400" dirty="0" smtClean="0">
                <a:solidFill>
                  <a:schemeClr val="accent1">
                    <a:lumMod val="75000"/>
                  </a:schemeClr>
                </a:solidFill>
              </a:rPr>
              <a:t>ML based </a:t>
            </a:r>
            <a:r>
              <a:rPr lang="en-US" sz="1400" dirty="0">
                <a:solidFill>
                  <a:schemeClr val="accent1">
                    <a:lumMod val="75000"/>
                  </a:schemeClr>
                </a:solidFill>
              </a:rPr>
              <a:t>mechanisms can spot anomalies, make predictions, and provide recommendations for the operation and maintenance of the system.</a:t>
            </a:r>
            <a:endParaRPr lang="en-US" sz="1400" dirty="0"/>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7" name="Content Placeholder 1">
            <a:extLst>
              <a:ext uri="{FF2B5EF4-FFF2-40B4-BE49-F238E27FC236}">
                <a16:creationId xmlns:a16="http://schemas.microsoft.com/office/drawing/2014/main" id="{0E9E45B8-E2C0-4587-AE61-B789E5AEA0AE}"/>
              </a:ext>
            </a:extLst>
          </p:cNvPr>
          <p:cNvSpPr>
            <a:spLocks noGrp="1"/>
          </p:cNvSpPr>
          <p:nvPr>
            <p:ph idx="1"/>
          </p:nvPr>
        </p:nvSpPr>
        <p:spPr>
          <a:xfrm>
            <a:off x="556608" y="3773521"/>
            <a:ext cx="3799367" cy="378016"/>
          </a:xfrm>
        </p:spPr>
        <p:txBody>
          <a:bodyPr/>
          <a:lstStyle/>
          <a:p>
            <a:pPr marL="0" indent="0">
              <a:buNone/>
            </a:pPr>
            <a:r>
              <a:rPr lang="en-US" sz="1400" dirty="0">
                <a:solidFill>
                  <a:schemeClr val="accent1">
                    <a:lumMod val="75000"/>
                  </a:schemeClr>
                </a:solidFill>
              </a:rPr>
              <a:t>Top uses for AI and </a:t>
            </a:r>
            <a:r>
              <a:rPr lang="en-US" sz="1400" dirty="0" smtClean="0">
                <a:solidFill>
                  <a:schemeClr val="accent1">
                    <a:lumMod val="75000"/>
                  </a:schemeClr>
                </a:solidFill>
              </a:rPr>
              <a:t>ML:</a:t>
            </a:r>
          </a:p>
          <a:p>
            <a:pPr lvl="1"/>
            <a:r>
              <a:rPr lang="en-US" dirty="0" smtClean="0">
                <a:solidFill>
                  <a:schemeClr val="accent1">
                    <a:lumMod val="75000"/>
                  </a:schemeClr>
                </a:solidFill>
              </a:rPr>
              <a:t>Research;</a:t>
            </a:r>
          </a:p>
          <a:p>
            <a:pPr lvl="1"/>
            <a:r>
              <a:rPr lang="en-US" dirty="0" smtClean="0">
                <a:solidFill>
                  <a:schemeClr val="accent1">
                    <a:lumMod val="75000"/>
                  </a:schemeClr>
                </a:solidFill>
              </a:rPr>
              <a:t>Office automation;</a:t>
            </a:r>
            <a:endParaRPr lang="en-US" dirty="0">
              <a:solidFill>
                <a:schemeClr val="accent1">
                  <a:lumMod val="75000"/>
                </a:schemeClr>
              </a:solidFill>
            </a:endParaRPr>
          </a:p>
          <a:p>
            <a:pPr lvl="1"/>
            <a:r>
              <a:rPr lang="en-US" dirty="0">
                <a:solidFill>
                  <a:schemeClr val="accent1">
                    <a:lumMod val="75000"/>
                  </a:schemeClr>
                </a:solidFill>
              </a:rPr>
              <a:t>Consumer </a:t>
            </a:r>
            <a:r>
              <a:rPr lang="en-US" dirty="0" smtClean="0">
                <a:solidFill>
                  <a:schemeClr val="accent1">
                    <a:lumMod val="75000"/>
                  </a:schemeClr>
                </a:solidFill>
              </a:rPr>
              <a:t>behavior </a:t>
            </a:r>
            <a:r>
              <a:rPr lang="en-US" dirty="0">
                <a:solidFill>
                  <a:schemeClr val="accent1">
                    <a:lumMod val="75000"/>
                  </a:schemeClr>
                </a:solidFill>
              </a:rPr>
              <a:t>a</a:t>
            </a:r>
            <a:r>
              <a:rPr lang="en-US" dirty="0" smtClean="0">
                <a:solidFill>
                  <a:schemeClr val="accent1">
                    <a:lumMod val="75000"/>
                  </a:schemeClr>
                </a:solidFill>
              </a:rPr>
              <a:t>nalysis;</a:t>
            </a:r>
          </a:p>
          <a:p>
            <a:pPr lvl="1"/>
            <a:r>
              <a:rPr lang="en-US" dirty="0" smtClean="0">
                <a:solidFill>
                  <a:schemeClr val="accent1">
                    <a:lumMod val="75000"/>
                  </a:schemeClr>
                </a:solidFill>
              </a:rPr>
              <a:t>Security monitoring;</a:t>
            </a:r>
            <a:endParaRPr lang="en-US" dirty="0">
              <a:solidFill>
                <a:schemeClr val="accent1">
                  <a:lumMod val="75000"/>
                </a:schemeClr>
              </a:solidFill>
            </a:endParaRPr>
          </a:p>
          <a:p>
            <a:pPr lvl="1"/>
            <a:r>
              <a:rPr lang="en-US" dirty="0">
                <a:solidFill>
                  <a:schemeClr val="accent1">
                    <a:lumMod val="75000"/>
                  </a:schemeClr>
                </a:solidFill>
              </a:rPr>
              <a:t>Fraud d</a:t>
            </a:r>
            <a:r>
              <a:rPr lang="en-US" dirty="0" smtClean="0">
                <a:solidFill>
                  <a:schemeClr val="accent1">
                    <a:lumMod val="75000"/>
                  </a:schemeClr>
                </a:solidFill>
              </a:rPr>
              <a:t>etection;</a:t>
            </a:r>
          </a:p>
          <a:p>
            <a:pPr lvl="1"/>
            <a:r>
              <a:rPr lang="en-US" dirty="0" smtClean="0">
                <a:solidFill>
                  <a:schemeClr val="accent1">
                    <a:lumMod val="75000"/>
                  </a:schemeClr>
                </a:solidFill>
              </a:rPr>
              <a:t>Market </a:t>
            </a:r>
            <a:r>
              <a:rPr lang="en-US" dirty="0">
                <a:solidFill>
                  <a:schemeClr val="accent1">
                    <a:lumMod val="75000"/>
                  </a:schemeClr>
                </a:solidFill>
              </a:rPr>
              <a:t>projection/sales </a:t>
            </a:r>
            <a:r>
              <a:rPr lang="en-US" dirty="0" smtClean="0">
                <a:solidFill>
                  <a:schemeClr val="accent1">
                    <a:lumMod val="75000"/>
                  </a:schemeClr>
                </a:solidFill>
              </a:rPr>
              <a:t>forecasting. </a:t>
            </a:r>
            <a:endParaRPr lang="en-US" dirty="0">
              <a:solidFill>
                <a:schemeClr val="accent1">
                  <a:lumMod val="75000"/>
                </a:schemeClr>
              </a:solidFill>
            </a:endParaRPr>
          </a:p>
          <a:p>
            <a:pPr marL="0" indent="0">
              <a:buNone/>
            </a:pPr>
            <a:endParaRPr lang="en-US" sz="1400" dirty="0">
              <a:solidFill>
                <a:schemeClr val="accent1">
                  <a:lumMod val="75000"/>
                </a:schemeClr>
              </a:solidFill>
            </a:endParaRPr>
          </a:p>
        </p:txBody>
      </p:sp>
      <p:pic>
        <p:nvPicPr>
          <p:cNvPr id="1026" name="Picture 2" descr="Artificial intelligence vs Machine learn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1848" y="3773521"/>
            <a:ext cx="3026800" cy="219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7213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32656"/>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Looking deeper into AI and ML</a:t>
            </a:r>
            <a:endParaRPr lang="en-US" sz="1600" b="1" dirty="0">
              <a:solidFill>
                <a:schemeClr val="accent1">
                  <a:lumMod val="75000"/>
                </a:schemeClr>
              </a:solidFill>
              <a:latin typeface="Comic Sans MS" panose="030F0702030302020204" pitchFamily="66" charset="0"/>
              <a:cs typeface="Times New Roman" pitchFamily="18" charset="0"/>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3" name="Rectangle 2"/>
          <p:cNvSpPr/>
          <p:nvPr/>
        </p:nvSpPr>
        <p:spPr>
          <a:xfrm>
            <a:off x="541512" y="1124744"/>
            <a:ext cx="7992888" cy="4401205"/>
          </a:xfrm>
          <a:prstGeom prst="rect">
            <a:avLst/>
          </a:prstGeom>
        </p:spPr>
        <p:txBody>
          <a:bodyPr wrap="square">
            <a:spAutoFit/>
          </a:bodyPr>
          <a:lstStyle/>
          <a:p>
            <a:pPr algn="just"/>
            <a:r>
              <a:rPr lang="en-US" sz="1400" dirty="0">
                <a:solidFill>
                  <a:schemeClr val="accent1">
                    <a:lumMod val="75000"/>
                  </a:schemeClr>
                </a:solidFill>
              </a:rPr>
              <a:t>Artificial intelligence is a technology using which we can create intelligent systems that can simulate human intelligence</a:t>
            </a:r>
            <a:r>
              <a:rPr lang="en-US" sz="1400" dirty="0" smtClean="0">
                <a:solidFill>
                  <a:schemeClr val="accent1">
                    <a:lumMod val="75000"/>
                  </a:schemeClr>
                </a:solidFill>
              </a:rPr>
              <a:t>. Artificial </a:t>
            </a:r>
            <a:r>
              <a:rPr lang="en-US" sz="1400" dirty="0">
                <a:solidFill>
                  <a:schemeClr val="accent1">
                    <a:lumMod val="75000"/>
                  </a:schemeClr>
                </a:solidFill>
              </a:rPr>
              <a:t>intelligence is a field of computer science which makes a computer system that can mimic human intelligence. </a:t>
            </a:r>
            <a:r>
              <a:rPr lang="en-US" sz="1400" dirty="0" smtClean="0">
                <a:solidFill>
                  <a:schemeClr val="accent1">
                    <a:lumMod val="75000"/>
                  </a:schemeClr>
                </a:solidFill>
              </a:rPr>
              <a:t>AI </a:t>
            </a:r>
            <a:r>
              <a:rPr lang="en-US" sz="1400" dirty="0">
                <a:solidFill>
                  <a:schemeClr val="accent1">
                    <a:lumMod val="75000"/>
                  </a:schemeClr>
                </a:solidFill>
              </a:rPr>
              <a:t>means "a human-made thinking power</a:t>
            </a:r>
            <a:r>
              <a:rPr lang="en-US" sz="1400" dirty="0" smtClean="0">
                <a:solidFill>
                  <a:schemeClr val="accent1">
                    <a:lumMod val="75000"/>
                  </a:schemeClr>
                </a:solidFill>
              </a:rPr>
              <a:t>.“</a:t>
            </a:r>
          </a:p>
          <a:p>
            <a:pPr algn="just"/>
            <a:r>
              <a:rPr lang="en-US" sz="1400" dirty="0">
                <a:solidFill>
                  <a:schemeClr val="accent1">
                    <a:lumMod val="75000"/>
                  </a:schemeClr>
                </a:solidFill>
              </a:rPr>
              <a:t>The Artificial intelligence system does not require to be pre-programmed, instead of that, they use such algorithms which can work with their own intelligence. It involves machine learning algorithms such as Reinforcement learning algorithm and deep learning neural networks. AI is being used in multiple places such as Siri</a:t>
            </a:r>
            <a:r>
              <a:rPr lang="en-US" sz="1400" dirty="0" smtClean="0">
                <a:solidFill>
                  <a:schemeClr val="accent1">
                    <a:lumMod val="75000"/>
                  </a:schemeClr>
                </a:solidFill>
              </a:rPr>
              <a:t>, </a:t>
            </a:r>
            <a:r>
              <a:rPr lang="en-US" sz="1400" dirty="0">
                <a:solidFill>
                  <a:schemeClr val="accent1">
                    <a:lumMod val="75000"/>
                  </a:schemeClr>
                </a:solidFill>
              </a:rPr>
              <a:t>AI in Chess playing, etc</a:t>
            </a:r>
            <a:r>
              <a:rPr lang="en-US" sz="1400" dirty="0" smtClean="0">
                <a:solidFill>
                  <a:schemeClr val="accent1">
                    <a:lumMod val="75000"/>
                  </a:schemeClr>
                </a:solidFill>
              </a:rPr>
              <a:t>.</a:t>
            </a:r>
          </a:p>
          <a:p>
            <a:pPr algn="just"/>
            <a:r>
              <a:rPr lang="en-US" sz="1400" dirty="0" smtClean="0">
                <a:solidFill>
                  <a:schemeClr val="accent1">
                    <a:lumMod val="75000"/>
                  </a:schemeClr>
                </a:solidFill>
              </a:rPr>
              <a:t>Machine </a:t>
            </a:r>
            <a:r>
              <a:rPr lang="en-US" sz="1400" dirty="0">
                <a:solidFill>
                  <a:schemeClr val="accent1">
                    <a:lumMod val="75000"/>
                  </a:schemeClr>
                </a:solidFill>
              </a:rPr>
              <a:t>learning is about extracting knowledge from the data. It can be defined as</a:t>
            </a:r>
            <a:r>
              <a:rPr lang="en-US" sz="1400" dirty="0" smtClean="0">
                <a:solidFill>
                  <a:schemeClr val="accent1">
                    <a:lumMod val="75000"/>
                  </a:schemeClr>
                </a:solidFill>
              </a:rPr>
              <a:t>, </a:t>
            </a:r>
            <a:r>
              <a:rPr lang="en-US" sz="1400" dirty="0">
                <a:solidFill>
                  <a:schemeClr val="accent1">
                    <a:lumMod val="75000"/>
                  </a:schemeClr>
                </a:solidFill>
              </a:rPr>
              <a:t>Machine learning is a subfield of artificial intelligence, which enables machines to learn from past data or experiences without being explicitly programmed</a:t>
            </a:r>
            <a:r>
              <a:rPr lang="en-US" sz="1400" dirty="0" smtClean="0">
                <a:solidFill>
                  <a:schemeClr val="accent1">
                    <a:lumMod val="75000"/>
                  </a:schemeClr>
                </a:solidFill>
              </a:rPr>
              <a:t>.</a:t>
            </a:r>
          </a:p>
          <a:p>
            <a:pPr algn="just"/>
            <a:r>
              <a:rPr lang="en-US" sz="1400" dirty="0">
                <a:solidFill>
                  <a:schemeClr val="accent1">
                    <a:lumMod val="75000"/>
                  </a:schemeClr>
                </a:solidFill>
              </a:rPr>
              <a:t>Machine learning enables a computer system to make predictions or take some decisions using historical data without being explicitly programmed. Machine learning uses a massive amount of structured and semi-structured data so that a machine learning model can generate accurate result or give predictions based on that data.</a:t>
            </a:r>
          </a:p>
          <a:p>
            <a:pPr algn="just"/>
            <a:r>
              <a:rPr lang="en-US" sz="1400" dirty="0">
                <a:solidFill>
                  <a:schemeClr val="accent1">
                    <a:lumMod val="75000"/>
                  </a:schemeClr>
                </a:solidFill>
              </a:rPr>
              <a:t>Machine learning works on algorithm which learn by </a:t>
            </a:r>
            <a:r>
              <a:rPr lang="en-US" sz="1400" dirty="0" smtClean="0">
                <a:solidFill>
                  <a:schemeClr val="accent1">
                    <a:lumMod val="75000"/>
                  </a:schemeClr>
                </a:solidFill>
              </a:rPr>
              <a:t>its </a:t>
            </a:r>
            <a:r>
              <a:rPr lang="en-US" sz="1400" dirty="0">
                <a:solidFill>
                  <a:schemeClr val="accent1">
                    <a:lumMod val="75000"/>
                  </a:schemeClr>
                </a:solidFill>
              </a:rPr>
              <a:t>own using historical data. It works only for specific domains such as if we are creating a machine learning model to detect pictures of dogs, it will only give result for dog images, but if we provide a new data like cat image then it will become unresponsive. Machine learning is being used in various places such as for online recommender system, for Google search algorithms, Email spam filter, Facebook Auto friend tagging suggestion, etc</a:t>
            </a:r>
            <a:r>
              <a:rPr lang="en-US" sz="1400" dirty="0" smtClean="0">
                <a:solidFill>
                  <a:schemeClr val="accent1">
                    <a:lumMod val="75000"/>
                  </a:schemeClr>
                </a:solidFill>
              </a:rPr>
              <a:t>.</a:t>
            </a:r>
            <a:endParaRPr lang="en-US" sz="1400" dirty="0">
              <a:solidFill>
                <a:schemeClr val="accent1">
                  <a:lumMod val="75000"/>
                </a:schemeClr>
              </a:solidFill>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56176" y="5488248"/>
            <a:ext cx="2232248" cy="1241130"/>
          </a:xfrm>
          <a:prstGeom prst="rect">
            <a:avLst/>
          </a:prstGeom>
        </p:spPr>
      </p:pic>
    </p:spTree>
    <p:extLst>
      <p:ext uri="{BB962C8B-B14F-4D97-AF65-F5344CB8AC3E}">
        <p14:creationId xmlns:p14="http://schemas.microsoft.com/office/powerpoint/2010/main" val="1107242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Machine Learning vs. Artificial Intelligence vs</a:t>
            </a:r>
            <a:r>
              <a:rPr lang="en-US" b="1" dirty="0">
                <a:solidFill>
                  <a:schemeClr val="accent1">
                    <a:lumMod val="75000"/>
                  </a:schemeClr>
                </a:solidFill>
                <a:latin typeface="Comic Sans MS" panose="030F0702030302020204" pitchFamily="66" charset="0"/>
              </a:rPr>
              <a:t>. Data </a:t>
            </a:r>
            <a:r>
              <a:rPr lang="en-US" b="1" dirty="0" smtClean="0">
                <a:solidFill>
                  <a:schemeClr val="accent1">
                    <a:lumMod val="75000"/>
                  </a:schemeClr>
                </a:solidFill>
                <a:latin typeface="Comic Sans MS" panose="030F0702030302020204" pitchFamily="66" charset="0"/>
              </a:rPr>
              <a:t>Science </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
        <p:nvSpPr>
          <p:cNvPr id="7" name="Rectangle 6"/>
          <p:cNvSpPr/>
          <p:nvPr/>
        </p:nvSpPr>
        <p:spPr>
          <a:xfrm>
            <a:off x="454563" y="6459356"/>
            <a:ext cx="8424936" cy="276999"/>
          </a:xfrm>
          <a:prstGeom prst="rect">
            <a:avLst/>
          </a:prstGeom>
        </p:spPr>
        <p:txBody>
          <a:bodyPr wrap="square">
            <a:spAutoFit/>
          </a:bodyPr>
          <a:lstStyle/>
          <a:p>
            <a:pPr algn="ctr"/>
            <a:r>
              <a:rPr lang="en-US" sz="1200" i="1" dirty="0">
                <a:solidFill>
                  <a:schemeClr val="accent1">
                    <a:lumMod val="75000"/>
                  </a:schemeClr>
                </a:solidFill>
              </a:rPr>
              <a:t>Read more at: https://braincube.com/resource/manufacturing-ai-vs-machine-learning-vs-data-science/</a:t>
            </a:r>
          </a:p>
        </p:txBody>
      </p:sp>
      <p:sp>
        <p:nvSpPr>
          <p:cNvPr id="5" name="Rectangle 4"/>
          <p:cNvSpPr/>
          <p:nvPr/>
        </p:nvSpPr>
        <p:spPr bwMode="auto">
          <a:xfrm>
            <a:off x="413857" y="1343752"/>
            <a:ext cx="2520280" cy="2088232"/>
          </a:xfrm>
          <a:prstGeom prst="rect">
            <a:avLst/>
          </a:prstGeom>
          <a:solidFill>
            <a:schemeClr val="bg1"/>
          </a:solidFill>
          <a:ln>
            <a:noFill/>
          </a:ln>
        </p:spPr>
        <p:txBody>
          <a:bodyPr wrap="square" lIns="91428" tIns="45715" rIns="91428" bIns="45715" rtlCol="0" anchor="ctr">
            <a:noAutofit/>
          </a:bodyPr>
          <a:lstStyle/>
          <a:p>
            <a:pPr algn="just" defTabSz="623853" rtl="0" fontAlgn="base">
              <a:lnSpc>
                <a:spcPts val="1100"/>
              </a:lnSpc>
              <a:spcBef>
                <a:spcPct val="0"/>
              </a:spcBef>
              <a:spcAft>
                <a:spcPct val="0"/>
              </a:spcAft>
              <a:buClr>
                <a:srgbClr val="000000"/>
              </a:buClr>
            </a:pPr>
            <a:r>
              <a:rPr lang="en-US" sz="1400" b="1" kern="1200" dirty="0" smtClean="0">
                <a:solidFill>
                  <a:schemeClr val="accent1">
                    <a:lumMod val="75000"/>
                  </a:schemeClr>
                </a:solidFill>
                <a:latin typeface="Comic Sans MS" panose="030F0702030302020204" pitchFamily="66" charset="0"/>
                <a:cs typeface="Times New Roman" pitchFamily="18" charset="0"/>
              </a:rPr>
              <a:t>Data Science</a:t>
            </a:r>
          </a:p>
          <a:p>
            <a:pPr algn="just" defTabSz="623853" rtl="0" fontAlgn="base">
              <a:lnSpc>
                <a:spcPts val="1100"/>
              </a:lnSpc>
              <a:spcBef>
                <a:spcPct val="0"/>
              </a:spcBef>
              <a:spcAft>
                <a:spcPct val="0"/>
              </a:spcAft>
              <a:buClr>
                <a:srgbClr val="000000"/>
              </a:buClr>
            </a:pPr>
            <a:endParaRPr lang="en-US" sz="1200" kern="1200" dirty="0" smtClean="0">
              <a:solidFill>
                <a:srgbClr val="0C2870"/>
              </a:solidFill>
              <a:latin typeface="Arial" charset="0"/>
              <a:ea typeface="+mn-ea"/>
              <a:cs typeface="Times New Roman" pitchFamily="18" charset="0"/>
            </a:endParaRPr>
          </a:p>
          <a:p>
            <a:pPr marL="171450" indent="-171450" defTabSz="623853" rtl="0" fontAlgn="base">
              <a:spcBef>
                <a:spcPct val="0"/>
              </a:spcBef>
              <a:spcAft>
                <a:spcPct val="0"/>
              </a:spcAft>
              <a:buClr>
                <a:srgbClr val="000000"/>
              </a:buClr>
              <a:buFont typeface="Arial" panose="020B0604020202020204" pitchFamily="34" charset="0"/>
              <a:buChar char="•"/>
            </a:pPr>
            <a:r>
              <a:rPr lang="en-US" sz="1400" dirty="0" smtClean="0">
                <a:solidFill>
                  <a:srgbClr val="0C2870"/>
                </a:solidFill>
                <a:latin typeface="Arial" charset="0"/>
                <a:cs typeface="Times New Roman" pitchFamily="18" charset="0"/>
              </a:rPr>
              <a:t>Collection, preparation, and analysis of data.</a:t>
            </a:r>
          </a:p>
          <a:p>
            <a:pPr defTabSz="623853" rtl="0" fontAlgn="base">
              <a:lnSpc>
                <a:spcPts val="1100"/>
              </a:lnSpc>
              <a:spcBef>
                <a:spcPct val="0"/>
              </a:spcBef>
              <a:spcAft>
                <a:spcPct val="0"/>
              </a:spcAft>
              <a:buClr>
                <a:srgbClr val="000000"/>
              </a:buClr>
            </a:pPr>
            <a:endParaRPr lang="en-US" sz="1400" dirty="0" smtClean="0">
              <a:solidFill>
                <a:srgbClr val="0C2870"/>
              </a:solidFill>
              <a:latin typeface="Arial" charset="0"/>
              <a:cs typeface="Times New Roman" pitchFamily="18" charset="0"/>
            </a:endParaRPr>
          </a:p>
          <a:p>
            <a:pPr marL="171450" indent="-171450" defTabSz="623853" rtl="0" fontAlgn="base">
              <a:spcBef>
                <a:spcPct val="0"/>
              </a:spcBef>
              <a:spcAft>
                <a:spcPct val="0"/>
              </a:spcAft>
              <a:buClr>
                <a:srgbClr val="000000"/>
              </a:buClr>
              <a:buFont typeface="Arial" panose="020B0604020202020204" pitchFamily="34" charset="0"/>
              <a:buChar char="•"/>
            </a:pPr>
            <a:r>
              <a:rPr lang="en-US" sz="1400" kern="1200" dirty="0" smtClean="0">
                <a:solidFill>
                  <a:srgbClr val="0C2870"/>
                </a:solidFill>
                <a:latin typeface="Arial" charset="0"/>
                <a:cs typeface="Times New Roman" pitchFamily="18" charset="0"/>
              </a:rPr>
              <a:t>Leverages AI/ML, research, industry expertise, and statistics to make business decision.</a:t>
            </a:r>
            <a:endParaRPr lang="en-US" sz="1400" kern="1200" dirty="0">
              <a:solidFill>
                <a:srgbClr val="0C2870"/>
              </a:solidFill>
              <a:latin typeface="Arial" charset="0"/>
              <a:cs typeface="Times New Roman" pitchFamily="18" charset="0"/>
            </a:endParaRPr>
          </a:p>
        </p:txBody>
      </p:sp>
      <p:sp>
        <p:nvSpPr>
          <p:cNvPr id="11" name="Rectangle 10"/>
          <p:cNvSpPr/>
          <p:nvPr/>
        </p:nvSpPr>
        <p:spPr bwMode="auto">
          <a:xfrm>
            <a:off x="6614125" y="2852936"/>
            <a:ext cx="2350955" cy="2088232"/>
          </a:xfrm>
          <a:prstGeom prst="rect">
            <a:avLst/>
          </a:prstGeom>
          <a:solidFill>
            <a:schemeClr val="bg1"/>
          </a:solidFill>
          <a:ln>
            <a:noFill/>
          </a:ln>
        </p:spPr>
        <p:txBody>
          <a:bodyPr wrap="square" lIns="91428" tIns="45715" rIns="91428" bIns="45715" rtlCol="0" anchor="ctr">
            <a:noAutofit/>
          </a:bodyPr>
          <a:lstStyle/>
          <a:p>
            <a:pPr algn="just" defTabSz="623853" rtl="0" fontAlgn="base">
              <a:lnSpc>
                <a:spcPts val="1100"/>
              </a:lnSpc>
              <a:spcBef>
                <a:spcPct val="0"/>
              </a:spcBef>
              <a:spcAft>
                <a:spcPct val="0"/>
              </a:spcAft>
              <a:buClr>
                <a:srgbClr val="000000"/>
              </a:buClr>
            </a:pPr>
            <a:r>
              <a:rPr lang="en-US" sz="1400" b="1" dirty="0" smtClean="0">
                <a:solidFill>
                  <a:schemeClr val="accent1">
                    <a:lumMod val="75000"/>
                  </a:schemeClr>
                </a:solidFill>
                <a:latin typeface="Comic Sans MS" panose="030F0702030302020204" pitchFamily="66" charset="0"/>
                <a:cs typeface="Times New Roman" pitchFamily="18" charset="0"/>
              </a:rPr>
              <a:t>Artificial Intelligence</a:t>
            </a:r>
            <a:endParaRPr lang="en-US" sz="1400" b="1" kern="1200" dirty="0" smtClean="0">
              <a:solidFill>
                <a:schemeClr val="accent1">
                  <a:lumMod val="75000"/>
                </a:schemeClr>
              </a:solidFill>
              <a:latin typeface="Comic Sans MS" panose="030F0702030302020204" pitchFamily="66" charset="0"/>
              <a:cs typeface="Times New Roman" pitchFamily="18" charset="0"/>
            </a:endParaRPr>
          </a:p>
          <a:p>
            <a:pPr algn="just" defTabSz="623853" rtl="0" fontAlgn="base">
              <a:lnSpc>
                <a:spcPts val="1100"/>
              </a:lnSpc>
              <a:spcBef>
                <a:spcPct val="0"/>
              </a:spcBef>
              <a:spcAft>
                <a:spcPct val="0"/>
              </a:spcAft>
              <a:buClr>
                <a:srgbClr val="000000"/>
              </a:buClr>
            </a:pPr>
            <a:endParaRPr lang="en-US" sz="1200" kern="1200" dirty="0" smtClean="0">
              <a:solidFill>
                <a:srgbClr val="0C2870"/>
              </a:solidFill>
              <a:latin typeface="Arial" charset="0"/>
              <a:ea typeface="+mn-ea"/>
              <a:cs typeface="Times New Roman" pitchFamily="18" charset="0"/>
            </a:endParaRPr>
          </a:p>
          <a:p>
            <a:pPr marL="171450" indent="-171450" defTabSz="623853" rtl="0" fontAlgn="base">
              <a:spcBef>
                <a:spcPct val="0"/>
              </a:spcBef>
              <a:spcAft>
                <a:spcPct val="0"/>
              </a:spcAft>
              <a:buClr>
                <a:srgbClr val="000000"/>
              </a:buClr>
              <a:buFont typeface="Arial" panose="020B0604020202020204" pitchFamily="34" charset="0"/>
              <a:buChar char="•"/>
            </a:pPr>
            <a:r>
              <a:rPr lang="en-US" sz="1400" dirty="0" smtClean="0">
                <a:solidFill>
                  <a:srgbClr val="0C2870"/>
                </a:solidFill>
                <a:latin typeface="Arial" charset="0"/>
                <a:cs typeface="Times New Roman" pitchFamily="18" charset="0"/>
              </a:rPr>
              <a:t>Technology for machines to understand/interpret, learn, and make “intelligent decisions”.</a:t>
            </a:r>
          </a:p>
          <a:p>
            <a:pPr defTabSz="623853" rtl="0" fontAlgn="base">
              <a:lnSpc>
                <a:spcPts val="1100"/>
              </a:lnSpc>
              <a:spcBef>
                <a:spcPct val="0"/>
              </a:spcBef>
              <a:spcAft>
                <a:spcPct val="0"/>
              </a:spcAft>
              <a:buClr>
                <a:srgbClr val="000000"/>
              </a:buClr>
            </a:pPr>
            <a:endParaRPr lang="en-US" sz="1400" dirty="0" smtClean="0">
              <a:solidFill>
                <a:srgbClr val="0C2870"/>
              </a:solidFill>
              <a:latin typeface="Arial" charset="0"/>
              <a:cs typeface="Times New Roman" pitchFamily="18" charset="0"/>
            </a:endParaRPr>
          </a:p>
          <a:p>
            <a:pPr marL="171450" indent="-171450" defTabSz="623853" rtl="0" fontAlgn="base">
              <a:spcBef>
                <a:spcPct val="0"/>
              </a:spcBef>
              <a:spcAft>
                <a:spcPct val="0"/>
              </a:spcAft>
              <a:buClr>
                <a:srgbClr val="000000"/>
              </a:buClr>
              <a:buFont typeface="Arial" panose="020B0604020202020204" pitchFamily="34" charset="0"/>
              <a:buChar char="•"/>
            </a:pPr>
            <a:r>
              <a:rPr lang="en-US" sz="1400" dirty="0" smtClean="0">
                <a:solidFill>
                  <a:srgbClr val="0C2870"/>
                </a:solidFill>
                <a:latin typeface="Arial" charset="0"/>
                <a:cs typeface="Times New Roman" pitchFamily="18" charset="0"/>
              </a:rPr>
              <a:t>Includes ML among many other fields.</a:t>
            </a:r>
            <a:endParaRPr lang="en-US" sz="1400" kern="1200" dirty="0">
              <a:solidFill>
                <a:srgbClr val="0C2870"/>
              </a:solidFill>
              <a:latin typeface="Arial" charset="0"/>
              <a:cs typeface="Times New Roman" pitchFamily="18" charset="0"/>
            </a:endParaRPr>
          </a:p>
        </p:txBody>
      </p:sp>
      <p:sp>
        <p:nvSpPr>
          <p:cNvPr id="9" name="Oval 8"/>
          <p:cNvSpPr/>
          <p:nvPr/>
        </p:nvSpPr>
        <p:spPr bwMode="auto">
          <a:xfrm>
            <a:off x="-63129" y="4060893"/>
            <a:ext cx="3604018" cy="2130264"/>
          </a:xfrm>
          <a:prstGeom prst="ellipse">
            <a:avLst/>
          </a:prstGeom>
          <a:noFill/>
          <a:ln>
            <a:noFill/>
          </a:ln>
        </p:spPr>
        <p:txBody>
          <a:bodyPr wrap="square" lIns="91428" tIns="45715" rIns="91428" bIns="45715" rtlCol="0" anchor="ctr">
            <a:noAutofit/>
          </a:bodyPr>
          <a:lstStyle/>
          <a:p>
            <a:pPr algn="just" defTabSz="623853" fontAlgn="base">
              <a:lnSpc>
                <a:spcPts val="1100"/>
              </a:lnSpc>
              <a:spcBef>
                <a:spcPct val="0"/>
              </a:spcBef>
              <a:spcAft>
                <a:spcPct val="0"/>
              </a:spcAft>
              <a:buClr>
                <a:srgbClr val="000000"/>
              </a:buClr>
            </a:pPr>
            <a:r>
              <a:rPr lang="en-US" sz="1400" b="1" dirty="0">
                <a:solidFill>
                  <a:schemeClr val="accent1">
                    <a:lumMod val="75000"/>
                  </a:schemeClr>
                </a:solidFill>
                <a:latin typeface="Comic Sans MS" panose="030F0702030302020204" pitchFamily="66" charset="0"/>
                <a:cs typeface="Times New Roman" pitchFamily="18" charset="0"/>
              </a:rPr>
              <a:t>Machine </a:t>
            </a:r>
            <a:r>
              <a:rPr lang="en-US" sz="1400" b="1" dirty="0" smtClean="0">
                <a:solidFill>
                  <a:schemeClr val="accent1">
                    <a:lumMod val="75000"/>
                  </a:schemeClr>
                </a:solidFill>
                <a:latin typeface="Comic Sans MS" panose="030F0702030302020204" pitchFamily="66" charset="0"/>
                <a:cs typeface="Times New Roman" pitchFamily="18" charset="0"/>
              </a:rPr>
              <a:t>Learning </a:t>
            </a:r>
            <a:endParaRPr lang="en-US" sz="1400" b="1" dirty="0">
              <a:solidFill>
                <a:schemeClr val="accent1">
                  <a:lumMod val="75000"/>
                </a:schemeClr>
              </a:solidFill>
              <a:latin typeface="Comic Sans MS" panose="030F0702030302020204" pitchFamily="66" charset="0"/>
              <a:cs typeface="Times New Roman" pitchFamily="18" charset="0"/>
            </a:endParaRPr>
          </a:p>
          <a:p>
            <a:pPr algn="just" defTabSz="623853" fontAlgn="base">
              <a:lnSpc>
                <a:spcPts val="1100"/>
              </a:lnSpc>
              <a:spcBef>
                <a:spcPct val="0"/>
              </a:spcBef>
              <a:spcAft>
                <a:spcPct val="0"/>
              </a:spcAft>
              <a:buClr>
                <a:srgbClr val="000000"/>
              </a:buClr>
            </a:pPr>
            <a:endParaRPr lang="en-US" sz="1200" dirty="0">
              <a:solidFill>
                <a:srgbClr val="0C2870"/>
              </a:solidFill>
              <a:latin typeface="Arial" charset="0"/>
              <a:cs typeface="Times New Roman" pitchFamily="18" charset="0"/>
            </a:endParaRPr>
          </a:p>
          <a:p>
            <a:pPr marL="171450" indent="-171450" defTabSz="623853" fontAlgn="base">
              <a:spcBef>
                <a:spcPct val="0"/>
              </a:spcBef>
              <a:spcAft>
                <a:spcPct val="0"/>
              </a:spcAft>
              <a:buClr>
                <a:srgbClr val="000000"/>
              </a:buClr>
              <a:buFont typeface="Arial" panose="020B0604020202020204" pitchFamily="34" charset="0"/>
              <a:buChar char="•"/>
            </a:pPr>
            <a:r>
              <a:rPr lang="en-US" sz="1400" dirty="0">
                <a:solidFill>
                  <a:srgbClr val="0C2870"/>
                </a:solidFill>
                <a:latin typeface="Arial" charset="0"/>
                <a:cs typeface="Times New Roman" pitchFamily="18" charset="0"/>
              </a:rPr>
              <a:t>Algorithms that help machines improve through </a:t>
            </a:r>
            <a:r>
              <a:rPr lang="en-US" sz="1400" dirty="0" smtClean="0">
                <a:solidFill>
                  <a:srgbClr val="0C2870"/>
                </a:solidFill>
                <a:latin typeface="Arial" charset="0"/>
                <a:cs typeface="Times New Roman" pitchFamily="18" charset="0"/>
              </a:rPr>
              <a:t>supervised.</a:t>
            </a:r>
          </a:p>
          <a:p>
            <a:pPr defTabSz="623853" fontAlgn="base">
              <a:spcBef>
                <a:spcPct val="0"/>
              </a:spcBef>
              <a:spcAft>
                <a:spcPct val="0"/>
              </a:spcAft>
              <a:buClr>
                <a:srgbClr val="000000"/>
              </a:buClr>
            </a:pPr>
            <a:endParaRPr lang="en-US" sz="1400" dirty="0">
              <a:solidFill>
                <a:srgbClr val="0C2870"/>
              </a:solidFill>
              <a:latin typeface="Arial" charset="0"/>
              <a:cs typeface="Times New Roman" pitchFamily="18" charset="0"/>
            </a:endParaRPr>
          </a:p>
          <a:p>
            <a:pPr marL="171450" indent="-171450" defTabSz="623853" fontAlgn="base">
              <a:spcBef>
                <a:spcPct val="0"/>
              </a:spcBef>
              <a:spcAft>
                <a:spcPct val="0"/>
              </a:spcAft>
              <a:buClr>
                <a:srgbClr val="000000"/>
              </a:buClr>
              <a:buFont typeface="Arial" panose="020B0604020202020204" pitchFamily="34" charset="0"/>
              <a:buChar char="•"/>
            </a:pPr>
            <a:r>
              <a:rPr lang="en-US" sz="1400" dirty="0">
                <a:solidFill>
                  <a:srgbClr val="0C2870"/>
                </a:solidFill>
                <a:latin typeface="Arial" charset="0"/>
                <a:cs typeface="Times New Roman" pitchFamily="18" charset="0"/>
              </a:rPr>
              <a:t>Unsupervised, and reinforcement learning.</a:t>
            </a:r>
          </a:p>
          <a:p>
            <a:pPr defTabSz="623853" fontAlgn="base">
              <a:lnSpc>
                <a:spcPts val="1100"/>
              </a:lnSpc>
              <a:spcBef>
                <a:spcPct val="0"/>
              </a:spcBef>
              <a:spcAft>
                <a:spcPct val="0"/>
              </a:spcAft>
              <a:buClr>
                <a:srgbClr val="000000"/>
              </a:buClr>
            </a:pPr>
            <a:endParaRPr lang="en-US" sz="1400" dirty="0">
              <a:solidFill>
                <a:srgbClr val="0C2870"/>
              </a:solidFill>
              <a:latin typeface="Arial" charset="0"/>
              <a:cs typeface="Times New Roman" pitchFamily="18" charset="0"/>
            </a:endParaRPr>
          </a:p>
          <a:p>
            <a:pPr marL="171450" indent="-171450" defTabSz="623853" fontAlgn="base">
              <a:spcBef>
                <a:spcPct val="0"/>
              </a:spcBef>
              <a:spcAft>
                <a:spcPct val="0"/>
              </a:spcAft>
              <a:buClr>
                <a:srgbClr val="000000"/>
              </a:buClr>
              <a:buFont typeface="Arial" panose="020B0604020202020204" pitchFamily="34" charset="0"/>
              <a:buChar char="•"/>
            </a:pPr>
            <a:r>
              <a:rPr lang="en-US" sz="1400" dirty="0">
                <a:solidFill>
                  <a:srgbClr val="0C2870"/>
                </a:solidFill>
                <a:latin typeface="Arial" charset="0"/>
                <a:cs typeface="Times New Roman" pitchFamily="18" charset="0"/>
              </a:rPr>
              <a:t>Subset of AI and Data Science tool.</a:t>
            </a:r>
          </a:p>
        </p:txBody>
      </p:sp>
      <p:sp>
        <p:nvSpPr>
          <p:cNvPr id="16" name="Oval 15"/>
          <p:cNvSpPr/>
          <p:nvPr/>
        </p:nvSpPr>
        <p:spPr bwMode="auto">
          <a:xfrm>
            <a:off x="2745900" y="1614921"/>
            <a:ext cx="3770316" cy="3816424"/>
          </a:xfrm>
          <a:prstGeom prst="ellipse">
            <a:avLst/>
          </a:prstGeom>
          <a:solidFill>
            <a:schemeClr val="accent1">
              <a:lumMod val="75000"/>
            </a:schemeClr>
          </a:solidFill>
          <a:ln>
            <a:noFill/>
          </a:ln>
        </p:spPr>
        <p:txBody>
          <a:bodyPr wrap="square" lIns="91428" tIns="45715" rIns="91428" bIns="45715" rtlCol="0" anchor="ctr">
            <a:noAutofit/>
          </a:bodyPr>
          <a:lstStyle/>
          <a:p>
            <a:pPr algn="ctr" defTabSz="623853" fontAlgn="base">
              <a:lnSpc>
                <a:spcPts val="1100"/>
              </a:lnSpc>
              <a:spcBef>
                <a:spcPct val="0"/>
              </a:spcBef>
              <a:spcAft>
                <a:spcPct val="0"/>
              </a:spcAft>
              <a:buClr>
                <a:srgbClr val="000000"/>
              </a:buClr>
            </a:pPr>
            <a:endParaRPr lang="en-US" sz="1400" b="1" dirty="0">
              <a:solidFill>
                <a:schemeClr val="bg1"/>
              </a:solidFill>
              <a:latin typeface="Comic Sans MS" panose="030F0702030302020204" pitchFamily="66" charset="0"/>
              <a:cs typeface="Times New Roman" pitchFamily="18" charset="0"/>
            </a:endParaRPr>
          </a:p>
        </p:txBody>
      </p:sp>
      <p:sp>
        <p:nvSpPr>
          <p:cNvPr id="14" name="Oval 13"/>
          <p:cNvSpPr/>
          <p:nvPr/>
        </p:nvSpPr>
        <p:spPr bwMode="auto">
          <a:xfrm>
            <a:off x="3122373" y="2214774"/>
            <a:ext cx="3096344" cy="577314"/>
          </a:xfrm>
          <a:prstGeom prst="ellipse">
            <a:avLst/>
          </a:prstGeom>
          <a:solidFill>
            <a:schemeClr val="accent1">
              <a:lumMod val="75000"/>
            </a:schemeClr>
          </a:solidFill>
          <a:ln>
            <a:noFill/>
          </a:ln>
        </p:spPr>
        <p:txBody>
          <a:bodyPr wrap="square" lIns="91428" tIns="45715" rIns="91428" bIns="45715" rtlCol="0" anchor="ctr">
            <a:noAutofit/>
          </a:bodyPr>
          <a:lstStyle/>
          <a:p>
            <a:pPr algn="ctr" defTabSz="623853" fontAlgn="base">
              <a:lnSpc>
                <a:spcPts val="1100"/>
              </a:lnSpc>
              <a:spcBef>
                <a:spcPct val="0"/>
              </a:spcBef>
              <a:spcAft>
                <a:spcPct val="0"/>
              </a:spcAft>
              <a:buClr>
                <a:srgbClr val="000000"/>
              </a:buClr>
            </a:pPr>
            <a:r>
              <a:rPr lang="en-US" sz="1400" b="1" dirty="0" smtClean="0">
                <a:solidFill>
                  <a:schemeClr val="bg1"/>
                </a:solidFill>
                <a:latin typeface="Comic Sans MS" panose="030F0702030302020204" pitchFamily="66" charset="0"/>
                <a:cs typeface="Times New Roman" pitchFamily="18" charset="0"/>
              </a:rPr>
              <a:t>Data Science</a:t>
            </a:r>
            <a:endParaRPr lang="en-US" sz="1400" b="1" dirty="0">
              <a:solidFill>
                <a:schemeClr val="bg1"/>
              </a:solidFill>
              <a:latin typeface="Comic Sans MS" panose="030F0702030302020204" pitchFamily="66" charset="0"/>
              <a:cs typeface="Times New Roman" pitchFamily="18" charset="0"/>
            </a:endParaRPr>
          </a:p>
        </p:txBody>
      </p:sp>
      <p:sp>
        <p:nvSpPr>
          <p:cNvPr id="15" name="Oval 14"/>
          <p:cNvSpPr/>
          <p:nvPr/>
        </p:nvSpPr>
        <p:spPr bwMode="auto">
          <a:xfrm>
            <a:off x="3131841" y="2727047"/>
            <a:ext cx="3096343" cy="2697821"/>
          </a:xfrm>
          <a:prstGeom prst="ellipse">
            <a:avLst/>
          </a:prstGeom>
          <a:solidFill>
            <a:srgbClr val="00B050"/>
          </a:solidFill>
          <a:ln>
            <a:noFill/>
          </a:ln>
        </p:spPr>
        <p:txBody>
          <a:bodyPr wrap="square" lIns="91428" tIns="45715" rIns="91428" bIns="45715" rtlCol="0" anchor="ctr">
            <a:noAutofit/>
          </a:bodyPr>
          <a:lstStyle/>
          <a:p>
            <a:pPr algn="ctr" defTabSz="623853" fontAlgn="base">
              <a:lnSpc>
                <a:spcPts val="1100"/>
              </a:lnSpc>
              <a:spcBef>
                <a:spcPct val="0"/>
              </a:spcBef>
              <a:spcAft>
                <a:spcPct val="0"/>
              </a:spcAft>
              <a:buClr>
                <a:srgbClr val="000000"/>
              </a:buClr>
            </a:pPr>
            <a:endParaRPr lang="en-US" sz="1400" b="1" dirty="0">
              <a:solidFill>
                <a:schemeClr val="bg1"/>
              </a:solidFill>
              <a:latin typeface="Comic Sans MS" panose="030F0702030302020204" pitchFamily="66" charset="0"/>
              <a:cs typeface="Times New Roman" pitchFamily="18" charset="0"/>
            </a:endParaRPr>
          </a:p>
        </p:txBody>
      </p:sp>
      <p:sp>
        <p:nvSpPr>
          <p:cNvPr id="17" name="Oval 16"/>
          <p:cNvSpPr/>
          <p:nvPr/>
        </p:nvSpPr>
        <p:spPr bwMode="auto">
          <a:xfrm>
            <a:off x="3213634" y="3362005"/>
            <a:ext cx="2913821" cy="715067"/>
          </a:xfrm>
          <a:prstGeom prst="ellipse">
            <a:avLst/>
          </a:prstGeom>
          <a:solidFill>
            <a:srgbClr val="00B050"/>
          </a:solidFill>
          <a:ln>
            <a:noFill/>
          </a:ln>
        </p:spPr>
        <p:txBody>
          <a:bodyPr wrap="square" lIns="91428" tIns="45715" rIns="91428" bIns="45715" rtlCol="0" anchor="ctr">
            <a:noAutofit/>
          </a:bodyPr>
          <a:lstStyle/>
          <a:p>
            <a:pPr algn="ctr" defTabSz="623853" fontAlgn="base">
              <a:lnSpc>
                <a:spcPts val="1100"/>
              </a:lnSpc>
              <a:spcBef>
                <a:spcPct val="0"/>
              </a:spcBef>
              <a:spcAft>
                <a:spcPct val="0"/>
              </a:spcAft>
              <a:buClr>
                <a:srgbClr val="000000"/>
              </a:buClr>
            </a:pPr>
            <a:r>
              <a:rPr lang="en-US" sz="1400" b="1" dirty="0" smtClean="0">
                <a:solidFill>
                  <a:schemeClr val="bg1"/>
                </a:solidFill>
                <a:latin typeface="Comic Sans MS" panose="030F0702030302020204" pitchFamily="66" charset="0"/>
                <a:cs typeface="Times New Roman" pitchFamily="18" charset="0"/>
              </a:rPr>
              <a:t>Artificial Intelligence</a:t>
            </a:r>
            <a:endParaRPr lang="en-US" sz="1400" b="1" dirty="0">
              <a:solidFill>
                <a:schemeClr val="bg1"/>
              </a:solidFill>
              <a:latin typeface="Comic Sans MS" panose="030F0702030302020204" pitchFamily="66" charset="0"/>
              <a:cs typeface="Times New Roman" pitchFamily="18" charset="0"/>
            </a:endParaRPr>
          </a:p>
        </p:txBody>
      </p:sp>
      <p:sp>
        <p:nvSpPr>
          <p:cNvPr id="19" name="Oval 18"/>
          <p:cNvSpPr/>
          <p:nvPr/>
        </p:nvSpPr>
        <p:spPr bwMode="auto">
          <a:xfrm>
            <a:off x="3949936" y="4475917"/>
            <a:ext cx="1460260" cy="969307"/>
          </a:xfrm>
          <a:prstGeom prst="ellipse">
            <a:avLst/>
          </a:prstGeom>
          <a:solidFill>
            <a:srgbClr val="FFC000"/>
          </a:solidFill>
          <a:ln>
            <a:noFill/>
          </a:ln>
        </p:spPr>
        <p:txBody>
          <a:bodyPr wrap="square" lIns="91428" tIns="45715" rIns="91428" bIns="45715" rtlCol="0" anchor="ctr">
            <a:noAutofit/>
          </a:bodyPr>
          <a:lstStyle/>
          <a:p>
            <a:pPr algn="ctr" defTabSz="623853" fontAlgn="base">
              <a:spcBef>
                <a:spcPct val="0"/>
              </a:spcBef>
              <a:spcAft>
                <a:spcPct val="0"/>
              </a:spcAft>
              <a:buClr>
                <a:srgbClr val="000000"/>
              </a:buClr>
            </a:pPr>
            <a:r>
              <a:rPr lang="en-US" sz="1400" b="1" dirty="0" smtClean="0">
                <a:solidFill>
                  <a:schemeClr val="bg1"/>
                </a:solidFill>
                <a:latin typeface="Comic Sans MS" panose="030F0702030302020204" pitchFamily="66" charset="0"/>
                <a:cs typeface="Times New Roman" pitchFamily="18" charset="0"/>
              </a:rPr>
              <a:t>Machine Learning</a:t>
            </a:r>
            <a:endParaRPr lang="en-US" sz="1400" b="1" dirty="0">
              <a:solidFill>
                <a:schemeClr val="bg1"/>
              </a:solidFill>
              <a:latin typeface="Comic Sans MS" panose="030F0702030302020204" pitchFamily="66" charset="0"/>
              <a:cs typeface="Times New Roman" pitchFamily="18" charset="0"/>
            </a:endParaRPr>
          </a:p>
        </p:txBody>
      </p:sp>
      <p:cxnSp>
        <p:nvCxnSpPr>
          <p:cNvPr id="13" name="Straight Connector 12"/>
          <p:cNvCxnSpPr/>
          <p:nvPr/>
        </p:nvCxnSpPr>
        <p:spPr>
          <a:xfrm>
            <a:off x="1763688" y="1611444"/>
            <a:ext cx="1777201" cy="603330"/>
          </a:xfrm>
          <a:prstGeom prst="line">
            <a:avLst/>
          </a:prstGeom>
          <a:ln>
            <a:solidFill>
              <a:schemeClr val="accent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5796136" y="3145981"/>
            <a:ext cx="836308" cy="464289"/>
          </a:xfrm>
          <a:prstGeom prst="line">
            <a:avLst/>
          </a:prstGeom>
          <a:ln>
            <a:solidFill>
              <a:schemeClr val="accent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195736" y="4149080"/>
            <a:ext cx="2016224" cy="792088"/>
          </a:xfrm>
          <a:prstGeom prst="line">
            <a:avLst/>
          </a:prstGeom>
          <a:ln>
            <a:solidFill>
              <a:schemeClr val="accent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66584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a:solidFill>
                  <a:schemeClr val="accent1">
                    <a:lumMod val="75000"/>
                  </a:schemeClr>
                </a:solidFill>
                <a:latin typeface="Comic Sans MS" panose="030F0702030302020204" pitchFamily="66" charset="0"/>
              </a:rPr>
              <a:t>A</a:t>
            </a:r>
            <a:r>
              <a:rPr lang="en-US" b="1" dirty="0" smtClean="0">
                <a:solidFill>
                  <a:schemeClr val="accent1">
                    <a:lumMod val="75000"/>
                  </a:schemeClr>
                </a:solidFill>
                <a:latin typeface="Comic Sans MS" panose="030F0702030302020204" pitchFamily="66" charset="0"/>
              </a:rPr>
              <a:t>dditional </a:t>
            </a:r>
            <a:r>
              <a:rPr lang="en-US" b="1" dirty="0">
                <a:solidFill>
                  <a:schemeClr val="accent1">
                    <a:lumMod val="75000"/>
                  </a:schemeClr>
                </a:solidFill>
                <a:latin typeface="Comic Sans MS" panose="030F0702030302020204" pitchFamily="66" charset="0"/>
              </a:rPr>
              <a:t>digital technologies within the context of Industry </a:t>
            </a:r>
            <a:r>
              <a:rPr lang="en-US" b="1" dirty="0" smtClean="0">
                <a:solidFill>
                  <a:schemeClr val="accent1">
                    <a:lumMod val="75000"/>
                  </a:schemeClr>
                </a:solidFill>
                <a:latin typeface="Comic Sans MS" panose="030F0702030302020204" pitchFamily="66" charset="0"/>
              </a:rPr>
              <a:t>4.0</a:t>
            </a:r>
          </a:p>
        </p:txBody>
      </p:sp>
      <p:sp>
        <p:nvSpPr>
          <p:cNvPr id="6" name="Rectangle 5"/>
          <p:cNvSpPr/>
          <p:nvPr/>
        </p:nvSpPr>
        <p:spPr>
          <a:xfrm>
            <a:off x="611560" y="1124744"/>
            <a:ext cx="8128819" cy="6124754"/>
          </a:xfrm>
          <a:prstGeom prst="rect">
            <a:avLst/>
          </a:prstGeom>
        </p:spPr>
        <p:txBody>
          <a:bodyPr wrap="square">
            <a:spAutoFit/>
          </a:bodyPr>
          <a:lstStyle/>
          <a:p>
            <a:pPr algn="just"/>
            <a:r>
              <a:rPr lang="en-US" sz="1400" b="1" dirty="0">
                <a:solidFill>
                  <a:srgbClr val="C00000"/>
                </a:solidFill>
                <a:latin typeface="Comic Sans MS" panose="030F0702030302020204" pitchFamily="66" charset="0"/>
              </a:rPr>
              <a:t>Cyber-physical systems</a:t>
            </a:r>
          </a:p>
          <a:p>
            <a:pPr algn="just"/>
            <a:r>
              <a:rPr lang="en-US" sz="1400" dirty="0">
                <a:solidFill>
                  <a:schemeClr val="accent1">
                    <a:lumMod val="75000"/>
                  </a:schemeClr>
                </a:solidFill>
              </a:rPr>
              <a:t>Broadly speaking, cyber-physical systems (CPS) are </a:t>
            </a:r>
            <a:r>
              <a:rPr lang="en-US" sz="1400" b="1" dirty="0">
                <a:solidFill>
                  <a:schemeClr val="accent1">
                    <a:lumMod val="75000"/>
                  </a:schemeClr>
                </a:solidFill>
              </a:rPr>
              <a:t>machines controlled by computers and algorithms</a:t>
            </a:r>
            <a:r>
              <a:rPr lang="en-US" sz="1400" dirty="0">
                <a:solidFill>
                  <a:schemeClr val="accent1">
                    <a:lumMod val="75000"/>
                  </a:schemeClr>
                </a:solidFill>
              </a:rPr>
              <a:t>. These devices are monitored by computers, who are in control of the physical processes involved</a:t>
            </a:r>
            <a:r>
              <a:rPr lang="en-US" sz="1400" dirty="0" smtClean="0">
                <a:solidFill>
                  <a:schemeClr val="accent1">
                    <a:lumMod val="75000"/>
                  </a:schemeClr>
                </a:solidFill>
              </a:rPr>
              <a:t>. However</a:t>
            </a:r>
            <a:r>
              <a:rPr lang="en-US" sz="1400" dirty="0">
                <a:solidFill>
                  <a:schemeClr val="accent1">
                    <a:lumMod val="75000"/>
                  </a:schemeClr>
                </a:solidFill>
              </a:rPr>
              <a:t>, the real key to this technology resides in its </a:t>
            </a:r>
            <a:r>
              <a:rPr lang="en-US" sz="1400" b="1" dirty="0">
                <a:solidFill>
                  <a:schemeClr val="accent1">
                    <a:lumMod val="75000"/>
                  </a:schemeClr>
                </a:solidFill>
              </a:rPr>
              <a:t>feedback</a:t>
            </a:r>
            <a:r>
              <a:rPr lang="en-US" sz="1400" dirty="0">
                <a:solidFill>
                  <a:schemeClr val="accent1">
                    <a:lumMod val="75000"/>
                  </a:schemeClr>
                </a:solidFill>
              </a:rPr>
              <a:t>, which is used by the system to interpret actions, track results, and automatically learn to improve efficiency.</a:t>
            </a:r>
          </a:p>
          <a:p>
            <a:pPr algn="just"/>
            <a:r>
              <a:rPr lang="en-US" sz="1400" dirty="0">
                <a:solidFill>
                  <a:schemeClr val="accent1">
                    <a:lumMod val="75000"/>
                  </a:schemeClr>
                </a:solidFill>
              </a:rPr>
              <a:t>Although these systems may seem somewhat complex, it’s easier to understand them through some examples. </a:t>
            </a:r>
            <a:r>
              <a:rPr lang="en-US" sz="1400" b="1" dirty="0">
                <a:solidFill>
                  <a:schemeClr val="accent1">
                    <a:lumMod val="75000"/>
                  </a:schemeClr>
                </a:solidFill>
              </a:rPr>
              <a:t>Self-driving cars</a:t>
            </a:r>
            <a:r>
              <a:rPr lang="en-US" sz="1400" dirty="0">
                <a:solidFill>
                  <a:schemeClr val="accent1">
                    <a:lumMod val="75000"/>
                  </a:schemeClr>
                </a:solidFill>
              </a:rPr>
              <a:t>, home automation systems, or civil infrastructure and road monitoring systems are all manifestations of this technology</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a:solidFill>
                  <a:srgbClr val="C00000"/>
                </a:solidFill>
                <a:latin typeface="Comic Sans MS" panose="030F0702030302020204" pitchFamily="66" charset="0"/>
              </a:rPr>
              <a:t>Digital twin</a:t>
            </a:r>
          </a:p>
          <a:p>
            <a:pPr algn="just"/>
            <a:r>
              <a:rPr lang="en-US" sz="1400" dirty="0">
                <a:solidFill>
                  <a:schemeClr val="accent1">
                    <a:lumMod val="75000"/>
                  </a:schemeClr>
                </a:solidFill>
              </a:rPr>
              <a:t>A digital twin is </a:t>
            </a:r>
            <a:r>
              <a:rPr lang="en-US" sz="1400" b="1" dirty="0">
                <a:solidFill>
                  <a:schemeClr val="accent1">
                    <a:lumMod val="75000"/>
                  </a:schemeClr>
                </a:solidFill>
              </a:rPr>
              <a:t>a given machine or component’s virtual recreation</a:t>
            </a:r>
            <a:r>
              <a:rPr lang="en-US" sz="1400" dirty="0">
                <a:solidFill>
                  <a:schemeClr val="accent1">
                    <a:lumMod val="75000"/>
                  </a:schemeClr>
                </a:solidFill>
              </a:rPr>
              <a:t> that enables simulating its operation. Consequently, it enables studying </a:t>
            </a:r>
            <a:r>
              <a:rPr lang="en-US" sz="1400" b="1" dirty="0">
                <a:solidFill>
                  <a:schemeClr val="accent1">
                    <a:lumMod val="75000"/>
                  </a:schemeClr>
                </a:solidFill>
              </a:rPr>
              <a:t>how a real machine will behave</a:t>
            </a:r>
            <a:r>
              <a:rPr lang="en-US" sz="1400" dirty="0">
                <a:solidFill>
                  <a:schemeClr val="accent1">
                    <a:lumMod val="75000"/>
                  </a:schemeClr>
                </a:solidFill>
              </a:rPr>
              <a:t> under certain given circumstances and also performing predictive maintenance since it’s a tool that can be used for anticipating a machine’s possible future breakdowns.</a:t>
            </a:r>
          </a:p>
          <a:p>
            <a:pPr algn="just"/>
            <a:endParaRPr lang="en-US" sz="1400" dirty="0" smtClean="0">
              <a:solidFill>
                <a:schemeClr val="accent1">
                  <a:lumMod val="75000"/>
                </a:schemeClr>
              </a:solidFill>
            </a:endParaRPr>
          </a:p>
          <a:p>
            <a:pPr algn="just"/>
            <a:r>
              <a:rPr lang="en-US" sz="1400" b="1" dirty="0" err="1">
                <a:solidFill>
                  <a:srgbClr val="C00000"/>
                </a:solidFill>
                <a:latin typeface="Comic Sans MS" panose="030F0702030302020204" pitchFamily="66" charset="0"/>
              </a:rPr>
              <a:t>Cobots</a:t>
            </a:r>
            <a:endParaRPr lang="en-US" sz="1400" b="1" dirty="0">
              <a:solidFill>
                <a:srgbClr val="C00000"/>
              </a:solidFill>
              <a:latin typeface="Comic Sans MS" panose="030F0702030302020204" pitchFamily="66" charset="0"/>
            </a:endParaRPr>
          </a:p>
          <a:p>
            <a:pPr algn="just"/>
            <a:r>
              <a:rPr lang="en-US" sz="1400" dirty="0" err="1">
                <a:solidFill>
                  <a:schemeClr val="accent1">
                    <a:lumMod val="75000"/>
                  </a:schemeClr>
                </a:solidFill>
              </a:rPr>
              <a:t>Cobots</a:t>
            </a:r>
            <a:r>
              <a:rPr lang="en-US" sz="1400" dirty="0">
                <a:solidFill>
                  <a:schemeClr val="accent1">
                    <a:lumMod val="75000"/>
                  </a:schemeClr>
                </a:solidFill>
              </a:rPr>
              <a:t> are robots that collaborate among themselves or with human operators and they have become a trend in the manufacturing industry. It’s being anticipated that their use in factories will </a:t>
            </a:r>
            <a:r>
              <a:rPr lang="en-US" sz="1400" b="1" dirty="0">
                <a:solidFill>
                  <a:schemeClr val="accent1">
                    <a:lumMod val="75000"/>
                  </a:schemeClr>
                </a:solidFill>
              </a:rPr>
              <a:t>increase to ease the tasks of their human co-workers</a:t>
            </a:r>
            <a:r>
              <a:rPr lang="en-US" sz="1400" dirty="0">
                <a:solidFill>
                  <a:schemeClr val="accent1">
                    <a:lumMod val="75000"/>
                  </a:schemeClr>
                </a:solidFill>
              </a:rPr>
              <a:t> by taking on repetitive duties or the most hazardous ones to improve safety</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b="1" dirty="0" err="1">
                <a:solidFill>
                  <a:srgbClr val="C00000"/>
                </a:solidFill>
                <a:latin typeface="Comic Sans MS" panose="030F0702030302020204" pitchFamily="66" charset="0"/>
              </a:rPr>
              <a:t>Blockchain</a:t>
            </a:r>
            <a:endParaRPr lang="en-US" sz="1400" b="1" dirty="0">
              <a:solidFill>
                <a:srgbClr val="C00000"/>
              </a:solidFill>
              <a:latin typeface="Comic Sans MS" panose="030F0702030302020204" pitchFamily="66" charset="0"/>
            </a:endParaRPr>
          </a:p>
          <a:p>
            <a:pPr algn="just"/>
            <a:r>
              <a:rPr lang="en-US" sz="1400" dirty="0">
                <a:solidFill>
                  <a:schemeClr val="accent1">
                    <a:lumMod val="75000"/>
                  </a:schemeClr>
                </a:solidFill>
              </a:rPr>
              <a:t>This technology might currently not be as well embedded in the manufacturing industry as it is in the financial industry but it </a:t>
            </a:r>
            <a:r>
              <a:rPr lang="en-US" sz="1400" dirty="0" smtClean="0">
                <a:solidFill>
                  <a:schemeClr val="accent1">
                    <a:lumMod val="75000"/>
                  </a:schemeClr>
                </a:solidFill>
              </a:rPr>
              <a:t>harbors</a:t>
            </a:r>
            <a:r>
              <a:rPr lang="en-US" sz="1400" dirty="0">
                <a:solidFill>
                  <a:schemeClr val="accent1">
                    <a:lumMod val="75000"/>
                  </a:schemeClr>
                </a:solidFill>
              </a:rPr>
              <a:t>, nevertheless, a great many possibilities for Industry 4.0. It can </a:t>
            </a:r>
            <a:r>
              <a:rPr lang="en-US" sz="1400" b="1" dirty="0">
                <a:solidFill>
                  <a:schemeClr val="accent1">
                    <a:lumMod val="75000"/>
                  </a:schemeClr>
                </a:solidFill>
              </a:rPr>
              <a:t>guarantee the traceability of the entire production</a:t>
            </a:r>
            <a:r>
              <a:rPr lang="en-US" sz="1400" dirty="0">
                <a:solidFill>
                  <a:schemeClr val="accent1">
                    <a:lumMod val="75000"/>
                  </a:schemeClr>
                </a:solidFill>
              </a:rPr>
              <a:t> and supply chains, as well as other transactions.</a:t>
            </a:r>
          </a:p>
          <a:p>
            <a:pPr algn="just"/>
            <a:endParaRPr lang="en-US" sz="1400" dirty="0"/>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Tree>
    <p:extLst>
      <p:ext uri="{BB962C8B-B14F-4D97-AF65-F5344CB8AC3E}">
        <p14:creationId xmlns:p14="http://schemas.microsoft.com/office/powerpoint/2010/main" val="12664272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Benefits of Industry 4.0</a:t>
            </a:r>
          </a:p>
        </p:txBody>
      </p:sp>
      <p:sp>
        <p:nvSpPr>
          <p:cNvPr id="6" name="Rectangle 5"/>
          <p:cNvSpPr/>
          <p:nvPr/>
        </p:nvSpPr>
        <p:spPr>
          <a:xfrm>
            <a:off x="539552" y="1988840"/>
            <a:ext cx="8128819" cy="2749471"/>
          </a:xfrm>
          <a:prstGeom prst="rect">
            <a:avLst/>
          </a:prstGeom>
        </p:spPr>
        <p:txBody>
          <a:bodyPr wrap="square">
            <a:spAutoFit/>
          </a:bodyPr>
          <a:lstStyle/>
          <a:p>
            <a:pPr marL="83250" indent="-285750" algn="just" defTabSz="685800">
              <a:spcBef>
                <a:spcPts val="0"/>
              </a:spcBef>
              <a:spcAft>
                <a:spcPts val="675"/>
              </a:spcAft>
              <a:buSzTx/>
              <a:buFont typeface="Arial" panose="020B0604020202020204" pitchFamily="34" charset="0"/>
              <a:buChar char="•"/>
              <a:defRPr/>
            </a:pPr>
            <a:r>
              <a:rPr lang="en-US" sz="1400" dirty="0">
                <a:solidFill>
                  <a:schemeClr val="accent1">
                    <a:lumMod val="75000"/>
                  </a:schemeClr>
                </a:solidFill>
              </a:rPr>
              <a:t>More precise control over production </a:t>
            </a:r>
            <a:r>
              <a:rPr lang="en-US" sz="1400" dirty="0" smtClean="0">
                <a:solidFill>
                  <a:schemeClr val="accent1">
                    <a:lumMod val="75000"/>
                  </a:schemeClr>
                </a:solidFill>
              </a:rPr>
              <a:t>lines. </a:t>
            </a:r>
            <a:endParaRPr lang="en-US" sz="1400" dirty="0">
              <a:solidFill>
                <a:schemeClr val="accent1">
                  <a:lumMod val="75000"/>
                </a:schemeClr>
              </a:solidFill>
            </a:endParaRPr>
          </a:p>
          <a:p>
            <a:pPr marL="83250" indent="-285750" algn="just" defTabSz="685800">
              <a:spcBef>
                <a:spcPts val="0"/>
              </a:spcBef>
              <a:spcAft>
                <a:spcPts val="675"/>
              </a:spcAft>
              <a:buSzTx/>
              <a:buFont typeface="Arial" panose="020B0604020202020204" pitchFamily="34" charset="0"/>
              <a:buChar char="•"/>
              <a:defRPr/>
            </a:pPr>
            <a:r>
              <a:rPr lang="en-US" sz="1400" dirty="0">
                <a:solidFill>
                  <a:schemeClr val="accent1">
                    <a:lumMod val="75000"/>
                  </a:schemeClr>
                </a:solidFill>
              </a:rPr>
              <a:t>Improve consistency of </a:t>
            </a:r>
            <a:r>
              <a:rPr lang="en-US" sz="1400" dirty="0" smtClean="0">
                <a:solidFill>
                  <a:schemeClr val="accent1">
                    <a:lumMod val="75000"/>
                  </a:schemeClr>
                </a:solidFill>
              </a:rPr>
              <a:t>production.</a:t>
            </a:r>
            <a:endParaRPr lang="en-US" sz="1400" dirty="0">
              <a:solidFill>
                <a:schemeClr val="accent1">
                  <a:lumMod val="75000"/>
                </a:schemeClr>
              </a:solidFill>
            </a:endParaRPr>
          </a:p>
          <a:p>
            <a:pPr marL="83250" indent="-285750" algn="just" defTabSz="685800">
              <a:spcBef>
                <a:spcPts val="0"/>
              </a:spcBef>
              <a:spcAft>
                <a:spcPts val="675"/>
              </a:spcAft>
              <a:buSzTx/>
              <a:buFont typeface="Arial" panose="020B0604020202020204" pitchFamily="34" charset="0"/>
              <a:buChar char="•"/>
              <a:defRPr/>
            </a:pPr>
            <a:r>
              <a:rPr lang="en-US" sz="1400" dirty="0" smtClean="0">
                <a:solidFill>
                  <a:schemeClr val="accent1">
                    <a:lumMod val="75000"/>
                  </a:schemeClr>
                </a:solidFill>
              </a:rPr>
              <a:t>Increase </a:t>
            </a:r>
            <a:r>
              <a:rPr lang="en-US" sz="1400" dirty="0">
                <a:solidFill>
                  <a:schemeClr val="accent1">
                    <a:lumMod val="75000"/>
                  </a:schemeClr>
                </a:solidFill>
              </a:rPr>
              <a:t>efficiency and </a:t>
            </a:r>
            <a:r>
              <a:rPr lang="en-US" sz="1400" dirty="0" smtClean="0">
                <a:solidFill>
                  <a:schemeClr val="accent1">
                    <a:lumMod val="75000"/>
                  </a:schemeClr>
                </a:solidFill>
              </a:rPr>
              <a:t>revenue.</a:t>
            </a:r>
            <a:endParaRPr lang="en-US" sz="1400" dirty="0">
              <a:solidFill>
                <a:schemeClr val="accent1">
                  <a:lumMod val="75000"/>
                </a:schemeClr>
              </a:solidFill>
            </a:endParaRPr>
          </a:p>
          <a:p>
            <a:pPr marL="83250" indent="-285750" algn="just" defTabSz="685800">
              <a:spcBef>
                <a:spcPts val="0"/>
              </a:spcBef>
              <a:spcAft>
                <a:spcPts val="675"/>
              </a:spcAft>
              <a:buSzTx/>
              <a:buFont typeface="Arial" panose="020B0604020202020204" pitchFamily="34" charset="0"/>
              <a:buChar char="•"/>
              <a:defRPr/>
            </a:pPr>
            <a:r>
              <a:rPr lang="en-US" sz="1400" dirty="0" smtClean="0">
                <a:solidFill>
                  <a:schemeClr val="accent1">
                    <a:lumMod val="75000"/>
                  </a:schemeClr>
                </a:solidFill>
              </a:rPr>
              <a:t>Predictive maintenance.</a:t>
            </a:r>
            <a:endParaRPr lang="en-US" sz="1400" dirty="0">
              <a:solidFill>
                <a:schemeClr val="accent1">
                  <a:lumMod val="75000"/>
                </a:schemeClr>
              </a:solidFill>
            </a:endParaRPr>
          </a:p>
          <a:p>
            <a:pPr marL="83250" indent="-285750" algn="just" defTabSz="685800">
              <a:spcBef>
                <a:spcPts val="0"/>
              </a:spcBef>
              <a:spcAft>
                <a:spcPts val="675"/>
              </a:spcAft>
              <a:buSzTx/>
              <a:buFont typeface="Arial" panose="020B0604020202020204" pitchFamily="34" charset="0"/>
              <a:buChar char="•"/>
              <a:defRPr/>
            </a:pPr>
            <a:r>
              <a:rPr lang="en-US" sz="1400" dirty="0">
                <a:solidFill>
                  <a:schemeClr val="accent1">
                    <a:lumMod val="75000"/>
                  </a:schemeClr>
                </a:solidFill>
              </a:rPr>
              <a:t>Less </a:t>
            </a:r>
            <a:r>
              <a:rPr lang="en-US" sz="1400" dirty="0" smtClean="0">
                <a:solidFill>
                  <a:schemeClr val="accent1">
                    <a:lumMod val="75000"/>
                  </a:schemeClr>
                </a:solidFill>
              </a:rPr>
              <a:t>waste.</a:t>
            </a:r>
            <a:endParaRPr lang="en-US" sz="1400" dirty="0">
              <a:solidFill>
                <a:schemeClr val="accent1">
                  <a:lumMod val="75000"/>
                </a:schemeClr>
              </a:solidFill>
            </a:endParaRPr>
          </a:p>
          <a:p>
            <a:pPr marL="83250" indent="-285750" algn="just" defTabSz="685800">
              <a:spcBef>
                <a:spcPts val="0"/>
              </a:spcBef>
              <a:spcAft>
                <a:spcPts val="675"/>
              </a:spcAft>
              <a:buSzTx/>
              <a:buFont typeface="Arial" panose="020B0604020202020204" pitchFamily="34" charset="0"/>
              <a:buChar char="•"/>
              <a:defRPr/>
            </a:pPr>
            <a:r>
              <a:rPr lang="en-US" sz="1400" dirty="0">
                <a:solidFill>
                  <a:schemeClr val="accent1">
                    <a:lumMod val="75000"/>
                  </a:schemeClr>
                </a:solidFill>
              </a:rPr>
              <a:t>Enables higher growth </a:t>
            </a:r>
            <a:r>
              <a:rPr lang="en-US" sz="1400" dirty="0" smtClean="0">
                <a:solidFill>
                  <a:schemeClr val="accent1">
                    <a:lumMod val="75000"/>
                  </a:schemeClr>
                </a:solidFill>
              </a:rPr>
              <a:t>levels.</a:t>
            </a:r>
            <a:endParaRPr lang="en-US" sz="1400" dirty="0">
              <a:solidFill>
                <a:schemeClr val="accent1">
                  <a:lumMod val="75000"/>
                </a:schemeClr>
              </a:solidFill>
            </a:endParaRPr>
          </a:p>
          <a:p>
            <a:pPr marL="83250" indent="-285750" algn="just" defTabSz="685800">
              <a:spcBef>
                <a:spcPts val="0"/>
              </a:spcBef>
              <a:spcAft>
                <a:spcPts val="675"/>
              </a:spcAft>
              <a:buSzTx/>
              <a:buFont typeface="Arial" panose="020B0604020202020204" pitchFamily="34" charset="0"/>
              <a:buChar char="•"/>
              <a:defRPr/>
            </a:pPr>
            <a:r>
              <a:rPr lang="ru-RU" sz="1400" dirty="0">
                <a:solidFill>
                  <a:schemeClr val="accent1">
                    <a:lumMod val="75000"/>
                  </a:schemeClr>
                </a:solidFill>
              </a:rPr>
              <a:t>Sustainable </a:t>
            </a:r>
            <a:r>
              <a:rPr lang="en-US" sz="1400" dirty="0" smtClean="0">
                <a:solidFill>
                  <a:schemeClr val="accent1">
                    <a:lumMod val="75000"/>
                  </a:schemeClr>
                </a:solidFill>
              </a:rPr>
              <a:t>m</a:t>
            </a:r>
            <a:r>
              <a:rPr lang="ru-RU" sz="1400" dirty="0" smtClean="0">
                <a:solidFill>
                  <a:schemeClr val="accent1">
                    <a:lumMod val="75000"/>
                  </a:schemeClr>
                </a:solidFill>
              </a:rPr>
              <a:t>anufacturing</a:t>
            </a:r>
            <a:r>
              <a:rPr lang="en-US" sz="1400" dirty="0" smtClean="0">
                <a:solidFill>
                  <a:schemeClr val="accent1">
                    <a:lumMod val="75000"/>
                  </a:schemeClr>
                </a:solidFill>
              </a:rPr>
              <a:t>.</a:t>
            </a:r>
            <a:endParaRPr lang="en-US" sz="1400" dirty="0">
              <a:solidFill>
                <a:schemeClr val="accent1">
                  <a:lumMod val="75000"/>
                </a:schemeClr>
              </a:solidFill>
            </a:endParaRPr>
          </a:p>
          <a:p>
            <a:pPr marL="83250" indent="-285750" algn="just" defTabSz="685800">
              <a:spcBef>
                <a:spcPts val="0"/>
              </a:spcBef>
              <a:spcAft>
                <a:spcPts val="675"/>
              </a:spcAft>
              <a:buSzTx/>
              <a:buFont typeface="Arial" panose="020B0604020202020204" pitchFamily="34" charset="0"/>
              <a:buChar char="•"/>
              <a:defRPr/>
            </a:pPr>
            <a:r>
              <a:rPr lang="ru-RU" sz="1400" dirty="0" smtClean="0">
                <a:solidFill>
                  <a:schemeClr val="accent1">
                    <a:lumMod val="75000"/>
                  </a:schemeClr>
                </a:solidFill>
              </a:rPr>
              <a:t>Increase </a:t>
            </a:r>
            <a:r>
              <a:rPr lang="ru-RU" sz="1400" dirty="0">
                <a:solidFill>
                  <a:schemeClr val="accent1">
                    <a:lumMod val="75000"/>
                  </a:schemeClr>
                </a:solidFill>
              </a:rPr>
              <a:t>customer </a:t>
            </a:r>
            <a:r>
              <a:rPr lang="ru-RU" sz="1400" dirty="0" smtClean="0">
                <a:solidFill>
                  <a:schemeClr val="accent1">
                    <a:lumMod val="75000"/>
                  </a:schemeClr>
                </a:solidFill>
              </a:rPr>
              <a:t>satisfaction</a:t>
            </a:r>
            <a:r>
              <a:rPr lang="en-US" sz="1400" dirty="0" smtClean="0">
                <a:solidFill>
                  <a:schemeClr val="accent1">
                    <a:lumMod val="75000"/>
                  </a:schemeClr>
                </a:solidFill>
              </a:rPr>
              <a:t>.</a:t>
            </a:r>
            <a:endParaRPr lang="en-US" sz="1400" dirty="0">
              <a:solidFill>
                <a:schemeClr val="accent1">
                  <a:lumMod val="75000"/>
                </a:schemeClr>
              </a:solidFill>
            </a:endParaRPr>
          </a:p>
          <a:p>
            <a:endParaRPr lang="en-US" sz="1400" dirty="0"/>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pic>
        <p:nvPicPr>
          <p:cNvPr id="10242" name="Picture 2" descr="The benefits of the industry 4.0 and how to implement it in your business -  DES-SHO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2470" y="3717032"/>
            <a:ext cx="4111930" cy="273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8746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Challenges of Industry 4.0</a:t>
            </a:r>
          </a:p>
        </p:txBody>
      </p:sp>
      <p:sp>
        <p:nvSpPr>
          <p:cNvPr id="6" name="Rectangle 5"/>
          <p:cNvSpPr/>
          <p:nvPr/>
        </p:nvSpPr>
        <p:spPr>
          <a:xfrm>
            <a:off x="467544" y="1340768"/>
            <a:ext cx="8128819" cy="5334794"/>
          </a:xfrm>
          <a:prstGeom prst="rect">
            <a:avLst/>
          </a:prstGeom>
        </p:spPr>
        <p:txBody>
          <a:bodyPr wrap="square">
            <a:spAutoFit/>
          </a:bodyPr>
          <a:lstStyle/>
          <a:p>
            <a:pPr algn="just" defTabSz="685800">
              <a:spcBef>
                <a:spcPts val="0"/>
              </a:spcBef>
              <a:spcAft>
                <a:spcPts val="675"/>
              </a:spcAft>
              <a:buSzTx/>
              <a:defRPr/>
            </a:pPr>
            <a:r>
              <a:rPr lang="en-US" sz="1400" dirty="0">
                <a:solidFill>
                  <a:schemeClr val="accent1">
                    <a:lumMod val="75000"/>
                  </a:schemeClr>
                </a:solidFill>
              </a:rPr>
              <a:t>Once you’re ready to invest in Industry 4.0 technologies, you will be faced with several challenges and risks that need to be addressed. </a:t>
            </a:r>
            <a:endParaRPr lang="en-US" sz="1400" dirty="0" smtClean="0">
              <a:solidFill>
                <a:schemeClr val="accent1">
                  <a:lumMod val="75000"/>
                </a:schemeClr>
              </a:solidFill>
            </a:endParaRPr>
          </a:p>
          <a:p>
            <a:pPr algn="just" defTabSz="685800">
              <a:spcBef>
                <a:spcPts val="0"/>
              </a:spcBef>
              <a:spcAft>
                <a:spcPts val="675"/>
              </a:spcAft>
              <a:buSzTx/>
              <a:defRPr/>
            </a:pPr>
            <a:endParaRPr lang="en-US" sz="1400" dirty="0" smtClean="0">
              <a:solidFill>
                <a:schemeClr val="accent1">
                  <a:lumMod val="75000"/>
                </a:schemeClr>
              </a:solidFill>
            </a:endParaRPr>
          </a:p>
          <a:p>
            <a:pPr algn="just" defTabSz="685800">
              <a:spcBef>
                <a:spcPts val="0"/>
              </a:spcBef>
              <a:spcAft>
                <a:spcPts val="675"/>
              </a:spcAft>
              <a:buSzTx/>
              <a:defRPr/>
            </a:pPr>
            <a:r>
              <a:rPr lang="en-US" sz="1400" b="1" dirty="0" smtClean="0">
                <a:solidFill>
                  <a:schemeClr val="accent1">
                    <a:lumMod val="75000"/>
                  </a:schemeClr>
                </a:solidFill>
                <a:latin typeface="Comic Sans MS" panose="030F0702030302020204" pitchFamily="66" charset="0"/>
              </a:rPr>
              <a:t>Identifying goals. </a:t>
            </a:r>
            <a:r>
              <a:rPr lang="en-US" sz="1400" dirty="0" smtClean="0">
                <a:solidFill>
                  <a:schemeClr val="accent1">
                    <a:lumMod val="75000"/>
                  </a:schemeClr>
                </a:solidFill>
              </a:rPr>
              <a:t>It’s </a:t>
            </a:r>
            <a:r>
              <a:rPr lang="en-US" sz="1400" dirty="0">
                <a:solidFill>
                  <a:schemeClr val="accent1">
                    <a:lumMod val="75000"/>
                  </a:schemeClr>
                </a:solidFill>
              </a:rPr>
              <a:t>crucial to identify </a:t>
            </a:r>
            <a:r>
              <a:rPr lang="en-US" sz="1400" dirty="0" smtClean="0">
                <a:solidFill>
                  <a:schemeClr val="accent1">
                    <a:lumMod val="75000"/>
                  </a:schemeClr>
                </a:solidFill>
              </a:rPr>
              <a:t>the companies goals </a:t>
            </a:r>
            <a:r>
              <a:rPr lang="en-US" sz="1400" dirty="0">
                <a:solidFill>
                  <a:schemeClr val="accent1">
                    <a:lumMod val="75000"/>
                  </a:schemeClr>
                </a:solidFill>
              </a:rPr>
              <a:t>and the purpose for which Industry 4.0 will be used. If </a:t>
            </a:r>
            <a:r>
              <a:rPr lang="en-US" sz="1400" dirty="0" smtClean="0">
                <a:solidFill>
                  <a:schemeClr val="accent1">
                    <a:lumMod val="75000"/>
                  </a:schemeClr>
                </a:solidFill>
              </a:rPr>
              <a:t>the </a:t>
            </a:r>
            <a:r>
              <a:rPr lang="en-US" sz="1400" dirty="0">
                <a:solidFill>
                  <a:schemeClr val="accent1">
                    <a:lumMod val="75000"/>
                  </a:schemeClr>
                </a:solidFill>
              </a:rPr>
              <a:t>system for an existing production </a:t>
            </a:r>
            <a:r>
              <a:rPr lang="en-US" sz="1400" dirty="0" smtClean="0">
                <a:solidFill>
                  <a:schemeClr val="accent1">
                    <a:lumMod val="75000"/>
                  </a:schemeClr>
                </a:solidFill>
              </a:rPr>
              <a:t>plant is designed, it can be scaled </a:t>
            </a:r>
            <a:r>
              <a:rPr lang="en-US" sz="1400" dirty="0">
                <a:solidFill>
                  <a:schemeClr val="accent1">
                    <a:lumMod val="75000"/>
                  </a:schemeClr>
                </a:solidFill>
              </a:rPr>
              <a:t>up. In this case, the system should be designed in a way allowing for scalability. </a:t>
            </a:r>
            <a:endParaRPr lang="en-US" sz="1400" dirty="0" smtClean="0">
              <a:solidFill>
                <a:schemeClr val="accent1">
                  <a:lumMod val="75000"/>
                </a:schemeClr>
              </a:solidFill>
            </a:endParaRPr>
          </a:p>
          <a:p>
            <a:pPr algn="just" defTabSz="685800">
              <a:spcBef>
                <a:spcPts val="0"/>
              </a:spcBef>
              <a:spcAft>
                <a:spcPts val="675"/>
              </a:spcAft>
              <a:buSzTx/>
              <a:defRPr/>
            </a:pPr>
            <a:endParaRPr lang="en-US" sz="1400" b="1" dirty="0" smtClean="0">
              <a:solidFill>
                <a:schemeClr val="accent1">
                  <a:lumMod val="75000"/>
                </a:schemeClr>
              </a:solidFill>
            </a:endParaRPr>
          </a:p>
          <a:p>
            <a:pPr algn="just" defTabSz="685800">
              <a:spcBef>
                <a:spcPts val="0"/>
              </a:spcBef>
              <a:spcAft>
                <a:spcPts val="675"/>
              </a:spcAft>
              <a:buSzTx/>
              <a:defRPr/>
            </a:pPr>
            <a:r>
              <a:rPr lang="en-US" sz="1400" b="1" dirty="0" smtClean="0">
                <a:solidFill>
                  <a:schemeClr val="accent1">
                    <a:lumMod val="75000"/>
                  </a:schemeClr>
                </a:solidFill>
                <a:latin typeface="Comic Sans MS" panose="030F0702030302020204" pitchFamily="66" charset="0"/>
              </a:rPr>
              <a:t>Gathering </a:t>
            </a:r>
            <a:r>
              <a:rPr lang="en-US" sz="1400" b="1" dirty="0">
                <a:solidFill>
                  <a:schemeClr val="accent1">
                    <a:lumMod val="75000"/>
                  </a:schemeClr>
                </a:solidFill>
                <a:latin typeface="Comic Sans MS" panose="030F0702030302020204" pitchFamily="66" charset="0"/>
              </a:rPr>
              <a:t>high-quality </a:t>
            </a:r>
            <a:r>
              <a:rPr lang="en-US" sz="1400" b="1" dirty="0" smtClean="0">
                <a:solidFill>
                  <a:schemeClr val="accent1">
                    <a:lumMod val="75000"/>
                  </a:schemeClr>
                </a:solidFill>
                <a:latin typeface="Comic Sans MS" panose="030F0702030302020204" pitchFamily="66" charset="0"/>
              </a:rPr>
              <a:t>data. </a:t>
            </a:r>
            <a:r>
              <a:rPr lang="en-US" sz="1400" dirty="0" smtClean="0">
                <a:solidFill>
                  <a:schemeClr val="accent1">
                    <a:lumMod val="75000"/>
                  </a:schemeClr>
                </a:solidFill>
              </a:rPr>
              <a:t>Scalability </a:t>
            </a:r>
            <a:r>
              <a:rPr lang="en-US" sz="1400" dirty="0">
                <a:solidFill>
                  <a:schemeClr val="accent1">
                    <a:lumMod val="75000"/>
                  </a:schemeClr>
                </a:solidFill>
              </a:rPr>
              <a:t>is closely linked to the need to store large amounts of data and provide networks that can process a lot of data. Analyzing and providing the right information to the right machines or people at the right time is another challenge. This is not possible without high-quality data and algorithms, which are the foundation of any efficient and </a:t>
            </a:r>
            <a:r>
              <a:rPr lang="en-US" sz="1400" dirty="0" smtClean="0">
                <a:solidFill>
                  <a:schemeClr val="accent1">
                    <a:lumMod val="75000"/>
                  </a:schemeClr>
                </a:solidFill>
              </a:rPr>
              <a:t>integral </a:t>
            </a:r>
            <a:r>
              <a:rPr lang="en-US" sz="1400" dirty="0">
                <a:solidFill>
                  <a:schemeClr val="accent1">
                    <a:lumMod val="75000"/>
                  </a:schemeClr>
                </a:solidFill>
              </a:rPr>
              <a:t>system in Industry 4.0. </a:t>
            </a:r>
            <a:endParaRPr lang="en-US" sz="1400" dirty="0" smtClean="0">
              <a:solidFill>
                <a:schemeClr val="accent1">
                  <a:lumMod val="75000"/>
                </a:schemeClr>
              </a:solidFill>
            </a:endParaRPr>
          </a:p>
          <a:p>
            <a:pPr algn="just" defTabSz="685800">
              <a:spcBef>
                <a:spcPts val="0"/>
              </a:spcBef>
              <a:spcAft>
                <a:spcPts val="675"/>
              </a:spcAft>
              <a:buSzTx/>
              <a:defRPr/>
            </a:pPr>
            <a:endParaRPr lang="en-US" sz="1400" dirty="0" smtClean="0">
              <a:solidFill>
                <a:schemeClr val="accent1">
                  <a:lumMod val="75000"/>
                </a:schemeClr>
              </a:solidFill>
            </a:endParaRPr>
          </a:p>
          <a:p>
            <a:pPr algn="just" defTabSz="685800">
              <a:spcBef>
                <a:spcPts val="0"/>
              </a:spcBef>
              <a:spcAft>
                <a:spcPts val="675"/>
              </a:spcAft>
              <a:buSzTx/>
              <a:defRPr/>
            </a:pPr>
            <a:r>
              <a:rPr lang="en-US" sz="1400" b="1" dirty="0" smtClean="0">
                <a:solidFill>
                  <a:schemeClr val="accent1">
                    <a:lumMod val="75000"/>
                  </a:schemeClr>
                </a:solidFill>
                <a:latin typeface="Comic Sans MS" panose="030F0702030302020204" pitchFamily="66" charset="0"/>
              </a:rPr>
              <a:t>Creating </a:t>
            </a:r>
            <a:r>
              <a:rPr lang="en-US" sz="1400" b="1" dirty="0">
                <a:solidFill>
                  <a:schemeClr val="accent1">
                    <a:lumMod val="75000"/>
                  </a:schemeClr>
                </a:solidFill>
                <a:latin typeface="Comic Sans MS" panose="030F0702030302020204" pitchFamily="66" charset="0"/>
              </a:rPr>
              <a:t>a fault recovery </a:t>
            </a:r>
            <a:r>
              <a:rPr lang="en-US" sz="1400" b="1" dirty="0" smtClean="0">
                <a:solidFill>
                  <a:schemeClr val="accent1">
                    <a:lumMod val="75000"/>
                  </a:schemeClr>
                </a:solidFill>
                <a:latin typeface="Comic Sans MS" panose="030F0702030302020204" pitchFamily="66" charset="0"/>
              </a:rPr>
              <a:t>system. </a:t>
            </a:r>
            <a:r>
              <a:rPr lang="en-US" sz="1400" dirty="0" smtClean="0">
                <a:solidFill>
                  <a:schemeClr val="accent1">
                    <a:lumMod val="75000"/>
                  </a:schemeClr>
                </a:solidFill>
              </a:rPr>
              <a:t>It’s </a:t>
            </a:r>
            <a:r>
              <a:rPr lang="en-US" sz="1400" dirty="0">
                <a:solidFill>
                  <a:schemeClr val="accent1">
                    <a:lumMod val="75000"/>
                  </a:schemeClr>
                </a:solidFill>
              </a:rPr>
              <a:t>also important for a company to design a fault recovery system. If there’s a mistake or inconsistency, we need to know what to do next and how the system can recover from it. This is just as crucial as ensuring system </a:t>
            </a:r>
            <a:r>
              <a:rPr lang="en-US" sz="1400" dirty="0" smtClean="0">
                <a:solidFill>
                  <a:schemeClr val="accent1">
                    <a:lumMod val="75000"/>
                  </a:schemeClr>
                </a:solidFill>
              </a:rPr>
              <a:t>efficiency.</a:t>
            </a:r>
          </a:p>
          <a:p>
            <a:pPr algn="just" defTabSz="685800">
              <a:spcBef>
                <a:spcPts val="0"/>
              </a:spcBef>
              <a:spcAft>
                <a:spcPts val="675"/>
              </a:spcAft>
              <a:buSzTx/>
              <a:defRPr/>
            </a:pPr>
            <a:endParaRPr lang="en-US" sz="1400" dirty="0" smtClean="0">
              <a:solidFill>
                <a:srgbClr val="C00000"/>
              </a:solidFill>
              <a:latin typeface="Comic Sans MS" panose="030F0702030302020204" pitchFamily="66" charset="0"/>
            </a:endParaRPr>
          </a:p>
          <a:p>
            <a:pPr algn="just" defTabSz="685800">
              <a:spcBef>
                <a:spcPts val="0"/>
              </a:spcBef>
              <a:spcAft>
                <a:spcPts val="675"/>
              </a:spcAft>
              <a:buSzTx/>
              <a:defRPr/>
            </a:pPr>
            <a:r>
              <a:rPr lang="en-US" sz="1400" b="1" dirty="0" smtClean="0">
                <a:solidFill>
                  <a:schemeClr val="accent1">
                    <a:lumMod val="75000"/>
                  </a:schemeClr>
                </a:solidFill>
                <a:latin typeface="Comic Sans MS" panose="030F0702030302020204" pitchFamily="66" charset="0"/>
              </a:rPr>
              <a:t>Cybersecurity. </a:t>
            </a:r>
            <a:r>
              <a:rPr lang="en-US" sz="1400" dirty="0" smtClean="0">
                <a:solidFill>
                  <a:schemeClr val="accent1">
                    <a:lumMod val="75000"/>
                  </a:schemeClr>
                </a:solidFill>
              </a:rPr>
              <a:t>Another </a:t>
            </a:r>
            <a:r>
              <a:rPr lang="en-US" sz="1400" dirty="0">
                <a:solidFill>
                  <a:schemeClr val="accent1">
                    <a:lumMod val="75000"/>
                  </a:schemeClr>
                </a:solidFill>
              </a:rPr>
              <a:t>challenge is cybersecurity, as connectivity between manufacturing devices and IT resources can expose them to the same risks as traditional IT devices. In the past, factory systems were rarely connected to each other, so designing measures to protect the interconnected system is a new but crucial issue to consider. </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Tree>
    <p:extLst>
      <p:ext uri="{BB962C8B-B14F-4D97-AF65-F5344CB8AC3E}">
        <p14:creationId xmlns:p14="http://schemas.microsoft.com/office/powerpoint/2010/main" val="3918361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a:solidFill>
                  <a:schemeClr val="accent1">
                    <a:lumMod val="75000"/>
                  </a:schemeClr>
                </a:solidFill>
                <a:latin typeface="Comic Sans MS" panose="030F0702030302020204" pitchFamily="66" charset="0"/>
              </a:rPr>
              <a:t>Why </a:t>
            </a:r>
            <a:r>
              <a:rPr lang="en-US" b="1" dirty="0" smtClean="0">
                <a:solidFill>
                  <a:schemeClr val="accent1">
                    <a:lumMod val="75000"/>
                  </a:schemeClr>
                </a:solidFill>
                <a:latin typeface="Comic Sans MS" panose="030F0702030302020204" pitchFamily="66" charset="0"/>
              </a:rPr>
              <a:t>is </a:t>
            </a:r>
            <a:r>
              <a:rPr lang="en-US" b="1" dirty="0">
                <a:solidFill>
                  <a:schemeClr val="accent1">
                    <a:lumMod val="75000"/>
                  </a:schemeClr>
                </a:solidFill>
                <a:latin typeface="Comic Sans MS" panose="030F0702030302020204" pitchFamily="66" charset="0"/>
              </a:rPr>
              <a:t>Industry 4.0 </a:t>
            </a:r>
            <a:r>
              <a:rPr lang="en-US" b="1" dirty="0" smtClean="0">
                <a:solidFill>
                  <a:schemeClr val="accent1">
                    <a:lumMod val="75000"/>
                  </a:schemeClr>
                </a:solidFill>
                <a:latin typeface="Comic Sans MS" panose="030F0702030302020204" pitchFamily="66" charset="0"/>
              </a:rPr>
              <a:t>important </a:t>
            </a:r>
            <a:r>
              <a:rPr lang="en-US" b="1" dirty="0">
                <a:solidFill>
                  <a:schemeClr val="accent1">
                    <a:lumMod val="75000"/>
                  </a:schemeClr>
                </a:solidFill>
                <a:latin typeface="Comic Sans MS" panose="030F0702030302020204" pitchFamily="66" charset="0"/>
              </a:rPr>
              <a:t>for the </a:t>
            </a:r>
            <a:r>
              <a:rPr lang="en-US" b="1" dirty="0" smtClean="0">
                <a:solidFill>
                  <a:schemeClr val="accent1">
                    <a:lumMod val="75000"/>
                  </a:schemeClr>
                </a:solidFill>
                <a:latin typeface="Comic Sans MS" panose="030F0702030302020204" pitchFamily="66" charset="0"/>
              </a:rPr>
              <a:t>future</a:t>
            </a:r>
            <a:r>
              <a:rPr lang="en-US" b="1" dirty="0">
                <a:solidFill>
                  <a:schemeClr val="accent1">
                    <a:lumMod val="75000"/>
                  </a:schemeClr>
                </a:solidFill>
                <a:latin typeface="Comic Sans MS" panose="030F0702030302020204" pitchFamily="66" charset="0"/>
              </a:rPr>
              <a:t>? </a:t>
            </a:r>
            <a:endParaRPr lang="en-US" b="1" dirty="0" smtClean="0">
              <a:solidFill>
                <a:schemeClr val="accent1">
                  <a:lumMod val="75000"/>
                </a:schemeClr>
              </a:solidFill>
              <a:latin typeface="Comic Sans MS" panose="030F0702030302020204" pitchFamily="66" charset="0"/>
            </a:endParaRPr>
          </a:p>
        </p:txBody>
      </p:sp>
      <p:sp>
        <p:nvSpPr>
          <p:cNvPr id="6" name="Rectangle 5"/>
          <p:cNvSpPr/>
          <p:nvPr/>
        </p:nvSpPr>
        <p:spPr>
          <a:xfrm>
            <a:off x="539552" y="1412776"/>
            <a:ext cx="8128819" cy="5209118"/>
          </a:xfrm>
          <a:prstGeom prst="rect">
            <a:avLst/>
          </a:prstGeom>
        </p:spPr>
        <p:txBody>
          <a:bodyPr wrap="square">
            <a:spAutoFit/>
          </a:bodyPr>
          <a:lstStyle/>
          <a:p>
            <a:pPr algn="just" defTabSz="685800">
              <a:spcBef>
                <a:spcPts val="0"/>
              </a:spcBef>
              <a:spcAft>
                <a:spcPts val="675"/>
              </a:spcAft>
              <a:buSzTx/>
              <a:defRPr/>
            </a:pPr>
            <a:r>
              <a:rPr lang="en-US" sz="1400" dirty="0">
                <a:solidFill>
                  <a:schemeClr val="accent1">
                    <a:lumMod val="75000"/>
                  </a:schemeClr>
                </a:solidFill>
              </a:rPr>
              <a:t>As we move forward in the digital age and face increasingly complex and unpredictable challenges, Industry 4.0 technologies are becoming more and more important for the future of business and </a:t>
            </a:r>
            <a:r>
              <a:rPr lang="en-US" sz="1400" dirty="0" smtClean="0">
                <a:solidFill>
                  <a:schemeClr val="accent1">
                    <a:lumMod val="75000"/>
                  </a:schemeClr>
                </a:solidFill>
              </a:rPr>
              <a:t>industry.</a:t>
            </a:r>
          </a:p>
          <a:p>
            <a:pPr algn="just" defTabSz="685800">
              <a:spcBef>
                <a:spcPts val="0"/>
              </a:spcBef>
              <a:spcAft>
                <a:spcPts val="675"/>
              </a:spcAft>
              <a:buSzTx/>
              <a:defRPr/>
            </a:pPr>
            <a:endParaRPr lang="en-US" sz="1400" dirty="0" smtClean="0">
              <a:solidFill>
                <a:schemeClr val="accent1">
                  <a:lumMod val="75000"/>
                </a:schemeClr>
              </a:solidFill>
            </a:endParaRPr>
          </a:p>
          <a:p>
            <a:pPr algn="just" defTabSz="685800">
              <a:spcBef>
                <a:spcPts val="0"/>
              </a:spcBef>
              <a:spcAft>
                <a:spcPts val="675"/>
              </a:spcAft>
              <a:buSzTx/>
              <a:defRPr/>
            </a:pPr>
            <a:r>
              <a:rPr lang="en-US" sz="1400" b="1" dirty="0" smtClean="0">
                <a:solidFill>
                  <a:srgbClr val="C00000"/>
                </a:solidFill>
                <a:latin typeface="Comic Sans MS" panose="030F0702030302020204" pitchFamily="66" charset="0"/>
              </a:rPr>
              <a:t>Predicting the future</a:t>
            </a:r>
          </a:p>
          <a:p>
            <a:pPr algn="just" defTabSz="685800">
              <a:spcBef>
                <a:spcPts val="0"/>
              </a:spcBef>
              <a:spcAft>
                <a:spcPts val="675"/>
              </a:spcAft>
              <a:buSzTx/>
              <a:defRPr/>
            </a:pPr>
            <a:r>
              <a:rPr lang="en-US" sz="1400" dirty="0">
                <a:solidFill>
                  <a:schemeClr val="accent1">
                    <a:lumMod val="75000"/>
                  </a:schemeClr>
                </a:solidFill>
              </a:rPr>
              <a:t>Industry 4.0 technologies are capable of spotting red flags and upcoming changes, thus preparing us better for whatever is coming. The COVID-19 pandemic has shown us that even the most exquisite planning and management systems can’t always help us predict the </a:t>
            </a:r>
            <a:r>
              <a:rPr lang="en-US" sz="1400" dirty="0" smtClean="0">
                <a:solidFill>
                  <a:schemeClr val="accent1">
                    <a:lumMod val="75000"/>
                  </a:schemeClr>
                </a:solidFill>
              </a:rPr>
              <a:t>future.</a:t>
            </a:r>
          </a:p>
          <a:p>
            <a:pPr algn="just" defTabSz="685800">
              <a:spcBef>
                <a:spcPts val="0"/>
              </a:spcBef>
              <a:spcAft>
                <a:spcPts val="675"/>
              </a:spcAft>
              <a:buSzTx/>
              <a:defRPr/>
            </a:pPr>
            <a:endParaRPr lang="en-US" sz="1400" dirty="0">
              <a:solidFill>
                <a:srgbClr val="C00000"/>
              </a:solidFill>
              <a:latin typeface="Comic Sans MS" panose="030F0702030302020204" pitchFamily="66" charset="0"/>
            </a:endParaRPr>
          </a:p>
          <a:p>
            <a:pPr algn="just" defTabSz="685800">
              <a:spcBef>
                <a:spcPts val="0"/>
              </a:spcBef>
              <a:spcAft>
                <a:spcPts val="675"/>
              </a:spcAft>
              <a:buSzTx/>
              <a:defRPr/>
            </a:pPr>
            <a:r>
              <a:rPr lang="en-US" sz="1400" b="1" dirty="0" smtClean="0">
                <a:solidFill>
                  <a:srgbClr val="C00000"/>
                </a:solidFill>
                <a:latin typeface="Comic Sans MS" panose="030F0702030302020204" pitchFamily="66" charset="0"/>
              </a:rPr>
              <a:t>Optimization and reduction of waste and pollution </a:t>
            </a:r>
          </a:p>
          <a:p>
            <a:pPr algn="just" defTabSz="685800">
              <a:spcBef>
                <a:spcPts val="0"/>
              </a:spcBef>
              <a:spcAft>
                <a:spcPts val="675"/>
              </a:spcAft>
              <a:buSzTx/>
              <a:defRPr/>
            </a:pPr>
            <a:r>
              <a:rPr lang="en-US" sz="1400" dirty="0">
                <a:solidFill>
                  <a:schemeClr val="accent1">
                    <a:lumMod val="75000"/>
                  </a:schemeClr>
                </a:solidFill>
              </a:rPr>
              <a:t>Industry 4.0 also stands for optimization, meaning reducing production costs together with waste and pollution, as well. This is of particular importance nowadays, since natural resources are being depleted and the climate crisis is becoming impossible to ignore. </a:t>
            </a:r>
            <a:endParaRPr lang="en-US" sz="1400" dirty="0" smtClean="0">
              <a:solidFill>
                <a:schemeClr val="accent1">
                  <a:lumMod val="75000"/>
                </a:schemeClr>
              </a:solidFill>
            </a:endParaRPr>
          </a:p>
          <a:p>
            <a:pPr algn="just" defTabSz="685800">
              <a:spcBef>
                <a:spcPts val="0"/>
              </a:spcBef>
              <a:spcAft>
                <a:spcPts val="675"/>
              </a:spcAft>
              <a:buSzTx/>
              <a:defRPr/>
            </a:pPr>
            <a:endParaRPr lang="en-US" sz="1400" dirty="0">
              <a:solidFill>
                <a:srgbClr val="C00000"/>
              </a:solidFill>
              <a:latin typeface="Comic Sans MS" panose="030F0702030302020204" pitchFamily="66" charset="0"/>
            </a:endParaRPr>
          </a:p>
          <a:p>
            <a:pPr algn="just" defTabSz="685800">
              <a:spcBef>
                <a:spcPts val="0"/>
              </a:spcBef>
              <a:spcAft>
                <a:spcPts val="675"/>
              </a:spcAft>
              <a:buSzTx/>
              <a:defRPr/>
            </a:pPr>
            <a:r>
              <a:rPr lang="en-US" sz="1400" b="1" dirty="0" smtClean="0">
                <a:solidFill>
                  <a:srgbClr val="C00000"/>
                </a:solidFill>
                <a:latin typeface="Comic Sans MS" panose="030F0702030302020204" pitchFamily="66" charset="0"/>
              </a:rPr>
              <a:t>Healthier competition </a:t>
            </a:r>
          </a:p>
          <a:p>
            <a:pPr algn="just" defTabSz="685800">
              <a:spcBef>
                <a:spcPts val="0"/>
              </a:spcBef>
              <a:spcAft>
                <a:spcPts val="675"/>
              </a:spcAft>
              <a:buSzTx/>
              <a:defRPr/>
            </a:pPr>
            <a:r>
              <a:rPr lang="en-US" sz="1400" dirty="0">
                <a:solidFill>
                  <a:schemeClr val="accent1">
                    <a:lumMod val="75000"/>
                  </a:schemeClr>
                </a:solidFill>
              </a:rPr>
              <a:t>Industry 4.0 reveals a new, desirable face of competition. By giving up on large-scale human involvement and the necessity to look for low-wage production sites in foreign countries, you may improve competition standards. Industry 4.0 is a natural consequence of the progress we’ve made so far and the digitalization of the world in general. It’s also an opportunity to make industry work more efficiently, fairly, and environmentally friendly. </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Tree>
    <p:extLst>
      <p:ext uri="{BB962C8B-B14F-4D97-AF65-F5344CB8AC3E}">
        <p14:creationId xmlns:p14="http://schemas.microsoft.com/office/powerpoint/2010/main" val="9744976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Introducing the Smart Factory</a:t>
            </a:r>
          </a:p>
        </p:txBody>
      </p:sp>
      <p:sp>
        <p:nvSpPr>
          <p:cNvPr id="6" name="Rectangle 5"/>
          <p:cNvSpPr/>
          <p:nvPr/>
        </p:nvSpPr>
        <p:spPr>
          <a:xfrm>
            <a:off x="467544" y="1340768"/>
            <a:ext cx="8128819" cy="1905650"/>
          </a:xfrm>
          <a:prstGeom prst="rect">
            <a:avLst/>
          </a:prstGeom>
        </p:spPr>
        <p:txBody>
          <a:bodyPr wrap="square">
            <a:spAutoFit/>
          </a:bodyPr>
          <a:lstStyle/>
          <a:p>
            <a:pPr algn="just" defTabSz="685800">
              <a:spcBef>
                <a:spcPts val="0"/>
              </a:spcBef>
              <a:spcAft>
                <a:spcPts val="675"/>
              </a:spcAft>
              <a:buSzTx/>
              <a:defRPr/>
            </a:pPr>
            <a:r>
              <a:rPr lang="en-US" sz="1400" dirty="0">
                <a:solidFill>
                  <a:schemeClr val="accent1">
                    <a:lumMod val="75000"/>
                  </a:schemeClr>
                </a:solidFill>
              </a:rPr>
              <a:t>A smart factory is a highly automated manufacturing facility in industry 4.0 that utilizes advanced technologies, </a:t>
            </a:r>
            <a:r>
              <a:rPr lang="en-US" sz="1400" dirty="0" smtClean="0">
                <a:solidFill>
                  <a:schemeClr val="accent1">
                    <a:lumMod val="75000"/>
                  </a:schemeClr>
                </a:solidFill>
              </a:rPr>
              <a:t>to </a:t>
            </a:r>
            <a:r>
              <a:rPr lang="en-US" sz="1400" dirty="0">
                <a:solidFill>
                  <a:schemeClr val="accent1">
                    <a:lumMod val="75000"/>
                  </a:schemeClr>
                </a:solidFill>
              </a:rPr>
              <a:t>optimize its operations and improve its efficiency, productivity, and quality</a:t>
            </a:r>
            <a:r>
              <a:rPr lang="en-US" sz="1400" dirty="0" smtClean="0">
                <a:solidFill>
                  <a:schemeClr val="accent1">
                    <a:lumMod val="75000"/>
                  </a:schemeClr>
                </a:solidFill>
              </a:rPr>
              <a:t>.</a:t>
            </a:r>
            <a:r>
              <a:rPr lang="en-US" sz="1400" dirty="0">
                <a:solidFill>
                  <a:schemeClr val="accent1">
                    <a:lumMod val="75000"/>
                  </a:schemeClr>
                </a:solidFill>
              </a:rPr>
              <a:t> This may include the use of sensors, robotics, and automation to monitor and control production processes</a:t>
            </a:r>
            <a:r>
              <a:rPr lang="en-US" sz="1400" dirty="0" smtClean="0">
                <a:solidFill>
                  <a:schemeClr val="accent1">
                    <a:lumMod val="75000"/>
                  </a:schemeClr>
                </a:solidFill>
              </a:rPr>
              <a:t>.</a:t>
            </a:r>
          </a:p>
          <a:p>
            <a:pPr algn="just"/>
            <a:r>
              <a:rPr lang="en-US" sz="1400" dirty="0">
                <a:solidFill>
                  <a:schemeClr val="accent1">
                    <a:lumMod val="75000"/>
                  </a:schemeClr>
                </a:solidFill>
              </a:rPr>
              <a:t>Smart Factories are not just intelligent machines and </a:t>
            </a:r>
            <a:r>
              <a:rPr lang="en-US" sz="1400" dirty="0" smtClean="0">
                <a:solidFill>
                  <a:schemeClr val="accent1">
                    <a:lumMod val="75000"/>
                  </a:schemeClr>
                </a:solidFill>
              </a:rPr>
              <a:t>robots communicating </a:t>
            </a:r>
            <a:r>
              <a:rPr lang="en-US" sz="1400" dirty="0">
                <a:solidFill>
                  <a:schemeClr val="accent1">
                    <a:lumMod val="75000"/>
                  </a:schemeClr>
                </a:solidFill>
              </a:rPr>
              <a:t>through an advanced software product. Indeed, these </a:t>
            </a:r>
            <a:r>
              <a:rPr lang="en-US" sz="1400" dirty="0" smtClean="0">
                <a:solidFill>
                  <a:schemeClr val="accent1">
                    <a:lumMod val="75000"/>
                  </a:schemeClr>
                </a:solidFill>
              </a:rPr>
              <a:t>machines have </a:t>
            </a:r>
            <a:r>
              <a:rPr lang="en-US" sz="1400" dirty="0">
                <a:solidFill>
                  <a:schemeClr val="accent1">
                    <a:lumMod val="75000"/>
                  </a:schemeClr>
                </a:solidFill>
              </a:rPr>
              <a:t>advanced beyond M2M and are not just collaborating but also </a:t>
            </a:r>
            <a:r>
              <a:rPr lang="en-US" sz="1400" dirty="0" smtClean="0">
                <a:solidFill>
                  <a:schemeClr val="accent1">
                    <a:lumMod val="75000"/>
                  </a:schemeClr>
                </a:solidFill>
              </a:rPr>
              <a:t>communicating through </a:t>
            </a:r>
            <a:r>
              <a:rPr lang="en-US" sz="1400" dirty="0">
                <a:solidFill>
                  <a:schemeClr val="accent1">
                    <a:lumMod val="75000"/>
                  </a:schemeClr>
                </a:solidFill>
              </a:rPr>
              <a:t>advanced software, algorithms, and industrial processes. </a:t>
            </a:r>
            <a:endParaRPr lang="en-US" sz="1400" dirty="0" smtClean="0">
              <a:solidFill>
                <a:schemeClr val="accent1">
                  <a:lumMod val="75000"/>
                </a:schemeClr>
              </a:solidFill>
            </a:endParaRPr>
          </a:p>
          <a:p>
            <a:pPr algn="just"/>
            <a:r>
              <a:rPr lang="en-US" sz="1400" dirty="0" smtClean="0">
                <a:solidFill>
                  <a:schemeClr val="accent1">
                    <a:lumMod val="75000"/>
                  </a:schemeClr>
                </a:solidFill>
              </a:rPr>
              <a:t>However, it </a:t>
            </a:r>
            <a:r>
              <a:rPr lang="en-US" sz="1400" dirty="0">
                <a:solidFill>
                  <a:schemeClr val="accent1">
                    <a:lumMod val="75000"/>
                  </a:schemeClr>
                </a:solidFill>
              </a:rPr>
              <a:t>is important to realize that Smart Factories, like Smart Homes, are not </a:t>
            </a:r>
            <a:r>
              <a:rPr lang="en-US" sz="1400" dirty="0" smtClean="0">
                <a:solidFill>
                  <a:schemeClr val="accent1">
                    <a:lumMod val="75000"/>
                  </a:schemeClr>
                </a:solidFill>
              </a:rPr>
              <a:t>some futuristic vision - they </a:t>
            </a:r>
            <a:r>
              <a:rPr lang="en-US" sz="1400" dirty="0">
                <a:solidFill>
                  <a:schemeClr val="accent1">
                    <a:lumMod val="75000"/>
                  </a:schemeClr>
                </a:solidFill>
              </a:rPr>
              <a:t>are with us </a:t>
            </a:r>
            <a:r>
              <a:rPr lang="en-US" sz="1400" dirty="0" smtClean="0">
                <a:solidFill>
                  <a:schemeClr val="accent1">
                    <a:lumMod val="75000"/>
                  </a:schemeClr>
                </a:solidFill>
              </a:rPr>
              <a:t>today </a:t>
            </a:r>
            <a:r>
              <a:rPr lang="en-US" sz="1400" dirty="0">
                <a:solidFill>
                  <a:schemeClr val="accent1">
                    <a:lumMod val="75000"/>
                  </a:schemeClr>
                </a:solidFill>
              </a:rPr>
              <a:t>and have been for a decade at least</a:t>
            </a:r>
            <a:r>
              <a:rPr lang="en-US" sz="1400" dirty="0" smtClean="0">
                <a:solidFill>
                  <a:schemeClr val="accent1">
                    <a:lumMod val="75000"/>
                  </a:schemeClr>
                </a:solidFill>
              </a:rPr>
              <a:t>.</a:t>
            </a:r>
            <a:endParaRPr lang="en-US" sz="1400" dirty="0">
              <a:solidFill>
                <a:schemeClr val="accent1">
                  <a:lumMod val="75000"/>
                </a:schemeClr>
              </a:solidFill>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pic>
        <p:nvPicPr>
          <p:cNvPr id="7" name="Picture 2" descr="A brief discussion on the trends of habilitating technologies for Industry  4.0 and Smart manufacturing - ScienceDirec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1" y="3569994"/>
            <a:ext cx="4752528" cy="2910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690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Industry 3.0 vs. Industry 4.0 </a:t>
            </a:r>
            <a:r>
              <a:rPr lang="en-US" sz="1400" i="1" dirty="0" smtClean="0">
                <a:solidFill>
                  <a:schemeClr val="accent1">
                    <a:lumMod val="75000"/>
                  </a:schemeClr>
                </a:solidFill>
                <a:latin typeface="Comic Sans MS" panose="030F0702030302020204" pitchFamily="66" charset="0"/>
              </a:rPr>
              <a:t>(example)</a:t>
            </a:r>
          </a:p>
        </p:txBody>
      </p:sp>
      <p:sp>
        <p:nvSpPr>
          <p:cNvPr id="6" name="Rectangle 5"/>
          <p:cNvSpPr/>
          <p:nvPr/>
        </p:nvSpPr>
        <p:spPr>
          <a:xfrm>
            <a:off x="467545" y="1124744"/>
            <a:ext cx="8280920" cy="1384995"/>
          </a:xfrm>
          <a:prstGeom prst="rect">
            <a:avLst/>
          </a:prstGeom>
        </p:spPr>
        <p:txBody>
          <a:bodyPr wrap="square">
            <a:spAutoFit/>
          </a:bodyPr>
          <a:lstStyle/>
          <a:p>
            <a:pPr algn="just"/>
            <a:r>
              <a:rPr lang="en-US" sz="1400" dirty="0" smtClean="0">
                <a:solidFill>
                  <a:schemeClr val="accent1">
                    <a:lumMod val="75000"/>
                  </a:schemeClr>
                </a:solidFill>
              </a:rPr>
              <a:t>As </a:t>
            </a:r>
            <a:r>
              <a:rPr lang="en-US" sz="1400" dirty="0">
                <a:solidFill>
                  <a:schemeClr val="accent1">
                    <a:lumMod val="75000"/>
                  </a:schemeClr>
                </a:solidFill>
              </a:rPr>
              <a:t>an example, let’s take a production line that different lines of shampoo. In this production line scenario, a smart machine fills each bottle with the same base ingredients</a:t>
            </a:r>
            <a:r>
              <a:rPr lang="en-US" sz="1400" dirty="0" smtClean="0">
                <a:solidFill>
                  <a:schemeClr val="accent1">
                    <a:lumMod val="75000"/>
                  </a:schemeClr>
                </a:solidFill>
              </a:rPr>
              <a:t>. To </a:t>
            </a:r>
            <a:r>
              <a:rPr lang="en-US" sz="1400" dirty="0">
                <a:solidFill>
                  <a:schemeClr val="accent1">
                    <a:lumMod val="75000"/>
                  </a:schemeClr>
                </a:solidFill>
              </a:rPr>
              <a:t>begin, consider how those different bottles of shampoo would have been produced on a traditional Industry 3.0 production line. This would have required three resources, one controller, and a supervisory system. </a:t>
            </a:r>
            <a:r>
              <a:rPr lang="en-US" sz="1400" dirty="0" smtClean="0">
                <a:solidFill>
                  <a:schemeClr val="accent1">
                    <a:lumMod val="75000"/>
                  </a:schemeClr>
                </a:solidFill>
              </a:rPr>
              <a:t>At </a:t>
            </a:r>
            <a:r>
              <a:rPr lang="en-US" sz="1400" dirty="0">
                <a:solidFill>
                  <a:schemeClr val="accent1">
                    <a:lumMod val="75000"/>
                  </a:schemeClr>
                </a:solidFill>
              </a:rPr>
              <a:t>the lowest physical layer are the production resources, above them is the Manufacturing Execution System (MES), and one layer above that the Enterprise Resource Planning </a:t>
            </a:r>
            <a:r>
              <a:rPr lang="en-US" sz="1400" dirty="0" smtClean="0">
                <a:solidFill>
                  <a:schemeClr val="accent1">
                    <a:lumMod val="75000"/>
                  </a:schemeClr>
                </a:solidFill>
              </a:rPr>
              <a:t>system (ERP). </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pic>
        <p:nvPicPr>
          <p:cNvPr id="5" name="Picture 4"/>
          <p:cNvPicPr>
            <a:picLocks noChangeAspect="1"/>
          </p:cNvPicPr>
          <p:nvPr/>
        </p:nvPicPr>
        <p:blipFill>
          <a:blip r:embed="rId4"/>
          <a:stretch>
            <a:fillRect/>
          </a:stretch>
        </p:blipFill>
        <p:spPr>
          <a:xfrm>
            <a:off x="2483768" y="2796282"/>
            <a:ext cx="4464496" cy="3945085"/>
          </a:xfrm>
          <a:prstGeom prst="rect">
            <a:avLst/>
          </a:prstGeom>
        </p:spPr>
      </p:pic>
      <p:sp>
        <p:nvSpPr>
          <p:cNvPr id="7" name="Rectangle 6"/>
          <p:cNvSpPr/>
          <p:nvPr/>
        </p:nvSpPr>
        <p:spPr>
          <a:xfrm>
            <a:off x="6354400" y="2996952"/>
            <a:ext cx="2158240" cy="523220"/>
          </a:xfrm>
          <a:prstGeom prst="rect">
            <a:avLst/>
          </a:prstGeom>
        </p:spPr>
        <p:txBody>
          <a:bodyPr wrap="square">
            <a:spAutoFit/>
          </a:bodyPr>
          <a:lstStyle/>
          <a:p>
            <a:pPr algn="ctr"/>
            <a:r>
              <a:rPr lang="en-US" sz="1400" b="1" dirty="0" smtClean="0">
                <a:solidFill>
                  <a:srgbClr val="C00000"/>
                </a:solidFill>
                <a:latin typeface="Comic Sans MS" panose="030F0702030302020204" pitchFamily="66" charset="0"/>
              </a:rPr>
              <a:t>Traditional Industry 3.0 production line</a:t>
            </a:r>
            <a:endParaRPr lang="en-US" sz="1400" b="1" dirty="0">
              <a:solidFill>
                <a:srgbClr val="C00000"/>
              </a:solidFill>
              <a:latin typeface="Comic Sans MS" panose="030F0702030302020204" pitchFamily="66" charset="0"/>
            </a:endParaRPr>
          </a:p>
        </p:txBody>
      </p:sp>
    </p:spTree>
    <p:extLst>
      <p:ext uri="{BB962C8B-B14F-4D97-AF65-F5344CB8AC3E}">
        <p14:creationId xmlns:p14="http://schemas.microsoft.com/office/powerpoint/2010/main" val="42010110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Traditional Industry 3.0 production line function</a:t>
            </a:r>
          </a:p>
        </p:txBody>
      </p:sp>
      <p:sp>
        <p:nvSpPr>
          <p:cNvPr id="6" name="Rectangle 5"/>
          <p:cNvSpPr/>
          <p:nvPr/>
        </p:nvSpPr>
        <p:spPr>
          <a:xfrm>
            <a:off x="539552" y="1340768"/>
            <a:ext cx="8128819" cy="4832092"/>
          </a:xfrm>
          <a:prstGeom prst="rect">
            <a:avLst/>
          </a:prstGeom>
        </p:spPr>
        <p:txBody>
          <a:bodyPr wrap="square">
            <a:spAutoFit/>
          </a:bodyPr>
          <a:lstStyle/>
          <a:p>
            <a:pPr algn="just"/>
            <a:r>
              <a:rPr lang="en-US" sz="1400" dirty="0">
                <a:solidFill>
                  <a:schemeClr val="accent1">
                    <a:lumMod val="75000"/>
                  </a:schemeClr>
                </a:solidFill>
              </a:rPr>
              <a:t>From </a:t>
            </a:r>
            <a:r>
              <a:rPr lang="en-US" sz="1400" dirty="0" smtClean="0">
                <a:solidFill>
                  <a:schemeClr val="accent1">
                    <a:lumMod val="75000"/>
                  </a:schemeClr>
                </a:solidFill>
              </a:rPr>
              <a:t>the previous figure, </a:t>
            </a:r>
            <a:r>
              <a:rPr lang="en-US" sz="1400" dirty="0">
                <a:solidFill>
                  <a:schemeClr val="accent1">
                    <a:lumMod val="75000"/>
                  </a:schemeClr>
                </a:solidFill>
              </a:rPr>
              <a:t>we can see the three production resources required </a:t>
            </a:r>
            <a:r>
              <a:rPr lang="en-US" sz="1400" dirty="0" smtClean="0">
                <a:solidFill>
                  <a:schemeClr val="accent1">
                    <a:lumMod val="75000"/>
                  </a:schemeClr>
                </a:solidFill>
              </a:rPr>
              <a:t>to make the </a:t>
            </a:r>
            <a:r>
              <a:rPr lang="en-US" sz="1400" dirty="0">
                <a:solidFill>
                  <a:schemeClr val="accent1">
                    <a:lumMod val="75000"/>
                  </a:schemeClr>
                </a:solidFill>
              </a:rPr>
              <a:t>shampoo products. The first resource R1 makes and stores </a:t>
            </a:r>
            <a:r>
              <a:rPr lang="en-US" sz="1400" dirty="0" smtClean="0">
                <a:solidFill>
                  <a:schemeClr val="accent1">
                    <a:lumMod val="75000"/>
                  </a:schemeClr>
                </a:solidFill>
              </a:rPr>
              <a:t>the base </a:t>
            </a:r>
            <a:r>
              <a:rPr lang="en-US" sz="1400" dirty="0">
                <a:solidFill>
                  <a:schemeClr val="accent1">
                    <a:lumMod val="75000"/>
                  </a:schemeClr>
                </a:solidFill>
              </a:rPr>
              <a:t>ingredients. The second resource R2 receives a controlled amount </a:t>
            </a:r>
            <a:r>
              <a:rPr lang="en-US" sz="1400" dirty="0" smtClean="0">
                <a:solidFill>
                  <a:schemeClr val="accent1">
                    <a:lumMod val="75000"/>
                  </a:schemeClr>
                </a:solidFill>
              </a:rPr>
              <a:t>of the </a:t>
            </a:r>
            <a:r>
              <a:rPr lang="en-US" sz="1400" dirty="0">
                <a:solidFill>
                  <a:schemeClr val="accent1">
                    <a:lumMod val="75000"/>
                  </a:schemeClr>
                </a:solidFill>
              </a:rPr>
              <a:t>base liquid, which it mixes with variant specific color additives, perfume</a:t>
            </a:r>
            <a:r>
              <a:rPr lang="en-US" sz="1400" dirty="0" smtClean="0">
                <a:solidFill>
                  <a:schemeClr val="accent1">
                    <a:lumMod val="75000"/>
                  </a:schemeClr>
                </a:solidFill>
              </a:rPr>
              <a:t>, and </a:t>
            </a:r>
            <a:r>
              <a:rPr lang="en-US" sz="1400" dirty="0">
                <a:solidFill>
                  <a:schemeClr val="accent1">
                    <a:lumMod val="75000"/>
                  </a:schemeClr>
                </a:solidFill>
              </a:rPr>
              <a:t>chemicals/nutrients. Resource R3 receives the mixture from R2 and </a:t>
            </a:r>
            <a:r>
              <a:rPr lang="en-US" sz="1400" dirty="0" smtClean="0">
                <a:solidFill>
                  <a:schemeClr val="accent1">
                    <a:lumMod val="75000"/>
                  </a:schemeClr>
                </a:solidFill>
              </a:rPr>
              <a:t>fills the </a:t>
            </a:r>
            <a:r>
              <a:rPr lang="en-US" sz="1400" dirty="0">
                <a:solidFill>
                  <a:schemeClr val="accent1">
                    <a:lumMod val="75000"/>
                  </a:schemeClr>
                </a:solidFill>
              </a:rPr>
              <a:t>appropriate bottle.</a:t>
            </a:r>
          </a:p>
          <a:p>
            <a:pPr algn="just"/>
            <a:r>
              <a:rPr lang="en-US" sz="1400" dirty="0">
                <a:solidFill>
                  <a:schemeClr val="accent1">
                    <a:lumMod val="75000"/>
                  </a:schemeClr>
                </a:solidFill>
              </a:rPr>
              <a:t>The ERP system controls production level by monitoring the sales orders </a:t>
            </a:r>
            <a:r>
              <a:rPr lang="en-US" sz="1400" dirty="0" smtClean="0">
                <a:solidFill>
                  <a:schemeClr val="accent1">
                    <a:lumMod val="75000"/>
                  </a:schemeClr>
                </a:solidFill>
              </a:rPr>
              <a:t>generate by </a:t>
            </a:r>
            <a:r>
              <a:rPr lang="en-US" sz="1400" dirty="0">
                <a:solidFill>
                  <a:schemeClr val="accent1">
                    <a:lumMod val="75000"/>
                  </a:schemeClr>
                </a:solidFill>
              </a:rPr>
              <a:t>the reseller chains and supermarkets and sends instructions to </a:t>
            </a:r>
            <a:r>
              <a:rPr lang="en-US" sz="1400" dirty="0" smtClean="0">
                <a:solidFill>
                  <a:schemeClr val="accent1">
                    <a:lumMod val="75000"/>
                  </a:schemeClr>
                </a:solidFill>
              </a:rPr>
              <a:t>the MES </a:t>
            </a:r>
            <a:r>
              <a:rPr lang="en-US" sz="1400" dirty="0">
                <a:solidFill>
                  <a:schemeClr val="accent1">
                    <a:lumMod val="75000"/>
                  </a:schemeClr>
                </a:solidFill>
              </a:rPr>
              <a:t>to manufacture the appropriate amounts to fulfill the orders. The </a:t>
            </a:r>
            <a:r>
              <a:rPr lang="en-US" sz="1400" dirty="0" smtClean="0">
                <a:solidFill>
                  <a:schemeClr val="accent1">
                    <a:lumMod val="75000"/>
                  </a:schemeClr>
                </a:solidFill>
              </a:rPr>
              <a:t>MES initiates </a:t>
            </a:r>
            <a:r>
              <a:rPr lang="en-US" sz="1400" dirty="0">
                <a:solidFill>
                  <a:schemeClr val="accent1">
                    <a:lumMod val="75000"/>
                  </a:schemeClr>
                </a:solidFill>
              </a:rPr>
              <a:t>production to fulfill the orders and provides feedback of the </a:t>
            </a:r>
            <a:r>
              <a:rPr lang="en-US" sz="1400" dirty="0" smtClean="0">
                <a:solidFill>
                  <a:schemeClr val="accent1">
                    <a:lumMod val="75000"/>
                  </a:schemeClr>
                </a:solidFill>
              </a:rPr>
              <a:t>production status </a:t>
            </a:r>
            <a:r>
              <a:rPr lang="en-US" sz="1400" dirty="0">
                <a:solidFill>
                  <a:schemeClr val="accent1">
                    <a:lumMod val="75000"/>
                  </a:schemeClr>
                </a:solidFill>
              </a:rPr>
              <a:t>to the ERP system.</a:t>
            </a:r>
          </a:p>
          <a:p>
            <a:pPr algn="just"/>
            <a:r>
              <a:rPr lang="en-US" sz="1400" dirty="0">
                <a:solidFill>
                  <a:schemeClr val="accent1">
                    <a:lumMod val="75000"/>
                  </a:schemeClr>
                </a:solidFill>
              </a:rPr>
              <a:t>Production works this way in a standard modern factory. However, it is </a:t>
            </a:r>
            <a:r>
              <a:rPr lang="en-US" sz="1400" dirty="0" smtClean="0">
                <a:solidFill>
                  <a:schemeClr val="accent1">
                    <a:lumMod val="75000"/>
                  </a:schemeClr>
                </a:solidFill>
              </a:rPr>
              <a:t>not without </a:t>
            </a:r>
            <a:r>
              <a:rPr lang="en-US" sz="1400" dirty="0">
                <a:solidFill>
                  <a:schemeClr val="accent1">
                    <a:lumMod val="75000"/>
                  </a:schemeClr>
                </a:solidFill>
              </a:rPr>
              <a:t>its </a:t>
            </a:r>
            <a:r>
              <a:rPr lang="en-US" sz="1400" dirty="0" smtClean="0">
                <a:solidFill>
                  <a:schemeClr val="accent1">
                    <a:lumMod val="75000"/>
                  </a:schemeClr>
                </a:solidFill>
              </a:rPr>
              <a:t>flaws</a:t>
            </a:r>
            <a:r>
              <a:rPr lang="en-US" sz="1400" dirty="0">
                <a:solidFill>
                  <a:schemeClr val="accent1">
                    <a:lumMod val="75000"/>
                  </a:schemeClr>
                </a:solidFill>
              </a:rPr>
              <a:t> </a:t>
            </a:r>
            <a:r>
              <a:rPr lang="en-US" sz="1400" dirty="0" smtClean="0">
                <a:solidFill>
                  <a:schemeClr val="accent1">
                    <a:lumMod val="75000"/>
                  </a:schemeClr>
                </a:solidFill>
              </a:rPr>
              <a:t>and weaknesses</a:t>
            </a:r>
            <a:r>
              <a:rPr lang="en-US" sz="1400" dirty="0">
                <a:solidFill>
                  <a:schemeClr val="accent1">
                    <a:lumMod val="75000"/>
                  </a:schemeClr>
                </a:solidFill>
              </a:rPr>
              <a:t>. </a:t>
            </a:r>
            <a:endParaRPr lang="en-US" sz="1400" dirty="0" smtClean="0">
              <a:solidFill>
                <a:schemeClr val="accent1">
                  <a:lumMod val="75000"/>
                </a:schemeClr>
              </a:solidFill>
            </a:endParaRPr>
          </a:p>
          <a:p>
            <a:pPr marL="285750" indent="-285750" algn="just">
              <a:buFont typeface="Arial" panose="020B0604020202020204" pitchFamily="34" charset="0"/>
              <a:buChar char="•"/>
            </a:pPr>
            <a:endParaRPr lang="en-US" sz="1400" dirty="0">
              <a:solidFill>
                <a:schemeClr val="accent1">
                  <a:lumMod val="75000"/>
                </a:schemeClr>
              </a:solidFill>
            </a:endParaRPr>
          </a:p>
          <a:p>
            <a:pPr marL="285750" indent="-285750" algn="just">
              <a:buFont typeface="Arial" panose="020B0604020202020204" pitchFamily="34" charset="0"/>
              <a:buChar char="•"/>
            </a:pPr>
            <a:r>
              <a:rPr lang="en-US" sz="1400" dirty="0" smtClean="0">
                <a:solidFill>
                  <a:schemeClr val="accent1">
                    <a:lumMod val="75000"/>
                  </a:schemeClr>
                </a:solidFill>
              </a:rPr>
              <a:t>The </a:t>
            </a:r>
            <a:r>
              <a:rPr lang="en-US" sz="1400" dirty="0">
                <a:solidFill>
                  <a:schemeClr val="accent1">
                    <a:lumMod val="75000"/>
                  </a:schemeClr>
                </a:solidFill>
              </a:rPr>
              <a:t>first weakness lies in the serial </a:t>
            </a:r>
            <a:r>
              <a:rPr lang="en-US" sz="1400" dirty="0" smtClean="0">
                <a:solidFill>
                  <a:schemeClr val="accent1">
                    <a:lumMod val="75000"/>
                  </a:schemeClr>
                </a:solidFill>
              </a:rPr>
              <a:t>production line </a:t>
            </a:r>
            <a:r>
              <a:rPr lang="en-US" sz="1400" dirty="0">
                <a:solidFill>
                  <a:schemeClr val="accent1">
                    <a:lumMod val="75000"/>
                  </a:schemeClr>
                </a:solidFill>
              </a:rPr>
              <a:t>in so far as if one resource fails, then the whole production line fails</a:t>
            </a:r>
            <a:r>
              <a:rPr lang="en-US" sz="1400" dirty="0" smtClean="0">
                <a:solidFill>
                  <a:schemeClr val="accent1">
                    <a:lumMod val="75000"/>
                  </a:schemeClr>
                </a:solidFill>
              </a:rPr>
              <a:t>.</a:t>
            </a:r>
          </a:p>
          <a:p>
            <a:pPr marL="285750" indent="-285750" algn="just">
              <a:buFont typeface="Arial" panose="020B0604020202020204" pitchFamily="34" charset="0"/>
              <a:buChar char="•"/>
            </a:pPr>
            <a:endParaRPr lang="en-US" sz="1400" dirty="0">
              <a:solidFill>
                <a:schemeClr val="accent1">
                  <a:lumMod val="75000"/>
                </a:schemeClr>
              </a:solidFill>
            </a:endParaRPr>
          </a:p>
          <a:p>
            <a:pPr marL="285750" indent="-285750" algn="just">
              <a:buFont typeface="Arial" panose="020B0604020202020204" pitchFamily="34" charset="0"/>
              <a:buChar char="•"/>
            </a:pPr>
            <a:r>
              <a:rPr lang="en-US" sz="1400" dirty="0">
                <a:solidFill>
                  <a:schemeClr val="accent1">
                    <a:lumMod val="75000"/>
                  </a:schemeClr>
                </a:solidFill>
              </a:rPr>
              <a:t>Secondly, any failure in the ERP or MES will also block production. </a:t>
            </a:r>
            <a:r>
              <a:rPr lang="en-US" sz="1400" dirty="0" smtClean="0">
                <a:solidFill>
                  <a:schemeClr val="accent1">
                    <a:lumMod val="75000"/>
                  </a:schemeClr>
                </a:solidFill>
              </a:rPr>
              <a:t>Expansion or </a:t>
            </a:r>
            <a:r>
              <a:rPr lang="en-US" sz="1400" dirty="0">
                <a:solidFill>
                  <a:schemeClr val="accent1">
                    <a:lumMod val="75000"/>
                  </a:schemeClr>
                </a:solidFill>
              </a:rPr>
              <a:t>reconfiguration of the production line is difficult due to the interfacing </a:t>
            </a:r>
            <a:r>
              <a:rPr lang="en-US" sz="1400" dirty="0" smtClean="0">
                <a:solidFill>
                  <a:schemeClr val="accent1">
                    <a:lumMod val="75000"/>
                  </a:schemeClr>
                </a:solidFill>
              </a:rPr>
              <a:t>difficulties between </a:t>
            </a:r>
            <a:r>
              <a:rPr lang="en-US" sz="1400" dirty="0">
                <a:solidFill>
                  <a:schemeClr val="accent1">
                    <a:lumMod val="75000"/>
                  </a:schemeClr>
                </a:solidFill>
              </a:rPr>
              <a:t>the MES and resources, as there can be hundreds of </a:t>
            </a:r>
            <a:r>
              <a:rPr lang="en-US" sz="1400" dirty="0" smtClean="0">
                <a:solidFill>
                  <a:schemeClr val="accent1">
                    <a:lumMod val="75000"/>
                  </a:schemeClr>
                </a:solidFill>
              </a:rPr>
              <a:t>interfacing options</a:t>
            </a:r>
            <a:r>
              <a:rPr lang="en-US" sz="1400" dirty="0">
                <a:solidFill>
                  <a:schemeClr val="accent1">
                    <a:lumMod val="75000"/>
                  </a:schemeClr>
                </a:solidFill>
              </a:rPr>
              <a:t>. </a:t>
            </a:r>
            <a:endParaRPr lang="en-US" sz="1400" dirty="0" smtClean="0">
              <a:solidFill>
                <a:schemeClr val="accent1">
                  <a:lumMod val="75000"/>
                </a:schemeClr>
              </a:solidFill>
            </a:endParaRPr>
          </a:p>
          <a:p>
            <a:pPr marL="285750" indent="-285750" algn="just">
              <a:buFont typeface="Arial" panose="020B0604020202020204" pitchFamily="34" charset="0"/>
              <a:buChar char="•"/>
            </a:pPr>
            <a:endParaRPr lang="en-US" sz="1400" dirty="0" smtClean="0">
              <a:solidFill>
                <a:schemeClr val="accent1">
                  <a:lumMod val="75000"/>
                </a:schemeClr>
              </a:solidFill>
            </a:endParaRPr>
          </a:p>
          <a:p>
            <a:pPr marL="285750" indent="-285750" algn="just">
              <a:buFont typeface="Arial" panose="020B0604020202020204" pitchFamily="34" charset="0"/>
              <a:buChar char="•"/>
            </a:pPr>
            <a:r>
              <a:rPr lang="en-US" sz="1400" dirty="0" smtClean="0">
                <a:solidFill>
                  <a:schemeClr val="accent1">
                    <a:lumMod val="75000"/>
                  </a:schemeClr>
                </a:solidFill>
              </a:rPr>
              <a:t>Thirdly</a:t>
            </a:r>
            <a:r>
              <a:rPr lang="en-US" sz="1400" dirty="0">
                <a:solidFill>
                  <a:schemeClr val="accent1">
                    <a:lumMod val="75000"/>
                  </a:schemeClr>
                </a:solidFill>
              </a:rPr>
              <a:t>, although it is highly desirable, it is </a:t>
            </a:r>
            <a:r>
              <a:rPr lang="en-US" sz="1400" dirty="0" smtClean="0">
                <a:solidFill>
                  <a:schemeClr val="accent1">
                    <a:lumMod val="75000"/>
                  </a:schemeClr>
                </a:solidFill>
              </a:rPr>
              <a:t>not always </a:t>
            </a:r>
            <a:r>
              <a:rPr lang="en-US" sz="1400" dirty="0">
                <a:solidFill>
                  <a:schemeClr val="accent1">
                    <a:lumMod val="75000"/>
                  </a:schemeClr>
                </a:solidFill>
              </a:rPr>
              <a:t>feasible to have the ERP system updated in real time by the MES on </a:t>
            </a:r>
            <a:r>
              <a:rPr lang="en-US" sz="1400" dirty="0" smtClean="0">
                <a:solidFill>
                  <a:schemeClr val="accent1">
                    <a:lumMod val="75000"/>
                  </a:schemeClr>
                </a:solidFill>
              </a:rPr>
              <a:t>the status </a:t>
            </a:r>
            <a:r>
              <a:rPr lang="en-US" sz="1400" dirty="0">
                <a:solidFill>
                  <a:schemeClr val="accent1">
                    <a:lumMod val="75000"/>
                  </a:schemeClr>
                </a:solidFill>
              </a:rPr>
              <a:t>of </a:t>
            </a:r>
            <a:r>
              <a:rPr lang="en-US" sz="1400" dirty="0" smtClean="0">
                <a:solidFill>
                  <a:schemeClr val="accent1">
                    <a:lumMod val="75000"/>
                  </a:schemeClr>
                </a:solidFill>
              </a:rPr>
              <a:t>production (ex: </a:t>
            </a:r>
            <a:r>
              <a:rPr lang="en-US" sz="1400" dirty="0">
                <a:solidFill>
                  <a:schemeClr val="accent1">
                    <a:lumMod val="75000"/>
                  </a:schemeClr>
                </a:solidFill>
              </a:rPr>
              <a:t>the number of bottles produced and </a:t>
            </a:r>
            <a:r>
              <a:rPr lang="en-US" sz="1400" dirty="0" smtClean="0">
                <a:solidFill>
                  <a:schemeClr val="accent1">
                    <a:lumMod val="75000"/>
                  </a:schemeClr>
                </a:solidFill>
              </a:rPr>
              <a:t>the number </a:t>
            </a:r>
            <a:r>
              <a:rPr lang="en-US" sz="1400" dirty="0">
                <a:solidFill>
                  <a:schemeClr val="accent1">
                    <a:lumMod val="75000"/>
                  </a:schemeClr>
                </a:solidFill>
              </a:rPr>
              <a:t>still to run to fulfill an </a:t>
            </a:r>
            <a:r>
              <a:rPr lang="en-US" sz="1400" dirty="0" smtClean="0">
                <a:solidFill>
                  <a:schemeClr val="accent1">
                    <a:lumMod val="75000"/>
                  </a:schemeClr>
                </a:solidFill>
              </a:rPr>
              <a:t>order).</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Tree>
    <p:extLst>
      <p:ext uri="{BB962C8B-B14F-4D97-AF65-F5344CB8AC3E}">
        <p14:creationId xmlns:p14="http://schemas.microsoft.com/office/powerpoint/2010/main" val="2206319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smtClean="0">
                <a:solidFill>
                  <a:schemeClr val="accent1">
                    <a:lumMod val="75000"/>
                  </a:schemeClr>
                </a:solidFill>
                <a:latin typeface="Comic Sans MS" panose="030F0702030302020204" pitchFamily="66" charset="0"/>
              </a:rPr>
              <a:t>Industry 4.0 </a:t>
            </a:r>
            <a:r>
              <a:rPr lang="en-US" b="1" dirty="0">
                <a:solidFill>
                  <a:schemeClr val="accent1">
                    <a:lumMod val="75000"/>
                  </a:schemeClr>
                </a:solidFill>
                <a:latin typeface="Comic Sans MS" panose="030F0702030302020204" pitchFamily="66" charset="0"/>
              </a:rPr>
              <a:t>production line function</a:t>
            </a:r>
          </a:p>
        </p:txBody>
      </p:sp>
      <p:sp>
        <p:nvSpPr>
          <p:cNvPr id="6" name="Rectangle 5"/>
          <p:cNvSpPr/>
          <p:nvPr/>
        </p:nvSpPr>
        <p:spPr>
          <a:xfrm>
            <a:off x="467544" y="1268760"/>
            <a:ext cx="8200827" cy="738664"/>
          </a:xfrm>
          <a:prstGeom prst="rect">
            <a:avLst/>
          </a:prstGeom>
        </p:spPr>
        <p:txBody>
          <a:bodyPr wrap="square">
            <a:spAutoFit/>
          </a:bodyPr>
          <a:lstStyle/>
          <a:p>
            <a:pPr algn="just"/>
            <a:r>
              <a:rPr lang="en-US" sz="1400" dirty="0">
                <a:solidFill>
                  <a:schemeClr val="accent1">
                    <a:lumMod val="75000"/>
                  </a:schemeClr>
                </a:solidFill>
              </a:rPr>
              <a:t>Industry 4.0 can mitigate some if not all of these weaknesses. The way </a:t>
            </a:r>
            <a:r>
              <a:rPr lang="en-US" sz="1400" dirty="0" smtClean="0">
                <a:solidFill>
                  <a:schemeClr val="accent1">
                    <a:lumMod val="75000"/>
                  </a:schemeClr>
                </a:solidFill>
              </a:rPr>
              <a:t>Industry 4.0 </a:t>
            </a:r>
            <a:r>
              <a:rPr lang="en-US" sz="1400" dirty="0">
                <a:solidFill>
                  <a:schemeClr val="accent1">
                    <a:lumMod val="75000"/>
                  </a:schemeClr>
                </a:solidFill>
              </a:rPr>
              <a:t>works is that the resources in the previous example are replaced by CPSs (Cyber-physical </a:t>
            </a:r>
            <a:r>
              <a:rPr lang="en-US" sz="1400" dirty="0" smtClean="0">
                <a:solidFill>
                  <a:schemeClr val="accent1">
                    <a:lumMod val="75000"/>
                  </a:schemeClr>
                </a:solidFill>
              </a:rPr>
              <a:t>system), </a:t>
            </a:r>
            <a:r>
              <a:rPr lang="en-US" sz="1400" dirty="0">
                <a:solidFill>
                  <a:schemeClr val="accent1">
                    <a:lumMod val="75000"/>
                  </a:schemeClr>
                </a:solidFill>
              </a:rPr>
              <a:t>as shown in </a:t>
            </a:r>
            <a:r>
              <a:rPr lang="en-US" sz="1400" dirty="0" smtClean="0">
                <a:solidFill>
                  <a:schemeClr val="accent1">
                    <a:lumMod val="75000"/>
                  </a:schemeClr>
                </a:solidFill>
              </a:rPr>
              <a:t> Figure  below.</a:t>
            </a: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pic>
        <p:nvPicPr>
          <p:cNvPr id="3" name="Picture 2"/>
          <p:cNvPicPr>
            <a:picLocks noChangeAspect="1"/>
          </p:cNvPicPr>
          <p:nvPr/>
        </p:nvPicPr>
        <p:blipFill>
          <a:blip r:embed="rId4"/>
          <a:stretch>
            <a:fillRect/>
          </a:stretch>
        </p:blipFill>
        <p:spPr>
          <a:xfrm>
            <a:off x="1403648" y="2276872"/>
            <a:ext cx="6558205" cy="4248472"/>
          </a:xfrm>
          <a:prstGeom prst="rect">
            <a:avLst/>
          </a:prstGeom>
        </p:spPr>
      </p:pic>
      <p:sp>
        <p:nvSpPr>
          <p:cNvPr id="7" name="Rectangle 6"/>
          <p:cNvSpPr/>
          <p:nvPr/>
        </p:nvSpPr>
        <p:spPr>
          <a:xfrm>
            <a:off x="7129148" y="2852936"/>
            <a:ext cx="1797928" cy="523220"/>
          </a:xfrm>
          <a:prstGeom prst="rect">
            <a:avLst/>
          </a:prstGeom>
        </p:spPr>
        <p:txBody>
          <a:bodyPr wrap="square">
            <a:spAutoFit/>
          </a:bodyPr>
          <a:lstStyle/>
          <a:p>
            <a:pPr algn="ctr"/>
            <a:r>
              <a:rPr lang="en-US" sz="1400" b="1" dirty="0">
                <a:solidFill>
                  <a:srgbClr val="C00000"/>
                </a:solidFill>
                <a:latin typeface="Comic Sans MS" panose="030F0702030302020204" pitchFamily="66" charset="0"/>
              </a:rPr>
              <a:t>Revised production line with CPS</a:t>
            </a:r>
          </a:p>
        </p:txBody>
      </p:sp>
    </p:spTree>
    <p:extLst>
      <p:ext uri="{BB962C8B-B14F-4D97-AF65-F5344CB8AC3E}">
        <p14:creationId xmlns:p14="http://schemas.microsoft.com/office/powerpoint/2010/main" val="31459527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381000"/>
            <a:ext cx="7848600" cy="369332"/>
          </a:xfrm>
          <a:prstGeom prst="rect">
            <a:avLst/>
          </a:prstGeom>
        </p:spPr>
        <p:txBody>
          <a:bodyPr wrap="square">
            <a:spAutoFit/>
          </a:bodyPr>
          <a:lstStyle/>
          <a:p>
            <a:r>
              <a:rPr lang="en-US" b="1" dirty="0">
                <a:solidFill>
                  <a:schemeClr val="accent1">
                    <a:lumMod val="75000"/>
                  </a:schemeClr>
                </a:solidFill>
                <a:latin typeface="Comic Sans MS" panose="030F0702030302020204" pitchFamily="66" charset="0"/>
              </a:rPr>
              <a:t>Industry 4.0 production line function</a:t>
            </a:r>
          </a:p>
        </p:txBody>
      </p:sp>
      <p:sp>
        <p:nvSpPr>
          <p:cNvPr id="6" name="Rectangle 5"/>
          <p:cNvSpPr/>
          <p:nvPr/>
        </p:nvSpPr>
        <p:spPr>
          <a:xfrm>
            <a:off x="467544" y="1340768"/>
            <a:ext cx="8128819" cy="4616648"/>
          </a:xfrm>
          <a:prstGeom prst="rect">
            <a:avLst/>
          </a:prstGeom>
        </p:spPr>
        <p:txBody>
          <a:bodyPr wrap="square">
            <a:spAutoFit/>
          </a:bodyPr>
          <a:lstStyle/>
          <a:p>
            <a:pPr algn="just"/>
            <a:r>
              <a:rPr lang="en-US" sz="1400" dirty="0" smtClean="0">
                <a:solidFill>
                  <a:schemeClr val="accent1">
                    <a:lumMod val="75000"/>
                  </a:schemeClr>
                </a:solidFill>
              </a:rPr>
              <a:t>The cyber-physical system - CPS </a:t>
            </a:r>
            <a:r>
              <a:rPr lang="en-US" sz="1400" dirty="0">
                <a:solidFill>
                  <a:schemeClr val="accent1">
                    <a:lumMod val="75000"/>
                  </a:schemeClr>
                </a:solidFill>
              </a:rPr>
              <a:t>have embedded sensors and can communicate with one another </a:t>
            </a:r>
            <a:r>
              <a:rPr lang="en-US" sz="1400" dirty="0" smtClean="0">
                <a:solidFill>
                  <a:schemeClr val="accent1">
                    <a:lumMod val="75000"/>
                  </a:schemeClr>
                </a:solidFill>
              </a:rPr>
              <a:t>over wireless </a:t>
            </a:r>
            <a:r>
              <a:rPr lang="en-US" sz="1400" dirty="0">
                <a:solidFill>
                  <a:schemeClr val="accent1">
                    <a:lumMod val="75000"/>
                  </a:schemeClr>
                </a:solidFill>
              </a:rPr>
              <a:t>radio links, which enables one CPS to take over the tasks of a </a:t>
            </a:r>
            <a:r>
              <a:rPr lang="en-US" sz="1400" dirty="0" smtClean="0">
                <a:solidFill>
                  <a:schemeClr val="accent1">
                    <a:lumMod val="75000"/>
                  </a:schemeClr>
                </a:solidFill>
              </a:rPr>
              <a:t>failed CPS</a:t>
            </a:r>
            <a:r>
              <a:rPr lang="en-US" sz="1400" dirty="0">
                <a:solidFill>
                  <a:schemeClr val="accent1">
                    <a:lumMod val="75000"/>
                  </a:schemeClr>
                </a:solidFill>
              </a:rPr>
              <a:t>. This ability for CPS to self-diagnose and check the status of the </a:t>
            </a:r>
            <a:r>
              <a:rPr lang="en-US" sz="1400" dirty="0" smtClean="0">
                <a:solidFill>
                  <a:schemeClr val="accent1">
                    <a:lumMod val="75000"/>
                  </a:schemeClr>
                </a:solidFill>
              </a:rPr>
              <a:t>production line </a:t>
            </a:r>
            <a:r>
              <a:rPr lang="en-US" sz="1400" dirty="0">
                <a:solidFill>
                  <a:schemeClr val="accent1">
                    <a:lumMod val="75000"/>
                  </a:schemeClr>
                </a:solidFill>
              </a:rPr>
              <a:t>and then take appropriate collaborative action provides for </a:t>
            </a:r>
            <a:r>
              <a:rPr lang="en-US" sz="1400" dirty="0" smtClean="0">
                <a:solidFill>
                  <a:schemeClr val="accent1">
                    <a:lumMod val="75000"/>
                  </a:schemeClr>
                </a:solidFill>
              </a:rPr>
              <a:t>improved availability </a:t>
            </a:r>
            <a:r>
              <a:rPr lang="en-US" sz="1400" dirty="0">
                <a:solidFill>
                  <a:schemeClr val="accent1">
                    <a:lumMod val="75000"/>
                  </a:schemeClr>
                </a:solidFill>
              </a:rPr>
              <a:t>and resilience. Additionally, because CPS interfaces with </a:t>
            </a:r>
            <a:r>
              <a:rPr lang="en-US" sz="1400" dirty="0" smtClean="0">
                <a:solidFill>
                  <a:schemeClr val="accent1">
                    <a:lumMod val="75000"/>
                  </a:schemeClr>
                </a:solidFill>
              </a:rPr>
              <a:t>one another </a:t>
            </a:r>
            <a:r>
              <a:rPr lang="en-US" sz="1400" dirty="0">
                <a:solidFill>
                  <a:schemeClr val="accent1">
                    <a:lumMod val="75000"/>
                  </a:schemeClr>
                </a:solidFill>
              </a:rPr>
              <a:t>directly, they do not require a MES system so that removes </a:t>
            </a:r>
            <a:r>
              <a:rPr lang="en-US" sz="1400" dirty="0" smtClean="0">
                <a:solidFill>
                  <a:schemeClr val="accent1">
                    <a:lumMod val="75000"/>
                  </a:schemeClr>
                </a:solidFill>
              </a:rPr>
              <a:t>another potential </a:t>
            </a:r>
            <a:r>
              <a:rPr lang="en-US" sz="1400" dirty="0">
                <a:solidFill>
                  <a:schemeClr val="accent1">
                    <a:lumMod val="75000"/>
                  </a:schemeClr>
                </a:solidFill>
              </a:rPr>
              <a:t>point of failure. </a:t>
            </a:r>
          </a:p>
          <a:p>
            <a:pPr algn="just"/>
            <a:r>
              <a:rPr lang="en-US" sz="1400" dirty="0" smtClean="0">
                <a:solidFill>
                  <a:schemeClr val="accent1">
                    <a:lumMod val="75000"/>
                  </a:schemeClr>
                </a:solidFill>
              </a:rPr>
              <a:t>The </a:t>
            </a:r>
            <a:r>
              <a:rPr lang="en-US" sz="1400" dirty="0">
                <a:solidFill>
                  <a:schemeClr val="accent1">
                    <a:lumMod val="75000"/>
                  </a:schemeClr>
                </a:solidFill>
              </a:rPr>
              <a:t>self-sufficient CPS are not the only smart, intelligent entities on the </a:t>
            </a:r>
            <a:r>
              <a:rPr lang="en-US" sz="1400" dirty="0" smtClean="0">
                <a:solidFill>
                  <a:schemeClr val="accent1">
                    <a:lumMod val="75000"/>
                  </a:schemeClr>
                </a:solidFill>
              </a:rPr>
              <a:t>production line</a:t>
            </a:r>
            <a:r>
              <a:rPr lang="en-US" sz="1400" dirty="0">
                <a:solidFill>
                  <a:schemeClr val="accent1">
                    <a:lumMod val="75000"/>
                  </a:schemeClr>
                </a:solidFill>
              </a:rPr>
              <a:t>, the product also is smart. For example, the shampoo bottles </a:t>
            </a:r>
            <a:r>
              <a:rPr lang="en-US" sz="1400" dirty="0" smtClean="0">
                <a:solidFill>
                  <a:schemeClr val="accent1">
                    <a:lumMod val="75000"/>
                  </a:schemeClr>
                </a:solidFill>
              </a:rPr>
              <a:t>will be </a:t>
            </a:r>
            <a:r>
              <a:rPr lang="en-US" sz="1400" dirty="0">
                <a:solidFill>
                  <a:schemeClr val="accent1">
                    <a:lumMod val="75000"/>
                  </a:schemeClr>
                </a:solidFill>
              </a:rPr>
              <a:t>fitted with RFID tags, which identify which brand and </a:t>
            </a:r>
            <a:r>
              <a:rPr lang="en-US" sz="1400" dirty="0" smtClean="0">
                <a:solidFill>
                  <a:schemeClr val="accent1">
                    <a:lumMod val="75000"/>
                  </a:schemeClr>
                </a:solidFill>
              </a:rPr>
              <a:t>type </a:t>
            </a:r>
            <a:r>
              <a:rPr lang="en-US" sz="1400" dirty="0">
                <a:solidFill>
                  <a:schemeClr val="accent1">
                    <a:lumMod val="75000"/>
                  </a:schemeClr>
                </a:solidFill>
              </a:rPr>
              <a:t>it is, and </a:t>
            </a:r>
            <a:r>
              <a:rPr lang="en-US" sz="1400" dirty="0" smtClean="0">
                <a:solidFill>
                  <a:schemeClr val="accent1">
                    <a:lumMod val="75000"/>
                  </a:schemeClr>
                </a:solidFill>
              </a:rPr>
              <a:t>its </a:t>
            </a:r>
            <a:r>
              <a:rPr lang="en-US" sz="1400" dirty="0">
                <a:solidFill>
                  <a:schemeClr val="accent1">
                    <a:lumMod val="75000"/>
                  </a:schemeClr>
                </a:solidFill>
              </a:rPr>
              <a:t>own production history to </a:t>
            </a:r>
            <a:r>
              <a:rPr lang="en-US" sz="1400" dirty="0" smtClean="0">
                <a:solidFill>
                  <a:schemeClr val="accent1">
                    <a:lumMod val="75000"/>
                  </a:schemeClr>
                </a:solidFill>
              </a:rPr>
              <a:t>date, </a:t>
            </a:r>
            <a:r>
              <a:rPr lang="en-US" sz="1400" dirty="0">
                <a:solidFill>
                  <a:schemeClr val="accent1">
                    <a:lumMod val="75000"/>
                  </a:schemeClr>
                </a:solidFill>
              </a:rPr>
              <a:t>as well as the </a:t>
            </a:r>
            <a:r>
              <a:rPr lang="en-US" sz="1400" dirty="0" smtClean="0">
                <a:solidFill>
                  <a:schemeClr val="accent1">
                    <a:lumMod val="75000"/>
                  </a:schemeClr>
                </a:solidFill>
              </a:rPr>
              <a:t>next stage </a:t>
            </a:r>
            <a:r>
              <a:rPr lang="en-US" sz="1400" dirty="0">
                <a:solidFill>
                  <a:schemeClr val="accent1">
                    <a:lumMod val="75000"/>
                  </a:schemeClr>
                </a:solidFill>
              </a:rPr>
              <a:t>it has to proceed to in order to complete its production. Moreover, </a:t>
            </a:r>
            <a:r>
              <a:rPr lang="en-US" sz="1400" dirty="0" smtClean="0">
                <a:solidFill>
                  <a:schemeClr val="accent1">
                    <a:lumMod val="75000"/>
                  </a:schemeClr>
                </a:solidFill>
              </a:rPr>
              <a:t>the product’s </a:t>
            </a:r>
            <a:r>
              <a:rPr lang="en-US" sz="1400" dirty="0">
                <a:solidFill>
                  <a:schemeClr val="accent1">
                    <a:lumMod val="75000"/>
                  </a:schemeClr>
                </a:solidFill>
              </a:rPr>
              <a:t>intelligence extends beyond the production line, even the </a:t>
            </a:r>
            <a:r>
              <a:rPr lang="en-US" sz="1400" dirty="0" smtClean="0">
                <a:solidFill>
                  <a:schemeClr val="accent1">
                    <a:lumMod val="75000"/>
                  </a:schemeClr>
                </a:solidFill>
              </a:rPr>
              <a:t>smart factory</a:t>
            </a:r>
            <a:r>
              <a:rPr lang="en-US" sz="1400" dirty="0">
                <a:solidFill>
                  <a:schemeClr val="accent1">
                    <a:lumMod val="75000"/>
                  </a:schemeClr>
                </a:solidFill>
              </a:rPr>
              <a:t>, into the warehouse and later into the reseller chain. </a:t>
            </a:r>
            <a:endParaRPr lang="en-US" sz="1400" dirty="0" smtClean="0">
              <a:solidFill>
                <a:schemeClr val="accent1">
                  <a:lumMod val="75000"/>
                </a:schemeClr>
              </a:solidFill>
            </a:endParaRPr>
          </a:p>
          <a:p>
            <a:pPr algn="just"/>
            <a:r>
              <a:rPr lang="en-US" sz="1400" dirty="0" smtClean="0">
                <a:solidFill>
                  <a:schemeClr val="accent1">
                    <a:lumMod val="75000"/>
                  </a:schemeClr>
                </a:solidFill>
              </a:rPr>
              <a:t>Furthermore, the </a:t>
            </a:r>
            <a:r>
              <a:rPr lang="en-US" sz="1400" dirty="0">
                <a:solidFill>
                  <a:schemeClr val="accent1">
                    <a:lumMod val="75000"/>
                  </a:schemeClr>
                </a:solidFill>
              </a:rPr>
              <a:t>product’s intelligence stays active even in the service of the customer. </a:t>
            </a:r>
            <a:r>
              <a:rPr lang="en-US" sz="1400" dirty="0" smtClean="0">
                <a:solidFill>
                  <a:schemeClr val="accent1">
                    <a:lumMod val="75000"/>
                  </a:schemeClr>
                </a:solidFill>
              </a:rPr>
              <a:t>For example</a:t>
            </a:r>
            <a:r>
              <a:rPr lang="en-US" sz="1400" dirty="0">
                <a:solidFill>
                  <a:schemeClr val="accent1">
                    <a:lumMod val="75000"/>
                  </a:schemeClr>
                </a:solidFill>
              </a:rPr>
              <a:t>, consider a far more intelligent product than the </a:t>
            </a:r>
            <a:r>
              <a:rPr lang="en-US" sz="1400" dirty="0" smtClean="0">
                <a:solidFill>
                  <a:schemeClr val="accent1">
                    <a:lumMod val="75000"/>
                  </a:schemeClr>
                </a:solidFill>
              </a:rPr>
              <a:t>shampoo bottle</a:t>
            </a:r>
            <a:r>
              <a:rPr lang="en-US" sz="1400" dirty="0">
                <a:solidFill>
                  <a:schemeClr val="accent1">
                    <a:lumMod val="75000"/>
                  </a:schemeClr>
                </a:solidFill>
              </a:rPr>
              <a:t>, such as a tractor engine, the smart engine could during its </a:t>
            </a:r>
            <a:r>
              <a:rPr lang="en-US" sz="1400" dirty="0" smtClean="0">
                <a:solidFill>
                  <a:schemeClr val="accent1">
                    <a:lumMod val="75000"/>
                  </a:schemeClr>
                </a:solidFill>
              </a:rPr>
              <a:t>productive working </a:t>
            </a:r>
            <a:r>
              <a:rPr lang="en-US" sz="1400" dirty="0">
                <a:solidFill>
                  <a:schemeClr val="accent1">
                    <a:lumMod val="75000"/>
                  </a:schemeClr>
                </a:solidFill>
              </a:rPr>
              <a:t>life self-diagnose and alert the customer or service department of </a:t>
            </a:r>
            <a:r>
              <a:rPr lang="en-US" sz="1400" dirty="0" smtClean="0">
                <a:solidFill>
                  <a:schemeClr val="accent1">
                    <a:lumMod val="75000"/>
                  </a:schemeClr>
                </a:solidFill>
              </a:rPr>
              <a:t>its maintenance </a:t>
            </a:r>
            <a:r>
              <a:rPr lang="en-US" sz="1400" dirty="0">
                <a:solidFill>
                  <a:schemeClr val="accent1">
                    <a:lumMod val="75000"/>
                  </a:schemeClr>
                </a:solidFill>
              </a:rPr>
              <a:t>status and even predict failure of a component. This is an </a:t>
            </a:r>
            <a:r>
              <a:rPr lang="en-US" sz="1400" dirty="0" smtClean="0">
                <a:solidFill>
                  <a:schemeClr val="accent1">
                    <a:lumMod val="75000"/>
                  </a:schemeClr>
                </a:solidFill>
              </a:rPr>
              <a:t>important shift </a:t>
            </a:r>
            <a:r>
              <a:rPr lang="en-US" sz="1400" dirty="0">
                <a:solidFill>
                  <a:schemeClr val="accent1">
                    <a:lumMod val="75000"/>
                  </a:schemeClr>
                </a:solidFill>
              </a:rPr>
              <a:t>from break-fix to fix-before-break and can greatly improve </a:t>
            </a:r>
            <a:r>
              <a:rPr lang="en-US" sz="1400" dirty="0" smtClean="0">
                <a:solidFill>
                  <a:schemeClr val="accent1">
                    <a:lumMod val="75000"/>
                  </a:schemeClr>
                </a:solidFill>
              </a:rPr>
              <a:t>service availability </a:t>
            </a:r>
            <a:r>
              <a:rPr lang="en-US" sz="1400" dirty="0">
                <a:solidFill>
                  <a:schemeClr val="accent1">
                    <a:lumMod val="75000"/>
                  </a:schemeClr>
                </a:solidFill>
              </a:rPr>
              <a:t>and downtime</a:t>
            </a:r>
            <a:r>
              <a:rPr lang="en-US" sz="1400" dirty="0" smtClean="0">
                <a:solidFill>
                  <a:schemeClr val="accent1">
                    <a:lumMod val="75000"/>
                  </a:schemeClr>
                </a:solidFill>
              </a:rPr>
              <a:t>.</a:t>
            </a:r>
          </a:p>
          <a:p>
            <a:pPr algn="just"/>
            <a:endParaRPr lang="en-US" sz="1400" dirty="0">
              <a:solidFill>
                <a:schemeClr val="accent1">
                  <a:lumMod val="75000"/>
                </a:schemeClr>
              </a:solidFill>
            </a:endParaRPr>
          </a:p>
          <a:p>
            <a:pPr algn="just"/>
            <a:r>
              <a:rPr lang="en-US" sz="1400" dirty="0">
                <a:solidFill>
                  <a:schemeClr val="accent1">
                    <a:lumMod val="75000"/>
                  </a:schemeClr>
                </a:solidFill>
              </a:rPr>
              <a:t>With the MES becoming </a:t>
            </a:r>
            <a:r>
              <a:rPr lang="en-US" sz="1400" dirty="0" smtClean="0">
                <a:solidFill>
                  <a:schemeClr val="accent1">
                    <a:lumMod val="75000"/>
                  </a:schemeClr>
                </a:solidFill>
              </a:rPr>
              <a:t>redundant to the smart </a:t>
            </a:r>
            <a:r>
              <a:rPr lang="en-US" sz="1400" dirty="0">
                <a:solidFill>
                  <a:schemeClr val="accent1">
                    <a:lumMod val="75000"/>
                  </a:schemeClr>
                </a:solidFill>
              </a:rPr>
              <a:t>design, the ERP system </a:t>
            </a:r>
            <a:r>
              <a:rPr lang="en-US" sz="1400" dirty="0" smtClean="0">
                <a:solidFill>
                  <a:schemeClr val="accent1">
                    <a:lumMod val="75000"/>
                  </a:schemeClr>
                </a:solidFill>
              </a:rPr>
              <a:t>now becomes </a:t>
            </a:r>
            <a:r>
              <a:rPr lang="en-US" sz="1400" dirty="0">
                <a:solidFill>
                  <a:schemeClr val="accent1">
                    <a:lumMod val="75000"/>
                  </a:schemeClr>
                </a:solidFill>
              </a:rPr>
              <a:t>a smart ERP (SERP), and it communicates directly with the CPSs </a:t>
            </a:r>
            <a:r>
              <a:rPr lang="en-US" sz="1400" dirty="0" smtClean="0">
                <a:solidFill>
                  <a:schemeClr val="accent1">
                    <a:lumMod val="75000"/>
                  </a:schemeClr>
                </a:solidFill>
              </a:rPr>
              <a:t>to control </a:t>
            </a:r>
            <a:r>
              <a:rPr lang="en-US" sz="1400" dirty="0">
                <a:solidFill>
                  <a:schemeClr val="accent1">
                    <a:lumMod val="75000"/>
                  </a:schemeClr>
                </a:solidFill>
              </a:rPr>
              <a:t>the production of products to fulfill the order books. By being </a:t>
            </a:r>
            <a:r>
              <a:rPr lang="en-US" sz="1400" dirty="0" smtClean="0">
                <a:solidFill>
                  <a:schemeClr val="accent1">
                    <a:lumMod val="75000"/>
                  </a:schemeClr>
                </a:solidFill>
              </a:rPr>
              <a:t>directly connected</a:t>
            </a:r>
            <a:r>
              <a:rPr lang="en-US" sz="1400" dirty="0">
                <a:solidFill>
                  <a:schemeClr val="accent1">
                    <a:lumMod val="75000"/>
                  </a:schemeClr>
                </a:solidFill>
              </a:rPr>
              <a:t>, the SERP system now learns in real time the status of production</a:t>
            </a:r>
            <a:r>
              <a:rPr lang="en-US" sz="1400" dirty="0" smtClean="0">
                <a:solidFill>
                  <a:schemeClr val="accent1">
                    <a:lumMod val="75000"/>
                  </a:schemeClr>
                </a:solidFill>
              </a:rPr>
              <a:t>, CPS </a:t>
            </a:r>
            <a:r>
              <a:rPr lang="en-US" sz="1400" dirty="0">
                <a:solidFill>
                  <a:schemeClr val="accent1">
                    <a:lumMod val="75000"/>
                  </a:schemeClr>
                </a:solidFill>
              </a:rPr>
              <a:t>health, and other real-time sensor data. </a:t>
            </a:r>
            <a:endParaRPr lang="en-US" sz="1400" dirty="0" smtClean="0">
              <a:solidFill>
                <a:schemeClr val="accent1">
                  <a:lumMod val="75000"/>
                </a:schemeClr>
              </a:solidFill>
            </a:endParaRPr>
          </a:p>
        </p:txBody>
      </p:sp>
      <p:pic>
        <p:nvPicPr>
          <p:cNvPr id="4" name="Graphic 5" descr="Lightbulb and gear">
            <a:extLst>
              <a:ext uri="{FF2B5EF4-FFF2-40B4-BE49-F238E27FC236}">
                <a16:creationId xmlns:a16="http://schemas.microsoft.com/office/drawing/2014/main" id="{0998678E-0C53-4B35-A9B4-9C88723E99E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8153400" y="76200"/>
            <a:ext cx="762000" cy="762000"/>
          </a:xfrm>
          <a:prstGeom prst="rect">
            <a:avLst/>
          </a:prstGeom>
        </p:spPr>
      </p:pic>
    </p:spTree>
    <p:extLst>
      <p:ext uri="{BB962C8B-B14F-4D97-AF65-F5344CB8AC3E}">
        <p14:creationId xmlns:p14="http://schemas.microsoft.com/office/powerpoint/2010/main" val="42147269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591D7E-A1FF-427B-B0E9-2DF81BE31B86}"/>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50975" y="161204"/>
            <a:ext cx="1410161" cy="1611612"/>
          </a:xfrm>
          <a:prstGeom prst="rect">
            <a:avLst/>
          </a:prstGeom>
        </p:spPr>
      </p:pic>
      <p:sp>
        <p:nvSpPr>
          <p:cNvPr id="11267" name="Rectangle 2"/>
          <p:cNvSpPr>
            <a:spLocks noGrp="1" noChangeArrowheads="1"/>
          </p:cNvSpPr>
          <p:nvPr>
            <p:ph type="title"/>
          </p:nvPr>
        </p:nvSpPr>
        <p:spPr/>
        <p:txBody>
          <a:bodyPr/>
          <a:lstStyle/>
          <a:p>
            <a:pPr algn="ctr" eaLnBrk="1" hangingPunct="1"/>
            <a:r>
              <a:rPr lang="en-GB" altLang="en-US" sz="1800" dirty="0" smtClean="0">
                <a:solidFill>
                  <a:srgbClr val="C00000"/>
                </a:solidFill>
                <a:latin typeface="Comic Sans MS" panose="030F0702030302020204" pitchFamily="66" charset="0"/>
              </a:rPr>
              <a:t>Exercise</a:t>
            </a:r>
            <a:endParaRPr lang="en-US" altLang="en-US" sz="1800" dirty="0" smtClean="0">
              <a:solidFill>
                <a:srgbClr val="C00000"/>
              </a:solidFill>
              <a:latin typeface="Comic Sans MS" panose="030F0702030302020204" pitchFamily="66" charset="0"/>
            </a:endParaRPr>
          </a:p>
        </p:txBody>
      </p:sp>
      <p:sp>
        <p:nvSpPr>
          <p:cNvPr id="11268" name="Rectangle 3"/>
          <p:cNvSpPr>
            <a:spLocks noGrp="1" noChangeArrowheads="1"/>
          </p:cNvSpPr>
          <p:nvPr>
            <p:ph type="body" idx="1"/>
          </p:nvPr>
        </p:nvSpPr>
        <p:spPr>
          <a:xfrm>
            <a:off x="611560" y="1764641"/>
            <a:ext cx="8075240" cy="1016287"/>
          </a:xfrm>
        </p:spPr>
        <p:txBody>
          <a:bodyPr/>
          <a:lstStyle/>
          <a:p>
            <a:pPr marL="0" indent="0" algn="ctr">
              <a:buNone/>
            </a:pPr>
            <a:r>
              <a:rPr lang="en-US" dirty="0"/>
              <a:t>Using the available internet sources, identify at least 3 world-class companies that practice the indicated digital technologies in their operations. </a:t>
            </a:r>
            <a:endParaRPr lang="mk-MK" dirty="0"/>
          </a:p>
          <a:p>
            <a:pPr marL="0" indent="0" algn="ctr">
              <a:buNone/>
            </a:pPr>
            <a:r>
              <a:rPr lang="en-US" dirty="0"/>
              <a:t>Additionally, list the </a:t>
            </a:r>
            <a:r>
              <a:rPr lang="en-US" dirty="0" smtClean="0"/>
              <a:t>companies’ </a:t>
            </a:r>
            <a:r>
              <a:rPr lang="en-US" dirty="0"/>
              <a:t>benefits caused by the implemented technology.</a:t>
            </a:r>
          </a:p>
        </p:txBody>
      </p:sp>
      <p:graphicFrame>
        <p:nvGraphicFramePr>
          <p:cNvPr id="5" name="Table 4"/>
          <p:cNvGraphicFramePr>
            <a:graphicFrameLocks noGrp="1"/>
          </p:cNvGraphicFramePr>
          <p:nvPr>
            <p:extLst>
              <p:ext uri="{D42A27DB-BD31-4B8C-83A1-F6EECF244321}">
                <p14:modId xmlns:p14="http://schemas.microsoft.com/office/powerpoint/2010/main" val="2732010891"/>
              </p:ext>
            </p:extLst>
          </p:nvPr>
        </p:nvGraphicFramePr>
        <p:xfrm>
          <a:off x="719573" y="3211982"/>
          <a:ext cx="7704854" cy="3097339"/>
        </p:xfrm>
        <a:graphic>
          <a:graphicData uri="http://schemas.openxmlformats.org/drawingml/2006/table">
            <a:tbl>
              <a:tblPr/>
              <a:tblGrid>
                <a:gridCol w="576065">
                  <a:extLst>
                    <a:ext uri="{9D8B030D-6E8A-4147-A177-3AD203B41FA5}">
                      <a16:colId xmlns:a16="http://schemas.microsoft.com/office/drawing/2014/main" val="20000"/>
                    </a:ext>
                  </a:extLst>
                </a:gridCol>
                <a:gridCol w="1836202">
                  <a:extLst>
                    <a:ext uri="{9D8B030D-6E8A-4147-A177-3AD203B41FA5}">
                      <a16:colId xmlns:a16="http://schemas.microsoft.com/office/drawing/2014/main" val="4184050666"/>
                    </a:ext>
                  </a:extLst>
                </a:gridCol>
                <a:gridCol w="1800200">
                  <a:extLst>
                    <a:ext uri="{9D8B030D-6E8A-4147-A177-3AD203B41FA5}">
                      <a16:colId xmlns:a16="http://schemas.microsoft.com/office/drawing/2014/main" val="2476986455"/>
                    </a:ext>
                  </a:extLst>
                </a:gridCol>
                <a:gridCol w="1800200">
                  <a:extLst>
                    <a:ext uri="{9D8B030D-6E8A-4147-A177-3AD203B41FA5}">
                      <a16:colId xmlns:a16="http://schemas.microsoft.com/office/drawing/2014/main" val="2422247487"/>
                    </a:ext>
                  </a:extLst>
                </a:gridCol>
                <a:gridCol w="1692187">
                  <a:extLst>
                    <a:ext uri="{9D8B030D-6E8A-4147-A177-3AD203B41FA5}">
                      <a16:colId xmlns:a16="http://schemas.microsoft.com/office/drawing/2014/main" val="1198099037"/>
                    </a:ext>
                  </a:extLst>
                </a:gridCol>
              </a:tblGrid>
              <a:tr h="588560">
                <a:tc>
                  <a:txBody>
                    <a:bodyPr/>
                    <a:lstStyle/>
                    <a:p>
                      <a:pPr algn="ctr">
                        <a:lnSpc>
                          <a:spcPct val="115000"/>
                        </a:lnSpc>
                        <a:spcAft>
                          <a:spcPts val="0"/>
                        </a:spcAft>
                      </a:pPr>
                      <a:r>
                        <a:rPr lang="en-US" sz="1100" dirty="0" smtClean="0">
                          <a:solidFill>
                            <a:srgbClr val="C00000"/>
                          </a:solidFill>
                          <a:latin typeface="Comic Sans MS" panose="030F0702030302020204" pitchFamily="66" charset="0"/>
                          <a:ea typeface="Times New Roman"/>
                          <a:cs typeface="Arial" pitchFamily="34" charset="0"/>
                        </a:rPr>
                        <a:t>Type</a:t>
                      </a:r>
                      <a:endParaRPr lang="mk-MK" sz="1100" dirty="0">
                        <a:solidFill>
                          <a:srgbClr val="C00000"/>
                        </a:solidFill>
                        <a:latin typeface="Comic Sans MS" panose="030F0702030302020204" pitchFamily="66"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15000"/>
                        </a:lnSpc>
                        <a:spcAft>
                          <a:spcPts val="0"/>
                        </a:spcAft>
                      </a:pPr>
                      <a:r>
                        <a:rPr lang="en-US" sz="1100" b="1" dirty="0" smtClean="0">
                          <a:solidFill>
                            <a:schemeClr val="accent1">
                              <a:lumMod val="75000"/>
                            </a:schemeClr>
                          </a:solidFill>
                          <a:latin typeface="Arial" pitchFamily="34" charset="0"/>
                          <a:ea typeface="Times New Roman"/>
                          <a:cs typeface="Arial" pitchFamily="34" charset="0"/>
                        </a:rPr>
                        <a:t>Augmented</a:t>
                      </a:r>
                      <a:r>
                        <a:rPr lang="en-US" sz="1100" b="1" baseline="0" dirty="0" smtClean="0">
                          <a:solidFill>
                            <a:schemeClr val="accent1">
                              <a:lumMod val="75000"/>
                            </a:schemeClr>
                          </a:solidFill>
                          <a:latin typeface="Arial" pitchFamily="34" charset="0"/>
                          <a:ea typeface="Times New Roman"/>
                          <a:cs typeface="Arial" pitchFamily="34" charset="0"/>
                        </a:rPr>
                        <a:t> Reality</a:t>
                      </a:r>
                      <a:endParaRPr lang="mk-MK" sz="1100" dirty="0">
                        <a:solidFill>
                          <a:schemeClr val="accent1">
                            <a:lumMod val="75000"/>
                          </a:schemeClr>
                        </a:solidFill>
                        <a:latin typeface="Arial" pitchFamily="34"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pPr>
                      <a:r>
                        <a:rPr lang="en-US" sz="1100" b="1" dirty="0" smtClean="0">
                          <a:solidFill>
                            <a:schemeClr val="accent1">
                              <a:lumMod val="75000"/>
                            </a:schemeClr>
                          </a:solidFill>
                          <a:latin typeface="Arial" pitchFamily="34" charset="0"/>
                          <a:ea typeface="Times New Roman"/>
                          <a:cs typeface="Arial" pitchFamily="34" charset="0"/>
                        </a:rPr>
                        <a:t>Big</a:t>
                      </a:r>
                      <a:r>
                        <a:rPr lang="en-US" sz="1100" b="1" baseline="0" dirty="0" smtClean="0">
                          <a:solidFill>
                            <a:schemeClr val="accent1">
                              <a:lumMod val="75000"/>
                            </a:schemeClr>
                          </a:solidFill>
                          <a:latin typeface="Arial" pitchFamily="34" charset="0"/>
                          <a:ea typeface="Times New Roman"/>
                          <a:cs typeface="Arial" pitchFamily="34" charset="0"/>
                        </a:rPr>
                        <a:t> Data</a:t>
                      </a:r>
                      <a:endParaRPr lang="mk-MK" sz="1100" dirty="0">
                        <a:solidFill>
                          <a:schemeClr val="accent1">
                            <a:lumMod val="75000"/>
                          </a:schemeClr>
                        </a:solidFill>
                        <a:latin typeface="Arial" pitchFamily="34"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pPr>
                      <a:r>
                        <a:rPr lang="en-US" sz="1100" b="1" dirty="0" smtClean="0">
                          <a:solidFill>
                            <a:schemeClr val="accent1">
                              <a:lumMod val="75000"/>
                            </a:schemeClr>
                          </a:solidFill>
                          <a:latin typeface="Arial" pitchFamily="34" charset="0"/>
                          <a:ea typeface="Times New Roman"/>
                          <a:cs typeface="Arial" pitchFamily="34" charset="0"/>
                        </a:rPr>
                        <a:t>Artificial</a:t>
                      </a:r>
                      <a:r>
                        <a:rPr lang="en-US" sz="1100" b="1" baseline="0" dirty="0" smtClean="0">
                          <a:solidFill>
                            <a:schemeClr val="accent1">
                              <a:lumMod val="75000"/>
                            </a:schemeClr>
                          </a:solidFill>
                          <a:latin typeface="Arial" pitchFamily="34" charset="0"/>
                          <a:ea typeface="Times New Roman"/>
                          <a:cs typeface="Arial" pitchFamily="34" charset="0"/>
                        </a:rPr>
                        <a:t> Intelligence</a:t>
                      </a:r>
                      <a:endParaRPr lang="mk-MK" sz="1100" dirty="0">
                        <a:solidFill>
                          <a:schemeClr val="accent1">
                            <a:lumMod val="75000"/>
                          </a:schemeClr>
                        </a:solidFill>
                        <a:latin typeface="Arial" pitchFamily="34"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15000"/>
                        </a:lnSpc>
                        <a:spcAft>
                          <a:spcPts val="0"/>
                        </a:spcAft>
                      </a:pPr>
                      <a:r>
                        <a:rPr lang="en-US" sz="1100" b="1" dirty="0" smtClean="0">
                          <a:solidFill>
                            <a:schemeClr val="accent1">
                              <a:lumMod val="75000"/>
                            </a:schemeClr>
                          </a:solidFill>
                          <a:latin typeface="Arial" pitchFamily="34" charset="0"/>
                          <a:ea typeface="Times New Roman"/>
                          <a:cs typeface="Arial" pitchFamily="34" charset="0"/>
                        </a:rPr>
                        <a:t>Machine</a:t>
                      </a:r>
                      <a:r>
                        <a:rPr lang="en-US" sz="1100" b="1" baseline="0" dirty="0" smtClean="0">
                          <a:solidFill>
                            <a:schemeClr val="accent1">
                              <a:lumMod val="75000"/>
                            </a:schemeClr>
                          </a:solidFill>
                          <a:latin typeface="Arial" pitchFamily="34" charset="0"/>
                          <a:ea typeface="Times New Roman"/>
                          <a:cs typeface="Arial" pitchFamily="34" charset="0"/>
                        </a:rPr>
                        <a:t> Learning</a:t>
                      </a:r>
                      <a:endParaRPr lang="mk-MK" sz="1100" dirty="0">
                        <a:solidFill>
                          <a:schemeClr val="accent1">
                            <a:lumMod val="75000"/>
                          </a:schemeClr>
                        </a:solidFill>
                        <a:latin typeface="Arial" pitchFamily="34"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91664">
                <a:tc rowSpan="3">
                  <a:txBody>
                    <a:bodyPr/>
                    <a:lstStyle/>
                    <a:p>
                      <a:pPr marL="0" marR="0" lvl="0" indent="0" algn="ctr" defTabSz="859512" rtl="0" eaLnBrk="1" fontAlgn="auto" latinLnBrk="0" hangingPunct="1">
                        <a:lnSpc>
                          <a:spcPct val="115000"/>
                        </a:lnSpc>
                        <a:spcBef>
                          <a:spcPts val="0"/>
                        </a:spcBef>
                        <a:spcAft>
                          <a:spcPts val="0"/>
                        </a:spcAft>
                        <a:buClrTx/>
                        <a:buSzTx/>
                        <a:buFontTx/>
                        <a:buNone/>
                        <a:tabLst/>
                        <a:defRPr/>
                      </a:pPr>
                      <a:r>
                        <a:rPr lang="en-US" sz="1100" dirty="0" smtClean="0">
                          <a:solidFill>
                            <a:srgbClr val="C00000"/>
                          </a:solidFill>
                          <a:latin typeface="Comic Sans MS" panose="030F0702030302020204" pitchFamily="66" charset="0"/>
                          <a:ea typeface="Times New Roman"/>
                          <a:cs typeface="Arial" pitchFamily="34" charset="0"/>
                        </a:rPr>
                        <a:t>Company name</a:t>
                      </a:r>
                      <a:endParaRPr lang="mk-MK" sz="1100" dirty="0" smtClean="0">
                        <a:solidFill>
                          <a:srgbClr val="C00000"/>
                        </a:solidFill>
                        <a:latin typeface="Comic Sans MS" panose="030F0702030302020204" pitchFamily="66" charset="0"/>
                        <a:ea typeface="Times New Roman"/>
                        <a:cs typeface="Arial" pitchFamily="34" charset="0"/>
                      </a:endParaRPr>
                    </a:p>
                  </a:txBody>
                  <a:tcPr marL="22056" marR="22056"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pPr>
                      <a:endParaRPr lang="en-US" dirty="0"/>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3331">
                <a:tc vMerge="1">
                  <a:txBody>
                    <a:bodyPr/>
                    <a:lstStyle/>
                    <a:p>
                      <a:pPr algn="ctr">
                        <a:lnSpc>
                          <a:spcPct val="115000"/>
                        </a:lnSpc>
                        <a:spcAft>
                          <a:spcPts val="0"/>
                        </a:spcAft>
                      </a:pPr>
                      <a:endParaRPr lang="mk-MK" sz="1000" b="1" dirty="0">
                        <a:solidFill>
                          <a:schemeClr val="accent1">
                            <a:lumMod val="75000"/>
                          </a:schemeClr>
                        </a:solidFill>
                        <a:latin typeface="Arial" pitchFamily="34"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endParaRPr lang="en-US" dirty="0"/>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3331">
                <a:tc vMerge="1">
                  <a:txBody>
                    <a:bodyPr/>
                    <a:lstStyle/>
                    <a:p>
                      <a:pPr algn="ctr">
                        <a:lnSpc>
                          <a:spcPct val="115000"/>
                        </a:lnSpc>
                        <a:spcAft>
                          <a:spcPts val="0"/>
                        </a:spcAft>
                      </a:pPr>
                      <a:endParaRPr lang="mk-MK" sz="1000" b="1" dirty="0">
                        <a:solidFill>
                          <a:schemeClr val="accent1">
                            <a:lumMod val="75000"/>
                          </a:schemeClr>
                        </a:solidFill>
                        <a:latin typeface="Arial" pitchFamily="34"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endParaRPr lang="en-US" dirty="0"/>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90654">
                <a:tc gridSpan="5">
                  <a:txBody>
                    <a:bodyPr/>
                    <a:lstStyle/>
                    <a:p>
                      <a:pPr algn="ctr">
                        <a:lnSpc>
                          <a:spcPct val="115000"/>
                        </a:lnSpc>
                        <a:spcAft>
                          <a:spcPts val="0"/>
                        </a:spcAft>
                      </a:pPr>
                      <a:endParaRPr lang="mk-MK" sz="1100" b="1" dirty="0">
                        <a:solidFill>
                          <a:srgbClr val="C00000"/>
                        </a:solidFill>
                        <a:latin typeface="Comic Sans MS" panose="030F0702030302020204" pitchFamily="66" charset="0"/>
                        <a:ea typeface="Times New Roman"/>
                        <a:cs typeface="Arial" pitchFamily="34" charset="0"/>
                      </a:endParaRP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gradFill flip="none" rotWithShape="1">
                      <a:gsLst>
                        <a:gs pos="0">
                          <a:schemeClr val="accent2">
                            <a:lumMod val="20000"/>
                            <a:lumOff val="80000"/>
                            <a:shade val="30000"/>
                            <a:satMod val="115000"/>
                          </a:schemeClr>
                        </a:gs>
                        <a:gs pos="50000">
                          <a:schemeClr val="accent2">
                            <a:lumMod val="20000"/>
                            <a:lumOff val="80000"/>
                            <a:shade val="67500"/>
                            <a:satMod val="115000"/>
                          </a:schemeClr>
                        </a:gs>
                        <a:gs pos="100000">
                          <a:schemeClr val="accent2">
                            <a:lumMod val="20000"/>
                            <a:lumOff val="80000"/>
                            <a:shade val="100000"/>
                            <a:satMod val="115000"/>
                          </a:schemeClr>
                        </a:gs>
                      </a:gsLst>
                      <a:lin ang="0" scaled="1"/>
                      <a:tileRect/>
                    </a:gra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6051159"/>
                  </a:ext>
                </a:extLst>
              </a:tr>
              <a:tr h="1297667">
                <a:tc>
                  <a:txBody>
                    <a:bodyPr/>
                    <a:lstStyle/>
                    <a:p>
                      <a:pPr algn="ctr">
                        <a:lnSpc>
                          <a:spcPct val="115000"/>
                        </a:lnSpc>
                        <a:spcAft>
                          <a:spcPts val="0"/>
                        </a:spcAft>
                      </a:pPr>
                      <a:r>
                        <a:rPr lang="en-US" sz="1100" dirty="0" smtClean="0">
                          <a:solidFill>
                            <a:srgbClr val="C00000"/>
                          </a:solidFill>
                          <a:latin typeface="Comic Sans MS" panose="030F0702030302020204" pitchFamily="66" charset="0"/>
                          <a:ea typeface="Times New Roman"/>
                          <a:cs typeface="Arial" pitchFamily="34" charset="0"/>
                        </a:rPr>
                        <a:t>Benefits</a:t>
                      </a:r>
                      <a:endParaRPr lang="mk-MK" sz="1100" dirty="0">
                        <a:solidFill>
                          <a:srgbClr val="C00000"/>
                        </a:solidFill>
                        <a:latin typeface="Comic Sans MS" panose="030F0702030302020204" pitchFamily="66" charset="0"/>
                        <a:ea typeface="Times New Roman"/>
                        <a:cs typeface="Arial" pitchFamily="34" charset="0"/>
                      </a:endParaRPr>
                    </a:p>
                  </a:txBody>
                  <a:tcPr marL="22056" marR="22056"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p>
                      <a:pPr marL="228600" lvl="0" indent="-274320" algn="l">
                        <a:lnSpc>
                          <a:spcPct val="115000"/>
                        </a:lnSpc>
                        <a:spcAft>
                          <a:spcPts val="0"/>
                        </a:spcAft>
                        <a:buFont typeface="Arial" panose="020B0604020202020204" pitchFamily="34" charset="0"/>
                        <a:buChar char="•"/>
                      </a:pPr>
                      <a:r>
                        <a:rPr lang="en-US" sz="1000" b="0" dirty="0" smtClean="0">
                          <a:solidFill>
                            <a:schemeClr val="accent1">
                              <a:lumMod val="75000"/>
                            </a:schemeClr>
                          </a:solidFill>
                          <a:latin typeface="Arial" pitchFamily="34" charset="0"/>
                          <a:ea typeface="Times New Roman"/>
                          <a:cs typeface="Arial" pitchFamily="34" charset="0"/>
                        </a:rPr>
                        <a:t>…</a:t>
                      </a:r>
                    </a:p>
                  </a:txBody>
                  <a:tcPr marL="22056" marR="220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56733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a:xfrm>
            <a:off x="228600" y="260648"/>
            <a:ext cx="8229600" cy="494506"/>
          </a:xfrm>
        </p:spPr>
        <p:txBody>
          <a:bodyPr/>
          <a:lstStyle/>
          <a:p>
            <a:pPr>
              <a:defRPr/>
            </a:pPr>
            <a:r>
              <a:rPr lang="en-US" sz="1800" dirty="0" smtClean="0">
                <a:solidFill>
                  <a:srgbClr val="FF0000"/>
                </a:solidFill>
                <a:latin typeface="Comic Sans MS" panose="030F0702030302020204" pitchFamily="66" charset="0"/>
              </a:rPr>
              <a:t>Useful links</a:t>
            </a:r>
            <a:endParaRPr lang="en-US" sz="1800" b="1" u="sng" dirty="0" smtClean="0">
              <a:solidFill>
                <a:srgbClr val="FF0000"/>
              </a:solidFill>
              <a:latin typeface="Comic Sans MS" panose="030F0702030302020204" pitchFamily="66" charset="0"/>
            </a:endParaRPr>
          </a:p>
        </p:txBody>
      </p:sp>
      <p:sp>
        <p:nvSpPr>
          <p:cNvPr id="2" name="Rectangle 1"/>
          <p:cNvSpPr/>
          <p:nvPr/>
        </p:nvSpPr>
        <p:spPr>
          <a:xfrm>
            <a:off x="611560" y="1578853"/>
            <a:ext cx="7920880" cy="4370427"/>
          </a:xfrm>
          <a:prstGeom prst="rect">
            <a:avLst/>
          </a:prstGeom>
        </p:spPr>
        <p:txBody>
          <a:bodyPr wrap="square">
            <a:spAutoFit/>
          </a:bodyPr>
          <a:lstStyle/>
          <a:p>
            <a:endParaRPr lang="en-US" sz="1400" dirty="0">
              <a:solidFill>
                <a:schemeClr val="accent1">
                  <a:lumMod val="75000"/>
                </a:schemeClr>
              </a:solidFill>
              <a:hlinkClick r:id=""/>
            </a:endParaRPr>
          </a:p>
          <a:p>
            <a:pPr algn="ctr"/>
            <a:endParaRPr lang="en-US" sz="1200" dirty="0" smtClean="0"/>
          </a:p>
          <a:p>
            <a:pPr algn="ctr"/>
            <a:r>
              <a:rPr lang="en-US" sz="1200" dirty="0">
                <a:hlinkClick r:id="rId2"/>
              </a:rPr>
              <a:t>https://</a:t>
            </a:r>
            <a:r>
              <a:rPr lang="en-US" sz="1200" dirty="0" smtClean="0">
                <a:hlinkClick r:id="rId2"/>
              </a:rPr>
              <a:t>www.youtube.com/watch?v=Pl8OlkkwRpc</a:t>
            </a:r>
            <a:endParaRPr lang="en-US" sz="1200" dirty="0" smtClean="0"/>
          </a:p>
          <a:p>
            <a:pPr algn="ctr"/>
            <a:r>
              <a:rPr lang="en-US" sz="1200" dirty="0">
                <a:solidFill>
                  <a:schemeClr val="accent1">
                    <a:lumMod val="75000"/>
                  </a:schemeClr>
                </a:solidFill>
              </a:rPr>
              <a:t>How the </a:t>
            </a:r>
            <a:r>
              <a:rPr lang="en-US" sz="1200" dirty="0" err="1">
                <a:solidFill>
                  <a:schemeClr val="accent1">
                    <a:lumMod val="75000"/>
                  </a:schemeClr>
                </a:solidFill>
              </a:rPr>
              <a:t>blockchain</a:t>
            </a:r>
            <a:r>
              <a:rPr lang="en-US" sz="1200" dirty="0">
                <a:solidFill>
                  <a:schemeClr val="accent1">
                    <a:lumMod val="75000"/>
                  </a:schemeClr>
                </a:solidFill>
              </a:rPr>
              <a:t> is changing money and business</a:t>
            </a:r>
          </a:p>
          <a:p>
            <a:pPr algn="ctr"/>
            <a:endParaRPr lang="en-US" sz="1200" dirty="0" smtClean="0"/>
          </a:p>
          <a:p>
            <a:pPr algn="ctr"/>
            <a:r>
              <a:rPr lang="en-US" sz="1200" dirty="0">
                <a:solidFill>
                  <a:schemeClr val="accent1">
                    <a:lumMod val="75000"/>
                  </a:schemeClr>
                </a:solidFill>
                <a:hlinkClick r:id="rId3"/>
              </a:rPr>
              <a:t>https://</a:t>
            </a:r>
            <a:r>
              <a:rPr lang="en-US" sz="1200" dirty="0" smtClean="0">
                <a:solidFill>
                  <a:schemeClr val="accent1">
                    <a:lumMod val="75000"/>
                  </a:schemeClr>
                </a:solidFill>
                <a:hlinkClick r:id="rId3"/>
              </a:rPr>
              <a:t>www.youtube.com/watch?v=iVS-AuSjpOQ&amp;t=4s</a:t>
            </a:r>
            <a:endParaRPr lang="en-US" sz="1200" dirty="0" smtClean="0">
              <a:solidFill>
                <a:schemeClr val="accent1">
                  <a:lumMod val="75000"/>
                </a:schemeClr>
              </a:solidFill>
            </a:endParaRPr>
          </a:p>
          <a:p>
            <a:pPr algn="ctr"/>
            <a:r>
              <a:rPr lang="en-US" sz="1200" dirty="0">
                <a:solidFill>
                  <a:schemeClr val="accent1">
                    <a:lumMod val="75000"/>
                  </a:schemeClr>
                </a:solidFill>
              </a:rPr>
              <a:t>What is Digital Twin? How does it work</a:t>
            </a:r>
            <a:r>
              <a:rPr lang="en-US" sz="1200" dirty="0" smtClean="0">
                <a:solidFill>
                  <a:schemeClr val="accent1">
                    <a:lumMod val="75000"/>
                  </a:schemeClr>
                </a:solidFill>
              </a:rPr>
              <a:t>?</a:t>
            </a:r>
          </a:p>
          <a:p>
            <a:pPr algn="ctr"/>
            <a:endParaRPr lang="en-US" sz="1200" dirty="0"/>
          </a:p>
          <a:p>
            <a:pPr algn="ctr"/>
            <a:r>
              <a:rPr lang="en-US" sz="1200" dirty="0">
                <a:solidFill>
                  <a:schemeClr val="accent1">
                    <a:lumMod val="75000"/>
                  </a:schemeClr>
                </a:solidFill>
                <a:hlinkClick r:id="rId4"/>
              </a:rPr>
              <a:t>https://</a:t>
            </a:r>
            <a:r>
              <a:rPr lang="en-US" sz="1200" dirty="0" smtClean="0">
                <a:solidFill>
                  <a:schemeClr val="accent1">
                    <a:lumMod val="75000"/>
                  </a:schemeClr>
                </a:solidFill>
                <a:hlinkClick r:id="rId4"/>
              </a:rPr>
              <a:t>www.youtube.com/watch?v=0KOUzeE0h8g</a:t>
            </a:r>
            <a:endParaRPr lang="en-US" sz="1200" dirty="0" smtClean="0">
              <a:solidFill>
                <a:schemeClr val="accent1">
                  <a:lumMod val="75000"/>
                </a:schemeClr>
              </a:solidFill>
            </a:endParaRPr>
          </a:p>
          <a:p>
            <a:pPr algn="ctr"/>
            <a:r>
              <a:rPr lang="en-US" sz="1200" dirty="0">
                <a:solidFill>
                  <a:schemeClr val="accent1">
                    <a:lumMod val="75000"/>
                  </a:schemeClr>
                </a:solidFill>
              </a:rPr>
              <a:t>A </a:t>
            </a:r>
            <a:r>
              <a:rPr lang="en-US" sz="1200" dirty="0" err="1">
                <a:solidFill>
                  <a:schemeClr val="accent1">
                    <a:lumMod val="75000"/>
                  </a:schemeClr>
                </a:solidFill>
              </a:rPr>
              <a:t>cobot</a:t>
            </a:r>
            <a:r>
              <a:rPr lang="en-US" sz="1200" dirty="0">
                <a:solidFill>
                  <a:schemeClr val="accent1">
                    <a:lumMod val="75000"/>
                  </a:schemeClr>
                </a:solidFill>
              </a:rPr>
              <a:t> co-worker in manufacturing</a:t>
            </a:r>
          </a:p>
          <a:p>
            <a:endParaRPr lang="en-US" sz="1200" dirty="0" smtClean="0">
              <a:solidFill>
                <a:schemeClr val="accent1">
                  <a:lumMod val="75000"/>
                </a:schemeClr>
              </a:solidFill>
            </a:endParaRPr>
          </a:p>
          <a:p>
            <a:pPr algn="ctr"/>
            <a:r>
              <a:rPr lang="en-US" sz="1200" dirty="0">
                <a:solidFill>
                  <a:schemeClr val="accent1">
                    <a:lumMod val="75000"/>
                  </a:schemeClr>
                </a:solidFill>
                <a:hlinkClick r:id="rId5"/>
              </a:rPr>
              <a:t>https://</a:t>
            </a:r>
            <a:r>
              <a:rPr lang="en-US" sz="1200" dirty="0" smtClean="0">
                <a:solidFill>
                  <a:schemeClr val="accent1">
                    <a:lumMod val="75000"/>
                  </a:schemeClr>
                </a:solidFill>
                <a:hlinkClick r:id="rId5"/>
              </a:rPr>
              <a:t>www.youtube.com/watch?v=wro3uoHR-ZY</a:t>
            </a:r>
            <a:endParaRPr lang="en-US" sz="1200" dirty="0" smtClean="0">
              <a:solidFill>
                <a:schemeClr val="accent1">
                  <a:lumMod val="75000"/>
                </a:schemeClr>
              </a:solidFill>
            </a:endParaRPr>
          </a:p>
          <a:p>
            <a:pPr algn="ctr"/>
            <a:r>
              <a:rPr lang="en-US" sz="1200" dirty="0">
                <a:solidFill>
                  <a:schemeClr val="accent1">
                    <a:lumMod val="75000"/>
                  </a:schemeClr>
                </a:solidFill>
              </a:rPr>
              <a:t>Cyber-physical Production </a:t>
            </a:r>
            <a:r>
              <a:rPr lang="en-US" sz="1200" dirty="0" smtClean="0">
                <a:solidFill>
                  <a:schemeClr val="accent1">
                    <a:lumMod val="75000"/>
                  </a:schemeClr>
                </a:solidFill>
              </a:rPr>
              <a:t>Systems</a:t>
            </a:r>
          </a:p>
          <a:p>
            <a:pPr algn="ctr"/>
            <a:endParaRPr lang="en-US" sz="1200" dirty="0" smtClean="0">
              <a:solidFill>
                <a:schemeClr val="accent1">
                  <a:lumMod val="75000"/>
                </a:schemeClr>
              </a:solidFill>
            </a:endParaRPr>
          </a:p>
          <a:p>
            <a:pPr algn="ctr"/>
            <a:r>
              <a:rPr lang="en-US" sz="1200" dirty="0">
                <a:solidFill>
                  <a:schemeClr val="accent1">
                    <a:lumMod val="75000"/>
                  </a:schemeClr>
                </a:solidFill>
                <a:hlinkClick r:id="rId6"/>
              </a:rPr>
              <a:t>https://</a:t>
            </a:r>
            <a:r>
              <a:rPr lang="en-US" sz="1200" dirty="0" smtClean="0">
                <a:solidFill>
                  <a:schemeClr val="accent1">
                    <a:lumMod val="75000"/>
                  </a:schemeClr>
                </a:solidFill>
                <a:hlinkClick r:id="rId6"/>
              </a:rPr>
              <a:t>www.youtube.com/watch?v=20RgRQhBVik</a:t>
            </a:r>
            <a:endParaRPr lang="en-US" sz="1200" dirty="0" smtClean="0">
              <a:solidFill>
                <a:schemeClr val="accent1">
                  <a:lumMod val="75000"/>
                </a:schemeClr>
              </a:solidFill>
            </a:endParaRPr>
          </a:p>
          <a:p>
            <a:pPr algn="ctr"/>
            <a:r>
              <a:rPr lang="en-US" sz="1200" dirty="0" smtClean="0">
                <a:solidFill>
                  <a:schemeClr val="accent1">
                    <a:lumMod val="75000"/>
                  </a:schemeClr>
                </a:solidFill>
              </a:rPr>
              <a:t>Augmented </a:t>
            </a:r>
            <a:r>
              <a:rPr lang="en-US" sz="1200" dirty="0">
                <a:solidFill>
                  <a:schemeClr val="accent1">
                    <a:lumMod val="75000"/>
                  </a:schemeClr>
                </a:solidFill>
              </a:rPr>
              <a:t>Reality in 2040: Top 9 Future Technologies</a:t>
            </a:r>
          </a:p>
          <a:p>
            <a:pPr algn="ctr"/>
            <a:endParaRPr lang="en-US" sz="1200" dirty="0" smtClean="0">
              <a:solidFill>
                <a:schemeClr val="accent1">
                  <a:lumMod val="75000"/>
                </a:schemeClr>
              </a:solidFill>
            </a:endParaRPr>
          </a:p>
          <a:p>
            <a:pPr algn="ctr"/>
            <a:r>
              <a:rPr lang="en-US" sz="1200" dirty="0" smtClean="0">
                <a:solidFill>
                  <a:schemeClr val="accent1">
                    <a:lumMod val="75000"/>
                  </a:schemeClr>
                </a:solidFill>
              </a:rPr>
              <a:t>https</a:t>
            </a:r>
            <a:r>
              <a:rPr lang="en-US" sz="1200" dirty="0">
                <a:solidFill>
                  <a:schemeClr val="accent1">
                    <a:lumMod val="75000"/>
                  </a:schemeClr>
                </a:solidFill>
              </a:rPr>
              <a:t>://</a:t>
            </a:r>
            <a:r>
              <a:rPr lang="en-US" sz="1200" dirty="0" smtClean="0">
                <a:solidFill>
                  <a:schemeClr val="accent1">
                    <a:lumMod val="75000"/>
                  </a:schemeClr>
                </a:solidFill>
              </a:rPr>
              <a:t>www.mckinsey.com/capabilities/mckinsey-digital/our-insights/rewired-for-value-digital-and-ai-transformations-that-work?stcr=173E7E034E684531923A72A36859313F&amp;cid=other-eml-alt-mip-mck&amp;hlkid=68dbbe2e1f1c4daca23eb48697193dce&amp;hctky=14939448&amp;hdpid=e50aceca-feb9-401d-a12c-8430b206cb75</a:t>
            </a:r>
          </a:p>
          <a:p>
            <a:pPr algn="ctr"/>
            <a:r>
              <a:rPr lang="en-US" sz="1200" dirty="0">
                <a:solidFill>
                  <a:schemeClr val="accent1">
                    <a:lumMod val="75000"/>
                  </a:schemeClr>
                </a:solidFill>
              </a:rPr>
              <a:t>Rewired for value: Digital and AI transformations that work</a:t>
            </a:r>
          </a:p>
          <a:p>
            <a:endParaRPr lang="en-US" sz="1200" dirty="0">
              <a:solidFill>
                <a:schemeClr val="accent1">
                  <a:lumMod val="75000"/>
                </a:schemeClr>
              </a:solidFill>
            </a:endParaRPr>
          </a:p>
        </p:txBody>
      </p:sp>
    </p:spTree>
    <p:extLst>
      <p:ext uri="{BB962C8B-B14F-4D97-AF65-F5344CB8AC3E}">
        <p14:creationId xmlns:p14="http://schemas.microsoft.com/office/powerpoint/2010/main" val="28204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Rot="1" noChangeArrowheads="1"/>
          </p:cNvSpPr>
          <p:nvPr>
            <p:ph type="body" idx="1"/>
          </p:nvPr>
        </p:nvSpPr>
        <p:spPr>
          <a:xfrm>
            <a:off x="698090" y="3124200"/>
            <a:ext cx="8001000" cy="1143000"/>
          </a:xfrm>
        </p:spPr>
        <p:txBody>
          <a:bodyPr/>
          <a:lstStyle/>
          <a:p>
            <a:pPr marL="0" indent="0" algn="ctr">
              <a:buNone/>
            </a:pPr>
            <a:r>
              <a:rPr lang="en-US" sz="1400" dirty="0" smtClean="0"/>
              <a:t>Thank </a:t>
            </a:r>
            <a:r>
              <a:rPr lang="en-US" sz="1400" dirty="0"/>
              <a:t>y</a:t>
            </a:r>
            <a:r>
              <a:rPr lang="en-US" sz="1400" dirty="0" smtClean="0"/>
              <a:t>ou for your attention!</a:t>
            </a:r>
            <a:endParaRPr lang="en-US" sz="1400" dirty="0"/>
          </a:p>
        </p:txBody>
      </p:sp>
    </p:spTree>
    <p:extLst>
      <p:ext uri="{BB962C8B-B14F-4D97-AF65-F5344CB8AC3E}">
        <p14:creationId xmlns:p14="http://schemas.microsoft.com/office/powerpoint/2010/main" val="1359661905"/>
      </p:ext>
    </p:extLst>
  </p:cSld>
  <p:clrMapOvr>
    <a:masterClrMapping/>
  </p:clrMapOvr>
  <p:timing>
    <p:tnLst>
      <p:par>
        <p:cTn id="1" dur="indefinite" restart="never" nodeType="tmRoot"/>
      </p:par>
    </p:tnLst>
  </p:timing>
</p:sld>
</file>

<file path=ppt/theme/theme1.xml><?xml version="1.0" encoding="utf-8"?>
<a:theme xmlns:a="http://schemas.openxmlformats.org/drawingml/2006/main" name="Presentation slides">
  <a:themeElements>
    <a:clrScheme name="Deloitte 2008">
      <a:dk1>
        <a:srgbClr val="000000"/>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FF">
            <a:lumMod val="95000"/>
          </a:srgbClr>
        </a:solidFill>
        <a:ln>
          <a:solidFill>
            <a:srgbClr val="FFFFFF">
              <a:lumMod val="75000"/>
            </a:srgbClr>
          </a:solidFill>
        </a:ln>
      </a:spPr>
      <a:bodyPr wrap="square" lIns="91428" tIns="45715" rIns="91428" bIns="45715" rtlCol="0">
        <a:noAutofit/>
      </a:bodyPr>
      <a:lstStyle>
        <a:defPPr marL="182553" indent="-182553" algn="just" defTabSz="623853" rtl="0" fontAlgn="base">
          <a:lnSpc>
            <a:spcPts val="1100"/>
          </a:lnSpc>
          <a:spcBef>
            <a:spcPct val="0"/>
          </a:spcBef>
          <a:spcAft>
            <a:spcPct val="0"/>
          </a:spcAft>
          <a:buClr>
            <a:srgbClr val="000000"/>
          </a:buClr>
          <a:buFont typeface="Wingdings 3" pitchFamily="18" charset="2"/>
          <a:buChar char="}"/>
          <a:defRPr sz="1200" kern="1200" dirty="0">
            <a:solidFill>
              <a:srgbClr val="0C2870"/>
            </a:solidFill>
            <a:latin typeface="Arial" charset="0"/>
            <a:ea typeface="+mn-ea"/>
            <a:cs typeface="Times New Roman" pitchFamily="18" charset="0"/>
          </a:defRPr>
        </a:defPPr>
      </a:lstStyle>
    </a:sp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23731</TotalTime>
  <Words>3102</Words>
  <Application>Microsoft Office PowerPoint</Application>
  <PresentationFormat>On-screen Show (4:3)</PresentationFormat>
  <Paragraphs>225</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Comic Sans MS</vt:lpstr>
      <vt:lpstr>Times New Roman</vt:lpstr>
      <vt:lpstr>Wingdings 3</vt:lpstr>
      <vt:lpstr>Presentation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Useful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Aurelien</dc:creator>
  <cp:lastModifiedBy>MS</cp:lastModifiedBy>
  <cp:revision>2746</cp:revision>
  <dcterms:created xsi:type="dcterms:W3CDTF">2013-11-13T03:56:02Z</dcterms:created>
  <dcterms:modified xsi:type="dcterms:W3CDTF">2024-09-08T23:09:22Z</dcterms:modified>
</cp:coreProperties>
</file>