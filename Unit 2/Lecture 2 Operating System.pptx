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315" r:id="rId24"/>
    <p:sldId id="288" r:id="rId25"/>
    <p:sldId id="289" r:id="rId26"/>
    <p:sldId id="290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6" r:id="rId41"/>
    <p:sldId id="307" r:id="rId42"/>
    <p:sldId id="308" r:id="rId43"/>
    <p:sldId id="311" r:id="rId44"/>
    <p:sldId id="313" r:id="rId45"/>
    <p:sldId id="314" r:id="rId4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4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000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1D5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000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000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980440"/>
          </a:xfrm>
          <a:custGeom>
            <a:avLst/>
            <a:gdLst/>
            <a:ahLst/>
            <a:cxnLst/>
            <a:rect l="l" t="t" r="r" b="b"/>
            <a:pathLst>
              <a:path w="9144000" h="980440">
                <a:moveTo>
                  <a:pt x="0" y="979932"/>
                </a:moveTo>
                <a:lnTo>
                  <a:pt x="9144000" y="979932"/>
                </a:lnTo>
                <a:lnTo>
                  <a:pt x="9144000" y="0"/>
                </a:lnTo>
                <a:lnTo>
                  <a:pt x="0" y="0"/>
                </a:lnTo>
                <a:lnTo>
                  <a:pt x="0" y="97993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9740" y="2905759"/>
            <a:ext cx="7204519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000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39" y="1704238"/>
            <a:ext cx="8072120" cy="243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1D5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jpg"/><Relationship Id="rId7" Type="http://schemas.openxmlformats.org/officeDocument/2006/relationships/image" Target="../media/image45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jpg"/><Relationship Id="rId10" Type="http://schemas.openxmlformats.org/officeDocument/2006/relationships/image" Target="../media/image48.jpg"/><Relationship Id="rId4" Type="http://schemas.openxmlformats.org/officeDocument/2006/relationships/image" Target="../media/image42.png"/><Relationship Id="rId9" Type="http://schemas.openxmlformats.org/officeDocument/2006/relationships/image" Target="../media/image47.jp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_veMXUsutU" TargetMode="External"/><Relationship Id="rId2" Type="http://schemas.openxmlformats.org/officeDocument/2006/relationships/hyperlink" Target="https://www.youtube.com/watch?v=q6WlzHLxNKI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73573"/>
            <a:ext cx="9144000" cy="3112135"/>
          </a:xfrm>
          <a:custGeom>
            <a:avLst/>
            <a:gdLst/>
            <a:ahLst/>
            <a:cxnLst/>
            <a:rect l="l" t="t" r="r" b="b"/>
            <a:pathLst>
              <a:path w="9144000" h="3112135">
                <a:moveTo>
                  <a:pt x="0" y="3112008"/>
                </a:moveTo>
                <a:lnTo>
                  <a:pt x="9144000" y="3112008"/>
                </a:lnTo>
                <a:lnTo>
                  <a:pt x="9144000" y="0"/>
                </a:lnTo>
                <a:lnTo>
                  <a:pt x="0" y="0"/>
                </a:lnTo>
                <a:lnTo>
                  <a:pt x="0" y="311200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-15766" y="3054668"/>
            <a:ext cx="9144000" cy="1155700"/>
          </a:xfrm>
          <a:custGeom>
            <a:avLst/>
            <a:gdLst/>
            <a:ahLst/>
            <a:cxnLst/>
            <a:rect l="l" t="t" r="r" b="b"/>
            <a:pathLst>
              <a:path w="9144000" h="1155700">
                <a:moveTo>
                  <a:pt x="0" y="1155179"/>
                </a:moveTo>
                <a:lnTo>
                  <a:pt x="9144000" y="1155179"/>
                </a:lnTo>
                <a:lnTo>
                  <a:pt x="9144000" y="0"/>
                </a:lnTo>
                <a:lnTo>
                  <a:pt x="0" y="0"/>
                </a:lnTo>
                <a:lnTo>
                  <a:pt x="0" y="1155179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3387" y="622654"/>
            <a:ext cx="5229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1F5F"/>
                </a:solidFill>
                <a:latin typeface="Arial"/>
                <a:cs typeface="Arial"/>
              </a:rPr>
              <a:t>University American College</a:t>
            </a:r>
            <a:r>
              <a:rPr sz="2400" b="1" spc="-1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1F5F"/>
                </a:solidFill>
                <a:latin typeface="Arial"/>
                <a:cs typeface="Arial"/>
              </a:rPr>
              <a:t>Skopje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386" y="1475080"/>
            <a:ext cx="69594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F5F"/>
                </a:solidFill>
                <a:latin typeface="Arial"/>
                <a:cs typeface="Arial"/>
              </a:rPr>
              <a:t>Course: </a:t>
            </a:r>
            <a:r>
              <a:rPr sz="1800" b="1" spc="-5" smtClean="0">
                <a:solidFill>
                  <a:srgbClr val="001F5F"/>
                </a:solidFill>
                <a:latin typeface="Arial"/>
                <a:cs typeface="Arial"/>
              </a:rPr>
              <a:t>Computer </a:t>
            </a:r>
            <a:r>
              <a:rPr sz="1800" b="1" spc="-10" smtClean="0">
                <a:solidFill>
                  <a:srgbClr val="001F5F"/>
                </a:solidFill>
                <a:latin typeface="Arial"/>
                <a:cs typeface="Arial"/>
              </a:rPr>
              <a:t>Applications</a:t>
            </a:r>
            <a:r>
              <a:rPr lang="en-US" sz="1800" b="1" spc="-10" smtClean="0">
                <a:solidFill>
                  <a:srgbClr val="001F5F"/>
                </a:solidFill>
                <a:latin typeface="Arial"/>
                <a:cs typeface="Arial"/>
              </a:rPr>
              <a:t> 1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129" y="5711495"/>
            <a:ext cx="2540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F5F"/>
                </a:solidFill>
                <a:latin typeface="Arial"/>
                <a:cs typeface="Arial"/>
              </a:rPr>
              <a:t>Marija Stanojeska,</a:t>
            </a:r>
            <a:r>
              <a:rPr sz="1800" b="1" spc="-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Arial"/>
                <a:cs typeface="Arial"/>
              </a:rPr>
              <a:t>PhD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381000" y="3460256"/>
            <a:ext cx="4572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 smtClean="0">
                <a:solidFill>
                  <a:schemeClr val="bg1">
                    <a:lumMod val="95000"/>
                  </a:schemeClr>
                </a:solidFill>
                <a:latin typeface="Comic Sans MS" panose="030F0702030302020204" pitchFamily="66" charset="0"/>
                <a:cs typeface="Arial"/>
              </a:rPr>
              <a:t>Operating System</a:t>
            </a:r>
            <a:endParaRPr sz="3200" dirty="0">
              <a:solidFill>
                <a:schemeClr val="bg1">
                  <a:lumMod val="95000"/>
                </a:schemeClr>
              </a:solidFill>
              <a:latin typeface="Comic Sans MS" panose="030F0702030302020204" pitchFamily="66" charset="0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228600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0" y="228600"/>
                </a:moveTo>
                <a:lnTo>
                  <a:pt x="9144000" y="228600"/>
                </a:lnTo>
                <a:lnTo>
                  <a:pt x="91440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0" y="751331"/>
            <a:ext cx="9144000" cy="228600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0" y="228600"/>
                </a:moveTo>
                <a:lnTo>
                  <a:pt x="9144000" y="228600"/>
                </a:lnTo>
                <a:lnTo>
                  <a:pt x="91440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228600"/>
            <a:ext cx="9144000" cy="523240"/>
          </a:xfrm>
          <a:custGeom>
            <a:avLst/>
            <a:gdLst/>
            <a:ahLst/>
            <a:cxnLst/>
            <a:rect l="l" t="t" r="r" b="b"/>
            <a:pathLst>
              <a:path w="9144000" h="523240">
                <a:moveTo>
                  <a:pt x="0" y="522732"/>
                </a:moveTo>
                <a:lnTo>
                  <a:pt x="9144000" y="522732"/>
                </a:lnTo>
                <a:lnTo>
                  <a:pt x="9144000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461991" y="255524"/>
            <a:ext cx="8217534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001D58"/>
                </a:solidFill>
                <a:latin typeface="Arial"/>
                <a:cs typeface="Arial"/>
              </a:rPr>
              <a:t>Based </a:t>
            </a:r>
            <a:r>
              <a:rPr sz="1400" i="1" spc="-5" dirty="0">
                <a:solidFill>
                  <a:srgbClr val="001D58"/>
                </a:solidFill>
                <a:latin typeface="Arial"/>
                <a:cs typeface="Arial"/>
              </a:rPr>
              <a:t>on </a:t>
            </a:r>
            <a:r>
              <a:rPr sz="1400" i="1" dirty="0">
                <a:solidFill>
                  <a:srgbClr val="001D58"/>
                </a:solidFill>
                <a:latin typeface="Arial"/>
                <a:cs typeface="Arial"/>
              </a:rPr>
              <a:t>the</a:t>
            </a:r>
            <a:r>
              <a:rPr sz="1400" i="1" spc="-6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i="1" spc="-5" dirty="0">
                <a:solidFill>
                  <a:srgbClr val="001D58"/>
                </a:solidFill>
                <a:latin typeface="Arial"/>
                <a:cs typeface="Arial"/>
              </a:rPr>
              <a:t>textbook:</a:t>
            </a:r>
            <a:endParaRPr sz="1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001D58"/>
                </a:solidFill>
                <a:latin typeface="Arial"/>
                <a:cs typeface="Arial"/>
              </a:rPr>
              <a:t>Microsoft</a:t>
            </a:r>
            <a:r>
              <a:rPr sz="1400" spc="-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1D58"/>
                </a:solidFill>
                <a:latin typeface="Arial"/>
                <a:cs typeface="Arial"/>
              </a:rPr>
              <a:t>Office</a:t>
            </a:r>
            <a:r>
              <a:rPr sz="1400" spc="-3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1D58"/>
                </a:solidFill>
                <a:latin typeface="Arial"/>
                <a:cs typeface="Arial"/>
              </a:rPr>
              <a:t>Inside</a:t>
            </a:r>
            <a:r>
              <a:rPr sz="1400" spc="-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1D58"/>
                </a:solidFill>
                <a:latin typeface="Arial"/>
                <a:cs typeface="Arial"/>
              </a:rPr>
              <a:t>Out</a:t>
            </a:r>
            <a:r>
              <a:rPr sz="1400" spc="-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1D58"/>
                </a:solidFill>
                <a:latin typeface="Arial"/>
                <a:cs typeface="Arial"/>
              </a:rPr>
              <a:t>(Office</a:t>
            </a:r>
            <a:r>
              <a:rPr sz="1400" spc="-3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1D58"/>
                </a:solidFill>
                <a:latin typeface="Arial"/>
                <a:cs typeface="Arial"/>
              </a:rPr>
              <a:t>2021</a:t>
            </a:r>
            <a:r>
              <a:rPr sz="1400" spc="-1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1D58"/>
                </a:solidFill>
                <a:latin typeface="Arial"/>
                <a:cs typeface="Arial"/>
              </a:rPr>
              <a:t>and</a:t>
            </a:r>
            <a:r>
              <a:rPr sz="1400" spc="-1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1D58"/>
                </a:solidFill>
                <a:latin typeface="Arial"/>
                <a:cs typeface="Arial"/>
              </a:rPr>
              <a:t>Microsoft</a:t>
            </a:r>
            <a:r>
              <a:rPr sz="1400" spc="-3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1D58"/>
                </a:solidFill>
                <a:latin typeface="Arial"/>
                <a:cs typeface="Arial"/>
              </a:rPr>
              <a:t>365),</a:t>
            </a:r>
            <a:r>
              <a:rPr sz="1400" spc="-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1D58"/>
                </a:solidFill>
                <a:latin typeface="Arial"/>
                <a:cs typeface="Arial"/>
              </a:rPr>
              <a:t>J.</a:t>
            </a:r>
            <a:r>
              <a:rPr sz="1400" spc="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1D58"/>
                </a:solidFill>
                <a:latin typeface="Arial"/>
                <a:cs typeface="Arial"/>
              </a:rPr>
              <a:t>Habraken,</a:t>
            </a:r>
            <a:r>
              <a:rPr sz="1400" spc="-4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1D58"/>
                </a:solidFill>
                <a:latin typeface="Arial"/>
                <a:cs typeface="Arial"/>
              </a:rPr>
              <a:t>Pearson</a:t>
            </a:r>
            <a:r>
              <a:rPr sz="1400" spc="-2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1D58"/>
                </a:solidFill>
                <a:latin typeface="Arial"/>
                <a:cs typeface="Arial"/>
              </a:rPr>
              <a:t>Education,</a:t>
            </a:r>
            <a:r>
              <a:rPr sz="1400" spc="-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1D58"/>
                </a:solidFill>
                <a:latin typeface="Arial"/>
                <a:cs typeface="Arial"/>
              </a:rPr>
              <a:t>Inc.,</a:t>
            </a:r>
            <a:r>
              <a:rPr sz="1400" spc="-2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1D58"/>
                </a:solidFill>
                <a:latin typeface="Arial"/>
                <a:cs typeface="Arial"/>
              </a:rPr>
              <a:t>2022.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600200"/>
            <a:ext cx="9143998" cy="47807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1828"/>
            <a:ext cx="1890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Lecture</a:t>
            </a:r>
            <a:r>
              <a:rPr sz="1800" b="1" spc="-35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overview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818233"/>
            <a:ext cx="7769860" cy="2459648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40"/>
              </a:spcBef>
              <a:buAutoNum type="romanLcPeriod"/>
              <a:tabLst>
                <a:tab pos="469265" algn="l"/>
                <a:tab pos="469900" algn="l"/>
              </a:tabLst>
            </a:pP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Description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the basics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sz="1600" spc="-1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System.</a:t>
            </a:r>
            <a:endParaRPr sz="16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840"/>
              </a:spcBef>
              <a:buAutoNum type="romanLcPeriod"/>
              <a:tabLst>
                <a:tab pos="469265" algn="l"/>
                <a:tab pos="4699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Presentation of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the history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</a:t>
            </a:r>
            <a:r>
              <a:rPr sz="1600" spc="-1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lang="en-US" sz="1600" spc="-1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1D58"/>
                </a:solidFill>
                <a:latin typeface="Arial"/>
                <a:cs typeface="Arial"/>
              </a:rPr>
              <a:t>System</a:t>
            </a:r>
            <a:r>
              <a:rPr sz="1600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840"/>
              </a:spcBef>
              <a:buAutoNum type="romanLcPeriod"/>
              <a:tabLst>
                <a:tab pos="469265" algn="l"/>
                <a:tab pos="469900" algn="l"/>
              </a:tabLst>
            </a:pP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Discussion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the functions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</a:t>
            </a:r>
            <a:r>
              <a:rPr sz="1600" spc="-13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lang="en-US" sz="1600" spc="-1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1D58"/>
                </a:solidFill>
                <a:latin typeface="Arial"/>
                <a:cs typeface="Arial"/>
              </a:rPr>
              <a:t>System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840"/>
              </a:spcBef>
              <a:buAutoNum type="romanLcPeriod"/>
              <a:tabLst>
                <a:tab pos="469265" algn="l"/>
                <a:tab pos="4699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Explanation of</a:t>
            </a:r>
            <a:r>
              <a:rPr sz="1600" spc="-3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lang="en-US" sz="1600" spc="-1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1D58"/>
                </a:solidFill>
                <a:latin typeface="Arial"/>
                <a:cs typeface="Arial"/>
              </a:rPr>
              <a:t>System</a:t>
            </a:r>
            <a:r>
              <a:rPr sz="1600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840"/>
              </a:spcBef>
              <a:buAutoNum type="romanLcPeriod"/>
              <a:tabLst>
                <a:tab pos="469265" algn="l"/>
                <a:tab pos="4699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Presentation of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most popular</a:t>
            </a:r>
            <a:r>
              <a:rPr sz="1600" spc="-1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lang="en-US" sz="1600" spc="-1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1D58"/>
                </a:solidFill>
                <a:latin typeface="Arial"/>
                <a:cs typeface="Arial"/>
              </a:rPr>
              <a:t>System</a:t>
            </a:r>
            <a:r>
              <a:rPr sz="1600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840"/>
              </a:spcBef>
              <a:buAutoNum type="romanLcPeriod"/>
              <a:tabLst>
                <a:tab pos="469265" algn="l"/>
                <a:tab pos="469900" algn="l"/>
              </a:tabLst>
            </a:pP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Description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virtual</a:t>
            </a:r>
            <a:r>
              <a:rPr sz="1600" spc="-8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lang="en-US" sz="1600" spc="-1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1D58"/>
                </a:solidFill>
                <a:latin typeface="Arial"/>
                <a:cs typeface="Arial"/>
              </a:rPr>
              <a:t>System</a:t>
            </a:r>
            <a:r>
              <a:rPr sz="1600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840"/>
              </a:spcBef>
              <a:buAutoNum type="romanLcPeriod"/>
              <a:tabLst>
                <a:tab pos="469265" algn="l"/>
                <a:tab pos="469900" algn="l"/>
              </a:tabLst>
            </a:pPr>
            <a:r>
              <a:rPr sz="1600" dirty="0" smtClean="0">
                <a:solidFill>
                  <a:srgbClr val="001D58"/>
                </a:solidFill>
                <a:latin typeface="Arial"/>
                <a:cs typeface="Arial"/>
              </a:rPr>
              <a:t>Discussion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advantages and disadvantages of</a:t>
            </a:r>
            <a:r>
              <a:rPr sz="1600" spc="-15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lang="en-US" sz="1600" spc="-1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1D58"/>
                </a:solidFill>
                <a:latin typeface="Arial"/>
                <a:cs typeface="Arial"/>
              </a:rPr>
              <a:t>System</a:t>
            </a:r>
            <a:r>
              <a:rPr sz="1600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691" y="366649"/>
            <a:ext cx="3837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2776"/>
                </a:solidFill>
                <a:latin typeface="Comic Sans MS"/>
                <a:cs typeface="Comic Sans MS"/>
              </a:rPr>
              <a:t>What is an </a:t>
            </a:r>
            <a:r>
              <a:rPr sz="2000" b="1" spc="-5" dirty="0">
                <a:solidFill>
                  <a:srgbClr val="002776"/>
                </a:solidFill>
                <a:latin typeface="Comic Sans MS"/>
                <a:cs typeface="Comic Sans MS"/>
              </a:rPr>
              <a:t>Operating</a:t>
            </a:r>
            <a:r>
              <a:rPr sz="2000" b="1" spc="-180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2000" b="1" spc="-5" dirty="0">
                <a:solidFill>
                  <a:srgbClr val="002776"/>
                </a:solidFill>
                <a:latin typeface="Comic Sans MS"/>
                <a:cs typeface="Comic Sans MS"/>
              </a:rPr>
              <a:t>System?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600" y="2057400"/>
            <a:ext cx="7950200" cy="3567002"/>
          </a:xfrm>
          <a:prstGeom prst="rect">
            <a:avLst/>
          </a:prstGeom>
          <a:effectLst/>
        </p:spPr>
        <p:txBody>
          <a:bodyPr vert="horz" wrap="square" lIns="0" tIns="1206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operating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most important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program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that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runs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on a</a:t>
            </a:r>
            <a:r>
              <a:rPr sz="1600" spc="8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computer</a:t>
            </a:r>
            <a:r>
              <a:rPr sz="1600" spc="-15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endParaRPr lang="en-US" sz="1600" spc="-15" dirty="0" smtClean="0">
              <a:solidFill>
                <a:srgbClr val="001D58"/>
              </a:solidFill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95"/>
              </a:spcBef>
            </a:pPr>
            <a:endParaRPr lang="mk-MK" sz="1600" spc="-15" dirty="0" smtClean="0">
              <a:solidFill>
                <a:srgbClr val="001D58"/>
              </a:solidFill>
              <a:latin typeface="Arial"/>
              <a:cs typeface="Arial"/>
            </a:endParaRPr>
          </a:p>
          <a:p>
            <a:pPr marL="24765" algn="ctr">
              <a:lnSpc>
                <a:spcPct val="150000"/>
              </a:lnSpc>
              <a:spcBef>
                <a:spcPts val="95"/>
              </a:spcBef>
            </a:pPr>
            <a:r>
              <a:rPr lang="en-US" sz="1600" b="1" spc="-15" dirty="0" smtClean="0">
                <a:solidFill>
                  <a:srgbClr val="C00000"/>
                </a:solidFill>
                <a:latin typeface="Arial"/>
                <a:cs typeface="Arial"/>
              </a:rPr>
              <a:t>Computer System = Hardware + Software</a:t>
            </a:r>
          </a:p>
          <a:p>
            <a:pPr marL="24765" algn="ctr">
              <a:lnSpc>
                <a:spcPct val="150000"/>
              </a:lnSpc>
              <a:spcBef>
                <a:spcPts val="95"/>
              </a:spcBef>
            </a:pPr>
            <a:r>
              <a:rPr lang="en-US" sz="1600" b="1" spc="-15" dirty="0" smtClean="0">
                <a:solidFill>
                  <a:srgbClr val="C00000"/>
                </a:solidFill>
                <a:latin typeface="Arial"/>
                <a:cs typeface="Arial"/>
              </a:rPr>
              <a:t>Software = Application Software + System Software (OS)</a:t>
            </a:r>
            <a:endParaRPr sz="1600" b="1" dirty="0">
              <a:solidFill>
                <a:srgbClr val="C00000"/>
              </a:solidFill>
              <a:effectLst/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An Operating System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system Software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that acts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as an interface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between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user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computer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computer</a:t>
            </a:r>
            <a:r>
              <a:rPr sz="1600" spc="7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hardware.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Operating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</a:t>
            </a:r>
            <a:r>
              <a:rPr sz="1600" spc="5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goals: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756285" indent="-373380">
              <a:lnSpc>
                <a:spcPct val="100000"/>
              </a:lnSpc>
              <a:spcBef>
                <a:spcPts val="5"/>
              </a:spcBef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Execute user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programs 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make solving user problems</a:t>
            </a:r>
            <a:r>
              <a:rPr sz="1600" spc="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easier;</a:t>
            </a:r>
            <a:endParaRPr sz="1600" dirty="0">
              <a:latin typeface="Arial"/>
              <a:cs typeface="Arial"/>
            </a:endParaRPr>
          </a:p>
          <a:p>
            <a:pPr marL="756285" indent="-373380">
              <a:lnSpc>
                <a:spcPct val="100000"/>
              </a:lnSpc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Make the computer system convenient to</a:t>
            </a:r>
            <a:r>
              <a:rPr sz="1600" spc="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use;</a:t>
            </a:r>
            <a:endParaRPr sz="1600" dirty="0">
              <a:latin typeface="Arial"/>
              <a:cs typeface="Arial"/>
            </a:endParaRPr>
          </a:p>
          <a:p>
            <a:pPr marL="756285" indent="-373380">
              <a:lnSpc>
                <a:spcPct val="100000"/>
              </a:lnSpc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Use the computer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hardware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an efficient</a:t>
            </a:r>
            <a:r>
              <a:rPr sz="1600" spc="7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manner.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25628"/>
            <a:ext cx="326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History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of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Operating</a:t>
            </a:r>
            <a:r>
              <a:rPr sz="1800" b="1" spc="-70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System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38" y="1324152"/>
            <a:ext cx="7935595" cy="476797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450" b="1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450" b="1" spc="-5" dirty="0">
                <a:solidFill>
                  <a:srgbClr val="001D58"/>
                </a:solidFill>
                <a:latin typeface="Arial"/>
                <a:cs typeface="Arial"/>
              </a:rPr>
              <a:t>First Generation (1940's to early</a:t>
            </a:r>
            <a:r>
              <a:rPr sz="1450" b="1" spc="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b="1" spc="-5" dirty="0">
                <a:solidFill>
                  <a:srgbClr val="001D58"/>
                </a:solidFill>
                <a:latin typeface="Arial"/>
                <a:cs typeface="Arial"/>
              </a:rPr>
              <a:t>1950's)</a:t>
            </a:r>
            <a:endParaRPr sz="1450" dirty="0">
              <a:latin typeface="Arial"/>
              <a:cs typeface="Arial"/>
            </a:endParaRPr>
          </a:p>
          <a:p>
            <a:pPr marL="433070" indent="-219710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No Operating</a:t>
            </a:r>
            <a:r>
              <a:rPr sz="1450" spc="3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System.</a:t>
            </a:r>
            <a:endParaRPr sz="1450" dirty="0">
              <a:latin typeface="Arial"/>
              <a:cs typeface="Arial"/>
            </a:endParaRPr>
          </a:p>
          <a:p>
            <a:pPr marL="433070" marR="5080" indent="-219710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450" dirty="0">
                <a:solidFill>
                  <a:srgbClr val="001D58"/>
                </a:solidFill>
                <a:latin typeface="Arial"/>
                <a:cs typeface="Arial"/>
              </a:rPr>
              <a:t>All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programming </a:t>
            </a:r>
            <a:r>
              <a:rPr sz="1450" spc="-15" dirty="0">
                <a:solidFill>
                  <a:srgbClr val="001D58"/>
                </a:solidFill>
                <a:latin typeface="Arial"/>
                <a:cs typeface="Arial"/>
              </a:rPr>
              <a:t>was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done </a:t>
            </a:r>
            <a:r>
              <a:rPr sz="145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absolute machine language, often by </a:t>
            </a:r>
            <a:r>
              <a:rPr sz="1450" spc="-10" dirty="0">
                <a:solidFill>
                  <a:srgbClr val="001D58"/>
                </a:solidFill>
                <a:latin typeface="Arial"/>
                <a:cs typeface="Arial"/>
              </a:rPr>
              <a:t>wiring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up plug-boards </a:t>
            </a:r>
            <a:r>
              <a:rPr sz="1450" dirty="0">
                <a:solidFill>
                  <a:srgbClr val="001D58"/>
                </a:solidFill>
                <a:latin typeface="Arial"/>
                <a:cs typeface="Arial"/>
              </a:rPr>
              <a:t>to 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control the machine’s basic</a:t>
            </a:r>
            <a:r>
              <a:rPr sz="1450" spc="6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functions.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01D58"/>
              </a:buClr>
              <a:buFont typeface="Arial"/>
              <a:buChar char="–"/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50" b="1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450" b="1" spc="-5" dirty="0">
                <a:solidFill>
                  <a:srgbClr val="001D58"/>
                </a:solidFill>
                <a:latin typeface="Arial"/>
                <a:cs typeface="Arial"/>
              </a:rPr>
              <a:t>Second Generation</a:t>
            </a:r>
            <a:r>
              <a:rPr sz="1450" b="1" spc="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b="1" spc="-5" dirty="0">
                <a:solidFill>
                  <a:srgbClr val="001D58"/>
                </a:solidFill>
                <a:latin typeface="Arial"/>
                <a:cs typeface="Arial"/>
              </a:rPr>
              <a:t>(1955-1965)</a:t>
            </a:r>
            <a:endParaRPr sz="1450" dirty="0">
              <a:latin typeface="Arial"/>
              <a:cs typeface="Arial"/>
            </a:endParaRPr>
          </a:p>
          <a:p>
            <a:pPr marL="433070" indent="-219710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450" dirty="0">
                <a:solidFill>
                  <a:srgbClr val="001D58"/>
                </a:solidFill>
                <a:latin typeface="Arial"/>
                <a:cs typeface="Arial"/>
              </a:rPr>
              <a:t>First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operating system </a:t>
            </a:r>
            <a:r>
              <a:rPr sz="1450" spc="-15" dirty="0">
                <a:solidFill>
                  <a:srgbClr val="001D58"/>
                </a:solidFill>
                <a:latin typeface="Arial"/>
                <a:cs typeface="Arial"/>
              </a:rPr>
              <a:t>was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introduced </a:t>
            </a:r>
            <a:r>
              <a:rPr sz="145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the early 1950's</a:t>
            </a:r>
            <a:r>
              <a:rPr sz="1450" spc="-5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r>
              <a:rPr lang="en-US" sz="1450" spc="-5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spc="-5" dirty="0" smtClean="0">
                <a:solidFill>
                  <a:srgbClr val="001D58"/>
                </a:solidFill>
                <a:latin typeface="Arial"/>
                <a:cs typeface="Arial"/>
              </a:rPr>
              <a:t>It </a:t>
            </a:r>
            <a:r>
              <a:rPr sz="1450" spc="-15" dirty="0">
                <a:solidFill>
                  <a:srgbClr val="001D58"/>
                </a:solidFill>
                <a:latin typeface="Arial"/>
                <a:cs typeface="Arial"/>
              </a:rPr>
              <a:t>was </a:t>
            </a:r>
            <a:r>
              <a:rPr sz="1450" dirty="0">
                <a:solidFill>
                  <a:srgbClr val="001D58"/>
                </a:solidFill>
                <a:latin typeface="Arial"/>
                <a:cs typeface="Arial"/>
              </a:rPr>
              <a:t>called</a:t>
            </a:r>
            <a:r>
              <a:rPr sz="1450" spc="2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GMOS.</a:t>
            </a:r>
            <a:endParaRPr sz="1450" dirty="0">
              <a:latin typeface="Arial"/>
              <a:cs typeface="Arial"/>
            </a:endParaRPr>
          </a:p>
          <a:p>
            <a:pPr marL="433070" indent="-219710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Created by General Motors for </a:t>
            </a:r>
            <a:r>
              <a:rPr sz="1450" dirty="0">
                <a:solidFill>
                  <a:srgbClr val="001D58"/>
                </a:solidFill>
                <a:latin typeface="Arial"/>
                <a:cs typeface="Arial"/>
              </a:rPr>
              <a:t>IBM's </a:t>
            </a:r>
            <a:r>
              <a:rPr sz="1450" spc="-5" dirty="0" smtClean="0">
                <a:solidFill>
                  <a:srgbClr val="001D58"/>
                </a:solidFill>
                <a:latin typeface="Arial"/>
                <a:cs typeface="Arial"/>
              </a:rPr>
              <a:t>machine</a:t>
            </a:r>
            <a:r>
              <a:rPr lang="en-US" sz="1450" spc="-5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01D58"/>
              </a:buClr>
              <a:buFont typeface="Arial"/>
              <a:buChar char="–"/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50" b="1" dirty="0">
                <a:solidFill>
                  <a:srgbClr val="001D58"/>
                </a:solidFill>
                <a:latin typeface="Arial"/>
                <a:cs typeface="Arial"/>
              </a:rPr>
              <a:t>The Third </a:t>
            </a:r>
            <a:r>
              <a:rPr sz="1450" b="1" spc="-5" dirty="0">
                <a:solidFill>
                  <a:srgbClr val="001D58"/>
                </a:solidFill>
                <a:latin typeface="Arial"/>
                <a:cs typeface="Arial"/>
              </a:rPr>
              <a:t>Generation</a:t>
            </a:r>
            <a:r>
              <a:rPr sz="1450" b="1" spc="-1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b="1" spc="-5" dirty="0">
                <a:solidFill>
                  <a:srgbClr val="001D58"/>
                </a:solidFill>
                <a:latin typeface="Arial"/>
                <a:cs typeface="Arial"/>
              </a:rPr>
              <a:t>(1965-1980)</a:t>
            </a:r>
            <a:endParaRPr sz="1450" dirty="0">
              <a:latin typeface="Arial"/>
              <a:cs typeface="Arial"/>
            </a:endParaRPr>
          </a:p>
          <a:p>
            <a:pPr marL="433070" indent="-219710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Introduction of</a:t>
            </a:r>
            <a:r>
              <a:rPr sz="1450" spc="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multiprogramming.</a:t>
            </a:r>
            <a:endParaRPr sz="1450" dirty="0">
              <a:latin typeface="Arial"/>
              <a:cs typeface="Arial"/>
            </a:endParaRPr>
          </a:p>
          <a:p>
            <a:pPr marL="433070" indent="-219710">
              <a:lnSpc>
                <a:spcPct val="100000"/>
              </a:lnSpc>
              <a:spcBef>
                <a:spcPts val="610"/>
              </a:spcBef>
              <a:buChar char="–"/>
              <a:tabLst>
                <a:tab pos="433705" algn="l"/>
              </a:tabLst>
            </a:pP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Development of</a:t>
            </a:r>
            <a:r>
              <a:rPr sz="1450" spc="5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Minicomputer.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001D58"/>
              </a:buClr>
              <a:buFont typeface="Arial"/>
              <a:buChar char="–"/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50" b="1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450" b="1" spc="-5" dirty="0">
                <a:solidFill>
                  <a:srgbClr val="001D58"/>
                </a:solidFill>
                <a:latin typeface="Arial"/>
                <a:cs typeface="Arial"/>
              </a:rPr>
              <a:t>Fourth Generation (1980-Present</a:t>
            </a:r>
            <a:r>
              <a:rPr sz="1450" b="1" spc="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001D58"/>
                </a:solidFill>
                <a:latin typeface="Arial"/>
                <a:cs typeface="Arial"/>
              </a:rPr>
              <a:t>Day)</a:t>
            </a:r>
            <a:endParaRPr sz="1450" dirty="0">
              <a:latin typeface="Arial"/>
              <a:cs typeface="Arial"/>
            </a:endParaRPr>
          </a:p>
          <a:p>
            <a:pPr marL="433070" indent="-219710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Development of</a:t>
            </a:r>
            <a:r>
              <a:rPr sz="1450" spc="5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001D58"/>
                </a:solidFill>
                <a:latin typeface="Arial"/>
                <a:cs typeface="Arial"/>
              </a:rPr>
              <a:t>PCs.</a:t>
            </a:r>
            <a:endParaRPr sz="1450" dirty="0">
              <a:latin typeface="Arial"/>
              <a:cs typeface="Arial"/>
            </a:endParaRPr>
          </a:p>
          <a:p>
            <a:pPr marL="433070" indent="-219710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Birth of Windows</a:t>
            </a:r>
            <a:r>
              <a:rPr sz="1450" spc="-5" dirty="0" smtClean="0">
                <a:solidFill>
                  <a:srgbClr val="001D58"/>
                </a:solidFill>
                <a:latin typeface="Arial"/>
                <a:cs typeface="Arial"/>
              </a:rPr>
              <a:t>/</a:t>
            </a:r>
            <a:r>
              <a:rPr lang="en-US" sz="1450" spc="-5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spc="-5" dirty="0" err="1" smtClean="0">
                <a:solidFill>
                  <a:srgbClr val="001D58"/>
                </a:solidFill>
                <a:latin typeface="Arial"/>
                <a:cs typeface="Arial"/>
              </a:rPr>
              <a:t>MaC</a:t>
            </a:r>
            <a:r>
              <a:rPr sz="1450" spc="20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001D58"/>
                </a:solidFill>
                <a:latin typeface="Arial"/>
                <a:cs typeface="Arial"/>
              </a:rPr>
              <a:t>OS.</a:t>
            </a:r>
            <a:endParaRPr sz="145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25628"/>
            <a:ext cx="4101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The Structure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of Computer</a:t>
            </a:r>
            <a:r>
              <a:rPr sz="1800" b="1" spc="-5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Systems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842" y="1466090"/>
            <a:ext cx="6106160" cy="4980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Accessing computer resources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divided into</a:t>
            </a:r>
            <a:r>
              <a:rPr sz="1600" spc="-114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1D58"/>
                </a:solidFill>
                <a:latin typeface="Arial"/>
                <a:cs typeface="Arial"/>
              </a:rPr>
              <a:t>layers.</a:t>
            </a: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Each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layer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isolated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only interacts directly with the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layer below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or above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it.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If user </a:t>
            </a:r>
            <a:r>
              <a:rPr lang="en-US" sz="1600" dirty="0" smtClean="0">
                <a:solidFill>
                  <a:srgbClr val="001D58"/>
                </a:solidFill>
                <a:latin typeface="Arial"/>
                <a:cs typeface="Arial"/>
              </a:rPr>
              <a:t>install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a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new software</a:t>
            </a:r>
            <a:r>
              <a:rPr lang="en-US" sz="1600" spc="-90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application:</a:t>
            </a:r>
            <a:endParaRPr lang="en-US" sz="1600" dirty="0" smtClean="0">
              <a:latin typeface="Arial"/>
              <a:cs typeface="Arial"/>
            </a:endParaRPr>
          </a:p>
          <a:p>
            <a:pPr marL="669290" indent="-286385">
              <a:lnSpc>
                <a:spcPts val="1914"/>
              </a:lnSpc>
              <a:buChar char="•"/>
              <a:tabLst>
                <a:tab pos="669290" algn="l"/>
                <a:tab pos="669925" algn="l"/>
              </a:tabLst>
            </a:pP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User will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need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to learn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how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to use the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new</a:t>
            </a:r>
            <a:r>
              <a:rPr lang="en-US" sz="1600" spc="-100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application.</a:t>
            </a:r>
          </a:p>
          <a:p>
            <a:pPr marL="669290" indent="-286385">
              <a:lnSpc>
                <a:spcPts val="1914"/>
              </a:lnSpc>
              <a:buChar char="•"/>
              <a:tabLst>
                <a:tab pos="669290" algn="l"/>
                <a:tab pos="669925" algn="l"/>
              </a:tabLst>
            </a:pP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No need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to make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any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changes to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your</a:t>
            </a:r>
            <a:r>
              <a:rPr lang="en-US" sz="1600" spc="-50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hardware.</a:t>
            </a:r>
            <a:endParaRPr lang="en-US" sz="1600" dirty="0" smtClean="0">
              <a:latin typeface="Arial"/>
              <a:cs typeface="Arial"/>
            </a:endParaRPr>
          </a:p>
          <a:p>
            <a:pPr marL="669290" marR="90805" indent="-286385">
              <a:lnSpc>
                <a:spcPts val="1920"/>
              </a:lnSpc>
              <a:spcBef>
                <a:spcPts val="55"/>
              </a:spcBef>
              <a:buChar char="•"/>
              <a:tabLst>
                <a:tab pos="669290" algn="l"/>
                <a:tab pos="669925" algn="l"/>
              </a:tabLst>
            </a:pP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But user will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need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to make sure the application </a:t>
            </a:r>
            <a:r>
              <a:rPr lang="en-US" sz="1600" dirty="0" smtClean="0">
                <a:solidFill>
                  <a:srgbClr val="001D58"/>
                </a:solidFill>
                <a:latin typeface="Arial"/>
                <a:cs typeface="Arial"/>
              </a:rPr>
              <a:t>is</a:t>
            </a:r>
            <a:r>
              <a:rPr lang="en-US" sz="1600" spc="-135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supported  by the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lang="en-US" sz="1600" spc="-35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system.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1D58"/>
              </a:buClr>
              <a:buFont typeface="Arial"/>
              <a:buChar char="•"/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ts val="1914"/>
              </a:lnSpc>
              <a:spcBef>
                <a:spcPts val="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If user change the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sz="1600" spc="-6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system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:</a:t>
            </a:r>
            <a:endParaRPr sz="1600" dirty="0">
              <a:latin typeface="Arial"/>
              <a:cs typeface="Arial"/>
            </a:endParaRPr>
          </a:p>
          <a:p>
            <a:pPr marL="669290" marR="122555" indent="-286385">
              <a:lnSpc>
                <a:spcPts val="1920"/>
              </a:lnSpc>
              <a:spcBef>
                <a:spcPts val="55"/>
              </a:spcBef>
              <a:buChar char="•"/>
              <a:tabLst>
                <a:tab pos="669290" algn="l"/>
                <a:tab pos="669925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Need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 make sure that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both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applications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hardware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will  compatible with the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new operating</a:t>
            </a:r>
            <a:r>
              <a:rPr sz="1600" spc="-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endParaRPr lang="en-US" sz="1600" spc="-5" dirty="0" smtClean="0">
              <a:solidFill>
                <a:srgbClr val="001D58"/>
              </a:solidFill>
              <a:latin typeface="Arial"/>
              <a:cs typeface="Arial"/>
            </a:endParaRPr>
          </a:p>
          <a:p>
            <a:pPr marL="669290" marR="122555" indent="-286385">
              <a:lnSpc>
                <a:spcPts val="1920"/>
              </a:lnSpc>
              <a:spcBef>
                <a:spcPts val="55"/>
              </a:spcBef>
              <a:buChar char="•"/>
              <a:tabLst>
                <a:tab pos="669290" algn="l"/>
                <a:tab pos="669925" algn="l"/>
              </a:tabLst>
            </a:pPr>
            <a:endParaRPr lang="en-US" sz="1600" spc="-5" dirty="0">
              <a:solidFill>
                <a:srgbClr val="001D58"/>
              </a:solidFill>
              <a:latin typeface="Arial"/>
              <a:cs typeface="Arial"/>
            </a:endParaRPr>
          </a:p>
          <a:p>
            <a:pPr marL="12700">
              <a:lnSpc>
                <a:spcPts val="1914"/>
              </a:lnSpc>
            </a:pP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If user </a:t>
            </a:r>
            <a:r>
              <a:rPr lang="en-US" sz="1600" dirty="0" smtClean="0">
                <a:solidFill>
                  <a:srgbClr val="001D58"/>
                </a:solidFill>
                <a:latin typeface="Arial"/>
                <a:cs typeface="Arial"/>
              </a:rPr>
              <a:t>install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a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new hardware</a:t>
            </a:r>
            <a:r>
              <a:rPr lang="en-US" sz="1600" spc="-45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device:</a:t>
            </a:r>
            <a:endParaRPr lang="en-US" sz="1600" dirty="0" smtClean="0">
              <a:latin typeface="Arial"/>
              <a:cs typeface="Arial"/>
            </a:endParaRPr>
          </a:p>
          <a:p>
            <a:pPr marL="669290" indent="-286385">
              <a:lnSpc>
                <a:spcPts val="1914"/>
              </a:lnSpc>
              <a:buChar char="•"/>
              <a:tabLst>
                <a:tab pos="669290" algn="l"/>
                <a:tab pos="669925" algn="l"/>
              </a:tabLst>
            </a:pP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No need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to change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anything about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the</a:t>
            </a:r>
            <a:r>
              <a:rPr lang="en-US" sz="1600" spc="-40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user/applications.</a:t>
            </a:r>
            <a:endParaRPr lang="en-US" sz="1600" dirty="0" smtClean="0">
              <a:latin typeface="Arial"/>
              <a:cs typeface="Arial"/>
            </a:endParaRPr>
          </a:p>
          <a:p>
            <a:pPr marL="669290" indent="-286385">
              <a:lnSpc>
                <a:spcPts val="1914"/>
              </a:lnSpc>
              <a:buChar char="•"/>
              <a:tabLst>
                <a:tab pos="669290" algn="l"/>
                <a:tab pos="669925" algn="l"/>
              </a:tabLst>
            </a:pP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But user will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need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to make changes to the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lang="en-US" sz="1600" spc="-90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system.</a:t>
            </a:r>
            <a:endParaRPr lang="en-US" sz="1600" dirty="0" smtClean="0">
              <a:latin typeface="Arial"/>
              <a:cs typeface="Arial"/>
            </a:endParaRPr>
          </a:p>
          <a:p>
            <a:pPr marL="669290" marR="90805" indent="-286385">
              <a:lnSpc>
                <a:spcPts val="1920"/>
              </a:lnSpc>
              <a:spcBef>
                <a:spcPts val="60"/>
              </a:spcBef>
              <a:buChar char="•"/>
              <a:tabLst>
                <a:tab pos="669290" algn="l"/>
                <a:tab pos="669925" algn="l"/>
              </a:tabLst>
            </a:pP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User will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need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to </a:t>
            </a:r>
            <a:r>
              <a:rPr lang="en-US" sz="1600" dirty="0" smtClean="0">
                <a:solidFill>
                  <a:srgbClr val="001D58"/>
                </a:solidFill>
                <a:latin typeface="Arial"/>
                <a:cs typeface="Arial"/>
              </a:rPr>
              <a:t>install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the device drivers that the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operating 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system will use to control the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new</a:t>
            </a:r>
            <a:r>
              <a:rPr lang="en-US" sz="1600" spc="-85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device.</a:t>
            </a:r>
            <a:endParaRPr lang="en-US" sz="1600" dirty="0" smtClean="0">
              <a:latin typeface="Arial"/>
              <a:cs typeface="Arial"/>
            </a:endParaRPr>
          </a:p>
          <a:p>
            <a:pPr marL="382905" marR="122555">
              <a:lnSpc>
                <a:spcPts val="1920"/>
              </a:lnSpc>
              <a:spcBef>
                <a:spcPts val="55"/>
              </a:spcBef>
              <a:tabLst>
                <a:tab pos="669290" algn="l"/>
                <a:tab pos="669925" algn="l"/>
              </a:tabLst>
            </a:pP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45223" y="1565147"/>
            <a:ext cx="2398776" cy="4762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939" y="381225"/>
            <a:ext cx="3464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Functions of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Operating</a:t>
            </a:r>
            <a:r>
              <a:rPr sz="1800" b="1" spc="-12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System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47800" y="1652016"/>
            <a:ext cx="6469380" cy="4063365"/>
          </a:xfrm>
          <a:custGeom>
            <a:avLst/>
            <a:gdLst/>
            <a:ahLst/>
            <a:cxnLst/>
            <a:rect l="l" t="t" r="r" b="b"/>
            <a:pathLst>
              <a:path w="6469380" h="4063365">
                <a:moveTo>
                  <a:pt x="0" y="0"/>
                </a:moveTo>
                <a:lnTo>
                  <a:pt x="6469380" y="0"/>
                </a:lnTo>
                <a:lnTo>
                  <a:pt x="6469380" y="4062984"/>
                </a:lnTo>
                <a:lnTo>
                  <a:pt x="0" y="4062984"/>
                </a:lnTo>
                <a:lnTo>
                  <a:pt x="0" y="0"/>
                </a:lnTo>
                <a:close/>
              </a:path>
            </a:pathLst>
          </a:custGeom>
          <a:solidFill>
            <a:srgbClr val="BDDC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33956" y="3994403"/>
            <a:ext cx="1487423" cy="801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67483" y="4075176"/>
            <a:ext cx="1498091" cy="6934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91867" y="4014215"/>
            <a:ext cx="1371600" cy="685800"/>
          </a:xfrm>
          <a:prstGeom prst="rect">
            <a:avLst/>
          </a:prstGeom>
          <a:solidFill>
            <a:srgbClr val="F1F1F1"/>
          </a:solidFill>
          <a:ln w="9144">
            <a:solidFill>
              <a:srgbClr val="002776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248920" marR="128905" indent="-114300">
              <a:lnSpc>
                <a:spcPct val="100000"/>
              </a:lnSpc>
              <a:spcBef>
                <a:spcPts val="950"/>
              </a:spcBef>
            </a:pP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Security</a:t>
            </a:r>
            <a:r>
              <a:rPr sz="1400" b="1" spc="-55" dirty="0">
                <a:solidFill>
                  <a:srgbClr val="0B286F"/>
                </a:solidFill>
                <a:latin typeface="Comic Sans MS"/>
                <a:cs typeface="Comic Sans MS"/>
              </a:rPr>
              <a:t> </a:t>
            </a: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and  </a:t>
            </a:r>
            <a:r>
              <a:rPr sz="1400" b="1" dirty="0">
                <a:solidFill>
                  <a:srgbClr val="0B286F"/>
                </a:solidFill>
                <a:latin typeface="Comic Sans MS"/>
                <a:cs typeface="Comic Sans MS"/>
              </a:rPr>
              <a:t>protection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41420" y="3322320"/>
            <a:ext cx="1726691" cy="8321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5323" y="3418332"/>
            <a:ext cx="1737359" cy="6934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99332" y="3342132"/>
            <a:ext cx="1610995" cy="716280"/>
          </a:xfrm>
          <a:prstGeom prst="rect">
            <a:avLst/>
          </a:prstGeom>
          <a:solidFill>
            <a:srgbClr val="F1F1F1"/>
          </a:solidFill>
          <a:ln w="9144">
            <a:solidFill>
              <a:srgbClr val="002776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95885" marR="88900" indent="286385">
              <a:lnSpc>
                <a:spcPct val="100000"/>
              </a:lnSpc>
              <a:spcBef>
                <a:spcPts val="1070"/>
              </a:spcBef>
            </a:pP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Operating  System</a:t>
            </a:r>
            <a:r>
              <a:rPr sz="1400" b="1" spc="-55" dirty="0">
                <a:solidFill>
                  <a:srgbClr val="0B286F"/>
                </a:solidFill>
                <a:latin typeface="Comic Sans MS"/>
                <a:cs typeface="Comic Sans MS"/>
              </a:rPr>
              <a:t> </a:t>
            </a:r>
            <a:r>
              <a:rPr sz="1400" b="1" dirty="0">
                <a:solidFill>
                  <a:srgbClr val="0B286F"/>
                </a:solidFill>
                <a:latin typeface="Comic Sans MS"/>
                <a:cs typeface="Comic Sans MS"/>
              </a:rPr>
              <a:t>Function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31336" y="4463796"/>
            <a:ext cx="1487423" cy="801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86200" y="4544568"/>
            <a:ext cx="1376171" cy="6934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89247" y="4483608"/>
            <a:ext cx="1371600" cy="685800"/>
          </a:xfrm>
          <a:prstGeom prst="rect">
            <a:avLst/>
          </a:prstGeom>
          <a:solidFill>
            <a:srgbClr val="F1F1F1"/>
          </a:solidFill>
          <a:ln w="9144">
            <a:solidFill>
              <a:srgbClr val="002776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156845" marR="151130" indent="362585">
              <a:lnSpc>
                <a:spcPct val="100000"/>
              </a:lnSpc>
              <a:spcBef>
                <a:spcPts val="950"/>
              </a:spcBef>
            </a:pPr>
            <a:r>
              <a:rPr sz="1400" b="1" dirty="0">
                <a:solidFill>
                  <a:srgbClr val="0B286F"/>
                </a:solidFill>
                <a:latin typeface="Comic Sans MS"/>
                <a:cs typeface="Comic Sans MS"/>
              </a:rPr>
              <a:t>I/O  </a:t>
            </a: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Manage</a:t>
            </a:r>
            <a:r>
              <a:rPr sz="1400" b="1" dirty="0">
                <a:solidFill>
                  <a:srgbClr val="0B286F"/>
                </a:solidFill>
                <a:latin typeface="Comic Sans MS"/>
                <a:cs typeface="Comic Sans MS"/>
              </a:rPr>
              <a:t>m</a:t>
            </a: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ent</a:t>
            </a:r>
            <a:endParaRPr sz="1400" dirty="0">
              <a:latin typeface="Comic Sans MS"/>
              <a:cs typeface="Comic Sans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2800" y="2985516"/>
            <a:ext cx="446405" cy="342900"/>
          </a:xfrm>
          <a:custGeom>
            <a:avLst/>
            <a:gdLst/>
            <a:ahLst/>
            <a:cxnLst/>
            <a:rect l="l" t="t" r="r" b="b"/>
            <a:pathLst>
              <a:path w="446404" h="342900">
                <a:moveTo>
                  <a:pt x="0" y="0"/>
                </a:moveTo>
                <a:lnTo>
                  <a:pt x="446366" y="342900"/>
                </a:lnTo>
              </a:path>
            </a:pathLst>
          </a:custGeom>
          <a:ln w="9144">
            <a:solidFill>
              <a:srgbClr val="0024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82667" y="4038600"/>
            <a:ext cx="5080" cy="457200"/>
          </a:xfrm>
          <a:custGeom>
            <a:avLst/>
            <a:gdLst/>
            <a:ahLst/>
            <a:cxnLst/>
            <a:rect l="l" t="t" r="r" b="b"/>
            <a:pathLst>
              <a:path w="5079" h="457200">
                <a:moveTo>
                  <a:pt x="0" y="0"/>
                </a:moveTo>
                <a:lnTo>
                  <a:pt x="4762" y="457200"/>
                </a:lnTo>
              </a:path>
            </a:pathLst>
          </a:custGeom>
          <a:ln w="9144">
            <a:solidFill>
              <a:srgbClr val="0024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20668" y="2179320"/>
            <a:ext cx="1487423" cy="801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77055" y="2260092"/>
            <a:ext cx="1376171" cy="6934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878579" y="2199132"/>
            <a:ext cx="1371600" cy="685800"/>
          </a:xfrm>
          <a:prstGeom prst="rect">
            <a:avLst/>
          </a:prstGeom>
          <a:solidFill>
            <a:srgbClr val="F1F1F1"/>
          </a:solidFill>
          <a:ln w="9144">
            <a:solidFill>
              <a:srgbClr val="002776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157480" marR="150495" indent="208279">
              <a:lnSpc>
                <a:spcPct val="100000"/>
              </a:lnSpc>
              <a:spcBef>
                <a:spcPts val="944"/>
              </a:spcBef>
            </a:pP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Process  Manage</a:t>
            </a:r>
            <a:r>
              <a:rPr sz="1400" b="1" dirty="0">
                <a:solidFill>
                  <a:srgbClr val="0B286F"/>
                </a:solidFill>
                <a:latin typeface="Comic Sans MS"/>
                <a:cs typeface="Comic Sans MS"/>
              </a:rPr>
              <a:t>m</a:t>
            </a: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ent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811012" y="2586227"/>
            <a:ext cx="1487423" cy="801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67400" y="2667000"/>
            <a:ext cx="1376171" cy="6934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868923" y="2606039"/>
            <a:ext cx="1371600" cy="685800"/>
          </a:xfrm>
          <a:prstGeom prst="rect">
            <a:avLst/>
          </a:prstGeom>
          <a:solidFill>
            <a:srgbClr val="F1F1F1"/>
          </a:solidFill>
          <a:ln w="9144">
            <a:solidFill>
              <a:srgbClr val="002776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157480" marR="149860" indent="189865">
              <a:lnSpc>
                <a:spcPct val="100000"/>
              </a:lnSpc>
              <a:spcBef>
                <a:spcPts val="950"/>
              </a:spcBef>
            </a:pPr>
            <a:r>
              <a:rPr sz="1400" b="1" dirty="0">
                <a:solidFill>
                  <a:srgbClr val="0B286F"/>
                </a:solidFill>
                <a:latin typeface="Comic Sans MS"/>
                <a:cs typeface="Comic Sans MS"/>
              </a:rPr>
              <a:t>Memory  </a:t>
            </a: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Manage</a:t>
            </a:r>
            <a:r>
              <a:rPr sz="1400" b="1" dirty="0">
                <a:solidFill>
                  <a:srgbClr val="0B286F"/>
                </a:solidFill>
                <a:latin typeface="Comic Sans MS"/>
                <a:cs typeface="Comic Sans MS"/>
              </a:rPr>
              <a:t>m</a:t>
            </a: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ent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410200" y="2948939"/>
            <a:ext cx="459105" cy="379730"/>
          </a:xfrm>
          <a:custGeom>
            <a:avLst/>
            <a:gdLst/>
            <a:ahLst/>
            <a:cxnLst/>
            <a:rect l="l" t="t" r="r" b="b"/>
            <a:pathLst>
              <a:path w="459104" h="379729">
                <a:moveTo>
                  <a:pt x="0" y="379475"/>
                </a:moveTo>
                <a:lnTo>
                  <a:pt x="458939" y="0"/>
                </a:lnTo>
              </a:path>
            </a:pathLst>
          </a:custGeom>
          <a:ln w="9144">
            <a:solidFill>
              <a:srgbClr val="0024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64379" y="2884932"/>
            <a:ext cx="5080" cy="457200"/>
          </a:xfrm>
          <a:custGeom>
            <a:avLst/>
            <a:gdLst/>
            <a:ahLst/>
            <a:cxnLst/>
            <a:rect l="l" t="t" r="r" b="b"/>
            <a:pathLst>
              <a:path w="5079" h="457200">
                <a:moveTo>
                  <a:pt x="0" y="0"/>
                </a:moveTo>
                <a:lnTo>
                  <a:pt x="4762" y="457200"/>
                </a:lnTo>
              </a:path>
            </a:pathLst>
          </a:custGeom>
          <a:ln w="9144">
            <a:solidFill>
              <a:srgbClr val="0024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3288" y="2622804"/>
            <a:ext cx="1487423" cy="801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086355" y="3328415"/>
            <a:ext cx="1158239" cy="685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981200" y="2642616"/>
            <a:ext cx="1371600" cy="685800"/>
          </a:xfrm>
          <a:prstGeom prst="rect">
            <a:avLst/>
          </a:prstGeom>
          <a:solidFill>
            <a:srgbClr val="F1F1F1"/>
          </a:solidFill>
          <a:ln w="9144">
            <a:solidFill>
              <a:srgbClr val="002776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265430" marR="259079" indent="217804">
              <a:lnSpc>
                <a:spcPct val="100000"/>
              </a:lnSpc>
              <a:spcBef>
                <a:spcPts val="950"/>
              </a:spcBef>
            </a:pP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User  </a:t>
            </a:r>
            <a:r>
              <a:rPr sz="1400" b="1" dirty="0">
                <a:solidFill>
                  <a:srgbClr val="0B286F"/>
                </a:solidFill>
                <a:latin typeface="Comic Sans MS"/>
                <a:cs typeface="Comic Sans MS"/>
              </a:rPr>
              <a:t>I</a:t>
            </a: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nter</a:t>
            </a:r>
            <a:r>
              <a:rPr sz="1400" b="1" spc="-10" dirty="0">
                <a:solidFill>
                  <a:srgbClr val="0B286F"/>
                </a:solidFill>
                <a:latin typeface="Comic Sans MS"/>
                <a:cs typeface="Comic Sans MS"/>
              </a:rPr>
              <a:t>f</a:t>
            </a: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ac</a:t>
            </a:r>
            <a:r>
              <a:rPr sz="1400" b="1" dirty="0">
                <a:solidFill>
                  <a:srgbClr val="0B286F"/>
                </a:solidFill>
                <a:latin typeface="Comic Sans MS"/>
                <a:cs typeface="Comic Sans MS"/>
              </a:rPr>
              <a:t>e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63467" y="4058408"/>
            <a:ext cx="435609" cy="298450"/>
          </a:xfrm>
          <a:custGeom>
            <a:avLst/>
            <a:gdLst/>
            <a:ahLst/>
            <a:cxnLst/>
            <a:rect l="l" t="t" r="r" b="b"/>
            <a:pathLst>
              <a:path w="435610" h="298450">
                <a:moveTo>
                  <a:pt x="0" y="298094"/>
                </a:moveTo>
                <a:lnTo>
                  <a:pt x="435533" y="0"/>
                </a:lnTo>
              </a:path>
            </a:pathLst>
          </a:custGeom>
          <a:ln w="9144">
            <a:solidFill>
              <a:srgbClr val="0024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44540" y="4040123"/>
            <a:ext cx="1487423" cy="801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899403" y="4120896"/>
            <a:ext cx="1376171" cy="6934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902452" y="4059935"/>
            <a:ext cx="1371600" cy="685800"/>
          </a:xfrm>
          <a:prstGeom prst="rect">
            <a:avLst/>
          </a:prstGeom>
          <a:solidFill>
            <a:srgbClr val="F1F1F1"/>
          </a:solidFill>
          <a:ln w="9144">
            <a:solidFill>
              <a:srgbClr val="002776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156845" marR="151130" indent="374650">
              <a:lnSpc>
                <a:spcPct val="100000"/>
              </a:lnSpc>
              <a:spcBef>
                <a:spcPts val="955"/>
              </a:spcBef>
            </a:pPr>
            <a:r>
              <a:rPr sz="1400" b="1" dirty="0">
                <a:solidFill>
                  <a:srgbClr val="0B286F"/>
                </a:solidFill>
                <a:latin typeface="Comic Sans MS"/>
                <a:cs typeface="Comic Sans MS"/>
              </a:rPr>
              <a:t>File  </a:t>
            </a: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Manage</a:t>
            </a:r>
            <a:r>
              <a:rPr sz="1400" b="1" dirty="0">
                <a:solidFill>
                  <a:srgbClr val="0B286F"/>
                </a:solidFill>
                <a:latin typeface="Comic Sans MS"/>
                <a:cs typeface="Comic Sans MS"/>
              </a:rPr>
              <a:t>m</a:t>
            </a:r>
            <a:r>
              <a:rPr sz="1400" b="1" spc="-5" dirty="0">
                <a:solidFill>
                  <a:srgbClr val="0B286F"/>
                </a:solidFill>
                <a:latin typeface="Comic Sans MS"/>
                <a:cs typeface="Comic Sans MS"/>
              </a:rPr>
              <a:t>ent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410200" y="4058411"/>
            <a:ext cx="457200" cy="336550"/>
          </a:xfrm>
          <a:custGeom>
            <a:avLst/>
            <a:gdLst/>
            <a:ahLst/>
            <a:cxnLst/>
            <a:rect l="l" t="t" r="r" b="b"/>
            <a:pathLst>
              <a:path w="457200" h="336550">
                <a:moveTo>
                  <a:pt x="0" y="0"/>
                </a:moveTo>
                <a:lnTo>
                  <a:pt x="457200" y="336194"/>
                </a:lnTo>
              </a:path>
            </a:pathLst>
          </a:custGeom>
          <a:ln w="9144">
            <a:solidFill>
              <a:srgbClr val="00247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832922"/>
            <a:ext cx="7995284" cy="34137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04470" indent="-191770">
              <a:lnSpc>
                <a:spcPct val="100000"/>
              </a:lnSpc>
              <a:spcBef>
                <a:spcPts val="700"/>
              </a:spcBef>
              <a:buClr>
                <a:srgbClr val="001D58"/>
              </a:buClr>
              <a:buFont typeface="Arial"/>
              <a:buChar char="•"/>
              <a:tabLst>
                <a:tab pos="205104" algn="l"/>
              </a:tabLst>
            </a:pPr>
            <a:r>
              <a:rPr sz="1600" b="1" spc="-5" dirty="0">
                <a:solidFill>
                  <a:srgbClr val="001D58"/>
                </a:solidFill>
                <a:latin typeface="Arial"/>
                <a:cs typeface="Arial"/>
              </a:rPr>
              <a:t>A </a:t>
            </a:r>
            <a:r>
              <a:rPr sz="1600" b="1" spc="-10" dirty="0">
                <a:solidFill>
                  <a:srgbClr val="001D58"/>
                </a:solidFill>
                <a:latin typeface="Arial"/>
                <a:cs typeface="Arial"/>
              </a:rPr>
              <a:t>process </a:t>
            </a:r>
            <a:r>
              <a:rPr sz="1600" b="1" spc="-5" dirty="0">
                <a:solidFill>
                  <a:srgbClr val="001D58"/>
                </a:solidFill>
                <a:latin typeface="Arial"/>
                <a:cs typeface="Arial"/>
              </a:rPr>
              <a:t>is a </a:t>
            </a:r>
            <a:r>
              <a:rPr sz="1600" b="1" spc="-10" dirty="0">
                <a:solidFill>
                  <a:srgbClr val="001D58"/>
                </a:solidFill>
                <a:latin typeface="Arial"/>
                <a:cs typeface="Arial"/>
              </a:rPr>
              <a:t>program </a:t>
            </a:r>
            <a:r>
              <a:rPr sz="1600" b="1" spc="-5" dirty="0">
                <a:solidFill>
                  <a:srgbClr val="001D58"/>
                </a:solidFill>
                <a:latin typeface="Arial"/>
                <a:cs typeface="Arial"/>
              </a:rPr>
              <a:t>in</a:t>
            </a:r>
            <a:r>
              <a:rPr sz="1600" b="1" spc="-10" dirty="0">
                <a:solidFill>
                  <a:srgbClr val="001D58"/>
                </a:solidFill>
                <a:latin typeface="Arial"/>
                <a:cs typeface="Arial"/>
              </a:rPr>
              <a:t> execution.</a:t>
            </a:r>
            <a:endParaRPr sz="1600" dirty="0">
              <a:latin typeface="Arial"/>
              <a:cs typeface="Arial"/>
            </a:endParaRPr>
          </a:p>
          <a:p>
            <a:pPr marL="204470" marR="5080" indent="-19177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05104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process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needs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certain resources,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including 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central processing unit (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CPU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)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time, memory,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files, </a:t>
            </a:r>
            <a:r>
              <a:rPr sz="1600" spc="-10" dirty="0" smtClean="0">
                <a:solidFill>
                  <a:srgbClr val="001D58"/>
                </a:solidFill>
                <a:latin typeface="Arial"/>
                <a:cs typeface="Arial"/>
              </a:rPr>
              <a:t>and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 input/output (</a:t>
            </a:r>
            <a:r>
              <a:rPr sz="1600" spc="-10" dirty="0" smtClean="0">
                <a:solidFill>
                  <a:srgbClr val="001D58"/>
                </a:solidFill>
                <a:latin typeface="Arial"/>
                <a:cs typeface="Arial"/>
              </a:rPr>
              <a:t>I/O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)</a:t>
            </a:r>
            <a:r>
              <a:rPr sz="1600" spc="-10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devices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 accomplish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its</a:t>
            </a:r>
            <a:r>
              <a:rPr sz="1600" spc="-10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task.</a:t>
            </a:r>
            <a:endParaRPr sz="1600" dirty="0">
              <a:latin typeface="Arial"/>
              <a:cs typeface="Arial"/>
            </a:endParaRPr>
          </a:p>
          <a:p>
            <a:pPr marL="204470" marR="6985" indent="-191770" algn="just">
              <a:lnSpc>
                <a:spcPts val="1910"/>
              </a:lnSpc>
              <a:spcBef>
                <a:spcPts val="1165"/>
              </a:spcBef>
              <a:buChar char="•"/>
              <a:tabLst>
                <a:tab pos="205104" algn="l"/>
              </a:tabLst>
            </a:pPr>
            <a:r>
              <a:rPr sz="1600" spc="-10" smtClean="0">
                <a:solidFill>
                  <a:srgbClr val="001D58"/>
                </a:solidFill>
                <a:latin typeface="Arial"/>
                <a:cs typeface="Arial"/>
              </a:rPr>
              <a:t>Simultaneous</a:t>
            </a:r>
            <a:r>
              <a:rPr lang="en-US" sz="1600" spc="-1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smtClean="0">
                <a:solidFill>
                  <a:srgbClr val="001D58"/>
                </a:solidFill>
                <a:latin typeface="Arial"/>
                <a:cs typeface="Arial"/>
              </a:rPr>
              <a:t>execution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leads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multiple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processes.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C</a:t>
            </a:r>
            <a:r>
              <a:rPr sz="1600" spc="-10" dirty="0" smtClean="0">
                <a:solidFill>
                  <a:srgbClr val="001D58"/>
                </a:solidFill>
                <a:latin typeface="Arial"/>
                <a:cs typeface="Arial"/>
              </a:rPr>
              <a:t>reation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, execution and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termination of a process are the most basic functionality of an</a:t>
            </a:r>
            <a:r>
              <a:rPr sz="1600" spc="-16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 smtClean="0">
                <a:solidFill>
                  <a:srgbClr val="001D58"/>
                </a:solidFill>
                <a:latin typeface="Arial"/>
                <a:cs typeface="Arial"/>
              </a:rPr>
              <a:t>OS</a:t>
            </a: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  <a:p>
            <a:pPr marL="204470" marR="6985" indent="-191770" algn="just">
              <a:lnSpc>
                <a:spcPts val="1910"/>
              </a:lnSpc>
              <a:spcBef>
                <a:spcPts val="1110"/>
              </a:spcBef>
              <a:buChar char="•"/>
              <a:tabLst>
                <a:tab pos="205104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If processes are </a:t>
            </a:r>
            <a:r>
              <a:rPr sz="1600" b="1" spc="-10" dirty="0">
                <a:solidFill>
                  <a:srgbClr val="001D58"/>
                </a:solidFill>
                <a:latin typeface="Arial"/>
                <a:cs typeface="Arial"/>
              </a:rPr>
              <a:t>dependent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than they may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try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share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same 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resources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,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thus task 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of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process synchronization comes to the</a:t>
            </a:r>
            <a:r>
              <a:rPr sz="1600" spc="-5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picture.</a:t>
            </a:r>
            <a:endParaRPr sz="1600" dirty="0">
              <a:latin typeface="Arial"/>
              <a:cs typeface="Arial"/>
            </a:endParaRPr>
          </a:p>
          <a:p>
            <a:pPr marL="204470" marR="6985" indent="-191770" algn="just">
              <a:lnSpc>
                <a:spcPct val="100000"/>
              </a:lnSpc>
              <a:spcBef>
                <a:spcPts val="1030"/>
              </a:spcBef>
              <a:buChar char="•"/>
              <a:tabLst>
                <a:tab pos="205104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If processes are </a:t>
            </a:r>
            <a:r>
              <a:rPr sz="1600" b="1" spc="-10" dirty="0">
                <a:solidFill>
                  <a:srgbClr val="001D58"/>
                </a:solidFill>
                <a:latin typeface="Arial"/>
                <a:cs typeface="Arial"/>
              </a:rPr>
              <a:t>independent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, than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due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care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needs to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be taken to avoid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their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overlapping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memory</a:t>
            </a:r>
            <a:r>
              <a:rPr sz="1600" spc="-5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area.</a:t>
            </a:r>
            <a:endParaRPr sz="1600" dirty="0">
              <a:latin typeface="Arial"/>
              <a:cs typeface="Arial"/>
            </a:endParaRPr>
          </a:p>
          <a:p>
            <a:pPr marL="204470" marR="6985" indent="-191770" algn="just">
              <a:lnSpc>
                <a:spcPct val="100000"/>
              </a:lnSpc>
              <a:spcBef>
                <a:spcPts val="1090"/>
              </a:spcBef>
              <a:buChar char="•"/>
              <a:tabLst>
                <a:tab pos="205104" algn="l"/>
                <a:tab pos="467741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Based on </a:t>
            </a:r>
            <a:r>
              <a:rPr sz="1600" spc="-10" dirty="0" smtClean="0">
                <a:solidFill>
                  <a:srgbClr val="001D58"/>
                </a:solidFill>
                <a:latin typeface="Arial"/>
                <a:cs typeface="Arial"/>
              </a:rPr>
              <a:t>priority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, 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it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is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important to</a:t>
            </a:r>
            <a:r>
              <a:rPr sz="1600" spc="2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allow</a:t>
            </a:r>
            <a:r>
              <a:rPr sz="1600" spc="19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more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important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processes to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execute first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than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others.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1213" y="325628"/>
            <a:ext cx="3464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D58"/>
                </a:solidFill>
                <a:latin typeface="Comic Sans MS"/>
                <a:cs typeface="Comic Sans MS"/>
              </a:rPr>
              <a:t>Functions of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Operating</a:t>
            </a:r>
            <a:r>
              <a:rPr sz="1800" b="1" spc="-130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System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6385" y="325628"/>
            <a:ext cx="2303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Process</a:t>
            </a:r>
            <a:r>
              <a:rPr sz="1800" b="1" spc="-35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Management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737" y="1834435"/>
            <a:ext cx="8071484" cy="380555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Memory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 large array of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words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or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bytes,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each with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its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own</a:t>
            </a:r>
            <a:r>
              <a:rPr sz="1600" spc="200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address.</a:t>
            </a:r>
            <a:endParaRPr sz="16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It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 repository of quickly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accessible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data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shared by the CPU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I/O</a:t>
            </a:r>
            <a:r>
              <a:rPr sz="1600" spc="12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devices.</a:t>
            </a:r>
            <a:endParaRPr sz="1600" dirty="0">
              <a:latin typeface="Arial"/>
              <a:cs typeface="Arial"/>
            </a:endParaRPr>
          </a:p>
          <a:p>
            <a:pPr marL="12700" marR="5715" algn="just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Main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memory is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 </a:t>
            </a:r>
            <a:r>
              <a:rPr sz="1600" b="1" spc="-5" dirty="0">
                <a:solidFill>
                  <a:srgbClr val="002776"/>
                </a:solidFill>
                <a:latin typeface="Arial"/>
                <a:cs typeface="Arial"/>
              </a:rPr>
              <a:t>volatile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storage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device. When the computer made turn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off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everything  stored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RAM will be erased</a:t>
            </a:r>
            <a:r>
              <a:rPr sz="1600" spc="20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automatically.</a:t>
            </a:r>
            <a:endParaRPr sz="16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In addition to the physical RAM installed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in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your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computer, </a:t>
            </a:r>
            <a:r>
              <a:rPr sz="1600" b="1" dirty="0">
                <a:solidFill>
                  <a:srgbClr val="002776"/>
                </a:solidFill>
                <a:latin typeface="Arial"/>
                <a:cs typeface="Arial"/>
              </a:rPr>
              <a:t>most </a:t>
            </a:r>
            <a:r>
              <a:rPr sz="1600" b="1" spc="-10" dirty="0">
                <a:solidFill>
                  <a:srgbClr val="002776"/>
                </a:solidFill>
                <a:latin typeface="Arial"/>
                <a:cs typeface="Arial"/>
              </a:rPr>
              <a:t>modern </a:t>
            </a:r>
            <a:r>
              <a:rPr sz="1600" b="1" spc="-5" dirty="0">
                <a:solidFill>
                  <a:srgbClr val="002776"/>
                </a:solidFill>
                <a:latin typeface="Arial"/>
                <a:cs typeface="Arial"/>
              </a:rPr>
              <a:t>operating  systems allow </a:t>
            </a:r>
            <a:r>
              <a:rPr sz="1600" b="1" spc="-10" dirty="0">
                <a:solidFill>
                  <a:srgbClr val="002776"/>
                </a:solidFill>
                <a:latin typeface="Arial"/>
                <a:cs typeface="Arial"/>
              </a:rPr>
              <a:t>your </a:t>
            </a:r>
            <a:r>
              <a:rPr sz="1600" b="1" spc="-5" dirty="0">
                <a:solidFill>
                  <a:srgbClr val="002776"/>
                </a:solidFill>
                <a:latin typeface="Arial"/>
                <a:cs typeface="Arial"/>
              </a:rPr>
              <a:t>computer to use a virtual memory system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. Virtual memory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allows  your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computer to use part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of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 permanent storage device (such as a hard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disk)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as extra 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memory.</a:t>
            </a:r>
            <a:endParaRPr sz="1600" dirty="0">
              <a:latin typeface="Arial"/>
              <a:cs typeface="Arial"/>
            </a:endParaRPr>
          </a:p>
          <a:p>
            <a:pPr marL="12700" marR="5715" algn="just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operating system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responsible for the following activities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connections with  memory</a:t>
            </a:r>
            <a:r>
              <a:rPr sz="1600" spc="2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management:</a:t>
            </a:r>
            <a:endParaRPr sz="1600" dirty="0">
              <a:latin typeface="Arial"/>
              <a:cs typeface="Arial"/>
            </a:endParaRPr>
          </a:p>
          <a:p>
            <a:pPr marL="433070" indent="-219075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Keep track of which parts of memory are currently being used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by</a:t>
            </a:r>
            <a:r>
              <a:rPr sz="1600" spc="170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whom.</a:t>
            </a:r>
            <a:endParaRPr sz="1600" dirty="0">
              <a:latin typeface="Arial"/>
              <a:cs typeface="Arial"/>
            </a:endParaRPr>
          </a:p>
          <a:p>
            <a:pPr marL="433070" indent="-219075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Decide which processes to load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when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memory space becomes</a:t>
            </a:r>
            <a:r>
              <a:rPr sz="1600" spc="7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available.</a:t>
            </a:r>
            <a:endParaRPr sz="1600" dirty="0">
              <a:latin typeface="Arial"/>
              <a:cs typeface="Arial"/>
            </a:endParaRPr>
          </a:p>
          <a:p>
            <a:pPr marL="433070" indent="-219075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Allocate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de-allocate memory space as</a:t>
            </a:r>
            <a:r>
              <a:rPr sz="1600" spc="3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needed.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1213" y="325628"/>
            <a:ext cx="3464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D58"/>
                </a:solidFill>
                <a:latin typeface="Comic Sans MS"/>
                <a:cs typeface="Comic Sans MS"/>
              </a:rPr>
              <a:t>Functions of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Operating</a:t>
            </a:r>
            <a:r>
              <a:rPr sz="1800" b="1" spc="-130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System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6385" y="325628"/>
            <a:ext cx="2348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Memory</a:t>
            </a:r>
            <a:r>
              <a:rPr sz="1800" b="1" spc="-30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Management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0066" y="1475627"/>
            <a:ext cx="8070850" cy="49942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file 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collection of related information defined by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its</a:t>
            </a:r>
            <a:r>
              <a:rPr sz="1600" spc="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creator.</a:t>
            </a:r>
            <a:endParaRPr sz="1600" dirty="0">
              <a:latin typeface="Arial"/>
              <a:cs typeface="Arial"/>
            </a:endParaRPr>
          </a:p>
          <a:p>
            <a:pPr marL="12700" marR="6350" algn="just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File systems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provide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conventions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for the encoding, storage and management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data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on a storage device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such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as a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hard</a:t>
            </a:r>
            <a:r>
              <a:rPr sz="1600" spc="5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disk.</a:t>
            </a:r>
            <a:endParaRPr sz="1600" dirty="0">
              <a:latin typeface="Arial"/>
              <a:cs typeface="Arial"/>
            </a:endParaRPr>
          </a:p>
          <a:p>
            <a:pPr marL="433070" indent="-219710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FAT12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(floppy</a:t>
            </a:r>
            <a:r>
              <a:rPr sz="1600" spc="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disks)</a:t>
            </a:r>
            <a:endParaRPr sz="1600" dirty="0">
              <a:latin typeface="Arial"/>
              <a:cs typeface="Arial"/>
            </a:endParaRPr>
          </a:p>
          <a:p>
            <a:pPr marL="433070" indent="-219710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FAT16 (DOS 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older versions of</a:t>
            </a:r>
            <a:r>
              <a:rPr sz="1600" spc="6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Windows)</a:t>
            </a:r>
            <a:endParaRPr sz="1600" dirty="0">
              <a:latin typeface="Arial"/>
              <a:cs typeface="Arial"/>
            </a:endParaRPr>
          </a:p>
          <a:p>
            <a:pPr marL="433070" indent="-219710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FAT32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(older versions of Windows)</a:t>
            </a:r>
            <a:endParaRPr sz="1600" dirty="0">
              <a:latin typeface="Arial"/>
              <a:cs typeface="Arial"/>
            </a:endParaRPr>
          </a:p>
          <a:p>
            <a:pPr marL="433070" indent="-219710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NTFS (newer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versions of</a:t>
            </a:r>
            <a:r>
              <a:rPr sz="1600" spc="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Windows)</a:t>
            </a:r>
            <a:endParaRPr sz="1600" dirty="0">
              <a:latin typeface="Arial"/>
              <a:cs typeface="Arial"/>
            </a:endParaRPr>
          </a:p>
          <a:p>
            <a:pPr marL="433070" indent="-219710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EXT3</a:t>
            </a:r>
            <a:r>
              <a:rPr sz="1600" spc="-9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(Unix/Linux)</a:t>
            </a:r>
            <a:endParaRPr sz="1600" dirty="0">
              <a:latin typeface="Arial"/>
              <a:cs typeface="Arial"/>
            </a:endParaRPr>
          </a:p>
          <a:p>
            <a:pPr marL="433070" indent="-219710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HFS+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(Max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OS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X)</a:t>
            </a:r>
            <a:endParaRPr sz="1600" dirty="0">
              <a:latin typeface="Arial"/>
              <a:cs typeface="Arial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operating system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responsible for the following activities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connections with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file 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management:</a:t>
            </a:r>
            <a:endParaRPr sz="1600" dirty="0">
              <a:latin typeface="Arial"/>
              <a:cs typeface="Arial"/>
            </a:endParaRPr>
          </a:p>
          <a:p>
            <a:pPr marL="668020" lvl="1" indent="-285115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667385" algn="l"/>
                <a:tab pos="6680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File creation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deletion.</a:t>
            </a:r>
            <a:endParaRPr sz="1600" dirty="0">
              <a:latin typeface="Arial"/>
              <a:cs typeface="Arial"/>
            </a:endParaRPr>
          </a:p>
          <a:p>
            <a:pPr marL="668020" lvl="1" indent="-285115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667385" algn="l"/>
                <a:tab pos="6680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Directory creation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</a:t>
            </a:r>
            <a:r>
              <a:rPr sz="1600" spc="3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deletion.</a:t>
            </a:r>
            <a:endParaRPr sz="1600" dirty="0">
              <a:latin typeface="Arial"/>
              <a:cs typeface="Arial"/>
            </a:endParaRPr>
          </a:p>
          <a:p>
            <a:pPr marL="668020" lvl="1" indent="-285115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667385" algn="l"/>
                <a:tab pos="668020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Support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primitives for manipulating files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</a:t>
            </a:r>
            <a:r>
              <a:rPr sz="1600" spc="5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directories.</a:t>
            </a:r>
            <a:endParaRPr sz="1600" dirty="0">
              <a:latin typeface="Arial"/>
              <a:cs typeface="Arial"/>
            </a:endParaRPr>
          </a:p>
          <a:p>
            <a:pPr marL="668020" lvl="1" indent="-285115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667385" algn="l"/>
                <a:tab pos="6680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Mapping files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onto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secondary</a:t>
            </a:r>
            <a:r>
              <a:rPr sz="1600" spc="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storage.</a:t>
            </a:r>
            <a:endParaRPr sz="1600" dirty="0">
              <a:latin typeface="Arial"/>
              <a:cs typeface="Arial"/>
            </a:endParaRPr>
          </a:p>
          <a:p>
            <a:pPr marL="668020" lvl="1" indent="-285115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667385" algn="l"/>
                <a:tab pos="6680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File backup on stable (nonvolatile) storage</a:t>
            </a:r>
            <a:r>
              <a:rPr sz="1600" spc="1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media.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66" y="325628"/>
            <a:ext cx="3464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D58"/>
                </a:solidFill>
                <a:latin typeface="Comic Sans MS"/>
                <a:cs typeface="Comic Sans MS"/>
              </a:rPr>
              <a:t>Functions of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Operating</a:t>
            </a:r>
            <a:r>
              <a:rPr sz="1800" b="1" spc="-130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System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31834" y="325628"/>
            <a:ext cx="18757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File</a:t>
            </a:r>
            <a:r>
              <a:rPr sz="1800" b="1" spc="-60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Management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1981200"/>
            <a:ext cx="8072755" cy="24436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marR="6350" indent="-635" algn="just">
              <a:lnSpc>
                <a:spcPct val="100000"/>
              </a:lnSpc>
              <a:spcBef>
                <a:spcPts val="600"/>
              </a:spcBef>
            </a:pPr>
            <a:r>
              <a:rPr sz="1600" spc="-5" smtClean="0">
                <a:solidFill>
                  <a:srgbClr val="001D58"/>
                </a:solidFill>
                <a:latin typeface="Arial"/>
                <a:cs typeface="Arial"/>
              </a:rPr>
              <a:t>Device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drivers, which are the operating system software components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that interact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with  the devices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controllers.</a:t>
            </a:r>
            <a:endParaRPr sz="16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It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performs the following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activities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for device</a:t>
            </a:r>
            <a:r>
              <a:rPr sz="1600" spc="7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management.</a:t>
            </a:r>
            <a:endParaRPr sz="1600" dirty="0">
              <a:latin typeface="Arial"/>
              <a:cs typeface="Arial"/>
            </a:endParaRPr>
          </a:p>
          <a:p>
            <a:pPr marL="433070" indent="-219710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Keeps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tracks of all devices connected to</a:t>
            </a:r>
            <a:r>
              <a:rPr sz="1600" spc="6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system.</a:t>
            </a:r>
            <a:endParaRPr sz="1600" dirty="0">
              <a:latin typeface="Arial"/>
              <a:cs typeface="Arial"/>
            </a:endParaRPr>
          </a:p>
          <a:p>
            <a:pPr marL="433070" indent="-219710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Designates a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program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responsible for every device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known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input/output</a:t>
            </a:r>
            <a:r>
              <a:rPr sz="1600" spc="18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controller.</a:t>
            </a:r>
            <a:endParaRPr sz="1600" dirty="0">
              <a:latin typeface="Arial"/>
              <a:cs typeface="Arial"/>
            </a:endParaRPr>
          </a:p>
          <a:p>
            <a:pPr marL="433070" indent="-219710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Decides which process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gets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access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 a certain device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for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how</a:t>
            </a:r>
            <a:r>
              <a:rPr sz="1600" spc="10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long.</a:t>
            </a:r>
            <a:endParaRPr sz="1600" dirty="0">
              <a:latin typeface="Arial"/>
              <a:cs typeface="Arial"/>
            </a:endParaRPr>
          </a:p>
          <a:p>
            <a:pPr marL="433070" indent="-219710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Allocates devices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an effective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efficient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way.</a:t>
            </a:r>
            <a:endParaRPr sz="1600" dirty="0">
              <a:latin typeface="Arial"/>
              <a:cs typeface="Arial"/>
            </a:endParaRPr>
          </a:p>
          <a:p>
            <a:pPr marL="433070" indent="-219710">
              <a:lnSpc>
                <a:spcPct val="100000"/>
              </a:lnSpc>
              <a:spcBef>
                <a:spcPts val="600"/>
              </a:spcBef>
              <a:buChar char="–"/>
              <a:tabLst>
                <a:tab pos="433705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Deallocates devices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when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they are no longer</a:t>
            </a:r>
            <a:r>
              <a:rPr sz="1600" spc="6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required.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66" y="325628"/>
            <a:ext cx="3464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D58"/>
                </a:solidFill>
                <a:latin typeface="Comic Sans MS"/>
                <a:cs typeface="Comic Sans MS"/>
              </a:rPr>
              <a:t>Functions of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Operating</a:t>
            </a:r>
            <a:r>
              <a:rPr sz="1800" b="1" spc="-130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System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1018" y="325628"/>
            <a:ext cx="3049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Device </a:t>
            </a:r>
            <a:r>
              <a:rPr sz="1800" b="1" dirty="0">
                <a:solidFill>
                  <a:srgbClr val="001D58"/>
                </a:solidFill>
                <a:latin typeface="Comic Sans MS"/>
                <a:cs typeface="Comic Sans MS"/>
              </a:rPr>
              <a:t>or I/O</a:t>
            </a:r>
            <a:r>
              <a:rPr sz="1800" b="1" spc="-40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Management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1628648"/>
            <a:ext cx="7919084" cy="188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255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operating system uses password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protection to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protect user data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similar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other 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techniques.</a:t>
            </a:r>
            <a:endParaRPr sz="1600">
              <a:latin typeface="Arial"/>
              <a:cs typeface="Arial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It also prevents unauthorized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access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to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programs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user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data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by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assigning access  right permission to files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and</a:t>
            </a:r>
            <a:r>
              <a:rPr sz="1600" spc="3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directories.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owners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of information stored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 multiuser or networked computer system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may 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want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to control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use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of that information, concurrent processes should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not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interfere with  each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other.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461" y="401828"/>
            <a:ext cx="3464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D58"/>
                </a:solidFill>
                <a:latin typeface="Comic Sans MS"/>
                <a:cs typeface="Comic Sans MS"/>
              </a:rPr>
              <a:t>Functions of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Operating</a:t>
            </a:r>
            <a:r>
              <a:rPr sz="1800" b="1" spc="-130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System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3053" y="401828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Security </a:t>
            </a:r>
            <a:r>
              <a:rPr sz="1800" b="1" dirty="0">
                <a:solidFill>
                  <a:srgbClr val="001D58"/>
                </a:solidFill>
                <a:latin typeface="Comic Sans MS"/>
                <a:cs typeface="Comic Sans MS"/>
              </a:rPr>
              <a:t>&amp;</a:t>
            </a:r>
            <a:r>
              <a:rPr sz="1800" b="1" spc="-30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Protection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486880"/>
            <a:ext cx="80676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</a:t>
            </a:r>
            <a:r>
              <a:rPr sz="1600" b="1" spc="-10" dirty="0">
                <a:solidFill>
                  <a:srgbClr val="001D58"/>
                </a:solidFill>
                <a:latin typeface="Arial"/>
                <a:cs typeface="Arial"/>
              </a:rPr>
              <a:t>user interface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(</a:t>
            </a:r>
            <a:r>
              <a:rPr sz="1600" b="1" spc="-10" dirty="0">
                <a:solidFill>
                  <a:srgbClr val="001D58"/>
                </a:solidFill>
                <a:latin typeface="Arial"/>
                <a:cs typeface="Arial"/>
              </a:rPr>
              <a:t>UI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)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controls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how 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you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enter data 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instructions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how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information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displayed on the</a:t>
            </a:r>
            <a:r>
              <a:rPr sz="1600" spc="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screen.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461" y="401828"/>
            <a:ext cx="3464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D58"/>
                </a:solidFill>
                <a:latin typeface="Comic Sans MS"/>
                <a:cs typeface="Comic Sans MS"/>
              </a:rPr>
              <a:t>Functions of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Operating</a:t>
            </a:r>
            <a:r>
              <a:rPr sz="1800" b="1" spc="-130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System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9861" y="401828"/>
            <a:ext cx="2998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D58"/>
                </a:solidFill>
                <a:latin typeface="Comic Sans MS"/>
                <a:cs typeface="Comic Sans MS"/>
              </a:rPr>
              <a:t>User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Interface</a:t>
            </a:r>
            <a:r>
              <a:rPr sz="1800" b="1" spc="-65" dirty="0">
                <a:solidFill>
                  <a:srgbClr val="001D58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1D58"/>
                </a:solidFill>
                <a:latin typeface="Comic Sans MS"/>
                <a:cs typeface="Comic Sans MS"/>
              </a:rPr>
              <a:t>Mechanism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2000" y="3896868"/>
            <a:ext cx="3505199" cy="25008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140" y="2466848"/>
            <a:ext cx="395541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C00000"/>
                </a:solidFill>
                <a:latin typeface="Arial"/>
                <a:cs typeface="Arial"/>
              </a:rPr>
              <a:t>1) Command Line Interface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- a user types  commands represented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by short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keywords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or abbreviations or presses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special keys on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keyboard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enter data and</a:t>
            </a:r>
            <a:r>
              <a:rPr sz="1600" spc="1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instructions.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7645" y="2466848"/>
            <a:ext cx="346646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C00000"/>
                </a:solidFill>
                <a:latin typeface="Arial"/>
                <a:cs typeface="Arial"/>
              </a:rPr>
              <a:t>2) Graphical user interface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– a user  interact with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menus 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visual  images.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81600" y="3744468"/>
            <a:ext cx="3733799" cy="25496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25628"/>
            <a:ext cx="3208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Types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of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Operating</a:t>
            </a:r>
            <a:r>
              <a:rPr sz="1800" b="1" spc="-7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Systems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834446"/>
            <a:ext cx="3870960" cy="25857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51815" indent="-53911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51815" algn="l"/>
                <a:tab pos="552450" algn="l"/>
              </a:tabLst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Batch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Operating</a:t>
            </a:r>
            <a:r>
              <a:rPr sz="1600" spc="1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System</a:t>
            </a:r>
            <a:endParaRPr sz="1600">
              <a:latin typeface="Arial"/>
              <a:cs typeface="Arial"/>
            </a:endParaRPr>
          </a:p>
          <a:p>
            <a:pPr marL="551815" indent="-53911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51815" algn="l"/>
                <a:tab pos="552450" algn="l"/>
              </a:tabLst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Multiprogramming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Operating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System</a:t>
            </a:r>
            <a:endParaRPr sz="1600">
              <a:latin typeface="Arial"/>
              <a:cs typeface="Arial"/>
            </a:endParaRPr>
          </a:p>
          <a:p>
            <a:pPr marL="551815" indent="-53911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51815" algn="l"/>
                <a:tab pos="552450" algn="l"/>
              </a:tabLst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Time-Sharing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 OS</a:t>
            </a:r>
            <a:endParaRPr sz="1600">
              <a:latin typeface="Arial"/>
              <a:cs typeface="Arial"/>
            </a:endParaRPr>
          </a:p>
          <a:p>
            <a:pPr marL="551815" indent="-53911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51815" algn="l"/>
                <a:tab pos="552450" algn="l"/>
              </a:tabLst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Multiprocessing</a:t>
            </a:r>
            <a:r>
              <a:rPr sz="1600" spc="-3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OS</a:t>
            </a:r>
            <a:endParaRPr sz="1600">
              <a:latin typeface="Arial"/>
              <a:cs typeface="Arial"/>
            </a:endParaRPr>
          </a:p>
          <a:p>
            <a:pPr marL="551815" indent="-53911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51815" algn="l"/>
                <a:tab pos="552450" algn="l"/>
              </a:tabLst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Distributed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 OS</a:t>
            </a:r>
            <a:endParaRPr sz="1600">
              <a:latin typeface="Arial"/>
              <a:cs typeface="Arial"/>
            </a:endParaRPr>
          </a:p>
          <a:p>
            <a:pPr marL="551815" indent="-53911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51815" algn="l"/>
                <a:tab pos="552450" algn="l"/>
              </a:tabLst>
            </a:pP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Network</a:t>
            </a:r>
            <a:r>
              <a:rPr sz="1600" spc="20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OS</a:t>
            </a:r>
            <a:endParaRPr sz="1600">
              <a:latin typeface="Arial"/>
              <a:cs typeface="Arial"/>
            </a:endParaRPr>
          </a:p>
          <a:p>
            <a:pPr marL="551815" indent="-53911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51815" algn="l"/>
                <a:tab pos="552450" algn="l"/>
              </a:tabLst>
            </a:pP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Real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Time</a:t>
            </a:r>
            <a:r>
              <a:rPr sz="1600" spc="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OS</a:t>
            </a:r>
            <a:endParaRPr sz="1600">
              <a:latin typeface="Arial"/>
              <a:cs typeface="Arial"/>
            </a:endParaRPr>
          </a:p>
          <a:p>
            <a:pPr marL="551815" indent="-53911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551815" algn="l"/>
                <a:tab pos="552450" algn="l"/>
              </a:tabLst>
            </a:pP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Embedded OS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87879" y="2795016"/>
            <a:ext cx="5096243" cy="10119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8898" y="2905759"/>
            <a:ext cx="4521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 most popular</a:t>
            </a:r>
            <a:r>
              <a:rPr spc="-65" dirty="0"/>
              <a:t> </a:t>
            </a:r>
            <a:r>
              <a:rPr dirty="0"/>
              <a:t>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2138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Microsoft</a:t>
            </a:r>
            <a:r>
              <a:rPr sz="1800" b="1" spc="-7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Windows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0923" y="1278430"/>
            <a:ext cx="8072120" cy="34848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marR="825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Microsoft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Windows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computer operating system developed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by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Microsoft.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was first  launched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1985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as a graphical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operating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 built on</a:t>
            </a:r>
            <a:r>
              <a:rPr sz="1600" spc="8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MS-DOS.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initial version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was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followed by several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subsequent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releases,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by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early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1990s,  the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Windows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line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split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into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two separate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lines of</a:t>
            </a:r>
            <a:r>
              <a:rPr sz="1600" spc="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releases:</a:t>
            </a:r>
            <a:endParaRPr sz="1600">
              <a:latin typeface="Arial"/>
              <a:cs typeface="Arial"/>
            </a:endParaRPr>
          </a:p>
          <a:p>
            <a:pPr marL="12700" marR="1093470">
              <a:lnSpc>
                <a:spcPct val="131300"/>
              </a:lnSpc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Windows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9x for consumers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Windows NT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for businesses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enterprises.  In the following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years,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several further variants of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Windows would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be</a:t>
            </a:r>
            <a:r>
              <a:rPr sz="1600" spc="22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released:</a:t>
            </a:r>
            <a:endParaRPr sz="1600">
              <a:latin typeface="Arial"/>
              <a:cs typeface="Arial"/>
            </a:endParaRPr>
          </a:p>
          <a:p>
            <a:pPr marL="434340" indent="-219710">
              <a:lnSpc>
                <a:spcPct val="100000"/>
              </a:lnSpc>
              <a:spcBef>
                <a:spcPts val="600"/>
              </a:spcBef>
              <a:buChar char="•"/>
              <a:tabLst>
                <a:tab pos="434340" algn="l"/>
                <a:tab pos="434975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Windows CE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1996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for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embedded</a:t>
            </a:r>
            <a:r>
              <a:rPr sz="1600" spc="5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systems;</a:t>
            </a:r>
            <a:endParaRPr sz="1600">
              <a:latin typeface="Arial"/>
              <a:cs typeface="Arial"/>
            </a:endParaRPr>
          </a:p>
          <a:p>
            <a:pPr marL="434340" marR="5080" indent="-219710">
              <a:lnSpc>
                <a:spcPct val="100000"/>
              </a:lnSpc>
              <a:spcBef>
                <a:spcPts val="600"/>
              </a:spcBef>
              <a:buChar char="•"/>
              <a:tabLst>
                <a:tab pos="434340" algn="l"/>
                <a:tab pos="434975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Pocket PC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2000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(renamed to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Windows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Mobile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2003 and Windows Phone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2010)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for personal digital assistants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later,</a:t>
            </a:r>
            <a:r>
              <a:rPr sz="1600" spc="9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smartphones;</a:t>
            </a:r>
            <a:endParaRPr sz="1600">
              <a:latin typeface="Arial"/>
              <a:cs typeface="Arial"/>
            </a:endParaRPr>
          </a:p>
          <a:p>
            <a:pPr marL="434340" indent="-219710">
              <a:lnSpc>
                <a:spcPct val="100000"/>
              </a:lnSpc>
              <a:spcBef>
                <a:spcPts val="600"/>
              </a:spcBef>
              <a:buChar char="•"/>
              <a:tabLst>
                <a:tab pos="434340" algn="l"/>
                <a:tab pos="434975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Windows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Holographic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2016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for AR/VR headsets;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several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other</a:t>
            </a:r>
            <a:r>
              <a:rPr sz="1600" spc="114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editions.</a:t>
            </a:r>
            <a:endParaRPr sz="1600">
              <a:latin typeface="Arial"/>
              <a:cs typeface="Arial"/>
            </a:endParaRPr>
          </a:p>
          <a:p>
            <a:pPr marL="13335" marR="7620">
              <a:lnSpc>
                <a:spcPct val="100000"/>
              </a:lnSpc>
              <a:spcBef>
                <a:spcPts val="600"/>
              </a:spcBef>
            </a:pPr>
            <a:r>
              <a:rPr sz="1600" b="1" dirty="0">
                <a:solidFill>
                  <a:srgbClr val="001D58"/>
                </a:solidFill>
                <a:latin typeface="Arial"/>
                <a:cs typeface="Arial"/>
              </a:rPr>
              <a:t>Windows </a:t>
            </a:r>
            <a:r>
              <a:rPr sz="1600" b="1" spc="-5" dirty="0">
                <a:solidFill>
                  <a:srgbClr val="001D58"/>
                </a:solidFill>
                <a:latin typeface="Arial"/>
                <a:cs typeface="Arial"/>
              </a:rPr>
              <a:t>11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latest major release of Microsoft's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Windows NT operating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system,  released on October 5,</a:t>
            </a:r>
            <a:r>
              <a:rPr sz="1600" spc="5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2021.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53459" y="5268467"/>
            <a:ext cx="1270284" cy="1380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57800" y="5047488"/>
            <a:ext cx="3049523" cy="16078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1612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Apple Mac</a:t>
            </a:r>
            <a:r>
              <a:rPr sz="1800" b="1" spc="-7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OS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1734" y="1323848"/>
            <a:ext cx="8072120" cy="53982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Head-to-head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competition with Microsoft Windows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Apple’s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macOS.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macOS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 Windows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are </a:t>
            </a:r>
            <a:r>
              <a:rPr sz="1600" b="1" spc="-5" dirty="0">
                <a:solidFill>
                  <a:srgbClr val="001D58"/>
                </a:solidFill>
                <a:latin typeface="Arial"/>
                <a:cs typeface="Arial"/>
              </a:rPr>
              <a:t>both examples of proprietary operating systems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, meaning that the company  conceptualized, designed,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developed, 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now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sells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their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own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OS. </a:t>
            </a:r>
            <a:endParaRPr lang="en-US" sz="1600" spc="-5" dirty="0" smtClean="0">
              <a:solidFill>
                <a:srgbClr val="001D58"/>
              </a:solidFill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Apple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Macintosh computers run on the proprietary macOS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OS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X system, the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first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which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launched 20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years ago.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There are also previous versions or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updates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which</a:t>
            </a:r>
            <a:r>
              <a:rPr sz="1600" spc="204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include: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 marL="662304" lvl="1" indent="-192405" algn="just">
              <a:spcBef>
                <a:spcPts val="1050"/>
              </a:spcBef>
              <a:buChar char="•"/>
              <a:tabLst>
                <a:tab pos="20574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Kodiak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(OS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X 10</a:t>
            </a:r>
            <a:r>
              <a:rPr sz="1600" spc="3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Beta)</a:t>
            </a:r>
            <a:endParaRPr sz="1600" dirty="0">
              <a:latin typeface="Arial"/>
              <a:cs typeface="Arial"/>
            </a:endParaRPr>
          </a:p>
          <a:p>
            <a:pPr marL="662304" lvl="1" indent="-192405" algn="just">
              <a:spcBef>
                <a:spcPts val="600"/>
              </a:spcBef>
              <a:buChar char="•"/>
              <a:tabLst>
                <a:tab pos="20574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Lion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(OS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X</a:t>
            </a:r>
            <a:r>
              <a:rPr sz="1600" spc="3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10.7)</a:t>
            </a:r>
            <a:endParaRPr sz="1600" dirty="0">
              <a:latin typeface="Arial"/>
              <a:cs typeface="Arial"/>
            </a:endParaRPr>
          </a:p>
          <a:p>
            <a:pPr marL="662304" lvl="1" indent="-192405" algn="just">
              <a:spcBef>
                <a:spcPts val="600"/>
              </a:spcBef>
              <a:buChar char="•"/>
              <a:tabLst>
                <a:tab pos="20574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Mountain Lion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(OS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X</a:t>
            </a:r>
            <a:r>
              <a:rPr sz="1600" spc="4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10.8)</a:t>
            </a:r>
            <a:endParaRPr sz="1600" dirty="0">
              <a:latin typeface="Arial"/>
              <a:cs typeface="Arial"/>
            </a:endParaRPr>
          </a:p>
          <a:p>
            <a:pPr marL="662304" lvl="1" indent="-192405" algn="just">
              <a:spcBef>
                <a:spcPts val="600"/>
              </a:spcBef>
              <a:buChar char="•"/>
              <a:tabLst>
                <a:tab pos="20574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Mavericks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(OS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X</a:t>
            </a:r>
            <a:r>
              <a:rPr sz="1600" spc="4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10.9)</a:t>
            </a:r>
            <a:endParaRPr sz="1600" dirty="0">
              <a:latin typeface="Arial"/>
              <a:cs typeface="Arial"/>
            </a:endParaRPr>
          </a:p>
          <a:p>
            <a:pPr marL="662304" lvl="1" indent="-192405" algn="just">
              <a:spcBef>
                <a:spcPts val="600"/>
              </a:spcBef>
              <a:buChar char="•"/>
              <a:tabLst>
                <a:tab pos="205740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Yosemite (OS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X</a:t>
            </a:r>
            <a:r>
              <a:rPr sz="1600" spc="6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10.10)</a:t>
            </a:r>
            <a:endParaRPr sz="1600" dirty="0">
              <a:latin typeface="Arial"/>
              <a:cs typeface="Arial"/>
            </a:endParaRPr>
          </a:p>
          <a:p>
            <a:pPr marL="662304" lvl="1" indent="-192405" algn="just">
              <a:spcBef>
                <a:spcPts val="600"/>
              </a:spcBef>
              <a:buChar char="•"/>
              <a:tabLst>
                <a:tab pos="20574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El Capitan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(OS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X</a:t>
            </a:r>
            <a:r>
              <a:rPr sz="1600" spc="3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10.11)</a:t>
            </a:r>
            <a:endParaRPr sz="1600" dirty="0">
              <a:latin typeface="Arial"/>
              <a:cs typeface="Arial"/>
            </a:endParaRPr>
          </a:p>
          <a:p>
            <a:pPr marL="662304" lvl="1" indent="-192405" algn="just">
              <a:spcBef>
                <a:spcPts val="600"/>
              </a:spcBef>
              <a:buChar char="•"/>
              <a:tabLst>
                <a:tab pos="20574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Sierra (macOS</a:t>
            </a:r>
            <a:r>
              <a:rPr sz="1600" spc="3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10.12)</a:t>
            </a:r>
            <a:endParaRPr sz="1600" dirty="0">
              <a:latin typeface="Arial"/>
              <a:cs typeface="Arial"/>
            </a:endParaRPr>
          </a:p>
          <a:p>
            <a:pPr marL="662304" lvl="1" indent="-192405" algn="just">
              <a:spcBef>
                <a:spcPts val="600"/>
              </a:spcBef>
              <a:buChar char="•"/>
              <a:tabLst>
                <a:tab pos="20574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High Sierra (macOS</a:t>
            </a:r>
            <a:r>
              <a:rPr sz="1600" spc="2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10.13)</a:t>
            </a:r>
            <a:endParaRPr sz="1600" dirty="0">
              <a:latin typeface="Arial"/>
              <a:cs typeface="Arial"/>
            </a:endParaRPr>
          </a:p>
          <a:p>
            <a:pPr marL="662304" lvl="1" indent="-192405" algn="just">
              <a:spcBef>
                <a:spcPts val="600"/>
              </a:spcBef>
              <a:buChar char="•"/>
              <a:tabLst>
                <a:tab pos="20574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Mojave (macOS</a:t>
            </a:r>
            <a:r>
              <a:rPr sz="1600" spc="2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10.14)</a:t>
            </a:r>
            <a:endParaRPr sz="1600" dirty="0">
              <a:latin typeface="Arial"/>
              <a:cs typeface="Arial"/>
            </a:endParaRPr>
          </a:p>
          <a:p>
            <a:pPr marL="662304" lvl="1" indent="-192405" algn="just">
              <a:spcBef>
                <a:spcPts val="600"/>
              </a:spcBef>
              <a:buChar char="•"/>
              <a:tabLst>
                <a:tab pos="20574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Catalina (macOS</a:t>
            </a:r>
            <a:r>
              <a:rPr sz="1600" spc="1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10.15)</a:t>
            </a:r>
            <a:endParaRPr sz="1600" dirty="0">
              <a:latin typeface="Arial"/>
              <a:cs typeface="Arial"/>
            </a:endParaRPr>
          </a:p>
          <a:p>
            <a:pPr marL="662304" lvl="1" indent="-192405" algn="just">
              <a:spcBef>
                <a:spcPts val="600"/>
              </a:spcBef>
              <a:buChar char="•"/>
              <a:tabLst>
                <a:tab pos="20574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BigSur (macOS</a:t>
            </a:r>
            <a:r>
              <a:rPr sz="1600" spc="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11)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91250" y="4448175"/>
            <a:ext cx="1771649" cy="14668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2280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Apple Mac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OS</a:t>
            </a:r>
            <a:r>
              <a:rPr sz="1800" b="1" spc="-8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400" b="1" i="1" dirty="0">
                <a:solidFill>
                  <a:srgbClr val="002776"/>
                </a:solidFill>
                <a:latin typeface="Comic Sans MS"/>
                <a:cs typeface="Comic Sans MS"/>
              </a:rPr>
              <a:t>(cont.)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5557" y="1363775"/>
            <a:ext cx="807339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macOS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Apple/Mac products are also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known 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beloved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by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their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users for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ease  of use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continually improving user experience. Fast processing speeds, a simple  desktop interface,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wide variety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helpful resources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make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users excited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about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macOS. 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72200" y="4114800"/>
            <a:ext cx="2709671" cy="1523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2971800"/>
            <a:ext cx="5109959" cy="28590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63638"/>
            <a:ext cx="2284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Google’s Android</a:t>
            </a:r>
            <a:r>
              <a:rPr sz="1800" b="1" spc="-60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OS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129" y="1552448"/>
            <a:ext cx="807212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that companies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including Google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use to run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its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Android mobile smartphones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and 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tablets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based on Linux distribution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and other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open source software. Android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OS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 primary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for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Google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mobile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devices like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smartphones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tablets. Android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has gained 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increasing popularity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since its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release as an alternative to Apple’s iOS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for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smartphone  users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and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continuing to increase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popularity with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new updates and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exciting</a:t>
            </a:r>
            <a:r>
              <a:rPr sz="1600" spc="13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features.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86725" y="3737440"/>
            <a:ext cx="3831579" cy="1973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1191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Apple</a:t>
            </a:r>
            <a:r>
              <a:rPr sz="1800" b="1" spc="-90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IOS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694973"/>
            <a:ext cx="8072755" cy="15664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It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another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mobile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operating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system used exclusively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for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iPhones, some of the most  popular mobile devices on the market. iOS integrations have regular updates, new  expansions to software,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continually are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offering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new features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for users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even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if they 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have older devices.</a:t>
            </a:r>
            <a:endParaRPr sz="1600" dirty="0">
              <a:latin typeface="Arial"/>
              <a:cs typeface="Arial"/>
            </a:endParaRPr>
          </a:p>
          <a:p>
            <a:pPr marL="12700" marR="5715" algn="just">
              <a:lnSpc>
                <a:spcPct val="100000"/>
              </a:lnSpc>
              <a:spcBef>
                <a:spcPts val="600"/>
              </a:spcBef>
            </a:pP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This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operating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system also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allows other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Apple devices to connect, </a:t>
            </a: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giving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users easy connections to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other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devices or</a:t>
            </a:r>
            <a:r>
              <a:rPr sz="1600" spc="50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people.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67975" y="4549488"/>
            <a:ext cx="2580649" cy="1199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590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L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i</a:t>
            </a:r>
            <a:r>
              <a:rPr sz="1800" b="1" spc="5" dirty="0">
                <a:solidFill>
                  <a:srgbClr val="002776"/>
                </a:solidFill>
                <a:latin typeface="Comic Sans MS"/>
                <a:cs typeface="Comic Sans MS"/>
              </a:rPr>
              <a:t>n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ux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1734" y="1552448"/>
            <a:ext cx="7922666" cy="13202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Linux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different from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Windows and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Apple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that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it’s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not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 proprietary software, but  rather a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family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of </a:t>
            </a:r>
            <a:r>
              <a:rPr sz="1600" b="1" spc="-10" dirty="0">
                <a:solidFill>
                  <a:srgbClr val="002776"/>
                </a:solidFill>
                <a:latin typeface="Arial"/>
                <a:cs typeface="Arial"/>
              </a:rPr>
              <a:t>open </a:t>
            </a:r>
            <a:r>
              <a:rPr sz="1600" b="1" spc="-5" dirty="0">
                <a:solidFill>
                  <a:srgbClr val="002776"/>
                </a:solidFill>
                <a:latin typeface="Arial"/>
                <a:cs typeface="Arial"/>
              </a:rPr>
              <a:t>source systems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. In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other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words, anyone can modify and  distribute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it.</a:t>
            </a:r>
            <a:endParaRPr sz="1600" dirty="0">
              <a:latin typeface="Arial"/>
              <a:cs typeface="Arial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600"/>
              </a:spcBef>
            </a:pP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Linux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popular because of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its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ease of customization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and 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offers a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variety of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options to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those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who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understand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how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to </a:t>
            </a: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use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8800" y="3352800"/>
            <a:ext cx="2438399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327406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Mobile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vs.</a:t>
            </a:r>
            <a:r>
              <a:rPr sz="1800" b="1" spc="-114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dirty="0" smtClean="0">
                <a:solidFill>
                  <a:srgbClr val="002776"/>
                </a:solidFill>
                <a:latin typeface="Comic Sans MS"/>
                <a:cs typeface="Comic Sans MS"/>
              </a:rPr>
              <a:t>Computer</a:t>
            </a:r>
            <a:r>
              <a:rPr lang="en-US" sz="1800" b="1" dirty="0" smtClean="0">
                <a:solidFill>
                  <a:srgbClr val="002776"/>
                </a:solidFill>
                <a:latin typeface="Comic Sans MS"/>
                <a:cs typeface="Comic Sans MS"/>
              </a:rPr>
              <a:t> OS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27" y="1577660"/>
            <a:ext cx="8168640" cy="3926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Why are there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different types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operating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systems for mobile tech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</a:t>
            </a:r>
            <a:r>
              <a:rPr sz="1600" spc="2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computers?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 marR="8255">
              <a:lnSpc>
                <a:spcPct val="100000"/>
              </a:lnSpc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There are several reasons a single system doesn’t work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perfectly for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both. Computer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mobile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OSs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are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different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because they’re developed for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different</a:t>
            </a:r>
            <a:r>
              <a:rPr sz="1600" spc="14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uses.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/>
              <a:cs typeface="Times New Roman"/>
            </a:endParaRPr>
          </a:p>
          <a:p>
            <a:pPr marL="299085" marR="6985" indent="-286385" algn="just">
              <a:lnSpc>
                <a:spcPct val="100000"/>
              </a:lnSpc>
              <a:buChar char="-"/>
              <a:tabLst>
                <a:tab pos="300355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Computer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systems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have to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store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lots of complex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data,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have a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different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user interface, 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need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 be prepared for printing,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removable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disks,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more. They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feature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 desktop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control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panel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for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users to manage all of their information.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Computer  operating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systems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are also 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older,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therefore more familiar to the IT industry; they’ve 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been around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much longer than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phones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that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utilize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sz="1600" spc="9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1D58"/>
              </a:buClr>
              <a:buFont typeface="Arial"/>
              <a:buChar char="-"/>
            </a:pPr>
            <a:endParaRPr sz="1650">
              <a:latin typeface="Times New Roman"/>
              <a:cs typeface="Times New Roman"/>
            </a:endParaRPr>
          </a:p>
          <a:p>
            <a:pPr marL="299085" marR="5080" indent="-286385" algn="just">
              <a:lnSpc>
                <a:spcPct val="100000"/>
              </a:lnSpc>
              <a:buChar char="-"/>
              <a:tabLst>
                <a:tab pos="300355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Mobile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phones don't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feature a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desktop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that's the same as a computer desktop. Their  user interface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much more about simple moves - things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you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can do with your fingers  or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voice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-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so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it’s designed to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offer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simpler interface. There are many resources to  help users learn more about operating mobile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phone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systems, as they're very different  from computer</a:t>
            </a:r>
            <a:r>
              <a:rPr sz="1600" spc="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systems.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304800"/>
            <a:ext cx="213106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spc="-5" dirty="0" smtClean="0">
                <a:latin typeface="Comic Sans MS"/>
                <a:cs typeface="Comic Sans MS"/>
              </a:rPr>
              <a:t>Homework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3581400"/>
            <a:ext cx="8077200" cy="2318583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60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Explore the 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strengthens and weaknesses of Google Android OS and Apple IOS using:</a:t>
            </a:r>
          </a:p>
          <a:p>
            <a:pPr marL="298450" indent="-285750" algn="just">
              <a:lnSpc>
                <a:spcPct val="100000"/>
              </a:lnSpc>
              <a:spcBef>
                <a:spcPts val="1060"/>
              </a:spcBef>
              <a:buFontTx/>
              <a:buChar char="-"/>
            </a:pP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The available internet sources (including the sources of information as http://...);</a:t>
            </a:r>
          </a:p>
          <a:p>
            <a:pPr marL="298450" indent="-285750" algn="just">
              <a:lnSpc>
                <a:spcPct val="100000"/>
              </a:lnSpc>
              <a:spcBef>
                <a:spcPts val="1060"/>
              </a:spcBef>
              <a:buFontTx/>
              <a:buChar char="-"/>
            </a:pPr>
            <a:r>
              <a:rPr lang="en-US" sz="1600" spc="-5" dirty="0" err="1" smtClean="0">
                <a:solidFill>
                  <a:srgbClr val="001D58"/>
                </a:solidFill>
                <a:latin typeface="Arial"/>
                <a:cs typeface="Arial"/>
              </a:rPr>
              <a:t>ChatGPT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;</a:t>
            </a:r>
            <a:endParaRPr lang="en-US" sz="1600" spc="-10" dirty="0" smtClean="0">
              <a:solidFill>
                <a:srgbClr val="001D58"/>
              </a:solidFill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060"/>
              </a:spcBef>
            </a:pPr>
            <a:endParaRPr lang="en-US" sz="1600" spc="-10" dirty="0" smtClean="0">
              <a:solidFill>
                <a:srgbClr val="001D58"/>
              </a:solidFill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060"/>
              </a:spcBef>
            </a:pP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The researched results should be written on 2 pages.</a:t>
            </a:r>
          </a:p>
          <a:p>
            <a:pPr marL="12700" algn="just">
              <a:lnSpc>
                <a:spcPct val="100000"/>
              </a:lnSpc>
              <a:spcBef>
                <a:spcPts val="1060"/>
              </a:spcBef>
            </a:pP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Present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findings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open-class</a:t>
            </a:r>
            <a:r>
              <a:rPr sz="1600" spc="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discussion.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2400" y="1217676"/>
            <a:ext cx="1514855" cy="1731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038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2480" y="2795016"/>
            <a:ext cx="7685531" cy="10119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Virtual (Cloud) Operating</a:t>
            </a:r>
            <a:r>
              <a:rPr spc="-25" dirty="0"/>
              <a:t> </a:t>
            </a:r>
            <a:r>
              <a:rPr spc="-5" dirty="0"/>
              <a:t>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269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Cloud Operating</a:t>
            </a:r>
            <a:r>
              <a:rPr sz="1800" b="1" spc="-5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System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5830" y="1258313"/>
            <a:ext cx="8168640" cy="32207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cloud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operating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type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operating system designed to operate within cloud  computing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virtualization environments. A cloud operating system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may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also be called a  virtual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sz="1600" spc="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system.</a:t>
            </a:r>
            <a:endParaRPr sz="1600" dirty="0">
              <a:latin typeface="Arial"/>
              <a:cs typeface="Arial"/>
            </a:endParaRPr>
          </a:p>
          <a:p>
            <a:pPr marL="12700" marR="5715" algn="just">
              <a:lnSpc>
                <a:spcPct val="100000"/>
              </a:lnSpc>
            </a:pPr>
            <a:endParaRPr lang="en-US" sz="1600" spc="-5" smtClean="0">
              <a:solidFill>
                <a:srgbClr val="001D58"/>
              </a:solidFill>
              <a:latin typeface="Arial"/>
              <a:cs typeface="Arial"/>
            </a:endParaRPr>
          </a:p>
          <a:p>
            <a:pPr marL="12700" marR="5715" algn="just">
              <a:lnSpc>
                <a:spcPct val="100000"/>
              </a:lnSpc>
            </a:pP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operating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 manages the operation, execution and processes of virtual  machines, virtual servers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virtual infrastructure, as well as the back-end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hardware </a:t>
            </a:r>
            <a:r>
              <a:rPr sz="1600" spc="5" dirty="0">
                <a:solidFill>
                  <a:srgbClr val="001D58"/>
                </a:solidFill>
                <a:latin typeface="Arial"/>
                <a:cs typeface="Arial"/>
              </a:rPr>
              <a:t>and 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software</a:t>
            </a:r>
            <a:r>
              <a:rPr sz="1600" spc="3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resources.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computing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delivery of different services through the Internet. These resources  include tools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applications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like data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storage,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servers,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databases, networking,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software. Cloud servers are located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data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centers all over the world. </a:t>
            </a:r>
            <a:r>
              <a:rPr sz="1600" spc="5" dirty="0">
                <a:solidFill>
                  <a:srgbClr val="001D58"/>
                </a:solidFill>
                <a:latin typeface="Arial"/>
                <a:cs typeface="Arial"/>
              </a:rPr>
              <a:t>By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using cloud  computing, users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companies do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not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have to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manage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physical servers themselves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or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run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software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applications on their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own</a:t>
            </a:r>
            <a:r>
              <a:rPr sz="1600" spc="7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machines.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28459" y="4863084"/>
            <a:ext cx="894575" cy="1117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80859" y="5015484"/>
            <a:ext cx="894587" cy="1117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3259" y="5167884"/>
            <a:ext cx="894587" cy="1117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85659" y="5320284"/>
            <a:ext cx="894575" cy="1117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79008" y="4629911"/>
            <a:ext cx="2929127" cy="21991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73600" y="4624583"/>
            <a:ext cx="2788285" cy="2058670"/>
          </a:xfrm>
          <a:custGeom>
            <a:avLst/>
            <a:gdLst/>
            <a:ahLst/>
            <a:cxnLst/>
            <a:rect l="l" t="t" r="r" b="b"/>
            <a:pathLst>
              <a:path w="2788284" h="2058670">
                <a:moveTo>
                  <a:pt x="199651" y="1040180"/>
                </a:moveTo>
                <a:lnTo>
                  <a:pt x="155428" y="1058192"/>
                </a:lnTo>
                <a:lnTo>
                  <a:pt x="115765" y="1082029"/>
                </a:lnTo>
                <a:lnTo>
                  <a:pt x="81134" y="1110939"/>
                </a:lnTo>
                <a:lnTo>
                  <a:pt x="52009" y="1144172"/>
                </a:lnTo>
                <a:lnTo>
                  <a:pt x="28861" y="1180976"/>
                </a:lnTo>
                <a:lnTo>
                  <a:pt x="12162" y="1220600"/>
                </a:lnTo>
                <a:lnTo>
                  <a:pt x="2384" y="1262295"/>
                </a:lnTo>
                <a:lnTo>
                  <a:pt x="0" y="1305309"/>
                </a:lnTo>
                <a:lnTo>
                  <a:pt x="5481" y="1348891"/>
                </a:lnTo>
                <a:lnTo>
                  <a:pt x="19550" y="1392535"/>
                </a:lnTo>
                <a:lnTo>
                  <a:pt x="41388" y="1432390"/>
                </a:lnTo>
                <a:lnTo>
                  <a:pt x="70249" y="1467704"/>
                </a:lnTo>
                <a:lnTo>
                  <a:pt x="105392" y="1497726"/>
                </a:lnTo>
                <a:lnTo>
                  <a:pt x="146073" y="1521703"/>
                </a:lnTo>
                <a:lnTo>
                  <a:pt x="191549" y="1538883"/>
                </a:lnTo>
                <a:lnTo>
                  <a:pt x="165602" y="1581305"/>
                </a:lnTo>
                <a:lnTo>
                  <a:pt x="151226" y="1628874"/>
                </a:lnTo>
                <a:lnTo>
                  <a:pt x="146641" y="1677688"/>
                </a:lnTo>
                <a:lnTo>
                  <a:pt x="152115" y="1726449"/>
                </a:lnTo>
                <a:lnTo>
                  <a:pt x="166681" y="1771140"/>
                </a:lnTo>
                <a:lnTo>
                  <a:pt x="189122" y="1811285"/>
                </a:lnTo>
                <a:lnTo>
                  <a:pt x="218495" y="1846338"/>
                </a:lnTo>
                <a:lnTo>
                  <a:pt x="253854" y="1875757"/>
                </a:lnTo>
                <a:lnTo>
                  <a:pt x="294253" y="1898995"/>
                </a:lnTo>
                <a:lnTo>
                  <a:pt x="338749" y="1915509"/>
                </a:lnTo>
                <a:lnTo>
                  <a:pt x="386394" y="1924755"/>
                </a:lnTo>
                <a:lnTo>
                  <a:pt x="436246" y="1926187"/>
                </a:lnTo>
                <a:lnTo>
                  <a:pt x="487357" y="1919261"/>
                </a:lnTo>
                <a:lnTo>
                  <a:pt x="495425" y="1917373"/>
                </a:lnTo>
                <a:lnTo>
                  <a:pt x="503483" y="1915252"/>
                </a:lnTo>
                <a:lnTo>
                  <a:pt x="511517" y="1912901"/>
                </a:lnTo>
                <a:lnTo>
                  <a:pt x="519513" y="1910320"/>
                </a:lnTo>
                <a:lnTo>
                  <a:pt x="518345" y="1912377"/>
                </a:lnTo>
                <a:lnTo>
                  <a:pt x="552339" y="1943717"/>
                </a:lnTo>
                <a:lnTo>
                  <a:pt x="589183" y="1971474"/>
                </a:lnTo>
                <a:lnTo>
                  <a:pt x="628566" y="1995561"/>
                </a:lnTo>
                <a:lnTo>
                  <a:pt x="670175" y="2015892"/>
                </a:lnTo>
                <a:lnTo>
                  <a:pt x="713697" y="2032379"/>
                </a:lnTo>
                <a:lnTo>
                  <a:pt x="758821" y="2044935"/>
                </a:lnTo>
                <a:lnTo>
                  <a:pt x="805235" y="2053474"/>
                </a:lnTo>
                <a:lnTo>
                  <a:pt x="852626" y="2057908"/>
                </a:lnTo>
                <a:lnTo>
                  <a:pt x="900682" y="2058151"/>
                </a:lnTo>
                <a:lnTo>
                  <a:pt x="949091" y="2054116"/>
                </a:lnTo>
                <a:lnTo>
                  <a:pt x="997541" y="2045715"/>
                </a:lnTo>
                <a:lnTo>
                  <a:pt x="1050515" y="2031301"/>
                </a:lnTo>
                <a:lnTo>
                  <a:pt x="1101501" y="2011826"/>
                </a:lnTo>
                <a:lnTo>
                  <a:pt x="1150056" y="1987502"/>
                </a:lnTo>
                <a:lnTo>
                  <a:pt x="1195738" y="1958544"/>
                </a:lnTo>
                <a:lnTo>
                  <a:pt x="1238105" y="1925166"/>
                </a:lnTo>
                <a:lnTo>
                  <a:pt x="1273779" y="1954323"/>
                </a:lnTo>
                <a:lnTo>
                  <a:pt x="1313079" y="1978728"/>
                </a:lnTo>
                <a:lnTo>
                  <a:pt x="1354896" y="1998789"/>
                </a:lnTo>
                <a:lnTo>
                  <a:pt x="1398818" y="2014408"/>
                </a:lnTo>
                <a:lnTo>
                  <a:pt x="1444435" y="2025487"/>
                </a:lnTo>
                <a:lnTo>
                  <a:pt x="1491337" y="2031926"/>
                </a:lnTo>
                <a:lnTo>
                  <a:pt x="1539112" y="2033628"/>
                </a:lnTo>
                <a:lnTo>
                  <a:pt x="1587350" y="2030493"/>
                </a:lnTo>
                <a:lnTo>
                  <a:pt x="1635640" y="2022423"/>
                </a:lnTo>
                <a:lnTo>
                  <a:pt x="1686377" y="2008374"/>
                </a:lnTo>
                <a:lnTo>
                  <a:pt x="1734417" y="1989275"/>
                </a:lnTo>
                <a:lnTo>
                  <a:pt x="1779414" y="1965494"/>
                </a:lnTo>
                <a:lnTo>
                  <a:pt x="1821019" y="1937397"/>
                </a:lnTo>
                <a:lnTo>
                  <a:pt x="1858883" y="1905350"/>
                </a:lnTo>
                <a:lnTo>
                  <a:pt x="1892659" y="1869720"/>
                </a:lnTo>
                <a:lnTo>
                  <a:pt x="1921998" y="1830874"/>
                </a:lnTo>
                <a:lnTo>
                  <a:pt x="1946553" y="1789178"/>
                </a:lnTo>
                <a:lnTo>
                  <a:pt x="1965974" y="1744998"/>
                </a:lnTo>
                <a:lnTo>
                  <a:pt x="1979915" y="1698702"/>
                </a:lnTo>
                <a:lnTo>
                  <a:pt x="1988027" y="1650656"/>
                </a:lnTo>
                <a:lnTo>
                  <a:pt x="1988903" y="1652802"/>
                </a:lnTo>
                <a:lnTo>
                  <a:pt x="2039532" y="1664878"/>
                </a:lnTo>
                <a:lnTo>
                  <a:pt x="2091488" y="1670268"/>
                </a:lnTo>
                <a:lnTo>
                  <a:pt x="2144033" y="1668947"/>
                </a:lnTo>
                <a:lnTo>
                  <a:pt x="2196434" y="1660892"/>
                </a:lnTo>
                <a:lnTo>
                  <a:pt x="2245775" y="1646873"/>
                </a:lnTo>
                <a:lnTo>
                  <a:pt x="2291818" y="1627462"/>
                </a:lnTo>
                <a:lnTo>
                  <a:pt x="2334211" y="1603150"/>
                </a:lnTo>
                <a:lnTo>
                  <a:pt x="2372603" y="1574426"/>
                </a:lnTo>
                <a:lnTo>
                  <a:pt x="2406642" y="1541782"/>
                </a:lnTo>
                <a:lnTo>
                  <a:pt x="2435978" y="1505706"/>
                </a:lnTo>
                <a:lnTo>
                  <a:pt x="2460259" y="1466690"/>
                </a:lnTo>
                <a:lnTo>
                  <a:pt x="2479133" y="1425222"/>
                </a:lnTo>
                <a:lnTo>
                  <a:pt x="2492250" y="1381795"/>
                </a:lnTo>
                <a:lnTo>
                  <a:pt x="2499257" y="1336897"/>
                </a:lnTo>
                <a:lnTo>
                  <a:pt x="2499803" y="1291018"/>
                </a:lnTo>
                <a:lnTo>
                  <a:pt x="2493538" y="1244650"/>
                </a:lnTo>
                <a:lnTo>
                  <a:pt x="2492712" y="1243938"/>
                </a:lnTo>
                <a:lnTo>
                  <a:pt x="2539070" y="1224481"/>
                </a:lnTo>
                <a:lnTo>
                  <a:pt x="2582179" y="1200873"/>
                </a:lnTo>
                <a:lnTo>
                  <a:pt x="2621821" y="1173476"/>
                </a:lnTo>
                <a:lnTo>
                  <a:pt x="2657776" y="1142650"/>
                </a:lnTo>
                <a:lnTo>
                  <a:pt x="2689825" y="1108756"/>
                </a:lnTo>
                <a:lnTo>
                  <a:pt x="2717751" y="1072153"/>
                </a:lnTo>
                <a:lnTo>
                  <a:pt x="2741334" y="1033204"/>
                </a:lnTo>
                <a:lnTo>
                  <a:pt x="2760355" y="992268"/>
                </a:lnTo>
                <a:lnTo>
                  <a:pt x="2774596" y="949705"/>
                </a:lnTo>
                <a:lnTo>
                  <a:pt x="2783837" y="905877"/>
                </a:lnTo>
                <a:lnTo>
                  <a:pt x="2787860" y="861144"/>
                </a:lnTo>
                <a:lnTo>
                  <a:pt x="2786446" y="815867"/>
                </a:lnTo>
                <a:lnTo>
                  <a:pt x="2779377" y="770406"/>
                </a:lnTo>
                <a:lnTo>
                  <a:pt x="2764225" y="719293"/>
                </a:lnTo>
                <a:lnTo>
                  <a:pt x="2741992" y="671020"/>
                </a:lnTo>
                <a:lnTo>
                  <a:pt x="2713062" y="626156"/>
                </a:lnTo>
                <a:lnTo>
                  <a:pt x="2677817" y="585273"/>
                </a:lnTo>
                <a:lnTo>
                  <a:pt x="2636641" y="548944"/>
                </a:lnTo>
                <a:lnTo>
                  <a:pt x="2635702" y="548969"/>
                </a:lnTo>
                <a:lnTo>
                  <a:pt x="2641192" y="516655"/>
                </a:lnTo>
                <a:lnTo>
                  <a:pt x="2643150" y="484205"/>
                </a:lnTo>
                <a:lnTo>
                  <a:pt x="2641556" y="451860"/>
                </a:lnTo>
                <a:lnTo>
                  <a:pt x="2636387" y="419861"/>
                </a:lnTo>
                <a:lnTo>
                  <a:pt x="2622504" y="374484"/>
                </a:lnTo>
                <a:lnTo>
                  <a:pt x="2601854" y="332535"/>
                </a:lnTo>
                <a:lnTo>
                  <a:pt x="2575039" y="294477"/>
                </a:lnTo>
                <a:lnTo>
                  <a:pt x="2542660" y="260775"/>
                </a:lnTo>
                <a:lnTo>
                  <a:pt x="2505318" y="231893"/>
                </a:lnTo>
                <a:lnTo>
                  <a:pt x="2463616" y="208297"/>
                </a:lnTo>
                <a:lnTo>
                  <a:pt x="2418153" y="190450"/>
                </a:lnTo>
                <a:lnTo>
                  <a:pt x="2369532" y="178816"/>
                </a:lnTo>
                <a:lnTo>
                  <a:pt x="2318354" y="173862"/>
                </a:lnTo>
                <a:lnTo>
                  <a:pt x="2319383" y="172998"/>
                </a:lnTo>
                <a:lnTo>
                  <a:pt x="2297273" y="132267"/>
                </a:lnTo>
                <a:lnTo>
                  <a:pt x="2268952" y="96274"/>
                </a:lnTo>
                <a:lnTo>
                  <a:pt x="2235196" y="65381"/>
                </a:lnTo>
                <a:lnTo>
                  <a:pt x="2196782" y="39947"/>
                </a:lnTo>
                <a:lnTo>
                  <a:pt x="2154487" y="20332"/>
                </a:lnTo>
                <a:lnTo>
                  <a:pt x="2109086" y="6896"/>
                </a:lnTo>
                <a:lnTo>
                  <a:pt x="2061356" y="0"/>
                </a:lnTo>
                <a:lnTo>
                  <a:pt x="2012075" y="2"/>
                </a:lnTo>
                <a:lnTo>
                  <a:pt x="1962017" y="7263"/>
                </a:lnTo>
                <a:lnTo>
                  <a:pt x="1908821" y="23465"/>
                </a:lnTo>
                <a:lnTo>
                  <a:pt x="1859684" y="47500"/>
                </a:lnTo>
                <a:lnTo>
                  <a:pt x="1815596" y="78655"/>
                </a:lnTo>
                <a:lnTo>
                  <a:pt x="1777549" y="116217"/>
                </a:lnTo>
                <a:lnTo>
                  <a:pt x="1746537" y="159473"/>
                </a:lnTo>
                <a:lnTo>
                  <a:pt x="1704494" y="132687"/>
                </a:lnTo>
                <a:lnTo>
                  <a:pt x="1657439" y="113690"/>
                </a:lnTo>
                <a:lnTo>
                  <a:pt x="1607271" y="103069"/>
                </a:lnTo>
                <a:lnTo>
                  <a:pt x="1555281" y="101095"/>
                </a:lnTo>
                <a:lnTo>
                  <a:pt x="1502760" y="108038"/>
                </a:lnTo>
                <a:lnTo>
                  <a:pt x="1451685" y="123917"/>
                </a:lnTo>
                <a:lnTo>
                  <a:pt x="1405102" y="147710"/>
                </a:lnTo>
                <a:lnTo>
                  <a:pt x="1364001" y="178529"/>
                </a:lnTo>
                <a:lnTo>
                  <a:pt x="1329375" y="215486"/>
                </a:lnTo>
                <a:lnTo>
                  <a:pt x="1302213" y="257694"/>
                </a:lnTo>
                <a:lnTo>
                  <a:pt x="1283507" y="304265"/>
                </a:lnTo>
                <a:lnTo>
                  <a:pt x="1285450" y="308253"/>
                </a:lnTo>
                <a:lnTo>
                  <a:pt x="1237683" y="285800"/>
                </a:lnTo>
                <a:lnTo>
                  <a:pt x="1186891" y="270726"/>
                </a:lnTo>
                <a:lnTo>
                  <a:pt x="1134039" y="263167"/>
                </a:lnTo>
                <a:lnTo>
                  <a:pt x="1080092" y="263257"/>
                </a:lnTo>
                <a:lnTo>
                  <a:pt x="1026015" y="271131"/>
                </a:lnTo>
                <a:lnTo>
                  <a:pt x="979849" y="284339"/>
                </a:lnTo>
                <a:lnTo>
                  <a:pt x="936435" y="302889"/>
                </a:lnTo>
                <a:lnTo>
                  <a:pt x="896253" y="326365"/>
                </a:lnTo>
                <a:lnTo>
                  <a:pt x="859781" y="354346"/>
                </a:lnTo>
                <a:lnTo>
                  <a:pt x="827499" y="386416"/>
                </a:lnTo>
                <a:lnTo>
                  <a:pt x="799887" y="422155"/>
                </a:lnTo>
                <a:lnTo>
                  <a:pt x="777422" y="461146"/>
                </a:lnTo>
                <a:lnTo>
                  <a:pt x="760585" y="502970"/>
                </a:lnTo>
                <a:lnTo>
                  <a:pt x="760013" y="505256"/>
                </a:lnTo>
                <a:lnTo>
                  <a:pt x="714933" y="494965"/>
                </a:lnTo>
                <a:lnTo>
                  <a:pt x="668939" y="489187"/>
                </a:lnTo>
                <a:lnTo>
                  <a:pt x="622422" y="487936"/>
                </a:lnTo>
                <a:lnTo>
                  <a:pt x="575772" y="491226"/>
                </a:lnTo>
                <a:lnTo>
                  <a:pt x="529381" y="499071"/>
                </a:lnTo>
                <a:lnTo>
                  <a:pt x="479505" y="512812"/>
                </a:lnTo>
                <a:lnTo>
                  <a:pt x="432463" y="531287"/>
                </a:lnTo>
                <a:lnTo>
                  <a:pt x="388514" y="554127"/>
                </a:lnTo>
                <a:lnTo>
                  <a:pt x="347917" y="580966"/>
                </a:lnTo>
                <a:lnTo>
                  <a:pt x="310931" y="611438"/>
                </a:lnTo>
                <a:lnTo>
                  <a:pt x="277817" y="645174"/>
                </a:lnTo>
                <a:lnTo>
                  <a:pt x="248832" y="681809"/>
                </a:lnTo>
                <a:lnTo>
                  <a:pt x="224236" y="720976"/>
                </a:lnTo>
                <a:lnTo>
                  <a:pt x="204290" y="762307"/>
                </a:lnTo>
                <a:lnTo>
                  <a:pt x="189250" y="805436"/>
                </a:lnTo>
                <a:lnTo>
                  <a:pt x="179378" y="849996"/>
                </a:lnTo>
                <a:lnTo>
                  <a:pt x="174933" y="895620"/>
                </a:lnTo>
                <a:lnTo>
                  <a:pt x="176172" y="941941"/>
                </a:lnTo>
                <a:lnTo>
                  <a:pt x="183357" y="988592"/>
                </a:lnTo>
                <a:lnTo>
                  <a:pt x="194260" y="1028031"/>
                </a:lnTo>
                <a:lnTo>
                  <a:pt x="198864" y="1040891"/>
                </a:lnTo>
                <a:lnTo>
                  <a:pt x="199651" y="10401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65153" y="6162114"/>
            <a:ext cx="170180" cy="12700"/>
          </a:xfrm>
          <a:custGeom>
            <a:avLst/>
            <a:gdLst/>
            <a:ahLst/>
            <a:cxnLst/>
            <a:rect l="l" t="t" r="r" b="b"/>
            <a:pathLst>
              <a:path w="170179" h="12700">
                <a:moveTo>
                  <a:pt x="0" y="1358"/>
                </a:moveTo>
                <a:lnTo>
                  <a:pt x="36350" y="9243"/>
                </a:lnTo>
                <a:lnTo>
                  <a:pt x="73523" y="12550"/>
                </a:lnTo>
                <a:lnTo>
                  <a:pt x="111024" y="11281"/>
                </a:lnTo>
                <a:lnTo>
                  <a:pt x="148361" y="5435"/>
                </a:lnTo>
                <a:lnTo>
                  <a:pt x="155536" y="3860"/>
                </a:lnTo>
                <a:lnTo>
                  <a:pt x="162814" y="2082"/>
                </a:lnTo>
                <a:lnTo>
                  <a:pt x="1698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93108" y="6503014"/>
            <a:ext cx="67945" cy="32384"/>
          </a:xfrm>
          <a:custGeom>
            <a:avLst/>
            <a:gdLst/>
            <a:ahLst/>
            <a:cxnLst/>
            <a:rect l="l" t="t" r="r" b="b"/>
            <a:pathLst>
              <a:path w="67945" h="32384">
                <a:moveTo>
                  <a:pt x="0" y="31889"/>
                </a:moveTo>
                <a:lnTo>
                  <a:pt x="17614" y="25431"/>
                </a:lnTo>
                <a:lnTo>
                  <a:pt x="34748" y="17945"/>
                </a:lnTo>
                <a:lnTo>
                  <a:pt x="51361" y="9458"/>
                </a:lnTo>
                <a:lnTo>
                  <a:pt x="6741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951819" y="6484955"/>
            <a:ext cx="59690" cy="65405"/>
          </a:xfrm>
          <a:custGeom>
            <a:avLst/>
            <a:gdLst/>
            <a:ahLst/>
            <a:cxnLst/>
            <a:rect l="l" t="t" r="r" b="b"/>
            <a:pathLst>
              <a:path w="59690" h="65404">
                <a:moveTo>
                  <a:pt x="0" y="0"/>
                </a:moveTo>
                <a:lnTo>
                  <a:pt x="13290" y="17440"/>
                </a:lnTo>
                <a:lnTo>
                  <a:pt x="27611" y="34166"/>
                </a:lnTo>
                <a:lnTo>
                  <a:pt x="42925" y="50134"/>
                </a:lnTo>
                <a:lnTo>
                  <a:pt x="59194" y="653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60699" y="6189587"/>
            <a:ext cx="3175" cy="85725"/>
          </a:xfrm>
          <a:custGeom>
            <a:avLst/>
            <a:gdLst/>
            <a:ahLst/>
            <a:cxnLst/>
            <a:rect l="l" t="t" r="r" b="b"/>
            <a:pathLst>
              <a:path w="3175" h="85725">
                <a:moveTo>
                  <a:pt x="927" y="85648"/>
                </a:moveTo>
                <a:lnTo>
                  <a:pt x="2536" y="64163"/>
                </a:lnTo>
                <a:lnTo>
                  <a:pt x="2901" y="42695"/>
                </a:lnTo>
                <a:lnTo>
                  <a:pt x="2048" y="21292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91685" y="5608585"/>
            <a:ext cx="275590" cy="260985"/>
          </a:xfrm>
          <a:custGeom>
            <a:avLst/>
            <a:gdLst/>
            <a:ahLst/>
            <a:cxnLst/>
            <a:rect l="l" t="t" r="r" b="b"/>
            <a:pathLst>
              <a:path w="275590" h="260985">
                <a:moveTo>
                  <a:pt x="275450" y="260654"/>
                </a:moveTo>
                <a:lnTo>
                  <a:pt x="275247" y="259715"/>
                </a:lnTo>
                <a:lnTo>
                  <a:pt x="275183" y="258826"/>
                </a:lnTo>
                <a:lnTo>
                  <a:pt x="274980" y="257873"/>
                </a:lnTo>
                <a:lnTo>
                  <a:pt x="260756" y="210870"/>
                </a:lnTo>
                <a:lnTo>
                  <a:pt x="239708" y="167097"/>
                </a:lnTo>
                <a:lnTo>
                  <a:pt x="212370" y="127050"/>
                </a:lnTo>
                <a:lnTo>
                  <a:pt x="179276" y="91222"/>
                </a:lnTo>
                <a:lnTo>
                  <a:pt x="140958" y="60109"/>
                </a:lnTo>
                <a:lnTo>
                  <a:pt x="97951" y="34204"/>
                </a:lnTo>
                <a:lnTo>
                  <a:pt x="50787" y="14003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341735" y="5173553"/>
            <a:ext cx="67945" cy="135255"/>
          </a:xfrm>
          <a:custGeom>
            <a:avLst/>
            <a:gdLst/>
            <a:ahLst/>
            <a:cxnLst/>
            <a:rect l="l" t="t" r="r" b="b"/>
            <a:pathLst>
              <a:path w="67945" h="135254">
                <a:moveTo>
                  <a:pt x="0" y="135229"/>
                </a:moveTo>
                <a:lnTo>
                  <a:pt x="23067" y="104064"/>
                </a:lnTo>
                <a:lnTo>
                  <a:pt x="42111" y="70915"/>
                </a:lnTo>
                <a:lnTo>
                  <a:pt x="56991" y="36115"/>
                </a:lnTo>
                <a:lnTo>
                  <a:pt x="6756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92978" y="4797581"/>
            <a:ext cx="17145" cy="53340"/>
          </a:xfrm>
          <a:custGeom>
            <a:avLst/>
            <a:gdLst/>
            <a:ahLst/>
            <a:cxnLst/>
            <a:rect l="l" t="t" r="r" b="b"/>
            <a:pathLst>
              <a:path w="17145" h="53339">
                <a:moveTo>
                  <a:pt x="16776" y="53200"/>
                </a:moveTo>
                <a:lnTo>
                  <a:pt x="16471" y="51828"/>
                </a:lnTo>
                <a:lnTo>
                  <a:pt x="16319" y="50507"/>
                </a:lnTo>
                <a:lnTo>
                  <a:pt x="16014" y="49136"/>
                </a:lnTo>
                <a:lnTo>
                  <a:pt x="12939" y="36588"/>
                </a:lnTo>
                <a:lnTo>
                  <a:pt x="9240" y="24201"/>
                </a:lnTo>
                <a:lnTo>
                  <a:pt x="4925" y="11997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87901" y="4784060"/>
            <a:ext cx="32384" cy="80010"/>
          </a:xfrm>
          <a:custGeom>
            <a:avLst/>
            <a:gdLst/>
            <a:ahLst/>
            <a:cxnLst/>
            <a:rect l="l" t="t" r="r" b="b"/>
            <a:pathLst>
              <a:path w="32384" h="80010">
                <a:moveTo>
                  <a:pt x="32232" y="0"/>
                </a:moveTo>
                <a:lnTo>
                  <a:pt x="21886" y="19133"/>
                </a:lnTo>
                <a:lnTo>
                  <a:pt x="13034" y="38825"/>
                </a:lnTo>
                <a:lnTo>
                  <a:pt x="5723" y="59005"/>
                </a:lnTo>
                <a:lnTo>
                  <a:pt x="0" y="796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47135" y="4928851"/>
            <a:ext cx="10160" cy="64769"/>
          </a:xfrm>
          <a:custGeom>
            <a:avLst/>
            <a:gdLst/>
            <a:ahLst/>
            <a:cxnLst/>
            <a:rect l="l" t="t" r="r" b="b"/>
            <a:pathLst>
              <a:path w="10159" h="64770">
                <a:moveTo>
                  <a:pt x="9969" y="0"/>
                </a:moveTo>
                <a:lnTo>
                  <a:pt x="5856" y="16013"/>
                </a:lnTo>
                <a:lnTo>
                  <a:pt x="2827" y="32161"/>
                </a:lnTo>
                <a:lnTo>
                  <a:pt x="877" y="48411"/>
                </a:lnTo>
                <a:lnTo>
                  <a:pt x="0" y="6473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533611" y="5129828"/>
            <a:ext cx="96520" cy="40005"/>
          </a:xfrm>
          <a:custGeom>
            <a:avLst/>
            <a:gdLst/>
            <a:ahLst/>
            <a:cxnLst/>
            <a:rect l="l" t="t" r="r" b="b"/>
            <a:pathLst>
              <a:path w="96520" h="40004">
                <a:moveTo>
                  <a:pt x="95986" y="39598"/>
                </a:moveTo>
                <a:lnTo>
                  <a:pt x="73078" y="27655"/>
                </a:lnTo>
                <a:lnTo>
                  <a:pt x="49407" y="17060"/>
                </a:lnTo>
                <a:lnTo>
                  <a:pt x="25029" y="7835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72468" y="5665476"/>
            <a:ext cx="28575" cy="57785"/>
          </a:xfrm>
          <a:custGeom>
            <a:avLst/>
            <a:gdLst/>
            <a:ahLst/>
            <a:cxnLst/>
            <a:rect l="l" t="t" r="r" b="b"/>
            <a:pathLst>
              <a:path w="28575" h="57785">
                <a:moveTo>
                  <a:pt x="0" y="0"/>
                </a:moveTo>
                <a:lnTo>
                  <a:pt x="6021" y="14820"/>
                </a:lnTo>
                <a:lnTo>
                  <a:pt x="12692" y="29383"/>
                </a:lnTo>
                <a:lnTo>
                  <a:pt x="20007" y="43671"/>
                </a:lnTo>
                <a:lnTo>
                  <a:pt x="27965" y="5767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91072" y="5015484"/>
            <a:ext cx="894587" cy="1117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443472" y="5167884"/>
            <a:ext cx="894587" cy="1117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95871" y="5320284"/>
            <a:ext cx="894575" cy="1117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748271" y="5472684"/>
            <a:ext cx="894587" cy="1117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88321"/>
            <a:ext cx="269176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Cloud Operating</a:t>
            </a:r>
            <a:r>
              <a:rPr sz="1800" b="1" spc="-60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System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Illustration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449324"/>
            <a:ext cx="7808976" cy="4686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2094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Claud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OS</a:t>
            </a:r>
            <a:r>
              <a:rPr sz="1800" b="1" spc="-7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features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6535" y="1577660"/>
            <a:ext cx="8168005" cy="2524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6385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computing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delivery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different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through the Internet, including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data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storage, servers, databases,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networking, and</a:t>
            </a:r>
            <a:r>
              <a:rPr sz="1600" spc="10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software.</a:t>
            </a:r>
            <a:endParaRPr sz="1600" dirty="0">
              <a:latin typeface="Arial"/>
              <a:cs typeface="Arial"/>
            </a:endParaRPr>
          </a:p>
          <a:p>
            <a:pPr marL="299085" marR="5715" indent="-286385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storage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has grown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increasingly popular among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individuals who need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larger  storage space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for businesses seeking an efficient off-site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data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back-up</a:t>
            </a:r>
            <a:r>
              <a:rPr sz="1600" spc="11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solution.</a:t>
            </a:r>
            <a:endParaRPr sz="1600" dirty="0">
              <a:latin typeface="Arial"/>
              <a:cs typeface="Arial"/>
            </a:endParaRPr>
          </a:p>
          <a:p>
            <a:pPr marL="299085" marR="5715" indent="-286385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Cloud-based storage makes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possible to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save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files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 a remote database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retrieve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them on</a:t>
            </a:r>
            <a:r>
              <a:rPr sz="1600" spc="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demand.</a:t>
            </a:r>
            <a:endParaRPr sz="1600" dirty="0">
              <a:latin typeface="Arial"/>
              <a:cs typeface="Arial"/>
            </a:endParaRPr>
          </a:p>
          <a:p>
            <a:pPr marL="299085" marR="6985" indent="-286385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Services can be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both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public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private - public services are provided online for a fee  while private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are hosted on a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network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 specific</a:t>
            </a:r>
            <a:r>
              <a:rPr sz="1600" spc="9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clients.</a:t>
            </a:r>
            <a:endParaRPr sz="1600" dirty="0">
              <a:latin typeface="Arial"/>
              <a:cs typeface="Arial"/>
            </a:endParaRPr>
          </a:p>
          <a:p>
            <a:pPr marL="299085" indent="-286385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security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become an increasingly important field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</a:t>
            </a:r>
            <a:r>
              <a:rPr sz="1600" spc="3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001D58"/>
                </a:solidFill>
                <a:latin typeface="Arial"/>
                <a:cs typeface="Arial"/>
              </a:rPr>
              <a:t>IT.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2016" y="4728971"/>
            <a:ext cx="5839967" cy="20025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05356" y="4744224"/>
            <a:ext cx="5733287" cy="18958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451" y="348566"/>
            <a:ext cx="2748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Cloud Services</a:t>
            </a:r>
            <a:r>
              <a:rPr sz="1800" b="1" spc="-60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Functions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6368" y="1577660"/>
            <a:ext cx="8166100" cy="429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811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Regardless of the kind of service, cloud computing services provide users with a series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of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functions including: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756285" indent="-286385">
              <a:lnSpc>
                <a:spcPct val="100000"/>
              </a:lnSpc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Email;</a:t>
            </a:r>
            <a:endParaRPr sz="1600" dirty="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Storage, backup,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data</a:t>
            </a:r>
            <a:r>
              <a:rPr sz="1600" spc="5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retrieval;</a:t>
            </a:r>
            <a:endParaRPr sz="1600" dirty="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Creating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testing</a:t>
            </a:r>
            <a:r>
              <a:rPr sz="1600" spc="1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apps;</a:t>
            </a:r>
            <a:endParaRPr sz="1600" dirty="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Analyzing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 data;</a:t>
            </a:r>
            <a:endParaRPr sz="1600" dirty="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Audio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video streaming;</a:t>
            </a:r>
            <a:endParaRPr sz="1600" dirty="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Delivering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software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on</a:t>
            </a:r>
            <a:r>
              <a:rPr sz="1600" spc="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demand.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Businesses can employ cloud computing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different ways. Some users maintain all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apps  and data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on the cloud, while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others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use a hybrid model, keeping certain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apps and data on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private servers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others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on the</a:t>
            </a:r>
            <a:r>
              <a:rPr sz="1600" spc="9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Examples of Cloud</a:t>
            </a:r>
            <a:r>
              <a:rPr sz="1600" spc="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Computing:</a:t>
            </a:r>
            <a:endParaRPr sz="1600" dirty="0">
              <a:latin typeface="Arial"/>
              <a:cs typeface="Arial"/>
            </a:endParaRPr>
          </a:p>
          <a:p>
            <a:pPr marL="144780" indent="-132080" algn="just">
              <a:lnSpc>
                <a:spcPct val="100000"/>
              </a:lnSpc>
              <a:spcBef>
                <a:spcPts val="359"/>
              </a:spcBef>
              <a:buChar char="-"/>
              <a:tabLst>
                <a:tab pos="145415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streaming</a:t>
            </a:r>
            <a:r>
              <a:rPr sz="1600" spc="7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platforms</a:t>
            </a:r>
            <a:r>
              <a:rPr sz="1600" spc="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for</a:t>
            </a:r>
            <a:r>
              <a:rPr sz="1600" spc="7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audio</a:t>
            </a:r>
            <a:r>
              <a:rPr sz="1600" spc="7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or</a:t>
            </a:r>
            <a:r>
              <a:rPr sz="1600" spc="7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video,</a:t>
            </a:r>
            <a:r>
              <a:rPr sz="1600" spc="7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where</a:t>
            </a:r>
            <a:r>
              <a:rPr sz="1600" spc="7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the</a:t>
            </a:r>
            <a:r>
              <a:rPr sz="1600" spc="7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actual</a:t>
            </a:r>
            <a:r>
              <a:rPr sz="1600" spc="8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media</a:t>
            </a:r>
            <a:r>
              <a:rPr sz="1600" spc="7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files</a:t>
            </a:r>
            <a:r>
              <a:rPr sz="1600" spc="8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are</a:t>
            </a:r>
            <a:r>
              <a:rPr sz="1600" spc="7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stored</a:t>
            </a:r>
            <a:r>
              <a:rPr sz="1600" spc="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remotely.</a:t>
            </a:r>
            <a:endParaRPr sz="1600" dirty="0">
              <a:latin typeface="Arial"/>
              <a:cs typeface="Arial"/>
            </a:endParaRPr>
          </a:p>
          <a:p>
            <a:pPr marL="137795" indent="-125095" algn="just">
              <a:lnSpc>
                <a:spcPct val="100000"/>
              </a:lnSpc>
              <a:buChar char="-"/>
              <a:tabLst>
                <a:tab pos="138430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data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storage platforms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like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Google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Drive,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Dropbox,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OneDrive, or</a:t>
            </a:r>
            <a:r>
              <a:rPr sz="1600" spc="14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Box.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788" y="317426"/>
            <a:ext cx="2878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Types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of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Cloud</a:t>
            </a:r>
            <a:r>
              <a:rPr sz="1800" b="1" spc="-70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Computing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76248"/>
            <a:ext cx="8168640" cy="4901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50" indent="-635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computing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not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single piece of technology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like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microchip or a cellphone.  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Rather,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it's a system primarily comprised of three</a:t>
            </a:r>
            <a:r>
              <a:rPr sz="1600" spc="13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services: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C00000"/>
                </a:solidFill>
                <a:latin typeface="Comic Sans MS"/>
                <a:cs typeface="Comic Sans MS"/>
              </a:rPr>
              <a:t>Software-as-a-service</a:t>
            </a:r>
            <a:r>
              <a:rPr sz="1600" b="1" spc="6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omic Sans MS"/>
                <a:cs typeface="Comic Sans MS"/>
              </a:rPr>
              <a:t>(SaaS)</a:t>
            </a:r>
            <a:endParaRPr sz="1600" dirty="0">
              <a:latin typeface="Comic Sans MS"/>
              <a:cs typeface="Comic Sans MS"/>
            </a:endParaRPr>
          </a:p>
          <a:p>
            <a:pPr marL="12700" marR="5080" algn="just">
              <a:lnSpc>
                <a:spcPct val="100000"/>
              </a:lnSpc>
              <a:spcBef>
                <a:spcPts val="3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Involves the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licensure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a software application to customers. Licenses are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typically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provided through a pay-as-you-go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model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or on-demand. This type of system can be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found  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Microsoft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Office's</a:t>
            </a:r>
            <a:r>
              <a:rPr sz="1600" spc="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365.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C00000"/>
                </a:solidFill>
                <a:latin typeface="Comic Sans MS"/>
                <a:cs typeface="Comic Sans MS"/>
              </a:rPr>
              <a:t>Infrastructure-as-a-service</a:t>
            </a:r>
            <a:r>
              <a:rPr sz="1600" b="1" spc="60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omic Sans MS"/>
                <a:cs typeface="Comic Sans MS"/>
              </a:rPr>
              <a:t>(IaaS)</a:t>
            </a:r>
            <a:endParaRPr sz="1600" dirty="0">
              <a:latin typeface="Comic Sans MS"/>
              <a:cs typeface="Comic Sans MS"/>
            </a:endParaRPr>
          </a:p>
          <a:p>
            <a:pPr marL="12700" marR="5080" algn="just">
              <a:lnSpc>
                <a:spcPct val="100000"/>
              </a:lnSpc>
              <a:spcBef>
                <a:spcPts val="3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Involves a method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for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delivering everything from operating systems to servers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storage  through IP-based connectivity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as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part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an on-demand service. Clients can avoid the 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need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 purchase software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or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servers,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instead procure these resources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outsourced, on-demand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service.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Popular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examples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the IaaS system include IBM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Cloud  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Microsoft</a:t>
            </a:r>
            <a:r>
              <a:rPr sz="1600" spc="-6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Azure.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C00000"/>
                </a:solidFill>
                <a:latin typeface="Comic Sans MS"/>
                <a:cs typeface="Comic Sans MS"/>
              </a:rPr>
              <a:t>Platform-as-a-service</a:t>
            </a:r>
            <a:r>
              <a:rPr sz="1600" b="1" spc="40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omic Sans MS"/>
                <a:cs typeface="Comic Sans MS"/>
              </a:rPr>
              <a:t>(PaaS)</a:t>
            </a:r>
            <a:endParaRPr sz="1600" dirty="0">
              <a:latin typeface="Comic Sans MS"/>
              <a:cs typeface="Comic Sans MS"/>
            </a:endParaRPr>
          </a:p>
          <a:p>
            <a:pPr marL="12700" marR="5080" algn="just">
              <a:lnSpc>
                <a:spcPct val="100000"/>
              </a:lnSpc>
              <a:spcBef>
                <a:spcPts val="3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Is considered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most complex of the three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layers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cloud-based computing.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PaaS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shares some similarities with SaaS, the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primary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difference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being that instead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delivering  software online,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it 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actually a platform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for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creating software that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delivered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via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 Internet. This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model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includes platforms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like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Salesforce.com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</a:t>
            </a:r>
            <a:r>
              <a:rPr sz="1600" spc="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Heroku.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250" y="297955"/>
            <a:ext cx="3506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Top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10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Cloud Service</a:t>
            </a:r>
            <a:r>
              <a:rPr sz="1800" b="1" spc="-40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Providers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884" y="1281672"/>
            <a:ext cx="6042660" cy="4051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As a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whole,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top 10 cloud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providers globally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2023</a:t>
            </a:r>
            <a:r>
              <a:rPr sz="1600" spc="7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are: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Times New Roman"/>
              <a:cs typeface="Times New Roman"/>
            </a:endParaRPr>
          </a:p>
          <a:p>
            <a:pPr marL="735965" indent="-342900">
              <a:lnSpc>
                <a:spcPct val="100000"/>
              </a:lnSpc>
              <a:buAutoNum type="arabicPeriod"/>
              <a:tabLst>
                <a:tab pos="735965" algn="l"/>
                <a:tab pos="7366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Amazon 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Web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Services 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(AWS)</a:t>
            </a:r>
            <a:endParaRPr sz="1600">
              <a:latin typeface="Arial"/>
              <a:cs typeface="Arial"/>
            </a:endParaRPr>
          </a:p>
          <a:p>
            <a:pPr marL="735965" indent="-3429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735965" algn="l"/>
                <a:tab pos="7366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Microsoft</a:t>
            </a:r>
            <a:r>
              <a:rPr sz="1600" spc="-8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Azure</a:t>
            </a:r>
            <a:endParaRPr sz="1600">
              <a:latin typeface="Arial"/>
              <a:cs typeface="Arial"/>
            </a:endParaRPr>
          </a:p>
          <a:p>
            <a:pPr marL="735965" indent="-342900">
              <a:lnSpc>
                <a:spcPct val="100000"/>
              </a:lnSpc>
              <a:spcBef>
                <a:spcPts val="965"/>
              </a:spcBef>
              <a:buAutoNum type="arabicPeriod"/>
              <a:tabLst>
                <a:tab pos="735965" algn="l"/>
                <a:tab pos="736600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Google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Platform</a:t>
            </a:r>
            <a:r>
              <a:rPr sz="1600" spc="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(GCP)</a:t>
            </a:r>
            <a:endParaRPr sz="1600">
              <a:latin typeface="Arial"/>
              <a:cs typeface="Arial"/>
            </a:endParaRPr>
          </a:p>
          <a:p>
            <a:pPr marL="735965" indent="-3429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735965" algn="l"/>
                <a:tab pos="7366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Alibaba</a:t>
            </a:r>
            <a:r>
              <a:rPr sz="1600" spc="-3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Cloud</a:t>
            </a:r>
            <a:endParaRPr sz="1600">
              <a:latin typeface="Arial"/>
              <a:cs typeface="Arial"/>
            </a:endParaRPr>
          </a:p>
          <a:p>
            <a:pPr marL="735965" indent="-3429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735965" algn="l"/>
                <a:tab pos="7366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Oracle</a:t>
            </a:r>
            <a:r>
              <a:rPr sz="1600" spc="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Cloud</a:t>
            </a:r>
            <a:endParaRPr sz="1600">
              <a:latin typeface="Arial"/>
              <a:cs typeface="Arial"/>
            </a:endParaRPr>
          </a:p>
          <a:p>
            <a:pPr marL="735965" indent="-3429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735965" algn="l"/>
                <a:tab pos="7366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IBM Cloud (Kindryl)</a:t>
            </a:r>
            <a:endParaRPr sz="1600">
              <a:latin typeface="Arial"/>
              <a:cs typeface="Arial"/>
            </a:endParaRPr>
          </a:p>
          <a:p>
            <a:pPr marL="735965" indent="-3429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735965" algn="l"/>
                <a:tab pos="736600" algn="l"/>
              </a:tabLst>
            </a:pPr>
            <a:r>
              <a:rPr sz="1600" spc="-35" dirty="0">
                <a:solidFill>
                  <a:srgbClr val="001D58"/>
                </a:solidFill>
                <a:latin typeface="Arial"/>
                <a:cs typeface="Arial"/>
              </a:rPr>
              <a:t>Tencent</a:t>
            </a:r>
            <a:r>
              <a:rPr sz="1600" spc="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Cloud</a:t>
            </a:r>
            <a:endParaRPr sz="1600">
              <a:latin typeface="Arial"/>
              <a:cs typeface="Arial"/>
            </a:endParaRPr>
          </a:p>
          <a:p>
            <a:pPr marL="735965" indent="-3429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735965" algn="l"/>
                <a:tab pos="7366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OVHcloud</a:t>
            </a:r>
            <a:endParaRPr sz="1600">
              <a:latin typeface="Arial"/>
              <a:cs typeface="Arial"/>
            </a:endParaRPr>
          </a:p>
          <a:p>
            <a:pPr marL="735965" indent="-342900">
              <a:lnSpc>
                <a:spcPct val="100000"/>
              </a:lnSpc>
              <a:spcBef>
                <a:spcPts val="965"/>
              </a:spcBef>
              <a:buAutoNum type="arabicPeriod"/>
              <a:tabLst>
                <a:tab pos="735965" algn="l"/>
                <a:tab pos="7366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DigitalOcean</a:t>
            </a:r>
            <a:endParaRPr sz="1600">
              <a:latin typeface="Arial"/>
              <a:cs typeface="Arial"/>
            </a:endParaRPr>
          </a:p>
          <a:p>
            <a:pPr marL="735965" indent="-3429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7366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Linode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(Akamel)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2400" y="2474976"/>
            <a:ext cx="4543031" cy="2822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6618" y="6287387"/>
            <a:ext cx="51803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-5" dirty="0">
                <a:solidFill>
                  <a:srgbClr val="001D58"/>
                </a:solidFill>
                <a:latin typeface="Arial"/>
                <a:cs typeface="Arial"/>
              </a:rPr>
              <a:t>Source:</a:t>
            </a:r>
            <a:r>
              <a:rPr sz="1400" i="1" spc="-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400" i="1" spc="-5" dirty="0">
                <a:solidFill>
                  <a:srgbClr val="001D58"/>
                </a:solidFill>
                <a:latin typeface="Arial"/>
                <a:cs typeface="Arial"/>
              </a:rPr>
              <a:t>https://dgtlinfra.com/top-10-cloud-service-providers-2022/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2485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Amazon Web</a:t>
            </a:r>
            <a:r>
              <a:rPr sz="1800" b="1" spc="-114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Services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1451" y="1095248"/>
            <a:ext cx="8169909" cy="19947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just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One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most well-liked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cloud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computing platforms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for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developing interactive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online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solutions for your company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Amazon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Web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Services 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(AWS).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cloud computing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Amazon.com,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largest cloud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provider 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globally.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From its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data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centers, the  business provides over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200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fully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featured services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including compute,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storage,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 database</a:t>
            </a:r>
            <a:r>
              <a:rPr sz="1600" spc="-10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endParaRPr lang="en-US" sz="1600" spc="-10" dirty="0" smtClean="0">
              <a:solidFill>
                <a:srgbClr val="001D58"/>
              </a:solidFill>
              <a:latin typeface="Arial"/>
              <a:cs typeface="Arial"/>
            </a:endParaRPr>
          </a:p>
          <a:p>
            <a:pPr marL="12700" marR="5080" indent="-635" algn="just">
              <a:lnSpc>
                <a:spcPct val="100000"/>
              </a:lnSpc>
              <a:spcBef>
                <a:spcPts val="95"/>
              </a:spcBef>
            </a:pPr>
            <a:r>
              <a:rPr sz="1600" spc="-25" dirty="0" smtClean="0">
                <a:solidFill>
                  <a:srgbClr val="001D58"/>
                </a:solidFill>
                <a:latin typeface="Arial"/>
                <a:cs typeface="Arial"/>
              </a:rPr>
              <a:t>AWS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currently has 26 regions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b="1" spc="-5" dirty="0">
                <a:solidFill>
                  <a:srgbClr val="001D58"/>
                </a:solidFill>
                <a:latin typeface="Arial"/>
                <a:cs typeface="Arial"/>
              </a:rPr>
              <a:t>84 availability zones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operation. These regions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 availability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zones are located throughout the United States, </a:t>
            </a:r>
            <a:r>
              <a:rPr sz="1600" spc="-25" dirty="0">
                <a:solidFill>
                  <a:srgbClr val="001D58"/>
                </a:solidFill>
                <a:latin typeface="Arial"/>
                <a:cs typeface="Arial"/>
              </a:rPr>
              <a:t>AWS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GovCloud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(US),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Americas,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Europe,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Asia Pacific,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as well as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Middle East &amp;</a:t>
            </a:r>
            <a:r>
              <a:rPr sz="1600" spc="-14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Africa.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22120" y="4287011"/>
            <a:ext cx="5254751" cy="25709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44868" y="4997196"/>
            <a:ext cx="1306067" cy="9677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954" y="336229"/>
            <a:ext cx="1840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Microsoft</a:t>
            </a:r>
            <a:r>
              <a:rPr sz="1800" b="1" spc="-7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Azure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5078" y="1770399"/>
            <a:ext cx="8091805" cy="17357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Microsoft Corporation’s Intelligent Cloud segment contains Azure, the second largest  cloud service provider 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globally.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Through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Microsoft Azure, the company delivers a  consistent hybrid cloud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experience,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developer 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productivity,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artificial intelligence (AI)  capabilities,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security &amp;</a:t>
            </a:r>
            <a:r>
              <a:rPr sz="1600" spc="1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compliance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r>
              <a:rPr sz="1600" dirty="0" smtClean="0">
                <a:latin typeface="Arial"/>
                <a:cs typeface="Arial"/>
              </a:rPr>
              <a:t> 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Over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200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physical Microsoft Azure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data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centers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are located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worldwide,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which house  computer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servers,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each fitted-out with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independent 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power,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cooling,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networking. The 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company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connects this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data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center infrastructure with more than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175,000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miles of fiber 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lines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across </a:t>
            </a:r>
            <a:r>
              <a:rPr sz="1600" b="1" spc="-10" dirty="0">
                <a:solidFill>
                  <a:srgbClr val="001D58"/>
                </a:solidFill>
                <a:latin typeface="Arial"/>
                <a:cs typeface="Arial"/>
              </a:rPr>
              <a:t>140</a:t>
            </a:r>
            <a:r>
              <a:rPr sz="1600" b="1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1D58"/>
                </a:solidFill>
                <a:latin typeface="Arial"/>
                <a:cs typeface="Arial"/>
              </a:rPr>
              <a:t>countries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80844" y="4283963"/>
            <a:ext cx="4533899" cy="18242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75476" y="4114800"/>
            <a:ext cx="2087879" cy="4221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2451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Google Cloud</a:t>
            </a:r>
            <a:r>
              <a:rPr sz="1800" b="1" spc="-4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Platform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8290" y="1268931"/>
            <a:ext cx="8169909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Google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Platform (GCP),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part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Alphabet Inc,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third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largest cloud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provider 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globally,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providing enterprise-ready cloud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services.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GCP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enables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developers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  build, test,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deploy applications on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its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distributed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scalable infrastructure, while  utilizing the service’s capabilities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security,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data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management, analytics,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artificial  intelligence (AI). Although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Google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may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not offer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as many products as Azure,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it does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give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enough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 cover all of your IaaS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PaaS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needs. Usability and security are two of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its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primary</a:t>
            </a:r>
            <a:r>
              <a:rPr sz="1600" spc="1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qualities.</a:t>
            </a:r>
            <a:endParaRPr sz="1600" dirty="0">
              <a:latin typeface="Arial"/>
              <a:cs typeface="Arial"/>
            </a:endParaRPr>
          </a:p>
          <a:p>
            <a:pPr marL="12700" marR="6985" algn="just">
              <a:lnSpc>
                <a:spcPct val="100000"/>
              </a:lnSpc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Google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today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has </a:t>
            </a:r>
            <a:r>
              <a:rPr sz="1600" b="1" spc="-5" dirty="0">
                <a:solidFill>
                  <a:srgbClr val="001D58"/>
                </a:solidFill>
                <a:latin typeface="Arial"/>
                <a:cs typeface="Arial"/>
              </a:rPr>
              <a:t>34 regions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103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availability zones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operation.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These regions 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availability zones are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situated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throughout the United States, Americas,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Europe,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and 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Asia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Pacific.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17192" y="3828288"/>
            <a:ext cx="4981955" cy="2830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58811" y="4796620"/>
            <a:ext cx="1085668" cy="10745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1517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Alibaba</a:t>
            </a:r>
            <a:r>
              <a:rPr sz="1800" b="1" spc="-9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Cloud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1046" y="1191760"/>
            <a:ext cx="816864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Alibaba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Group’s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computing unit,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known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as Alibaba Cloud,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fourth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largest cloud 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provider 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globally,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primary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vendor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Asia Pacific,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largest cloud 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provider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China. Through Alibaba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Cloud,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business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offers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services,  including elastic computing, database, storage, network virtualization, large-scale  computing, 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security,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management &amp; application services, big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data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analytics,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machine  learning.</a:t>
            </a:r>
            <a:endParaRPr sz="16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Alibaba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Cloud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currently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has </a:t>
            </a:r>
            <a:r>
              <a:rPr sz="1600" b="1" spc="-5" dirty="0">
                <a:solidFill>
                  <a:srgbClr val="001D58"/>
                </a:solidFill>
                <a:latin typeface="Arial"/>
                <a:cs typeface="Arial"/>
              </a:rPr>
              <a:t>27 regions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84 availability zones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operation. In Mainland  China, Alibaba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dominant cloud service 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provider,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with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over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10 regions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across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 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country.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Outside of Mainland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China,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Alibaba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Cloud operates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United States,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Europe, 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Asia Pacific,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Middle</a:t>
            </a:r>
            <a:r>
              <a:rPr sz="1600" spc="-2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East.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57400" y="4064508"/>
            <a:ext cx="5330951" cy="2593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49923" y="3718559"/>
            <a:ext cx="2276855" cy="5958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142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Oracle</a:t>
            </a:r>
            <a:r>
              <a:rPr sz="1800" b="1" spc="-6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Cloud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240" y="1456851"/>
            <a:ext cx="816927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Oracle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Corporation’s Cloud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Services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offerings include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Oracle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Cloud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Software-as-a-Service  (SaaS)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Oracle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Cloud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Infrastructure (OCI).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Through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OCI,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company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 cloud 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 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provider,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delivering infrastructure technologies as-a-service including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compute,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storage,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networking</a:t>
            </a:r>
            <a:r>
              <a:rPr sz="1600" spc="5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services.</a:t>
            </a:r>
            <a:endParaRPr sz="1600" dirty="0">
              <a:latin typeface="Arial"/>
              <a:cs typeface="Arial"/>
            </a:endParaRPr>
          </a:p>
          <a:p>
            <a:pPr marL="12700" marR="7620" algn="just">
              <a:lnSpc>
                <a:spcPct val="100000"/>
              </a:lnSpc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Oracle Cloud presently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38 regions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b="1" spc="-5" dirty="0">
                <a:solidFill>
                  <a:srgbClr val="001D58"/>
                </a:solidFill>
                <a:latin typeface="Arial"/>
                <a:cs typeface="Arial"/>
              </a:rPr>
              <a:t>46 </a:t>
            </a:r>
            <a:r>
              <a:rPr sz="1600" b="1" spc="-10" dirty="0">
                <a:solidFill>
                  <a:srgbClr val="001D58"/>
                </a:solidFill>
                <a:latin typeface="Arial"/>
                <a:cs typeface="Arial"/>
              </a:rPr>
              <a:t>availability </a:t>
            </a:r>
            <a:r>
              <a:rPr sz="1600" b="1" spc="-5" dirty="0">
                <a:solidFill>
                  <a:srgbClr val="001D58"/>
                </a:solidFill>
                <a:latin typeface="Arial"/>
                <a:cs typeface="Arial"/>
              </a:rPr>
              <a:t>zones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operation.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These  regions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availability zones are located throughout the United States,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Canada, Europe,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Middle East, &amp; Africa (EMEA), Latin America,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Asia</a:t>
            </a:r>
            <a:r>
              <a:rPr sz="1600" spc="-204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Pacific.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7467" y="3643884"/>
            <a:ext cx="6256019" cy="3153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10983" y="4405884"/>
            <a:ext cx="1600182" cy="9890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1173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IBM</a:t>
            </a:r>
            <a:r>
              <a:rPr sz="1800" b="1" spc="-80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Cloud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1249" y="1191760"/>
            <a:ext cx="816864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255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 late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2021,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IBM spun-off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its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managed infrastructure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business to Kyndryl, which 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now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designs, builds,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manages private, public,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multi-cloud environments for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its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customers.</a:t>
            </a:r>
            <a:endParaRPr sz="1600" dirty="0">
              <a:latin typeface="Arial"/>
              <a:cs typeface="Arial"/>
            </a:endParaRPr>
          </a:p>
          <a:p>
            <a:pPr marL="12700" marR="5080" indent="-635" algn="just">
              <a:lnSpc>
                <a:spcPct val="100000"/>
              </a:lnSpc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IBM Cloud (Kyndryl)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today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has </a:t>
            </a:r>
            <a:r>
              <a:rPr sz="1600" spc="-65" dirty="0">
                <a:solidFill>
                  <a:srgbClr val="001D58"/>
                </a:solidFill>
                <a:latin typeface="Arial"/>
                <a:cs typeface="Arial"/>
              </a:rPr>
              <a:t>11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regions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b="1" spc="-5" dirty="0">
                <a:solidFill>
                  <a:srgbClr val="001D58"/>
                </a:solidFill>
                <a:latin typeface="Arial"/>
                <a:cs typeface="Arial"/>
              </a:rPr>
              <a:t>29 availability zones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operation.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These  regions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availability zones are distributed throughout the United States, Americas, 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Europe, 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Asia Pacific.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Kyndryl’s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Services segment helps enterprises optimize  their use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providers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by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integrating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services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delivered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from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independent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software vendors,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public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 service providers, internal platforms,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technologies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such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as the internet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things (IoT). </a:t>
            </a:r>
            <a:r>
              <a:rPr sz="1600" spc="-95" dirty="0">
                <a:solidFill>
                  <a:srgbClr val="001D58"/>
                </a:solidFill>
                <a:latin typeface="Arial"/>
                <a:cs typeface="Arial"/>
              </a:rPr>
              <a:t>To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this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end, Kyndryl has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recently established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new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strategic  relationships with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both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Microsoft Azure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and Google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Cloud.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5400" y="3895344"/>
            <a:ext cx="5128259" cy="2755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68853" y="5316389"/>
            <a:ext cx="1894317" cy="4346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8321"/>
            <a:ext cx="327406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spc="-5" dirty="0" smtClean="0"/>
              <a:t>Additional work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2979" y="3324247"/>
            <a:ext cx="7296150" cy="258699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Explore the rest four of the top ten cloud service</a:t>
            </a:r>
            <a:r>
              <a:rPr sz="1600" spc="114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providers:</a:t>
            </a:r>
            <a:endParaRPr sz="16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960"/>
              </a:spcBef>
              <a:buChar char="•"/>
              <a:tabLst>
                <a:tab pos="756285" algn="l"/>
                <a:tab pos="756920" algn="l"/>
              </a:tabLst>
            </a:pPr>
            <a:r>
              <a:rPr sz="1600" spc="-35" dirty="0">
                <a:solidFill>
                  <a:srgbClr val="001D58"/>
                </a:solidFill>
                <a:latin typeface="Arial"/>
                <a:cs typeface="Arial"/>
              </a:rPr>
              <a:t>Tencent</a:t>
            </a:r>
            <a:r>
              <a:rPr sz="1600" spc="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Cloud</a:t>
            </a:r>
            <a:endParaRPr sz="16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960"/>
              </a:spcBef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OVHcloud</a:t>
            </a:r>
            <a:endParaRPr sz="16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960"/>
              </a:spcBef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DigitalOcean</a:t>
            </a:r>
            <a:endParaRPr sz="16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965"/>
              </a:spcBef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Linode</a:t>
            </a: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(Akamel)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Additionally,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try to find which cloud service provider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largest market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share. 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Present the findings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open-class</a:t>
            </a:r>
            <a:r>
              <a:rPr sz="1600" spc="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discussion.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2400" y="1217676"/>
            <a:ext cx="1514855" cy="1731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25628"/>
            <a:ext cx="3813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Advantages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of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Operating</a:t>
            </a:r>
            <a:r>
              <a:rPr sz="1800" b="1" spc="-5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Systems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676400"/>
            <a:ext cx="8225790" cy="449097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600" b="1" spc="-5" dirty="0">
                <a:solidFill>
                  <a:srgbClr val="C00000"/>
                </a:solidFill>
                <a:latin typeface="Arial"/>
                <a:cs typeface="Arial"/>
              </a:rPr>
              <a:t>Resource</a:t>
            </a:r>
            <a:r>
              <a:rPr sz="16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600" b="1" spc="-5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1600" b="1" spc="-5" dirty="0" smtClean="0">
                <a:solidFill>
                  <a:srgbClr val="C00000"/>
                </a:solidFill>
                <a:latin typeface="Arial"/>
                <a:cs typeface="Arial"/>
              </a:rPr>
              <a:t>haring</a:t>
            </a:r>
            <a:endParaRPr sz="1600" dirty="0">
              <a:latin typeface="Arial"/>
              <a:cs typeface="Arial"/>
            </a:endParaRPr>
          </a:p>
          <a:p>
            <a:pPr marR="6985" indent="-635" algn="just">
              <a:lnSpc>
                <a:spcPct val="100000"/>
              </a:lnSpc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Operating System allows for an opportunity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to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share resources with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other users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via services like printers,  fax,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over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network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etc... some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of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most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commonly shared resources include: files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documents, 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videos, images and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apps,</a:t>
            </a:r>
            <a:r>
              <a:rPr sz="1600" spc="-7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mails.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600" b="1" dirty="0" smtClean="0">
                <a:solidFill>
                  <a:srgbClr val="C00000"/>
                </a:solidFill>
                <a:latin typeface="Arial"/>
                <a:cs typeface="Arial"/>
              </a:rPr>
              <a:t>Security</a:t>
            </a:r>
            <a:endParaRPr sz="1600" dirty="0">
              <a:latin typeface="Arial"/>
              <a:cs typeface="Arial"/>
            </a:endParaRPr>
          </a:p>
          <a:p>
            <a:pPr marR="5715" indent="-635" algn="just">
              <a:lnSpc>
                <a:spcPct val="100000"/>
              </a:lnSpc>
            </a:pP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With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large amount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of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data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stored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computers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it's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responsibility of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OS to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make sure all  the data present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is secure.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good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example of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an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OS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actively securing user data is the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Microsoft's </a:t>
            </a: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Windows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Defender, it detects malicious and harmful files and removes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them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or denies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access to</a:t>
            </a:r>
            <a:r>
              <a:rPr sz="1600" spc="-140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install.</a:t>
            </a:r>
            <a:endParaRPr sz="1600" dirty="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1155"/>
              </a:spcBef>
            </a:pPr>
            <a:r>
              <a:rPr sz="1600" b="1" spc="-5" smtClean="0">
                <a:solidFill>
                  <a:srgbClr val="C00000"/>
                </a:solidFill>
                <a:latin typeface="Arial"/>
                <a:cs typeface="Arial"/>
              </a:rPr>
              <a:t>User </a:t>
            </a:r>
            <a:r>
              <a:rPr lang="en-US" sz="1600" b="1" spc="-5" dirty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1600" b="1" spc="-5" smtClean="0">
                <a:solidFill>
                  <a:srgbClr val="C00000"/>
                </a:solidFill>
                <a:latin typeface="Arial"/>
                <a:cs typeface="Arial"/>
              </a:rPr>
              <a:t>riendly</a:t>
            </a:r>
            <a:endParaRPr sz="1600" dirty="0">
              <a:latin typeface="Arial"/>
              <a:cs typeface="Arial"/>
            </a:endParaRPr>
          </a:p>
          <a:p>
            <a:pPr marR="5080" algn="just">
              <a:lnSpc>
                <a:spcPct val="100000"/>
              </a:lnSpc>
            </a:pPr>
            <a:r>
              <a:rPr lang="en-US" sz="1600" dirty="0" smtClean="0">
                <a:solidFill>
                  <a:srgbClr val="002776"/>
                </a:solidFill>
                <a:latin typeface="Arial"/>
                <a:cs typeface="Arial"/>
              </a:rPr>
              <a:t>Users </a:t>
            </a:r>
            <a:r>
              <a:rPr lang="en-US" sz="1600" dirty="0">
                <a:solidFill>
                  <a:srgbClr val="002776"/>
                </a:solidFill>
                <a:latin typeface="Arial"/>
                <a:cs typeface="Arial"/>
              </a:rPr>
              <a:t>can interact </a:t>
            </a:r>
            <a:r>
              <a:rPr lang="en-US" sz="1600" spc="-5" dirty="0">
                <a:solidFill>
                  <a:srgbClr val="002776"/>
                </a:solidFill>
                <a:latin typeface="Arial"/>
                <a:cs typeface="Arial"/>
              </a:rPr>
              <a:t>and communicate with </a:t>
            </a:r>
            <a:r>
              <a:rPr lang="en-US" sz="1600" dirty="0">
                <a:solidFill>
                  <a:srgbClr val="002776"/>
                </a:solidFill>
                <a:latin typeface="Arial"/>
                <a:cs typeface="Arial"/>
              </a:rPr>
              <a:t>the </a:t>
            </a:r>
            <a:r>
              <a:rPr lang="en-US" sz="1600" spc="-5" dirty="0">
                <a:solidFill>
                  <a:srgbClr val="002776"/>
                </a:solidFill>
                <a:latin typeface="Arial"/>
                <a:cs typeface="Arial"/>
              </a:rPr>
              <a:t>machine</a:t>
            </a:r>
            <a:r>
              <a:rPr lang="en-US" sz="1600" spc="-26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002776"/>
                </a:solidFill>
                <a:latin typeface="Arial"/>
                <a:cs typeface="Arial"/>
              </a:rPr>
              <a:t>easily</a:t>
            </a:r>
            <a:r>
              <a:rPr lang="en-US" sz="1600" spc="-5" dirty="0" smtClean="0">
                <a:solidFill>
                  <a:srgbClr val="002776"/>
                </a:solidFill>
                <a:latin typeface="Arial"/>
                <a:cs typeface="Arial"/>
              </a:rPr>
              <a:t>. </a:t>
            </a: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The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interface </a:t>
            </a: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comes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with various symbols, buttons, menus and other graphical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representations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which all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make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them 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easily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understandable. 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600" b="1" spc="-5" dirty="0">
                <a:solidFill>
                  <a:srgbClr val="C00000"/>
                </a:solidFill>
                <a:latin typeface="Arial"/>
                <a:cs typeface="Arial"/>
              </a:rPr>
              <a:t>Multitasking</a:t>
            </a:r>
            <a:endParaRPr sz="1600" dirty="0">
              <a:latin typeface="Arial"/>
              <a:cs typeface="Arial"/>
            </a:endParaRPr>
          </a:p>
          <a:p>
            <a:pPr marR="5080" algn="just">
              <a:lnSpc>
                <a:spcPct val="100000"/>
              </a:lnSpc>
            </a:pP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By using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an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operating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system, users can perform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different tasks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simultaneously. There is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no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need </a:t>
            </a:r>
            <a:r>
              <a:rPr sz="1600" spc="5" dirty="0">
                <a:solidFill>
                  <a:srgbClr val="002776"/>
                </a:solidFill>
                <a:latin typeface="Arial"/>
                <a:cs typeface="Arial"/>
              </a:rPr>
              <a:t>to </a:t>
            </a:r>
            <a:r>
              <a:rPr sz="1600" dirty="0" smtClean="0">
                <a:solidFill>
                  <a:srgbClr val="002776"/>
                </a:solidFill>
                <a:latin typeface="Arial"/>
                <a:cs typeface="Arial"/>
              </a:rPr>
              <a:t>close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one window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to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open</a:t>
            </a:r>
            <a:r>
              <a:rPr sz="1600" spc="-8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another.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25628"/>
            <a:ext cx="4114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Disadvantages </a:t>
            </a:r>
            <a:r>
              <a:rPr sz="1800" b="1" dirty="0">
                <a:solidFill>
                  <a:srgbClr val="002776"/>
                </a:solidFill>
                <a:latin typeface="Comic Sans MS"/>
                <a:cs typeface="Comic Sans MS"/>
              </a:rPr>
              <a:t>of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Operating</a:t>
            </a:r>
            <a:r>
              <a:rPr sz="1800" b="1" spc="-5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Systems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371600"/>
            <a:ext cx="8225155" cy="473719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sz="1600" b="1" spc="-5" dirty="0">
                <a:solidFill>
                  <a:srgbClr val="C00000"/>
                </a:solidFill>
                <a:latin typeface="Arial"/>
                <a:cs typeface="Arial"/>
              </a:rPr>
              <a:t>Cost</a:t>
            </a:r>
            <a:endParaRPr sz="1600" dirty="0">
              <a:latin typeface="Arial"/>
              <a:cs typeface="Arial"/>
            </a:endParaRPr>
          </a:p>
          <a:p>
            <a:pPr marR="5080" algn="just">
              <a:lnSpc>
                <a:spcPct val="100000"/>
              </a:lnSpc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Unless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it is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an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open-source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operating system like </a:t>
            </a: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Linux</a:t>
            </a:r>
            <a:r>
              <a:rPr lang="en-US" sz="1600" spc="-5" dirty="0" smtClean="0">
                <a:solidFill>
                  <a:srgbClr val="002776"/>
                </a:solidFill>
                <a:latin typeface="Arial"/>
                <a:cs typeface="Arial"/>
              </a:rPr>
              <a:t>, </a:t>
            </a: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most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Operating Systems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are 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considered to be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expensive. Even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though users can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choose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free versions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of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them, they typically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have </a:t>
            </a: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limited</a:t>
            </a:r>
            <a:r>
              <a:rPr sz="1600" spc="-25" dirty="0" smtClean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features.</a:t>
            </a:r>
            <a:endParaRPr sz="16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155"/>
              </a:spcBef>
            </a:pPr>
            <a:r>
              <a:rPr sz="1600" b="1" dirty="0" smtClean="0">
                <a:solidFill>
                  <a:srgbClr val="C00000"/>
                </a:solidFill>
                <a:latin typeface="Arial"/>
                <a:cs typeface="Arial"/>
              </a:rPr>
              <a:t>Virus</a:t>
            </a:r>
            <a:r>
              <a:rPr sz="16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600" b="1" spc="-1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600" b="1" spc="-10" dirty="0" smtClean="0">
                <a:solidFill>
                  <a:srgbClr val="C00000"/>
                </a:solidFill>
                <a:latin typeface="Arial"/>
                <a:cs typeface="Arial"/>
              </a:rPr>
              <a:t>ttacks</a:t>
            </a:r>
            <a:endParaRPr sz="1600" dirty="0">
              <a:latin typeface="Arial"/>
              <a:cs typeface="Arial"/>
            </a:endParaRPr>
          </a:p>
          <a:p>
            <a:pPr marR="5080" algn="just">
              <a:lnSpc>
                <a:spcPct val="100000"/>
              </a:lnSpc>
            </a:pP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Just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like any other software out there, the risk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of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viruses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always higher in an operating system. </a:t>
            </a: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Sometimes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users can unknowingly download malicious programs, visit malicious websites, or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open </a:t>
            </a: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email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attachments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containing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viruses, all which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can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make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computer vulnerable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to</a:t>
            </a:r>
            <a:r>
              <a:rPr sz="1600" spc="-180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viruses.</a:t>
            </a:r>
            <a:endParaRPr sz="16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155"/>
              </a:spcBef>
            </a:pPr>
            <a:r>
              <a:rPr sz="1600" b="1" spc="-5" dirty="0" smtClean="0">
                <a:solidFill>
                  <a:srgbClr val="C00000"/>
                </a:solidFill>
                <a:latin typeface="Arial"/>
                <a:cs typeface="Arial"/>
              </a:rPr>
              <a:t>Complexity</a:t>
            </a:r>
            <a:endParaRPr sz="1600" dirty="0">
              <a:latin typeface="Arial"/>
              <a:cs typeface="Arial"/>
            </a:endParaRPr>
          </a:p>
          <a:p>
            <a:pPr marR="5080" algn="just">
              <a:lnSpc>
                <a:spcPct val="100000"/>
              </a:lnSpc>
            </a:pP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languages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used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to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develop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OS are more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complex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for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people without programming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knowledge. 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So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you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can't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always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quickly resolve problems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OS just by looking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you will have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to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look for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a </a:t>
            </a:r>
            <a:r>
              <a:rPr sz="1600" dirty="0" smtClean="0">
                <a:solidFill>
                  <a:srgbClr val="002776"/>
                </a:solidFill>
                <a:latin typeface="Arial"/>
                <a:cs typeface="Arial"/>
              </a:rPr>
              <a:t>specialist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to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help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hence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maintenance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cost</a:t>
            </a:r>
            <a:r>
              <a:rPr sz="1600" spc="-180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rises.</a:t>
            </a:r>
            <a:endParaRPr sz="16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160"/>
              </a:spcBef>
            </a:pPr>
            <a:r>
              <a:rPr sz="1600" b="1" spc="-10" dirty="0" smtClean="0">
                <a:solidFill>
                  <a:srgbClr val="C00000"/>
                </a:solidFill>
                <a:latin typeface="Arial"/>
                <a:cs typeface="Arial"/>
              </a:rPr>
              <a:t>System</a:t>
            </a:r>
            <a:r>
              <a:rPr sz="1600" b="1" spc="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600" b="1" dirty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1600" b="1" dirty="0" smtClean="0">
                <a:solidFill>
                  <a:srgbClr val="C00000"/>
                </a:solidFill>
                <a:latin typeface="Arial"/>
                <a:cs typeface="Arial"/>
              </a:rPr>
              <a:t>ailure</a:t>
            </a:r>
            <a:endParaRPr lang="en-US" sz="1600" dirty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</a:pPr>
            <a:r>
              <a:rPr sz="1600" dirty="0" smtClean="0">
                <a:solidFill>
                  <a:srgbClr val="002776"/>
                </a:solidFill>
                <a:latin typeface="Arial"/>
                <a:cs typeface="Arial"/>
              </a:rPr>
              <a:t>An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operating system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is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the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heart of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the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computer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system, and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if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by any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chance,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due to any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reason, </a:t>
            </a:r>
            <a:r>
              <a:rPr sz="1600" spc="-15" dirty="0">
                <a:solidFill>
                  <a:srgbClr val="002776"/>
                </a:solidFill>
                <a:latin typeface="Arial"/>
                <a:cs typeface="Arial"/>
              </a:rPr>
              <a:t>it </a:t>
            </a:r>
            <a:r>
              <a:rPr sz="1600" spc="-5" dirty="0" smtClean="0">
                <a:solidFill>
                  <a:srgbClr val="002776"/>
                </a:solidFill>
                <a:latin typeface="Arial"/>
                <a:cs typeface="Arial"/>
              </a:rPr>
              <a:t>stops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functioning, then the whole system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will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crash.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Meaning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without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an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OS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your machine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can </a:t>
            </a:r>
            <a:r>
              <a:rPr sz="1600" spc="-10" dirty="0">
                <a:solidFill>
                  <a:srgbClr val="002776"/>
                </a:solidFill>
                <a:latin typeface="Arial"/>
                <a:cs typeface="Arial"/>
              </a:rPr>
              <a:t>not </a:t>
            </a:r>
            <a:r>
              <a:rPr sz="1600" dirty="0" smtClean="0">
                <a:solidFill>
                  <a:srgbClr val="002776"/>
                </a:solidFill>
                <a:latin typeface="Arial"/>
                <a:cs typeface="Arial"/>
              </a:rPr>
              <a:t>function </a:t>
            </a:r>
            <a:r>
              <a:rPr sz="1600" spc="-5" dirty="0">
                <a:solidFill>
                  <a:srgbClr val="002776"/>
                </a:solidFill>
                <a:latin typeface="Arial"/>
                <a:cs typeface="Arial"/>
              </a:rPr>
              <a:t>at</a:t>
            </a:r>
            <a:r>
              <a:rPr sz="1600" spc="-60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2776"/>
                </a:solidFill>
                <a:latin typeface="Arial"/>
                <a:cs typeface="Arial"/>
              </a:rPr>
              <a:t>all.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325628"/>
            <a:ext cx="2279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Inside Data</a:t>
            </a:r>
            <a:r>
              <a:rPr sz="1800" b="1" spc="-45" dirty="0">
                <a:solidFill>
                  <a:srgbClr val="002776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2776"/>
                </a:solidFill>
                <a:latin typeface="Comic Sans MS"/>
                <a:cs typeface="Comic Sans MS"/>
              </a:rPr>
              <a:t>Centеrs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8659" y="4863084"/>
            <a:ext cx="3078479" cy="1994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" y="4878323"/>
            <a:ext cx="2971799" cy="1943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18659" y="3947159"/>
            <a:ext cx="4105655" cy="27675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0" y="3962400"/>
            <a:ext cx="3998975" cy="26609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83379" y="1127760"/>
            <a:ext cx="4055363" cy="22158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36720" y="1143000"/>
            <a:ext cx="3948671" cy="21092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31747" y="3023616"/>
            <a:ext cx="2964179" cy="17068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85087" y="3038855"/>
            <a:ext cx="2857499" cy="160019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7659" y="1127760"/>
            <a:ext cx="2964179" cy="17068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1000" y="1143000"/>
            <a:ext cx="2857499" cy="16001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25628"/>
            <a:ext cx="3033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mic Sans MS"/>
                <a:cs typeface="Comic Sans MS"/>
              </a:rPr>
              <a:t>Quick “In class Mock</a:t>
            </a:r>
            <a:r>
              <a:rPr sz="1800" b="1" spc="-85" dirty="0">
                <a:latin typeface="Comic Sans MS"/>
                <a:cs typeface="Comic Sans MS"/>
              </a:rPr>
              <a:t> </a:t>
            </a:r>
            <a:r>
              <a:rPr sz="1800" b="1" dirty="0">
                <a:latin typeface="Comic Sans MS"/>
                <a:cs typeface="Comic Sans MS"/>
              </a:rPr>
              <a:t>test”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50480" y="161544"/>
            <a:ext cx="1411223" cy="16108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340" y="2727451"/>
            <a:ext cx="5901055" cy="1930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two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main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types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software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are Application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software and</a:t>
            </a:r>
            <a:r>
              <a:rPr sz="1600" spc="16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.......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imes New Roman"/>
              <a:cs typeface="Times New Roman"/>
            </a:endParaRPr>
          </a:p>
          <a:p>
            <a:pPr marL="812800" indent="-342900">
              <a:lnSpc>
                <a:spcPct val="100000"/>
              </a:lnSpc>
              <a:buAutoNum type="alphaLcParenR"/>
              <a:tabLst>
                <a:tab pos="812165" algn="l"/>
                <a:tab pos="8128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</a:t>
            </a:r>
            <a:r>
              <a:rPr sz="1600" spc="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812800" indent="-342900">
              <a:lnSpc>
                <a:spcPct val="100000"/>
              </a:lnSpc>
              <a:spcBef>
                <a:spcPts val="960"/>
              </a:spcBef>
              <a:buAutoNum type="alphaLcParenR"/>
              <a:tabLst>
                <a:tab pos="812165" algn="l"/>
                <a:tab pos="812800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Transaction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812800" indent="-342900">
              <a:lnSpc>
                <a:spcPct val="100000"/>
              </a:lnSpc>
              <a:spcBef>
                <a:spcPts val="960"/>
              </a:spcBef>
              <a:buAutoNum type="alphaLcParenR"/>
              <a:tabLst>
                <a:tab pos="812165" algn="l"/>
                <a:tab pos="8128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Strategic</a:t>
            </a:r>
            <a:r>
              <a:rPr sz="1600" spc="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  <a:p>
            <a:pPr marL="812800" indent="-342900">
              <a:lnSpc>
                <a:spcPct val="100000"/>
              </a:lnSpc>
              <a:spcBef>
                <a:spcPts val="960"/>
              </a:spcBef>
              <a:buAutoNum type="alphaLcParenR"/>
              <a:tabLst>
                <a:tab pos="812165" algn="l"/>
                <a:tab pos="812800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Embedded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25628"/>
            <a:ext cx="3033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mic Sans MS"/>
                <a:cs typeface="Comic Sans MS"/>
              </a:rPr>
              <a:t>Quick “In class Mock</a:t>
            </a:r>
            <a:r>
              <a:rPr sz="1800" b="1" spc="-85" dirty="0">
                <a:latin typeface="Comic Sans MS"/>
                <a:cs typeface="Comic Sans MS"/>
              </a:rPr>
              <a:t> </a:t>
            </a:r>
            <a:r>
              <a:rPr sz="1800" b="1" dirty="0">
                <a:latin typeface="Comic Sans MS"/>
                <a:cs typeface="Comic Sans MS"/>
              </a:rPr>
              <a:t>test”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50480" y="161544"/>
            <a:ext cx="1411223" cy="16108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340" y="2466848"/>
            <a:ext cx="7763509" cy="22050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  <a:tabLst>
                <a:tab pos="711835" algn="l"/>
                <a:tab pos="1228725" algn="l"/>
                <a:tab pos="1533525" algn="l"/>
                <a:tab pos="2435225" algn="l"/>
                <a:tab pos="3406140" algn="l"/>
                <a:tab pos="3822065" algn="l"/>
                <a:tab pos="4944110" algn="l"/>
                <a:tab pos="6062980" algn="l"/>
                <a:tab pos="7178040" algn="l"/>
                <a:tab pos="7527290" algn="l"/>
              </a:tabLst>
            </a:pP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W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h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ic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h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	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</a:t>
            </a:r>
            <a:r>
              <a:rPr sz="1600" spc="-25" dirty="0">
                <a:solidFill>
                  <a:srgbClr val="001D58"/>
                </a:solidFill>
                <a:latin typeface="Arial"/>
                <a:cs typeface="Arial"/>
              </a:rPr>
              <a:t>y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	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	s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oft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w</a:t>
            </a:r>
            <a:r>
              <a:rPr sz="1600" spc="5" dirty="0">
                <a:solidFill>
                  <a:srgbClr val="001D58"/>
                </a:solidFill>
                <a:latin typeface="Arial"/>
                <a:cs typeface="Arial"/>
              </a:rPr>
              <a:t>a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r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	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ana</a:t>
            </a:r>
            <a:r>
              <a:rPr sz="1600" spc="5" dirty="0">
                <a:solidFill>
                  <a:srgbClr val="001D58"/>
                </a:solidFill>
                <a:latin typeface="Arial"/>
                <a:cs typeface="Arial"/>
              </a:rPr>
              <a:t>g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e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	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	c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put</a:t>
            </a:r>
            <a:r>
              <a:rPr sz="1600" spc="5" dirty="0">
                <a:solidFill>
                  <a:srgbClr val="001D58"/>
                </a:solidFill>
                <a:latin typeface="Arial"/>
                <a:cs typeface="Arial"/>
              </a:rPr>
              <a:t>e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r'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	</a:t>
            </a:r>
            <a:r>
              <a:rPr sz="1600" spc="5" dirty="0">
                <a:solidFill>
                  <a:srgbClr val="001D58"/>
                </a:solidFill>
                <a:latin typeface="Arial"/>
                <a:cs typeface="Arial"/>
              </a:rPr>
              <a:t>p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r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c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ss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s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,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	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fun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c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</a:t>
            </a:r>
            <a:r>
              <a:rPr sz="1600" spc="-20" dirty="0">
                <a:solidFill>
                  <a:srgbClr val="001D58"/>
                </a:solidFill>
                <a:latin typeface="Arial"/>
                <a:cs typeface="Arial"/>
              </a:rPr>
              <a:t>n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i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n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g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	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a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	</a:t>
            </a:r>
            <a:r>
              <a:rPr sz="1600" spc="-20" dirty="0" smtClean="0">
                <a:solidFill>
                  <a:srgbClr val="001D58"/>
                </a:solidFill>
                <a:latin typeface="Arial"/>
                <a:cs typeface="Arial"/>
              </a:rPr>
              <a:t>an</a:t>
            </a:r>
            <a:r>
              <a:rPr lang="en-US" sz="1600" spc="-20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20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interface, connecting the </a:t>
            </a:r>
            <a:r>
              <a:rPr sz="1600" spc="-25" dirty="0">
                <a:solidFill>
                  <a:srgbClr val="001D58"/>
                </a:solidFill>
                <a:latin typeface="Arial"/>
                <a:cs typeface="Arial"/>
              </a:rPr>
              <a:t>user,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 application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software, and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the</a:t>
            </a:r>
            <a:r>
              <a:rPr sz="1600" spc="16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hardware?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812800" indent="-342900">
              <a:lnSpc>
                <a:spcPct val="100000"/>
              </a:lnSpc>
              <a:buAutoNum type="alphaLcParenR"/>
              <a:tabLst>
                <a:tab pos="812165" algn="l"/>
                <a:tab pos="8128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</a:t>
            </a:r>
            <a:r>
              <a:rPr sz="1600" spc="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software</a:t>
            </a:r>
            <a:endParaRPr sz="1600" dirty="0">
              <a:latin typeface="Arial"/>
              <a:cs typeface="Arial"/>
            </a:endParaRPr>
          </a:p>
          <a:p>
            <a:pPr marL="812800" indent="-342900">
              <a:lnSpc>
                <a:spcPct val="100000"/>
              </a:lnSpc>
              <a:spcBef>
                <a:spcPts val="960"/>
              </a:spcBef>
              <a:buAutoNum type="alphaLcParenR"/>
              <a:tabLst>
                <a:tab pos="812165" algn="l"/>
                <a:tab pos="812800" algn="l"/>
              </a:tabLst>
            </a:pP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Operating</a:t>
            </a:r>
            <a:r>
              <a:rPr sz="1600" spc="2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system</a:t>
            </a:r>
            <a:endParaRPr sz="1600" dirty="0">
              <a:latin typeface="Arial"/>
              <a:cs typeface="Arial"/>
            </a:endParaRPr>
          </a:p>
          <a:p>
            <a:pPr marL="812800" indent="-342900">
              <a:lnSpc>
                <a:spcPct val="100000"/>
              </a:lnSpc>
              <a:spcBef>
                <a:spcPts val="960"/>
              </a:spcBef>
              <a:buAutoNum type="alphaLcParenR"/>
              <a:tabLst>
                <a:tab pos="812165" algn="l"/>
                <a:tab pos="8128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Utility</a:t>
            </a:r>
            <a:r>
              <a:rPr sz="1600" spc="-2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program</a:t>
            </a:r>
            <a:endParaRPr sz="1600" dirty="0">
              <a:latin typeface="Arial"/>
              <a:cs typeface="Arial"/>
            </a:endParaRPr>
          </a:p>
          <a:p>
            <a:pPr marL="812800" indent="-342900">
              <a:lnSpc>
                <a:spcPct val="100000"/>
              </a:lnSpc>
              <a:spcBef>
                <a:spcPts val="960"/>
              </a:spcBef>
              <a:buAutoNum type="alphaLcParenR"/>
              <a:tabLst>
                <a:tab pos="812165" algn="l"/>
                <a:tab pos="812800" algn="l"/>
              </a:tabLst>
            </a:pPr>
            <a:r>
              <a:rPr sz="1600" spc="-15" dirty="0">
                <a:solidFill>
                  <a:srgbClr val="001D58"/>
                </a:solidFill>
                <a:latin typeface="Arial"/>
                <a:cs typeface="Arial"/>
              </a:rPr>
              <a:t>Translator</a:t>
            </a:r>
            <a:r>
              <a:rPr sz="1600" spc="1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program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25628"/>
            <a:ext cx="3033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mic Sans MS"/>
                <a:cs typeface="Comic Sans MS"/>
              </a:rPr>
              <a:t>Quick “In class Mock</a:t>
            </a:r>
            <a:r>
              <a:rPr sz="1800" b="1" spc="-85" dirty="0">
                <a:latin typeface="Comic Sans MS"/>
                <a:cs typeface="Comic Sans MS"/>
              </a:rPr>
              <a:t> </a:t>
            </a:r>
            <a:r>
              <a:rPr sz="1800" b="1" dirty="0">
                <a:latin typeface="Comic Sans MS"/>
                <a:cs typeface="Comic Sans MS"/>
              </a:rPr>
              <a:t>test”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50480" y="161544"/>
            <a:ext cx="1411223" cy="16108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340" y="2466848"/>
            <a:ext cx="7766050" cy="1958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spc="-40" dirty="0">
                <a:solidFill>
                  <a:srgbClr val="001D58"/>
                </a:solidFill>
                <a:latin typeface="Arial"/>
                <a:cs typeface="Arial"/>
              </a:rPr>
              <a:t>Two</a:t>
            </a:r>
            <a:r>
              <a:rPr sz="1600" spc="6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or</a:t>
            </a:r>
            <a:r>
              <a:rPr sz="1600" spc="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more</a:t>
            </a:r>
            <a:r>
              <a:rPr sz="1600" spc="4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computers</a:t>
            </a:r>
            <a:r>
              <a:rPr sz="1600" spc="4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connected</a:t>
            </a:r>
            <a:r>
              <a:rPr sz="1600" spc="3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to</a:t>
            </a:r>
            <a:r>
              <a:rPr sz="1600" spc="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each</a:t>
            </a:r>
            <a:r>
              <a:rPr sz="1600" spc="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other</a:t>
            </a:r>
            <a:r>
              <a:rPr sz="1600" spc="4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of</a:t>
            </a:r>
            <a:r>
              <a:rPr sz="1600" spc="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sharing</a:t>
            </a:r>
            <a:r>
              <a:rPr sz="1600" spc="3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information</a:t>
            </a:r>
            <a:r>
              <a:rPr sz="1600" spc="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form</a:t>
            </a:r>
            <a:r>
              <a:rPr sz="1600" spc="4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a</a:t>
            </a: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endParaRPr sz="1600" dirty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  <a:spcBef>
                <a:spcPts val="45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812800" indent="-342900" algn="just">
              <a:lnSpc>
                <a:spcPct val="100000"/>
              </a:lnSpc>
              <a:buAutoNum type="alphaLcParenR"/>
              <a:tabLst>
                <a:tab pos="812165" algn="l"/>
                <a:tab pos="812800" algn="l"/>
              </a:tabLst>
            </a:pPr>
            <a:r>
              <a:rPr lang="en-US" sz="1600" spc="-5" dirty="0" smtClean="0">
                <a:solidFill>
                  <a:srgbClr val="001D58"/>
                </a:solidFill>
                <a:latin typeface="Arial"/>
                <a:cs typeface="Arial"/>
              </a:rPr>
              <a:t>s</a:t>
            </a:r>
            <a:r>
              <a:rPr sz="1600" spc="-5" dirty="0" smtClean="0">
                <a:solidFill>
                  <a:srgbClr val="001D58"/>
                </a:solidFill>
                <a:latin typeface="Arial"/>
                <a:cs typeface="Arial"/>
              </a:rPr>
              <a:t>erver</a:t>
            </a:r>
            <a:endParaRPr sz="1600" dirty="0">
              <a:latin typeface="Arial"/>
              <a:cs typeface="Arial"/>
            </a:endParaRPr>
          </a:p>
          <a:p>
            <a:pPr marL="812800" indent="-342900" algn="just">
              <a:lnSpc>
                <a:spcPct val="100000"/>
              </a:lnSpc>
              <a:spcBef>
                <a:spcPts val="960"/>
              </a:spcBef>
              <a:buAutoNum type="alphaLcParenR"/>
              <a:tabLst>
                <a:tab pos="812165" algn="l"/>
                <a:tab pos="812800" algn="l"/>
              </a:tabLst>
            </a:pPr>
            <a:r>
              <a:rPr lang="en-US" sz="1600" spc="-10" dirty="0" smtClean="0">
                <a:solidFill>
                  <a:srgbClr val="001D58"/>
                </a:solidFill>
                <a:latin typeface="Arial"/>
                <a:cs typeface="Arial"/>
              </a:rPr>
              <a:t>r</a:t>
            </a:r>
            <a:r>
              <a:rPr sz="1600" spc="-10" dirty="0" smtClean="0">
                <a:solidFill>
                  <a:srgbClr val="001D58"/>
                </a:solidFill>
                <a:latin typeface="Arial"/>
                <a:cs typeface="Arial"/>
              </a:rPr>
              <a:t>outer</a:t>
            </a:r>
            <a:endParaRPr sz="1600" dirty="0">
              <a:latin typeface="Arial"/>
              <a:cs typeface="Arial"/>
            </a:endParaRPr>
          </a:p>
          <a:p>
            <a:pPr marL="812800" indent="-342900" algn="just">
              <a:lnSpc>
                <a:spcPct val="100000"/>
              </a:lnSpc>
              <a:spcBef>
                <a:spcPts val="960"/>
              </a:spcBef>
              <a:buAutoNum type="alphaLcParenR"/>
              <a:tabLst>
                <a:tab pos="812165" algn="l"/>
                <a:tab pos="812800" algn="l"/>
              </a:tabLst>
            </a:pPr>
            <a:r>
              <a:rPr lang="en-US" sz="1600" spc="-10" smtClean="0">
                <a:solidFill>
                  <a:srgbClr val="001D58"/>
                </a:solidFill>
                <a:latin typeface="Arial"/>
                <a:cs typeface="Arial"/>
              </a:rPr>
              <a:t>n</a:t>
            </a:r>
            <a:r>
              <a:rPr sz="1600" spc="-10" smtClean="0">
                <a:solidFill>
                  <a:srgbClr val="001D58"/>
                </a:solidFill>
                <a:latin typeface="Arial"/>
                <a:cs typeface="Arial"/>
              </a:rPr>
              <a:t>etwork</a:t>
            </a:r>
            <a:endParaRPr sz="1600" dirty="0">
              <a:latin typeface="Arial"/>
              <a:cs typeface="Arial"/>
            </a:endParaRPr>
          </a:p>
          <a:p>
            <a:pPr marL="812800" indent="-342900" algn="just">
              <a:lnSpc>
                <a:spcPct val="100000"/>
              </a:lnSpc>
              <a:spcBef>
                <a:spcPts val="960"/>
              </a:spcBef>
              <a:buAutoNum type="alphaLcParenR"/>
              <a:tabLst>
                <a:tab pos="812165" algn="l"/>
                <a:tab pos="812800" algn="l"/>
              </a:tabLst>
            </a:pP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VPN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25628"/>
            <a:ext cx="1310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mic Sans MS"/>
                <a:cs typeface="Comic Sans MS"/>
              </a:rPr>
              <a:t>Useful</a:t>
            </a:r>
            <a:r>
              <a:rPr sz="1800" b="1" spc="-95" dirty="0">
                <a:latin typeface="Comic Sans MS"/>
                <a:cs typeface="Comic Sans MS"/>
              </a:rPr>
              <a:t> </a:t>
            </a:r>
            <a:r>
              <a:rPr sz="1800" b="1" spc="-5" dirty="0">
                <a:latin typeface="Comic Sans MS"/>
                <a:cs typeface="Comic Sans MS"/>
              </a:rPr>
              <a:t>links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6723" y="2586149"/>
            <a:ext cx="466661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0" marR="106680" algn="ctr">
              <a:lnSpc>
                <a:spcPct val="100000"/>
              </a:lnSpc>
              <a:spcBef>
                <a:spcPts val="95"/>
              </a:spcBef>
            </a:pPr>
            <a:r>
              <a:rPr sz="1600" u="heavy" spc="-10" dirty="0">
                <a:solidFill>
                  <a:srgbClr val="00A0DE"/>
                </a:solidFill>
                <a:uFill>
                  <a:solidFill>
                    <a:srgbClr val="00A0DE"/>
                  </a:solidFill>
                </a:uFill>
                <a:latin typeface="Arial"/>
                <a:cs typeface="Arial"/>
                <a:hlinkClick r:id="rId2"/>
              </a:rPr>
              <a:t>https://www.youtube.com/watch?v=q6WlzHLxNKI </a:t>
            </a:r>
            <a:r>
              <a:rPr sz="1600" spc="-10" dirty="0">
                <a:solidFill>
                  <a:srgbClr val="00A0D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Inside Amazon's </a:t>
            </a:r>
            <a:r>
              <a:rPr sz="1600" dirty="0">
                <a:solidFill>
                  <a:srgbClr val="001D58"/>
                </a:solidFill>
                <a:latin typeface="Arial"/>
                <a:cs typeface="Arial"/>
              </a:rPr>
              <a:t>Massive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Data</a:t>
            </a:r>
            <a:r>
              <a:rPr sz="1600" spc="-100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Center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</a:pPr>
            <a:r>
              <a:rPr sz="1600" u="heavy" spc="-10" dirty="0">
                <a:solidFill>
                  <a:srgbClr val="00A0DE"/>
                </a:solidFill>
                <a:uFill>
                  <a:solidFill>
                    <a:srgbClr val="00A0DE"/>
                  </a:solidFill>
                </a:uFill>
                <a:latin typeface="Arial"/>
                <a:cs typeface="Arial"/>
                <a:hlinkClick r:id="rId3"/>
              </a:rPr>
              <a:t>https://www.youtube.com/watch?v=0_veMXUsutU </a:t>
            </a:r>
            <a:r>
              <a:rPr sz="1600" spc="-10" dirty="0">
                <a:solidFill>
                  <a:srgbClr val="00A0DE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Why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does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Microsoft have </a:t>
            </a:r>
            <a:r>
              <a:rPr sz="1600" spc="-10" dirty="0">
                <a:solidFill>
                  <a:srgbClr val="001D58"/>
                </a:solidFill>
                <a:latin typeface="Arial"/>
                <a:cs typeface="Arial"/>
              </a:rPr>
              <a:t>underwater data</a:t>
            </a:r>
            <a:r>
              <a:rPr sz="1600" spc="85" dirty="0">
                <a:solidFill>
                  <a:srgbClr val="001D58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1D58"/>
                </a:solidFill>
                <a:latin typeface="Arial"/>
                <a:cs typeface="Arial"/>
              </a:rPr>
              <a:t>centers?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5132" y="3151124"/>
            <a:ext cx="24879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002776"/>
                </a:solidFill>
                <a:latin typeface="Arial"/>
                <a:cs typeface="Arial"/>
              </a:rPr>
              <a:t>Thank </a:t>
            </a:r>
            <a:r>
              <a:rPr sz="1400" b="1" spc="-20" dirty="0">
                <a:solidFill>
                  <a:srgbClr val="002776"/>
                </a:solidFill>
                <a:latin typeface="Arial"/>
                <a:cs typeface="Arial"/>
              </a:rPr>
              <a:t>you </a:t>
            </a:r>
            <a:r>
              <a:rPr sz="1400" b="1" spc="-5" dirty="0">
                <a:solidFill>
                  <a:srgbClr val="002776"/>
                </a:solidFill>
                <a:latin typeface="Arial"/>
                <a:cs typeface="Arial"/>
              </a:rPr>
              <a:t>for </a:t>
            </a:r>
            <a:r>
              <a:rPr sz="1400" b="1" spc="-20" dirty="0">
                <a:solidFill>
                  <a:srgbClr val="002776"/>
                </a:solidFill>
                <a:latin typeface="Arial"/>
                <a:cs typeface="Arial"/>
              </a:rPr>
              <a:t>your</a:t>
            </a:r>
            <a:r>
              <a:rPr sz="1400" b="1" spc="35" dirty="0">
                <a:solidFill>
                  <a:srgbClr val="002776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002776"/>
                </a:solidFill>
                <a:latin typeface="Arial"/>
                <a:cs typeface="Arial"/>
              </a:rPr>
              <a:t>attention!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Words>3764</Words>
  <Application>Microsoft Office PowerPoint</Application>
  <PresentationFormat>On-screen Show (4:3)</PresentationFormat>
  <Paragraphs>302</Paragraphs>
  <Slides>45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Comic Sans MS</vt:lpstr>
      <vt:lpstr>Times New Roman</vt:lpstr>
      <vt:lpstr>Office Theme</vt:lpstr>
      <vt:lpstr>University American College Skopje</vt:lpstr>
      <vt:lpstr>PowerPoint Presentation</vt:lpstr>
      <vt:lpstr>Lecture overview</vt:lpstr>
      <vt:lpstr>What is an Operating System?</vt:lpstr>
      <vt:lpstr>History of Operating System</vt:lpstr>
      <vt:lpstr>The Structure of Computer Systems</vt:lpstr>
      <vt:lpstr>Functions of Operating System</vt:lpstr>
      <vt:lpstr>Functions of Operating System</vt:lpstr>
      <vt:lpstr>Functions of Operating System</vt:lpstr>
      <vt:lpstr>Functions of Operating System</vt:lpstr>
      <vt:lpstr>Functions of Operating System</vt:lpstr>
      <vt:lpstr>Functions of Operating System</vt:lpstr>
      <vt:lpstr>Functions of Operating System</vt:lpstr>
      <vt:lpstr>Types of Operating Systems</vt:lpstr>
      <vt:lpstr>The most popular OS</vt:lpstr>
      <vt:lpstr>Microsoft Windows</vt:lpstr>
      <vt:lpstr>Apple Mac OS</vt:lpstr>
      <vt:lpstr>Apple Mac OS (cont.)</vt:lpstr>
      <vt:lpstr>Google’s Android OS</vt:lpstr>
      <vt:lpstr>Apple IOS</vt:lpstr>
      <vt:lpstr>Linux</vt:lpstr>
      <vt:lpstr>Mobile vs. Computer OS</vt:lpstr>
      <vt:lpstr>Homework</vt:lpstr>
      <vt:lpstr>Virtual (Cloud) Operating System</vt:lpstr>
      <vt:lpstr>Cloud Operating System</vt:lpstr>
      <vt:lpstr>PowerPoint Presentation</vt:lpstr>
      <vt:lpstr>Claud OS features</vt:lpstr>
      <vt:lpstr>Cloud Services Functions</vt:lpstr>
      <vt:lpstr>Types of Cloud Computing</vt:lpstr>
      <vt:lpstr>Top 10 Cloud Service Providers</vt:lpstr>
      <vt:lpstr>Amazon Web Services</vt:lpstr>
      <vt:lpstr>Microsoft Azure</vt:lpstr>
      <vt:lpstr>Google Cloud Platform</vt:lpstr>
      <vt:lpstr>Alibaba Cloud</vt:lpstr>
      <vt:lpstr>Oracle Cloud</vt:lpstr>
      <vt:lpstr>IBM Cloud</vt:lpstr>
      <vt:lpstr>Additional work</vt:lpstr>
      <vt:lpstr>Advantages of Operating Systems</vt:lpstr>
      <vt:lpstr>Disadvantages of Operating Systems</vt:lpstr>
      <vt:lpstr>PowerPoint Presentation</vt:lpstr>
      <vt:lpstr>Quick “In class Mock test”</vt:lpstr>
      <vt:lpstr>Quick “In class Mock test”</vt:lpstr>
      <vt:lpstr>Quick “In class Mock test”</vt:lpstr>
      <vt:lpstr>Useful links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Aurelien</dc:creator>
  <cp:lastModifiedBy>MS</cp:lastModifiedBy>
  <cp:revision>51</cp:revision>
  <dcterms:created xsi:type="dcterms:W3CDTF">2023-10-04T08:57:39Z</dcterms:created>
  <dcterms:modified xsi:type="dcterms:W3CDTF">2024-10-03T21:09:55Z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2023-09-24T00:00:00Z</vt:filetime>
  </property>
  <property fmtid="{D5CDD505-2E9C-101B-9397-08002B2CF9AE}" pid="3" name="Creator">
    <vt:lpwstr>Acrobat PDFMaker 19 for PowerPoint</vt:lpwstr>
  </property>
  <property fmtid="{D5CDD505-2E9C-101B-9397-08002B2CF9AE}" pid="4" name="LastSaved">
    <vt:filetime>2023-10-04T00:00:00Z</vt:filetime>
  </property>
</Properties>
</file>