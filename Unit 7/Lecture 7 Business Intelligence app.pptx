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media/image11.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Lst>
  <p:notesMasterIdLst>
    <p:notesMasterId r:id="rId36"/>
  </p:notesMasterIdLst>
  <p:sldIdLst>
    <p:sldId id="1086" r:id="rId2"/>
    <p:sldId id="1754" r:id="rId3"/>
    <p:sldId id="2355" r:id="rId4"/>
    <p:sldId id="2317" r:id="rId5"/>
    <p:sldId id="2315" r:id="rId6"/>
    <p:sldId id="2316" r:id="rId7"/>
    <p:sldId id="2318" r:id="rId8"/>
    <p:sldId id="2319" r:id="rId9"/>
    <p:sldId id="2320" r:id="rId10"/>
    <p:sldId id="2354" r:id="rId11"/>
    <p:sldId id="2321" r:id="rId12"/>
    <p:sldId id="2324" r:id="rId13"/>
    <p:sldId id="2326" r:id="rId14"/>
    <p:sldId id="2325" r:id="rId15"/>
    <p:sldId id="2328" r:id="rId16"/>
    <p:sldId id="2327" r:id="rId17"/>
    <p:sldId id="2322" r:id="rId18"/>
    <p:sldId id="2329" r:id="rId19"/>
    <p:sldId id="2353" r:id="rId20"/>
    <p:sldId id="2336" r:id="rId21"/>
    <p:sldId id="2342" r:id="rId22"/>
    <p:sldId id="2338" r:id="rId23"/>
    <p:sldId id="2339" r:id="rId24"/>
    <p:sldId id="2340" r:id="rId25"/>
    <p:sldId id="2341" r:id="rId26"/>
    <p:sldId id="2343" r:id="rId27"/>
    <p:sldId id="2352" r:id="rId28"/>
    <p:sldId id="2344" r:id="rId29"/>
    <p:sldId id="2346" r:id="rId30"/>
    <p:sldId id="2347" r:id="rId31"/>
    <p:sldId id="2349" r:id="rId32"/>
    <p:sldId id="2348" r:id="rId33"/>
    <p:sldId id="1985" r:id="rId34"/>
    <p:sldId id="198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519"/>
    <a:srgbClr val="FAD35B"/>
    <a:srgbClr val="517BA9"/>
    <a:srgbClr val="B40CA0"/>
    <a:srgbClr val="D80EC0"/>
    <a:srgbClr val="F77DEB"/>
    <a:srgbClr val="F2802A"/>
    <a:srgbClr val="F59E5D"/>
    <a:srgbClr val="F2E6BC"/>
    <a:srgbClr val="FAB4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832" autoAdjust="0"/>
    <p:restoredTop sz="93673" autoAdjust="0"/>
  </p:normalViewPr>
  <p:slideViewPr>
    <p:cSldViewPr>
      <p:cViewPr varScale="1">
        <p:scale>
          <a:sx n="65" d="100"/>
          <a:sy n="65" d="100"/>
        </p:scale>
        <p:origin x="1044"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9/9/2024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09/09/67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microsoft.com/en-us/ai/dynamics-365-ai?rtc=2" TargetMode="External"/><Relationship Id="rId2" Type="http://schemas.openxmlformats.org/officeDocument/2006/relationships/hyperlink" Target="https://www.youtube.com/watch?v=HW92M1e9ZKg" TargetMode="External"/><Relationship Id="rId1" Type="http://schemas.openxmlformats.org/officeDocument/2006/relationships/slideLayout" Target="../slideLayouts/slideLayout2.xml"/><Relationship Id="rId4" Type="http://schemas.openxmlformats.org/officeDocument/2006/relationships/hyperlink" Target="https://www.microsoft.com/ai/dynamics-365-ai?rtc=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jhgZ7cnYQbM" TargetMode="External"/><Relationship Id="rId2" Type="http://schemas.openxmlformats.org/officeDocument/2006/relationships/hyperlink" Target="https://www.youtube.com/watch?v=x2SuRIFjimI" TargetMode="External"/><Relationship Id="rId1" Type="http://schemas.openxmlformats.org/officeDocument/2006/relationships/slideLayout" Target="../slideLayouts/slideLayout2.xml"/><Relationship Id="rId4" Type="http://schemas.openxmlformats.org/officeDocument/2006/relationships/hyperlink" Target="https://www.youtube.com/channel/UCJGCg4rB3QSs8y_1FquelBQ"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4648" y="3422596"/>
            <a:ext cx="8867736" cy="523220"/>
          </a:xfrm>
          <a:prstGeom prst="rect">
            <a:avLst/>
          </a:prstGeom>
          <a:noFill/>
        </p:spPr>
        <p:txBody>
          <a:bodyPr wrap="square" rtlCol="0">
            <a:spAutoFit/>
          </a:bodyPr>
          <a:lstStyle/>
          <a:p>
            <a:r>
              <a:rPr lang="en-US" sz="2800" b="1" dirty="0" smtClean="0">
                <a:solidFill>
                  <a:schemeClr val="bg1"/>
                </a:solidFill>
                <a:latin typeface="Comic Sans MS" panose="030F0702030302020204" pitchFamily="66" charset="0"/>
              </a:rPr>
              <a:t>Business Software Applications</a:t>
            </a:r>
            <a:endParaRPr lang="en-US" dirty="0">
              <a:solidFill>
                <a:schemeClr val="bg1"/>
              </a:solidFill>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228600"/>
            <a:ext cx="9144000" cy="523220"/>
          </a:xfrm>
          <a:prstGeom prst="rect">
            <a:avLst/>
          </a:prstGeom>
          <a:solidFill>
            <a:schemeClr val="bg1">
              <a:lumMod val="95000"/>
            </a:schemeClr>
          </a:solidFill>
        </p:spPr>
        <p:txBody>
          <a:bodyPr wrap="square">
            <a:spAutoFit/>
          </a:bodyPr>
          <a:lstStyle/>
          <a:p>
            <a:pPr algn="ctr"/>
            <a:r>
              <a:rPr lang="en-US" sz="1400" i="1" dirty="0">
                <a:solidFill>
                  <a:schemeClr val="accent1">
                    <a:lumMod val="75000"/>
                  </a:schemeClr>
                </a:solidFill>
              </a:rPr>
              <a:t>Based on the </a:t>
            </a:r>
            <a:r>
              <a:rPr lang="en-US" sz="1400" i="1" dirty="0" smtClean="0">
                <a:solidFill>
                  <a:schemeClr val="accent1">
                    <a:lumMod val="75000"/>
                  </a:schemeClr>
                </a:solidFill>
              </a:rPr>
              <a:t>textbook: </a:t>
            </a:r>
            <a:endParaRPr lang="en-US" sz="1400" i="1" dirty="0">
              <a:solidFill>
                <a:schemeClr val="accent1">
                  <a:lumMod val="75000"/>
                </a:schemeClr>
              </a:solidFill>
            </a:endParaRPr>
          </a:p>
          <a:p>
            <a:pPr algn="ctr"/>
            <a:r>
              <a:rPr lang="en-US" sz="1400" dirty="0">
                <a:solidFill>
                  <a:schemeClr val="accent1">
                    <a:lumMod val="75000"/>
                  </a:schemeClr>
                </a:solidFill>
              </a:rPr>
              <a:t>Microsoft Office Inside Out (Office 2021 and Microsoft 365), J. </a:t>
            </a:r>
            <a:r>
              <a:rPr lang="en-US" sz="1400" dirty="0" err="1">
                <a:solidFill>
                  <a:schemeClr val="accent1">
                    <a:lumMod val="75000"/>
                  </a:schemeClr>
                </a:solidFill>
              </a:rPr>
              <a:t>Habraken</a:t>
            </a:r>
            <a:r>
              <a:rPr lang="en-US" sz="1400" dirty="0">
                <a:solidFill>
                  <a:schemeClr val="accent1">
                    <a:lumMod val="75000"/>
                  </a:schemeClr>
                </a:solidFill>
              </a:rPr>
              <a:t>, Pearson Education, Inc., 2022. </a:t>
            </a:r>
          </a:p>
        </p:txBody>
      </p:sp>
      <p:pic>
        <p:nvPicPr>
          <p:cNvPr id="2" name="Picture 1"/>
          <p:cNvPicPr>
            <a:picLocks noChangeAspect="1"/>
          </p:cNvPicPr>
          <p:nvPr/>
        </p:nvPicPr>
        <p:blipFill>
          <a:blip r:embed="rId2"/>
          <a:stretch>
            <a:fillRect/>
          </a:stretch>
        </p:blipFill>
        <p:spPr>
          <a:xfrm>
            <a:off x="1905000" y="1676400"/>
            <a:ext cx="5669280" cy="4724400"/>
          </a:xfrm>
          <a:prstGeom prst="rect">
            <a:avLst/>
          </a:prstGeom>
        </p:spPr>
      </p:pic>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971800"/>
            <a:ext cx="6858000" cy="504625"/>
          </a:xfrm>
          <a:prstGeom prst="rect">
            <a:avLst/>
          </a:prstGeom>
        </p:spPr>
        <p:txBody>
          <a:bodyPr vert="horz" wrap="square" lIns="0" tIns="12065" rIns="0" bIns="0" rtlCol="0">
            <a:spAutoFit/>
          </a:bodyPr>
          <a:lstStyle/>
          <a:p>
            <a:pPr algn="ctr" eaLnBrk="0" hangingPunct="0"/>
            <a:r>
              <a:rPr lang="en-US" sz="3200" b="0" dirty="0" smtClean="0">
                <a:solidFill>
                  <a:srgbClr val="C00000"/>
                </a:solidFill>
                <a:effectLst>
                  <a:outerShdw blurRad="38100" dist="38100" dir="2700000" algn="tl">
                    <a:srgbClr val="000000">
                      <a:alpha val="43137"/>
                    </a:srgbClr>
                  </a:outerShdw>
                </a:effectLst>
                <a:latin typeface="Comic Sans MS" panose="030F0702030302020204" pitchFamily="66" charset="0"/>
              </a:rPr>
              <a:t>Business Intelligence</a:t>
            </a:r>
            <a:endParaRPr lang="en-US" sz="3200" b="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6573737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228600" y="287909"/>
            <a:ext cx="8229600" cy="1399032"/>
          </a:xfrm>
        </p:spPr>
        <p:txBody>
          <a:bodyPr/>
          <a:lstStyle/>
          <a:p>
            <a:pPr eaLnBrk="1" hangingPunct="1"/>
            <a:r>
              <a:rPr lang="en-US" altLang="en-US" dirty="0" smtClean="0">
                <a:latin typeface="Comic Sans MS" panose="030F0702030302020204" pitchFamily="66" charset="0"/>
              </a:rPr>
              <a:t>What is Business Intelligence?</a:t>
            </a:r>
          </a:p>
        </p:txBody>
      </p:sp>
      <p:sp>
        <p:nvSpPr>
          <p:cNvPr id="3075" name="Content Placeholder 2"/>
          <p:cNvSpPr>
            <a:spLocks noGrp="1"/>
          </p:cNvSpPr>
          <p:nvPr>
            <p:ph idx="1"/>
          </p:nvPr>
        </p:nvSpPr>
        <p:spPr>
          <a:xfrm>
            <a:off x="533400" y="1686941"/>
            <a:ext cx="8077200" cy="1600200"/>
          </a:xfrm>
        </p:spPr>
        <p:txBody>
          <a:bodyPr/>
          <a:lstStyle/>
          <a:p>
            <a:pPr marL="0" indent="0" algn="just">
              <a:buNone/>
            </a:pPr>
            <a:r>
              <a:rPr lang="en-US" sz="1400" dirty="0"/>
              <a:t>In today's business world, </a:t>
            </a:r>
            <a:r>
              <a:rPr lang="en-US" sz="1400" b="1" dirty="0"/>
              <a:t>data-driven decision-making</a:t>
            </a:r>
            <a:r>
              <a:rPr lang="en-US" sz="1400" dirty="0"/>
              <a:t> is essential for success. Business Intelligence (BI) has become a fundamental tool for organizations seeking a better understanding of their operations, customers, and growth opportunities. </a:t>
            </a:r>
            <a:endParaRPr lang="en-US" sz="1400" dirty="0" smtClean="0"/>
          </a:p>
          <a:p>
            <a:pPr marL="0" indent="0" algn="just">
              <a:buNone/>
            </a:pPr>
            <a:r>
              <a:rPr lang="en-US" sz="1400" dirty="0" smtClean="0"/>
              <a:t>Business </a:t>
            </a:r>
            <a:r>
              <a:rPr lang="en-US" sz="1400" dirty="0"/>
              <a:t>Intelligence refers to the technologies, processes, and tools that help organizations collect, analyze, and present business data to support better decision-making. BI involves the use of various data analysis techniques, reporting, and visualization tools to transform raw data into meaningful insights</a:t>
            </a:r>
            <a:r>
              <a:rPr lang="en-US" sz="1400" dirty="0" smtClean="0"/>
              <a:t>.</a:t>
            </a:r>
            <a:r>
              <a:rPr lang="en-US" sz="1400" dirty="0">
                <a:solidFill>
                  <a:schemeClr val="accent1">
                    <a:lumMod val="75000"/>
                  </a:schemeClr>
                </a:solidFill>
              </a:rPr>
              <a:t> It’s increasingly important for businesses to have a clear view of all their data to stay competitive, which is where business intelligence (BI) tools come in. After all, a vast of all businesses already use BI tools, and projections show continued growth in coming years. Essentially, </a:t>
            </a:r>
            <a:r>
              <a:rPr lang="en-US" altLang="en-US" sz="1400" dirty="0">
                <a:solidFill>
                  <a:schemeClr val="accent1">
                    <a:lumMod val="75000"/>
                  </a:schemeClr>
                </a:solidFill>
              </a:rPr>
              <a:t>Business Intelligence enables the business to make intelligent, fact-based decisions</a:t>
            </a:r>
            <a:r>
              <a:rPr lang="en-US" altLang="en-US" sz="1400" dirty="0" smtClean="0">
                <a:solidFill>
                  <a:schemeClr val="accent1">
                    <a:lumMod val="75000"/>
                  </a:schemeClr>
                </a:solidFill>
              </a:rPr>
              <a:t>. </a:t>
            </a:r>
          </a:p>
          <a:p>
            <a:pPr marL="0" indent="0" algn="just">
              <a:buNone/>
            </a:pPr>
            <a:r>
              <a:rPr lang="en-US" sz="1400" dirty="0" smtClean="0"/>
              <a:t>Business </a:t>
            </a:r>
            <a:r>
              <a:rPr lang="en-US" sz="1400" dirty="0"/>
              <a:t>intelligence processes analyze data and deliver actionable insights that help managers and executives make informed </a:t>
            </a:r>
            <a:r>
              <a:rPr lang="en-US" sz="1400" dirty="0" smtClean="0"/>
              <a:t>decisions.</a:t>
            </a:r>
          </a:p>
          <a:p>
            <a:pPr marL="0" indent="0" algn="just">
              <a:buNone/>
            </a:pPr>
            <a:r>
              <a:rPr lang="en-US" sz="1400" dirty="0" smtClean="0"/>
              <a:t>BI </a:t>
            </a:r>
            <a:r>
              <a:rPr lang="en-US" sz="1400" dirty="0"/>
              <a:t>involves:</a:t>
            </a:r>
          </a:p>
          <a:p>
            <a:pPr lvl="1" algn="just"/>
            <a:r>
              <a:rPr lang="en-US" dirty="0"/>
              <a:t>Collecting information from internal and external sources.</a:t>
            </a:r>
          </a:p>
          <a:p>
            <a:pPr lvl="1" algn="just"/>
            <a:r>
              <a:rPr lang="en-US" dirty="0"/>
              <a:t>Preparing data for analysis.</a:t>
            </a:r>
          </a:p>
          <a:p>
            <a:pPr lvl="1" algn="just"/>
            <a:r>
              <a:rPr lang="en-US" dirty="0"/>
              <a:t>Running queries.</a:t>
            </a:r>
          </a:p>
          <a:p>
            <a:pPr lvl="1" algn="just"/>
            <a:r>
              <a:rPr lang="en-US" dirty="0"/>
              <a:t>Creating intuitive visualizations, reports and dashboards.</a:t>
            </a:r>
          </a:p>
          <a:p>
            <a:pPr marL="0" indent="0" algn="just">
              <a:buNone/>
            </a:pPr>
            <a:endParaRPr lang="en-US" altLang="en-US" dirty="0" smtClean="0"/>
          </a:p>
        </p:txBody>
      </p:sp>
    </p:spTree>
    <p:extLst>
      <p:ext uri="{BB962C8B-B14F-4D97-AF65-F5344CB8AC3E}">
        <p14:creationId xmlns:p14="http://schemas.microsoft.com/office/powerpoint/2010/main" val="18671482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Business Intelligence concept</a:t>
            </a:r>
            <a:endParaRPr lang="en-US" dirty="0">
              <a:latin typeface="Comic Sans MS" panose="030F0702030302020204" pitchFamily="66" charset="0"/>
            </a:endParaRPr>
          </a:p>
        </p:txBody>
      </p:sp>
      <p:sp>
        <p:nvSpPr>
          <p:cNvPr id="3" name="object 3"/>
          <p:cNvSpPr txBox="1"/>
          <p:nvPr/>
        </p:nvSpPr>
        <p:spPr>
          <a:xfrm>
            <a:off x="533400" y="1752600"/>
            <a:ext cx="8077200" cy="3783087"/>
          </a:xfrm>
          <a:prstGeom prst="rect">
            <a:avLst/>
          </a:prstGeom>
        </p:spPr>
        <p:txBody>
          <a:bodyPr vert="horz" wrap="square" lIns="0" tIns="12700" rIns="0" bIns="0" rtlCol="0">
            <a:spAutoFit/>
          </a:bodyPr>
          <a:lstStyle/>
          <a:p>
            <a:pPr algn="just">
              <a:spcAft>
                <a:spcPts val="600"/>
              </a:spcAft>
            </a:pPr>
            <a:r>
              <a:rPr lang="en-US" sz="1400" b="1" dirty="0">
                <a:solidFill>
                  <a:srgbClr val="C00000"/>
                </a:solidFill>
                <a:latin typeface="Comic Sans MS" panose="030F0702030302020204" pitchFamily="66" charset="0"/>
              </a:rPr>
              <a:t>Extract Raw Data</a:t>
            </a:r>
          </a:p>
          <a:p>
            <a:pPr algn="just">
              <a:spcAft>
                <a:spcPts val="600"/>
              </a:spcAft>
            </a:pPr>
            <a:r>
              <a:rPr lang="en-US" sz="1400" dirty="0">
                <a:solidFill>
                  <a:schemeClr val="accent1">
                    <a:lumMod val="75000"/>
                  </a:schemeClr>
                </a:solidFill>
              </a:rPr>
              <a:t>The first component of a BI solution is data from sales records, profit and loss statements, salary details and more. An organization’s data exists in various systems, </a:t>
            </a:r>
            <a:r>
              <a:rPr lang="en-US" sz="1400" dirty="0" smtClean="0">
                <a:solidFill>
                  <a:schemeClr val="accent1">
                    <a:lumMod val="75000"/>
                  </a:schemeClr>
                </a:solidFill>
              </a:rPr>
              <a:t>including CRM, ERP, </a:t>
            </a:r>
            <a:r>
              <a:rPr lang="en-US" sz="1400" dirty="0">
                <a:solidFill>
                  <a:schemeClr val="accent1">
                    <a:lumMod val="75000"/>
                  </a:schemeClr>
                </a:solidFill>
              </a:rPr>
              <a:t>flat files and more. Due to this fragmentation, BI solutions come with robust connectors to centralize everything for advanced analysis.</a:t>
            </a:r>
          </a:p>
          <a:p>
            <a:pPr algn="just">
              <a:spcAft>
                <a:spcPts val="600"/>
              </a:spcAft>
            </a:pPr>
            <a:r>
              <a:rPr lang="en-US" sz="1400" b="1" dirty="0">
                <a:solidFill>
                  <a:srgbClr val="C00000"/>
                </a:solidFill>
                <a:latin typeface="Comic Sans MS" panose="030F0702030302020204" pitchFamily="66" charset="0"/>
              </a:rPr>
              <a:t>Consolidate Information</a:t>
            </a:r>
          </a:p>
          <a:p>
            <a:pPr algn="just">
              <a:spcAft>
                <a:spcPts val="600"/>
              </a:spcAft>
            </a:pPr>
            <a:r>
              <a:rPr lang="en-US" sz="1400" dirty="0">
                <a:solidFill>
                  <a:schemeClr val="accent1">
                    <a:lumMod val="75000"/>
                  </a:schemeClr>
                </a:solidFill>
              </a:rPr>
              <a:t>A data warehouse integrates different databases to create relationships. Data flows into the warehouse from various sources, including transactional systems, relational databases and more.</a:t>
            </a:r>
          </a:p>
          <a:p>
            <a:pPr algn="just">
              <a:spcAft>
                <a:spcPts val="600"/>
              </a:spcAft>
            </a:pPr>
            <a:r>
              <a:rPr lang="en-US" sz="1400" b="1" dirty="0">
                <a:solidFill>
                  <a:srgbClr val="C00000"/>
                </a:solidFill>
                <a:latin typeface="Comic Sans MS" panose="030F0702030302020204" pitchFamily="66" charset="0"/>
              </a:rPr>
              <a:t>Access and Analyze Data</a:t>
            </a:r>
          </a:p>
          <a:p>
            <a:pPr algn="just">
              <a:spcAft>
                <a:spcPts val="600"/>
              </a:spcAft>
            </a:pPr>
            <a:r>
              <a:rPr lang="en-US" sz="1400" dirty="0">
                <a:solidFill>
                  <a:schemeClr val="accent1">
                    <a:lumMod val="75000"/>
                  </a:schemeClr>
                </a:solidFill>
              </a:rPr>
              <a:t>Once the data consolidates in a single location, it is vital to make sense of it. </a:t>
            </a:r>
            <a:r>
              <a:rPr lang="en-US" sz="1400" dirty="0" smtClean="0">
                <a:solidFill>
                  <a:schemeClr val="accent1">
                    <a:lumMod val="75000"/>
                  </a:schemeClr>
                </a:solidFill>
              </a:rPr>
              <a:t>BI </a:t>
            </a:r>
            <a:r>
              <a:rPr lang="en-US" sz="1400" dirty="0">
                <a:solidFill>
                  <a:schemeClr val="accent1">
                    <a:lumMod val="75000"/>
                  </a:schemeClr>
                </a:solidFill>
              </a:rPr>
              <a:t>solutions access the information, interpret it for trends and patterns, and present it intuitively.</a:t>
            </a:r>
          </a:p>
          <a:p>
            <a:pPr algn="just">
              <a:spcAft>
                <a:spcPts val="600"/>
              </a:spcAft>
            </a:pPr>
            <a:r>
              <a:rPr lang="en-US" sz="1400" b="1" dirty="0">
                <a:solidFill>
                  <a:srgbClr val="C00000"/>
                </a:solidFill>
                <a:latin typeface="Comic Sans MS" panose="030F0702030302020204" pitchFamily="66" charset="0"/>
              </a:rPr>
              <a:t>Create Dashboards and Reports</a:t>
            </a:r>
          </a:p>
          <a:p>
            <a:pPr algn="just">
              <a:spcAft>
                <a:spcPts val="600"/>
              </a:spcAft>
            </a:pPr>
            <a:r>
              <a:rPr lang="en-US" sz="1400" dirty="0">
                <a:solidFill>
                  <a:schemeClr val="accent1">
                    <a:lumMod val="75000"/>
                  </a:schemeClr>
                </a:solidFill>
              </a:rPr>
              <a:t>Dashboards and reports take complex, unintelligible information and output it as digestible patterns, trends and insights. These tools facilitate collaboration within the organization to share findings and discoveries.</a:t>
            </a:r>
          </a:p>
        </p:txBody>
      </p:sp>
    </p:spTree>
    <p:extLst>
      <p:ext uri="{BB962C8B-B14F-4D97-AF65-F5344CB8AC3E}">
        <p14:creationId xmlns:p14="http://schemas.microsoft.com/office/powerpoint/2010/main" val="3027122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228600" y="287909"/>
            <a:ext cx="8229600" cy="1399032"/>
          </a:xfrm>
        </p:spPr>
        <p:txBody>
          <a:bodyPr/>
          <a:lstStyle/>
          <a:p>
            <a:pPr eaLnBrk="1" hangingPunct="1"/>
            <a:r>
              <a:rPr lang="en-US" altLang="en-US" dirty="0" smtClean="0">
                <a:latin typeface="Comic Sans MS" panose="030F0702030302020204" pitchFamily="66" charset="0"/>
              </a:rPr>
              <a:t>Business Intelligence process</a:t>
            </a:r>
          </a:p>
        </p:txBody>
      </p:sp>
      <p:sp>
        <p:nvSpPr>
          <p:cNvPr id="3076" name="TextBox 3"/>
          <p:cNvSpPr txBox="1">
            <a:spLocks noChangeArrowheads="1"/>
          </p:cNvSpPr>
          <p:nvPr/>
        </p:nvSpPr>
        <p:spPr bwMode="auto">
          <a:xfrm>
            <a:off x="533400" y="2027486"/>
            <a:ext cx="1752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b="1" dirty="0">
                <a:solidFill>
                  <a:schemeClr val="accent1">
                    <a:lumMod val="75000"/>
                  </a:schemeClr>
                </a:solidFill>
              </a:rPr>
              <a:t>Data </a:t>
            </a:r>
            <a:r>
              <a:rPr lang="en-US" sz="1400" b="1" dirty="0" smtClean="0">
                <a:solidFill>
                  <a:schemeClr val="accent1">
                    <a:lumMod val="75000"/>
                  </a:schemeClr>
                </a:solidFill>
              </a:rPr>
              <a:t>Warehousing</a:t>
            </a:r>
            <a:endParaRPr lang="en-US" altLang="en-US" sz="1400" dirty="0">
              <a:solidFill>
                <a:schemeClr val="accent1">
                  <a:lumMod val="75000"/>
                </a:schemeClr>
              </a:solidFill>
            </a:endParaRPr>
          </a:p>
        </p:txBody>
      </p:sp>
      <p:sp>
        <p:nvSpPr>
          <p:cNvPr id="3077" name="Can 4"/>
          <p:cNvSpPr>
            <a:spLocks noChangeArrowheads="1"/>
          </p:cNvSpPr>
          <p:nvPr/>
        </p:nvSpPr>
        <p:spPr bwMode="auto">
          <a:xfrm>
            <a:off x="762000" y="2822664"/>
            <a:ext cx="1143000" cy="1066800"/>
          </a:xfrm>
          <a:prstGeom prst="can">
            <a:avLst>
              <a:gd name="adj" fmla="val 25000"/>
            </a:avLst>
          </a:prstGeom>
          <a:solidFill>
            <a:schemeClr val="accent1"/>
          </a:solidFill>
          <a:ln w="9525" algn="ctr">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400">
              <a:solidFill>
                <a:schemeClr val="accent1">
                  <a:lumMod val="75000"/>
                </a:schemeClr>
              </a:solidFill>
            </a:endParaRPr>
          </a:p>
        </p:txBody>
      </p:sp>
      <p:sp>
        <p:nvSpPr>
          <p:cNvPr id="3078" name="TextBox 5"/>
          <p:cNvSpPr txBox="1">
            <a:spLocks noChangeArrowheads="1"/>
          </p:cNvSpPr>
          <p:nvPr/>
        </p:nvSpPr>
        <p:spPr bwMode="auto">
          <a:xfrm>
            <a:off x="533400" y="4233952"/>
            <a:ext cx="1752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dirty="0">
                <a:solidFill>
                  <a:schemeClr val="accent1">
                    <a:lumMod val="75000"/>
                  </a:schemeClr>
                </a:solidFill>
              </a:rPr>
              <a:t>Storage of large volumes of structured and unstructured data.</a:t>
            </a:r>
            <a:endParaRPr lang="en-US" altLang="en-US" sz="1400" dirty="0">
              <a:solidFill>
                <a:schemeClr val="accent1">
                  <a:lumMod val="75000"/>
                </a:schemeClr>
              </a:solidFill>
            </a:endParaRPr>
          </a:p>
        </p:txBody>
      </p:sp>
      <p:sp>
        <p:nvSpPr>
          <p:cNvPr id="3079" name="TextBox 6"/>
          <p:cNvSpPr txBox="1">
            <a:spLocks noChangeArrowheads="1"/>
          </p:cNvSpPr>
          <p:nvPr/>
        </p:nvSpPr>
        <p:spPr bwMode="auto">
          <a:xfrm>
            <a:off x="2735389" y="1752600"/>
            <a:ext cx="1752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b="1" dirty="0">
                <a:solidFill>
                  <a:schemeClr val="accent1">
                    <a:lumMod val="75000"/>
                  </a:schemeClr>
                </a:solidFill>
              </a:rPr>
              <a:t>Data </a:t>
            </a:r>
            <a:r>
              <a:rPr lang="en-US" sz="1400" b="1" dirty="0" smtClean="0">
                <a:solidFill>
                  <a:schemeClr val="accent1">
                    <a:lumMod val="75000"/>
                  </a:schemeClr>
                </a:solidFill>
              </a:rPr>
              <a:t>Integration</a:t>
            </a:r>
            <a:r>
              <a:rPr lang="en-US" sz="1400" dirty="0" smtClean="0">
                <a:solidFill>
                  <a:schemeClr val="accent1">
                    <a:lumMod val="75000"/>
                  </a:schemeClr>
                </a:solidFill>
              </a:rPr>
              <a:t> </a:t>
            </a:r>
            <a:r>
              <a:rPr lang="en-US" sz="1400" b="1" dirty="0" smtClean="0">
                <a:solidFill>
                  <a:schemeClr val="accent1">
                    <a:lumMod val="75000"/>
                  </a:schemeClr>
                </a:solidFill>
              </a:rPr>
              <a:t>Data Analysis</a:t>
            </a:r>
          </a:p>
          <a:p>
            <a:pPr algn="ctr"/>
            <a:r>
              <a:rPr lang="en-US" altLang="en-US" sz="1400" b="1" dirty="0" smtClean="0">
                <a:solidFill>
                  <a:schemeClr val="accent1">
                    <a:lumMod val="75000"/>
                  </a:schemeClr>
                </a:solidFill>
              </a:rPr>
              <a:t>Data Mining</a:t>
            </a:r>
            <a:endParaRPr lang="en-US" altLang="en-US" sz="1400" dirty="0">
              <a:solidFill>
                <a:schemeClr val="accent1">
                  <a:lumMod val="75000"/>
                </a:schemeClr>
              </a:solidFill>
            </a:endParaRPr>
          </a:p>
        </p:txBody>
      </p:sp>
      <p:sp>
        <p:nvSpPr>
          <p:cNvPr id="3080" name="TextBox 7"/>
          <p:cNvSpPr txBox="1">
            <a:spLocks noChangeArrowheads="1"/>
          </p:cNvSpPr>
          <p:nvPr/>
        </p:nvSpPr>
        <p:spPr bwMode="auto">
          <a:xfrm>
            <a:off x="4724400" y="1958360"/>
            <a:ext cx="1752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b="1" dirty="0" smtClean="0">
                <a:solidFill>
                  <a:schemeClr val="accent1">
                    <a:lumMod val="75000"/>
                  </a:schemeClr>
                </a:solidFill>
              </a:rPr>
              <a:t>Reporting</a:t>
            </a:r>
          </a:p>
        </p:txBody>
      </p:sp>
      <p:sp>
        <p:nvSpPr>
          <p:cNvPr id="3081" name="TextBox 8"/>
          <p:cNvSpPr txBox="1">
            <a:spLocks noChangeArrowheads="1"/>
          </p:cNvSpPr>
          <p:nvPr/>
        </p:nvSpPr>
        <p:spPr bwMode="auto">
          <a:xfrm>
            <a:off x="6929437" y="1954887"/>
            <a:ext cx="1752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b="1" dirty="0">
                <a:solidFill>
                  <a:schemeClr val="accent1">
                    <a:lumMod val="75000"/>
                  </a:schemeClr>
                </a:solidFill>
              </a:rPr>
              <a:t>Inform a Decision</a:t>
            </a:r>
          </a:p>
        </p:txBody>
      </p:sp>
      <p:sp>
        <p:nvSpPr>
          <p:cNvPr id="3082" name="TextBox 9"/>
          <p:cNvSpPr txBox="1">
            <a:spLocks noChangeArrowheads="1"/>
          </p:cNvSpPr>
          <p:nvPr/>
        </p:nvSpPr>
        <p:spPr bwMode="auto">
          <a:xfrm>
            <a:off x="2487168" y="4280118"/>
            <a:ext cx="226466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dirty="0">
                <a:solidFill>
                  <a:schemeClr val="accent1">
                    <a:lumMod val="75000"/>
                  </a:schemeClr>
                </a:solidFill>
              </a:rPr>
              <a:t>Combining data from various sources to create a unified view.</a:t>
            </a:r>
            <a:r>
              <a:rPr lang="en-US" sz="1400" b="1" dirty="0">
                <a:solidFill>
                  <a:schemeClr val="accent1">
                    <a:lumMod val="75000"/>
                  </a:schemeClr>
                </a:solidFill>
              </a:rPr>
              <a:t> </a:t>
            </a:r>
            <a:r>
              <a:rPr lang="en-US" sz="1400" dirty="0" smtClean="0">
                <a:solidFill>
                  <a:schemeClr val="accent1">
                    <a:lumMod val="75000"/>
                  </a:schemeClr>
                </a:solidFill>
              </a:rPr>
              <a:t>Using </a:t>
            </a:r>
            <a:r>
              <a:rPr lang="en-US" sz="1400" dirty="0">
                <a:solidFill>
                  <a:schemeClr val="accent1">
                    <a:lumMod val="75000"/>
                  </a:schemeClr>
                </a:solidFill>
              </a:rPr>
              <a:t>tools to analyze and interpret data</a:t>
            </a:r>
            <a:r>
              <a:rPr lang="en-US" sz="1400" dirty="0" smtClean="0">
                <a:solidFill>
                  <a:schemeClr val="accent1">
                    <a:lumMod val="75000"/>
                  </a:schemeClr>
                </a:solidFill>
              </a:rPr>
              <a:t>. Extracting </a:t>
            </a:r>
            <a:r>
              <a:rPr lang="en-US" sz="1400" dirty="0">
                <a:solidFill>
                  <a:schemeClr val="accent1">
                    <a:lumMod val="75000"/>
                  </a:schemeClr>
                </a:solidFill>
              </a:rPr>
              <a:t>patterns and trends from large datasets.</a:t>
            </a:r>
            <a:endParaRPr lang="en-US" sz="1200" dirty="0">
              <a:solidFill>
                <a:schemeClr val="accent1">
                  <a:lumMod val="75000"/>
                </a:schemeClr>
              </a:solidFill>
            </a:endParaRPr>
          </a:p>
          <a:p>
            <a:pPr algn="ctr"/>
            <a:endParaRPr lang="en-US" altLang="en-US" sz="1400" dirty="0">
              <a:solidFill>
                <a:schemeClr val="accent1">
                  <a:lumMod val="75000"/>
                </a:schemeClr>
              </a:solidFill>
            </a:endParaRPr>
          </a:p>
        </p:txBody>
      </p:sp>
      <p:sp>
        <p:nvSpPr>
          <p:cNvPr id="3084" name="TextBox 11"/>
          <p:cNvSpPr txBox="1">
            <a:spLocks noChangeArrowheads="1"/>
          </p:cNvSpPr>
          <p:nvPr/>
        </p:nvSpPr>
        <p:spPr bwMode="auto">
          <a:xfrm>
            <a:off x="7010400" y="4249827"/>
            <a:ext cx="1752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1400" dirty="0">
                <a:solidFill>
                  <a:schemeClr val="accent1">
                    <a:lumMod val="75000"/>
                  </a:schemeClr>
                </a:solidFill>
              </a:rPr>
              <a:t>Decisions are Fact-based and </a:t>
            </a:r>
            <a:r>
              <a:rPr lang="en-US" altLang="en-US" sz="1400" dirty="0" smtClean="0">
                <a:solidFill>
                  <a:schemeClr val="accent1">
                    <a:lumMod val="75000"/>
                  </a:schemeClr>
                </a:solidFill>
              </a:rPr>
              <a:t>Data-driven.</a:t>
            </a:r>
            <a:endParaRPr lang="en-US" altLang="en-US" sz="1400" dirty="0">
              <a:solidFill>
                <a:schemeClr val="accent1">
                  <a:lumMod val="75000"/>
                </a:schemeClr>
              </a:solidFill>
            </a:endParaRPr>
          </a:p>
        </p:txBody>
      </p:sp>
      <p:pic>
        <p:nvPicPr>
          <p:cNvPr id="3085" name="Picture 12" descr="kpidashboar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746464"/>
            <a:ext cx="1143000"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6" name="Picture 13" descr="statistics.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3650" y="2846477"/>
            <a:ext cx="1479550"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 name="Picture 14" descr="decisions.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29475" y="2822664"/>
            <a:ext cx="11525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88" name="Straight Arrow Connector 16"/>
          <p:cNvCxnSpPr>
            <a:cxnSpLocks noChangeShapeType="1"/>
          </p:cNvCxnSpPr>
          <p:nvPr/>
        </p:nvCxnSpPr>
        <p:spPr bwMode="auto">
          <a:xfrm>
            <a:off x="2133600" y="3356064"/>
            <a:ext cx="639763" cy="0"/>
          </a:xfrm>
          <a:prstGeom prst="straightConnector1">
            <a:avLst/>
          </a:prstGeom>
          <a:noFill/>
          <a:ln w="22225" algn="ctr">
            <a:solidFill>
              <a:schemeClr val="tx1"/>
            </a:solidFill>
            <a:round/>
            <a:headEnd/>
            <a:tailEnd type="arrow" w="med" len="med"/>
          </a:ln>
        </p:spPr>
      </p:cxnSp>
      <p:cxnSp>
        <p:nvCxnSpPr>
          <p:cNvPr id="3089" name="Straight Arrow Connector 21"/>
          <p:cNvCxnSpPr>
            <a:cxnSpLocks noChangeShapeType="1"/>
          </p:cNvCxnSpPr>
          <p:nvPr/>
        </p:nvCxnSpPr>
        <p:spPr bwMode="auto">
          <a:xfrm>
            <a:off x="4313238" y="3356064"/>
            <a:ext cx="639762" cy="0"/>
          </a:xfrm>
          <a:prstGeom prst="straightConnector1">
            <a:avLst/>
          </a:prstGeom>
          <a:noFill/>
          <a:ln w="22225" algn="ctr">
            <a:solidFill>
              <a:schemeClr val="tx1"/>
            </a:solidFill>
            <a:round/>
            <a:headEnd/>
            <a:tailEnd type="arrow" w="med" len="med"/>
          </a:ln>
        </p:spPr>
      </p:cxnSp>
      <p:cxnSp>
        <p:nvCxnSpPr>
          <p:cNvPr id="3090" name="Straight Arrow Connector 22"/>
          <p:cNvCxnSpPr>
            <a:cxnSpLocks noChangeShapeType="1"/>
          </p:cNvCxnSpPr>
          <p:nvPr/>
        </p:nvCxnSpPr>
        <p:spPr bwMode="auto">
          <a:xfrm>
            <a:off x="6553200" y="3356064"/>
            <a:ext cx="639763" cy="0"/>
          </a:xfrm>
          <a:prstGeom prst="straightConnector1">
            <a:avLst/>
          </a:prstGeom>
          <a:noFill/>
          <a:ln w="22225" algn="ctr">
            <a:solidFill>
              <a:schemeClr val="tx1"/>
            </a:solidFill>
            <a:round/>
            <a:headEnd/>
            <a:tailEnd type="arrow" w="med" len="med"/>
          </a:ln>
        </p:spPr>
      </p:cxnSp>
      <p:sp>
        <p:nvSpPr>
          <p:cNvPr id="19" name="TextBox 7"/>
          <p:cNvSpPr txBox="1">
            <a:spLocks noChangeArrowheads="1"/>
          </p:cNvSpPr>
          <p:nvPr/>
        </p:nvSpPr>
        <p:spPr bwMode="auto">
          <a:xfrm>
            <a:off x="5029200" y="4241687"/>
            <a:ext cx="1752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sz="1400" dirty="0" smtClean="0">
                <a:solidFill>
                  <a:schemeClr val="accent1">
                    <a:lumMod val="75000"/>
                  </a:schemeClr>
                </a:solidFill>
              </a:rPr>
              <a:t>Creating </a:t>
            </a:r>
            <a:r>
              <a:rPr lang="en-US" sz="1400" dirty="0">
                <a:solidFill>
                  <a:schemeClr val="accent1">
                    <a:lumMod val="75000"/>
                  </a:schemeClr>
                </a:solidFill>
              </a:rPr>
              <a:t>reports and dashboards for visualization.</a:t>
            </a:r>
            <a:endParaRPr lang="en-US" altLang="en-US" sz="1400" dirty="0">
              <a:solidFill>
                <a:schemeClr val="accent1">
                  <a:lumMod val="75000"/>
                </a:schemeClr>
              </a:solidFill>
            </a:endParaRPr>
          </a:p>
        </p:txBody>
      </p:sp>
    </p:spTree>
    <p:extLst>
      <p:ext uri="{BB962C8B-B14F-4D97-AF65-F5344CB8AC3E}">
        <p14:creationId xmlns:p14="http://schemas.microsoft.com/office/powerpoint/2010/main" val="19918043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Business Intelligence Importance</a:t>
            </a:r>
            <a:endParaRPr lang="en-US" dirty="0">
              <a:latin typeface="Comic Sans MS" panose="030F0702030302020204" pitchFamily="66" charset="0"/>
            </a:endParaRPr>
          </a:p>
        </p:txBody>
      </p:sp>
      <p:sp>
        <p:nvSpPr>
          <p:cNvPr id="3" name="object 3"/>
          <p:cNvSpPr txBox="1"/>
          <p:nvPr/>
        </p:nvSpPr>
        <p:spPr>
          <a:xfrm>
            <a:off x="533400" y="1752600"/>
            <a:ext cx="8077200" cy="3352200"/>
          </a:xfrm>
          <a:prstGeom prst="rect">
            <a:avLst/>
          </a:prstGeom>
        </p:spPr>
        <p:txBody>
          <a:bodyPr vert="horz" wrap="square" lIns="0" tIns="12700" rIns="0" bIns="0" rtlCol="0">
            <a:spAutoFit/>
          </a:bodyPr>
          <a:lstStyle/>
          <a:p>
            <a:pPr algn="just">
              <a:spcAft>
                <a:spcPts val="600"/>
              </a:spcAft>
            </a:pPr>
            <a:r>
              <a:rPr lang="en-US" sz="1400" b="1" dirty="0" smtClean="0">
                <a:solidFill>
                  <a:srgbClr val="C00000"/>
                </a:solidFill>
                <a:latin typeface="Comic Sans MS" panose="030F0702030302020204" pitchFamily="66" charset="0"/>
              </a:rPr>
              <a:t>Provide </a:t>
            </a:r>
            <a:r>
              <a:rPr lang="en-US" sz="1400" b="1" dirty="0">
                <a:solidFill>
                  <a:srgbClr val="C00000"/>
                </a:solidFill>
                <a:latin typeface="Comic Sans MS" panose="030F0702030302020204" pitchFamily="66" charset="0"/>
              </a:rPr>
              <a:t>Data-driven </a:t>
            </a:r>
            <a:r>
              <a:rPr lang="en-US" sz="1400" b="1" dirty="0" smtClean="0">
                <a:solidFill>
                  <a:srgbClr val="C00000"/>
                </a:solidFill>
                <a:latin typeface="Comic Sans MS" panose="030F0702030302020204" pitchFamily="66" charset="0"/>
              </a:rPr>
              <a:t>Insights</a:t>
            </a:r>
            <a:r>
              <a:rPr lang="en-US" sz="1400" dirty="0">
                <a:solidFill>
                  <a:srgbClr val="C00000"/>
                </a:solidFill>
                <a:latin typeface="Comic Sans MS" panose="030F0702030302020204" pitchFamily="66" charset="0"/>
              </a:rPr>
              <a:t> </a:t>
            </a:r>
            <a:endParaRPr lang="en-US" sz="1400" dirty="0" smtClean="0">
              <a:solidFill>
                <a:srgbClr val="C00000"/>
              </a:solidFill>
              <a:latin typeface="Comic Sans MS" panose="030F0702030302020204" pitchFamily="66" charset="0"/>
            </a:endParaRPr>
          </a:p>
          <a:p>
            <a:pPr algn="just">
              <a:spcAft>
                <a:spcPts val="600"/>
              </a:spcAft>
            </a:pPr>
            <a:r>
              <a:rPr lang="en-US" sz="1400" dirty="0" smtClean="0">
                <a:solidFill>
                  <a:schemeClr val="accent1">
                    <a:lumMod val="75000"/>
                  </a:schemeClr>
                </a:solidFill>
              </a:rPr>
              <a:t>The </a:t>
            </a:r>
            <a:r>
              <a:rPr lang="en-US" sz="1400" dirty="0">
                <a:solidFill>
                  <a:schemeClr val="accent1">
                    <a:lumMod val="75000"/>
                  </a:schemeClr>
                </a:solidFill>
              </a:rPr>
              <a:t>above BI concepts help organizations enhance inside and outside communications, solve problems, analyze data and ensure business profitability with valuable insights crafted from internal data.</a:t>
            </a:r>
          </a:p>
          <a:p>
            <a:pPr algn="just">
              <a:spcAft>
                <a:spcPts val="600"/>
              </a:spcAft>
            </a:pPr>
            <a:r>
              <a:rPr lang="en-US" sz="1400" b="1" dirty="0">
                <a:solidFill>
                  <a:srgbClr val="C00000"/>
                </a:solidFill>
                <a:latin typeface="Comic Sans MS" panose="030F0702030302020204" pitchFamily="66" charset="0"/>
              </a:rPr>
              <a:t>Set </a:t>
            </a:r>
            <a:r>
              <a:rPr lang="en-US" sz="1400" b="1" dirty="0" smtClean="0">
                <a:solidFill>
                  <a:srgbClr val="C00000"/>
                </a:solidFill>
                <a:latin typeface="Comic Sans MS" panose="030F0702030302020204" pitchFamily="66" charset="0"/>
              </a:rPr>
              <a:t>Benchmarks</a:t>
            </a:r>
            <a:r>
              <a:rPr lang="en-US" sz="1400" dirty="0">
                <a:solidFill>
                  <a:srgbClr val="C00000"/>
                </a:solidFill>
                <a:latin typeface="Comic Sans MS" panose="030F0702030302020204" pitchFamily="66" charset="0"/>
              </a:rPr>
              <a:t> </a:t>
            </a:r>
            <a:endParaRPr lang="en-US" sz="1400" dirty="0" smtClean="0">
              <a:solidFill>
                <a:srgbClr val="C00000"/>
              </a:solidFill>
              <a:latin typeface="Comic Sans MS" panose="030F0702030302020204" pitchFamily="66" charset="0"/>
            </a:endParaRPr>
          </a:p>
          <a:p>
            <a:pPr algn="just">
              <a:spcAft>
                <a:spcPts val="600"/>
              </a:spcAft>
            </a:pPr>
            <a:r>
              <a:rPr lang="en-US" sz="1400" dirty="0" smtClean="0">
                <a:solidFill>
                  <a:schemeClr val="accent1">
                    <a:lumMod val="75000"/>
                  </a:schemeClr>
                </a:solidFill>
              </a:rPr>
              <a:t>Set </a:t>
            </a:r>
            <a:r>
              <a:rPr lang="en-US" sz="1400" dirty="0">
                <a:solidFill>
                  <a:schemeClr val="accent1">
                    <a:lumMod val="75000"/>
                  </a:schemeClr>
                </a:solidFill>
              </a:rPr>
              <a:t>actionable goals and benchmarks to drive performance. Formulate effective strategies to achieve predetermined objectives. Evaluate progress through robust KPIs to boost revenue and ROI.</a:t>
            </a:r>
          </a:p>
          <a:p>
            <a:pPr algn="just">
              <a:spcAft>
                <a:spcPts val="600"/>
              </a:spcAft>
            </a:pPr>
            <a:r>
              <a:rPr lang="en-US" sz="1400" b="1" dirty="0">
                <a:solidFill>
                  <a:srgbClr val="C00000"/>
                </a:solidFill>
                <a:latin typeface="Comic Sans MS" panose="030F0702030302020204" pitchFamily="66" charset="0"/>
              </a:rPr>
              <a:t>Predict </a:t>
            </a:r>
            <a:r>
              <a:rPr lang="en-US" sz="1400" b="1" dirty="0" smtClean="0">
                <a:solidFill>
                  <a:srgbClr val="C00000"/>
                </a:solidFill>
                <a:latin typeface="Comic Sans MS" panose="030F0702030302020204" pitchFamily="66" charset="0"/>
              </a:rPr>
              <a:t>Trends</a:t>
            </a:r>
          </a:p>
          <a:p>
            <a:pPr algn="just">
              <a:spcAft>
                <a:spcPts val="600"/>
              </a:spcAft>
            </a:pPr>
            <a:r>
              <a:rPr lang="en-US" sz="1400" dirty="0" smtClean="0">
                <a:solidFill>
                  <a:schemeClr val="accent1">
                    <a:lumMod val="75000"/>
                  </a:schemeClr>
                </a:solidFill>
              </a:rPr>
              <a:t>Predict </a:t>
            </a:r>
            <a:r>
              <a:rPr lang="en-US" sz="1400" dirty="0">
                <a:solidFill>
                  <a:schemeClr val="accent1">
                    <a:lumMod val="75000"/>
                  </a:schemeClr>
                </a:solidFill>
              </a:rPr>
              <a:t>trends and patterns accurately to mitigate risks and capitalize on advantages before your competitors.</a:t>
            </a:r>
          </a:p>
          <a:p>
            <a:pPr algn="just">
              <a:spcAft>
                <a:spcPts val="600"/>
              </a:spcAft>
            </a:pPr>
            <a:r>
              <a:rPr lang="en-US" sz="1400" b="1" dirty="0">
                <a:solidFill>
                  <a:srgbClr val="C00000"/>
                </a:solidFill>
                <a:latin typeface="Comic Sans MS" panose="030F0702030302020204" pitchFamily="66" charset="0"/>
              </a:rPr>
              <a:t>Create Powerful </a:t>
            </a:r>
            <a:r>
              <a:rPr lang="en-US" sz="1400" b="1" dirty="0" smtClean="0">
                <a:solidFill>
                  <a:srgbClr val="C00000"/>
                </a:solidFill>
                <a:latin typeface="Comic Sans MS" panose="030F0702030302020204" pitchFamily="66" charset="0"/>
              </a:rPr>
              <a:t>Visuals</a:t>
            </a:r>
          </a:p>
          <a:p>
            <a:pPr algn="just">
              <a:spcAft>
                <a:spcPts val="600"/>
              </a:spcAft>
            </a:pPr>
            <a:r>
              <a:rPr lang="en-US" sz="1400" dirty="0" smtClean="0">
                <a:solidFill>
                  <a:schemeClr val="accent1">
                    <a:lumMod val="75000"/>
                  </a:schemeClr>
                </a:solidFill>
              </a:rPr>
              <a:t>Develop </a:t>
            </a:r>
            <a:r>
              <a:rPr lang="en-US" sz="1400" dirty="0">
                <a:solidFill>
                  <a:schemeClr val="accent1">
                    <a:lumMod val="75000"/>
                  </a:schemeClr>
                </a:solidFill>
              </a:rPr>
              <a:t>visualizations to convey a data story. Extrapolate usable information from complex datasets and present them to stakeholders and team members for discussions and planning.</a:t>
            </a:r>
          </a:p>
        </p:txBody>
      </p:sp>
    </p:spTree>
    <p:extLst>
      <p:ext uri="{BB962C8B-B14F-4D97-AF65-F5344CB8AC3E}">
        <p14:creationId xmlns:p14="http://schemas.microsoft.com/office/powerpoint/2010/main" val="38611192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Business Intelligence Application</a:t>
            </a:r>
            <a:endParaRPr lang="en-US" dirty="0">
              <a:latin typeface="Comic Sans MS" panose="030F0702030302020204" pitchFamily="66" charset="0"/>
            </a:endParaRPr>
          </a:p>
        </p:txBody>
      </p:sp>
      <p:sp>
        <p:nvSpPr>
          <p:cNvPr id="3" name="object 3"/>
          <p:cNvSpPr txBox="1"/>
          <p:nvPr/>
        </p:nvSpPr>
        <p:spPr>
          <a:xfrm>
            <a:off x="533400" y="1752600"/>
            <a:ext cx="8077200" cy="4198585"/>
          </a:xfrm>
          <a:prstGeom prst="rect">
            <a:avLst/>
          </a:prstGeom>
        </p:spPr>
        <p:txBody>
          <a:bodyPr vert="horz" wrap="square" lIns="0" tIns="12700" rIns="0" bIns="0" rtlCol="0">
            <a:spAutoFit/>
          </a:bodyPr>
          <a:lstStyle/>
          <a:p>
            <a:pPr algn="just">
              <a:spcAft>
                <a:spcPts val="600"/>
              </a:spcAft>
            </a:pPr>
            <a:r>
              <a:rPr lang="en-US" sz="1400" b="1" dirty="0" smtClean="0">
                <a:solidFill>
                  <a:srgbClr val="C00000"/>
                </a:solidFill>
                <a:latin typeface="Comic Sans MS" panose="030F0702030302020204" pitchFamily="66" charset="0"/>
              </a:rPr>
              <a:t>Analyze </a:t>
            </a:r>
            <a:r>
              <a:rPr lang="en-US" sz="1400" b="1" dirty="0">
                <a:solidFill>
                  <a:srgbClr val="C00000"/>
                </a:solidFill>
                <a:latin typeface="Comic Sans MS" panose="030F0702030302020204" pitchFamily="66" charset="0"/>
              </a:rPr>
              <a:t>Sales Cycle</a:t>
            </a:r>
          </a:p>
          <a:p>
            <a:pPr algn="just">
              <a:spcAft>
                <a:spcPts val="600"/>
              </a:spcAft>
            </a:pPr>
            <a:r>
              <a:rPr lang="en-US" sz="1400" dirty="0">
                <a:solidFill>
                  <a:schemeClr val="accent1">
                    <a:lumMod val="75000"/>
                  </a:schemeClr>
                </a:solidFill>
              </a:rPr>
              <a:t>Leverage sales analytics to see sales </a:t>
            </a:r>
            <a:r>
              <a:rPr lang="en-US" sz="1400" dirty="0" smtClean="0">
                <a:solidFill>
                  <a:schemeClr val="accent1">
                    <a:lumMod val="75000"/>
                  </a:schemeClr>
                </a:solidFill>
              </a:rPr>
              <a:t>representative </a:t>
            </a:r>
            <a:r>
              <a:rPr lang="en-US" sz="1400" dirty="0">
                <a:solidFill>
                  <a:schemeClr val="accent1">
                    <a:lumMod val="75000"/>
                  </a:schemeClr>
                </a:solidFill>
              </a:rPr>
              <a:t>performance. </a:t>
            </a:r>
            <a:r>
              <a:rPr lang="en-US" sz="1400" dirty="0" smtClean="0">
                <a:solidFill>
                  <a:schemeClr val="accent1">
                    <a:lumMod val="75000"/>
                  </a:schemeClr>
                </a:solidFill>
              </a:rPr>
              <a:t>Measure </a:t>
            </a:r>
            <a:r>
              <a:rPr lang="en-US" sz="1400" dirty="0">
                <a:solidFill>
                  <a:schemeClr val="accent1">
                    <a:lumMod val="75000"/>
                  </a:schemeClr>
                </a:solidFill>
              </a:rPr>
              <a:t>who is succeeding and failing while improving existing processes within the organization. Use </a:t>
            </a:r>
            <a:r>
              <a:rPr lang="en-US" sz="1400" dirty="0" smtClean="0">
                <a:solidFill>
                  <a:schemeClr val="accent1">
                    <a:lumMod val="75000"/>
                  </a:schemeClr>
                </a:solidFill>
              </a:rPr>
              <a:t>sales dashboards</a:t>
            </a:r>
            <a:r>
              <a:rPr lang="en-US" sz="1400" dirty="0">
                <a:solidFill>
                  <a:schemeClr val="accent1">
                    <a:lumMod val="75000"/>
                  </a:schemeClr>
                </a:solidFill>
              </a:rPr>
              <a:t> to analyze the sales cycle and compare manager performance.</a:t>
            </a:r>
          </a:p>
          <a:p>
            <a:pPr algn="just">
              <a:spcAft>
                <a:spcPts val="600"/>
              </a:spcAft>
            </a:pPr>
            <a:r>
              <a:rPr lang="en-US" sz="1400" b="1" dirty="0">
                <a:solidFill>
                  <a:srgbClr val="C00000"/>
                </a:solidFill>
                <a:latin typeface="Comic Sans MS" panose="030F0702030302020204" pitchFamily="66" charset="0"/>
              </a:rPr>
              <a:t>Identify Customer Behavior</a:t>
            </a:r>
          </a:p>
          <a:p>
            <a:pPr algn="just">
              <a:spcAft>
                <a:spcPts val="600"/>
              </a:spcAft>
            </a:pPr>
            <a:r>
              <a:rPr lang="en-US" sz="1400" dirty="0">
                <a:solidFill>
                  <a:schemeClr val="accent1">
                    <a:lumMod val="75000"/>
                  </a:schemeClr>
                </a:solidFill>
              </a:rPr>
              <a:t>Analyze customer activity on your website and how they respond to marketing campaigns. Examine which customer acquisition channels are driving revenue. Invest in high-performing channels to attract </a:t>
            </a:r>
            <a:r>
              <a:rPr lang="en-US" sz="1400" dirty="0" smtClean="0">
                <a:solidFill>
                  <a:schemeClr val="accent1">
                    <a:lumMod val="75000"/>
                  </a:schemeClr>
                </a:solidFill>
              </a:rPr>
              <a:t>profitable </a:t>
            </a:r>
            <a:r>
              <a:rPr lang="en-US" sz="1400" dirty="0">
                <a:solidFill>
                  <a:schemeClr val="accent1">
                    <a:lumMod val="75000"/>
                  </a:schemeClr>
                </a:solidFill>
              </a:rPr>
              <a:t>customers.</a:t>
            </a:r>
          </a:p>
          <a:p>
            <a:pPr algn="just">
              <a:spcAft>
                <a:spcPts val="600"/>
              </a:spcAft>
            </a:pPr>
            <a:r>
              <a:rPr lang="en-US" sz="1400" b="1" dirty="0">
                <a:solidFill>
                  <a:srgbClr val="C00000"/>
                </a:solidFill>
                <a:latin typeface="Comic Sans MS" panose="030F0702030302020204" pitchFamily="66" charset="0"/>
              </a:rPr>
              <a:t>Plan Marketing Activities</a:t>
            </a:r>
          </a:p>
          <a:p>
            <a:pPr algn="just">
              <a:spcAft>
                <a:spcPts val="600"/>
              </a:spcAft>
            </a:pPr>
            <a:r>
              <a:rPr lang="en-US" sz="1400" dirty="0" smtClean="0">
                <a:solidFill>
                  <a:schemeClr val="accent1">
                    <a:lumMod val="75000"/>
                  </a:schemeClr>
                </a:solidFill>
              </a:rPr>
              <a:t>Force predictive analytics</a:t>
            </a:r>
            <a:r>
              <a:rPr lang="en-US" sz="1400" dirty="0">
                <a:solidFill>
                  <a:schemeClr val="accent1">
                    <a:lumMod val="75000"/>
                  </a:schemeClr>
                </a:solidFill>
              </a:rPr>
              <a:t> to identify efficient campaigns. </a:t>
            </a:r>
            <a:r>
              <a:rPr lang="en-US" sz="1400" dirty="0" smtClean="0">
                <a:solidFill>
                  <a:schemeClr val="accent1">
                    <a:lumMod val="75000"/>
                  </a:schemeClr>
                </a:solidFill>
              </a:rPr>
              <a:t>Measure </a:t>
            </a:r>
            <a:r>
              <a:rPr lang="en-US" sz="1400" dirty="0">
                <a:solidFill>
                  <a:schemeClr val="accent1">
                    <a:lumMod val="75000"/>
                  </a:schemeClr>
                </a:solidFill>
              </a:rPr>
              <a:t>how different campaigns perform based on predetermined objectives.</a:t>
            </a:r>
          </a:p>
          <a:p>
            <a:pPr algn="just">
              <a:spcAft>
                <a:spcPts val="600"/>
              </a:spcAft>
            </a:pPr>
            <a:r>
              <a:rPr lang="en-US" sz="1400" b="1" dirty="0">
                <a:solidFill>
                  <a:srgbClr val="C00000"/>
                </a:solidFill>
                <a:latin typeface="Comic Sans MS" panose="030F0702030302020204" pitchFamily="66" charset="0"/>
              </a:rPr>
              <a:t>Boost Customer Service Experience</a:t>
            </a:r>
          </a:p>
          <a:p>
            <a:pPr algn="just">
              <a:spcAft>
                <a:spcPts val="600"/>
              </a:spcAft>
            </a:pPr>
            <a:r>
              <a:rPr lang="en-US" sz="1400" dirty="0">
                <a:solidFill>
                  <a:schemeClr val="accent1">
                    <a:lumMod val="75000"/>
                  </a:schemeClr>
                </a:solidFill>
              </a:rPr>
              <a:t>Display </a:t>
            </a:r>
            <a:r>
              <a:rPr lang="en-US" sz="1400" dirty="0" smtClean="0">
                <a:solidFill>
                  <a:schemeClr val="accent1">
                    <a:lumMod val="75000"/>
                  </a:schemeClr>
                </a:solidFill>
              </a:rPr>
              <a:t>customer service KPIs, </a:t>
            </a:r>
            <a:r>
              <a:rPr lang="en-US" sz="1400" dirty="0">
                <a:solidFill>
                  <a:schemeClr val="accent1">
                    <a:lumMod val="75000"/>
                  </a:schemeClr>
                </a:solidFill>
              </a:rPr>
              <a:t>including average response times, to boost customer service, internal training and development initiatives.</a:t>
            </a:r>
          </a:p>
          <a:p>
            <a:r>
              <a:rPr lang="en-US" dirty="0"/>
              <a:t/>
            </a:r>
            <a:br>
              <a:rPr lang="en-US" dirty="0"/>
            </a:br>
            <a:endParaRPr lang="en-US" dirty="0"/>
          </a:p>
        </p:txBody>
      </p:sp>
    </p:spTree>
    <p:extLst>
      <p:ext uri="{BB962C8B-B14F-4D97-AF65-F5344CB8AC3E}">
        <p14:creationId xmlns:p14="http://schemas.microsoft.com/office/powerpoint/2010/main" val="17483401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BI and integration of CRM and ERP</a:t>
            </a:r>
            <a:endParaRPr lang="en-US" dirty="0">
              <a:latin typeface="Comic Sans MS" panose="030F0702030302020204" pitchFamily="66" charset="0"/>
            </a:endParaRPr>
          </a:p>
        </p:txBody>
      </p:sp>
      <p:sp>
        <p:nvSpPr>
          <p:cNvPr id="3" name="object 3"/>
          <p:cNvSpPr txBox="1"/>
          <p:nvPr/>
        </p:nvSpPr>
        <p:spPr>
          <a:xfrm>
            <a:off x="533400" y="1676400"/>
            <a:ext cx="8077200" cy="2767424"/>
          </a:xfrm>
          <a:prstGeom prst="rect">
            <a:avLst/>
          </a:prstGeom>
        </p:spPr>
        <p:txBody>
          <a:bodyPr vert="horz" wrap="square" lIns="0" tIns="12700" rIns="0" bIns="0" rtlCol="0">
            <a:spAutoFit/>
          </a:bodyPr>
          <a:lstStyle/>
          <a:p>
            <a:pPr algn="just">
              <a:spcAft>
                <a:spcPts val="600"/>
              </a:spcAft>
            </a:pPr>
            <a:r>
              <a:rPr lang="en-US" sz="1400" dirty="0" smtClean="0">
                <a:solidFill>
                  <a:schemeClr val="accent1">
                    <a:lumMod val="75000"/>
                  </a:schemeClr>
                </a:solidFill>
              </a:rPr>
              <a:t>Two </a:t>
            </a:r>
            <a:r>
              <a:rPr lang="en-US" sz="1400" dirty="0">
                <a:solidFill>
                  <a:schemeClr val="accent1">
                    <a:lumMod val="75000"/>
                  </a:schemeClr>
                </a:solidFill>
              </a:rPr>
              <a:t>key systems in </a:t>
            </a:r>
            <a:r>
              <a:rPr lang="en-US" sz="1400" dirty="0" smtClean="0">
                <a:solidFill>
                  <a:schemeClr val="accent1">
                    <a:lumMod val="75000"/>
                  </a:schemeClr>
                </a:solidFill>
              </a:rPr>
              <a:t>Business Intelligence for </a:t>
            </a:r>
            <a:r>
              <a:rPr lang="en-US" sz="1400" dirty="0">
                <a:solidFill>
                  <a:schemeClr val="accent1">
                    <a:lumMod val="75000"/>
                  </a:schemeClr>
                </a:solidFill>
              </a:rPr>
              <a:t>strategic information </a:t>
            </a:r>
            <a:r>
              <a:rPr lang="en-US" sz="1400" dirty="0" smtClean="0">
                <a:solidFill>
                  <a:schemeClr val="accent1">
                    <a:lumMod val="75000"/>
                  </a:schemeClr>
                </a:solidFill>
              </a:rPr>
              <a:t>are:</a:t>
            </a:r>
          </a:p>
          <a:p>
            <a:pPr algn="just">
              <a:spcAft>
                <a:spcPts val="600"/>
              </a:spcAft>
            </a:pPr>
            <a:endParaRPr lang="en-US" sz="1400" dirty="0" smtClean="0">
              <a:solidFill>
                <a:schemeClr val="accent1">
                  <a:lumMod val="75000"/>
                </a:schemeClr>
              </a:solidFill>
            </a:endParaRPr>
          </a:p>
          <a:p>
            <a:pPr marL="742950" lvl="1" indent="-285750" algn="just">
              <a:spcAft>
                <a:spcPts val="600"/>
              </a:spcAft>
              <a:buFont typeface="Arial" panose="020B0604020202020204" pitchFamily="34" charset="0"/>
              <a:buChar char="•"/>
            </a:pPr>
            <a:r>
              <a:rPr lang="en-US" sz="1400" b="1" dirty="0" smtClean="0">
                <a:solidFill>
                  <a:schemeClr val="accent1">
                    <a:lumMod val="75000"/>
                  </a:schemeClr>
                </a:solidFill>
                <a:effectLst>
                  <a:outerShdw blurRad="38100" dist="38100" dir="2700000" algn="tl">
                    <a:srgbClr val="000000">
                      <a:alpha val="43137"/>
                    </a:srgbClr>
                  </a:outerShdw>
                </a:effectLst>
              </a:rPr>
              <a:t>Customer </a:t>
            </a:r>
            <a:r>
              <a:rPr lang="en-US" sz="1400" b="1" dirty="0">
                <a:solidFill>
                  <a:schemeClr val="accent1">
                    <a:lumMod val="75000"/>
                  </a:schemeClr>
                </a:solidFill>
                <a:effectLst>
                  <a:outerShdw blurRad="38100" dist="38100" dir="2700000" algn="tl">
                    <a:srgbClr val="000000">
                      <a:alpha val="43137"/>
                    </a:srgbClr>
                  </a:outerShdw>
                </a:effectLst>
              </a:rPr>
              <a:t>Relationship Management (</a:t>
            </a:r>
            <a:r>
              <a:rPr lang="en-US" sz="1400" b="1" dirty="0" smtClean="0">
                <a:solidFill>
                  <a:schemeClr val="accent1">
                    <a:lumMod val="75000"/>
                  </a:schemeClr>
                </a:solidFill>
                <a:effectLst>
                  <a:outerShdw blurRad="38100" dist="38100" dir="2700000" algn="tl">
                    <a:srgbClr val="000000">
                      <a:alpha val="43137"/>
                    </a:srgbClr>
                  </a:outerShdw>
                </a:effectLst>
              </a:rPr>
              <a:t>CRM)</a:t>
            </a:r>
          </a:p>
          <a:p>
            <a:pPr marL="742950" lvl="1" indent="-285750" algn="just">
              <a:spcAft>
                <a:spcPts val="600"/>
              </a:spcAft>
              <a:buFont typeface="Arial" panose="020B0604020202020204" pitchFamily="34" charset="0"/>
              <a:buChar char="•"/>
            </a:pPr>
            <a:r>
              <a:rPr lang="en-US" sz="1400" b="1" dirty="0" smtClean="0">
                <a:solidFill>
                  <a:schemeClr val="accent1">
                    <a:lumMod val="75000"/>
                  </a:schemeClr>
                </a:solidFill>
                <a:effectLst>
                  <a:outerShdw blurRad="38100" dist="38100" dir="2700000" algn="tl">
                    <a:srgbClr val="000000">
                      <a:alpha val="43137"/>
                    </a:srgbClr>
                  </a:outerShdw>
                </a:effectLst>
              </a:rPr>
              <a:t>Enterprise </a:t>
            </a:r>
            <a:r>
              <a:rPr lang="en-US" sz="1400" b="1" dirty="0">
                <a:solidFill>
                  <a:schemeClr val="accent1">
                    <a:lumMod val="75000"/>
                  </a:schemeClr>
                </a:solidFill>
                <a:effectLst>
                  <a:outerShdw blurRad="38100" dist="38100" dir="2700000" algn="tl">
                    <a:srgbClr val="000000">
                      <a:alpha val="43137"/>
                    </a:srgbClr>
                  </a:outerShdw>
                </a:effectLst>
              </a:rPr>
              <a:t>Resource Planning (ERP</a:t>
            </a:r>
            <a:r>
              <a:rPr lang="en-US" sz="1400" b="1" dirty="0" smtClean="0">
                <a:solidFill>
                  <a:schemeClr val="accent1">
                    <a:lumMod val="75000"/>
                  </a:schemeClr>
                </a:solidFill>
                <a:effectLst>
                  <a:outerShdw blurRad="38100" dist="38100" dir="2700000" algn="tl">
                    <a:srgbClr val="000000">
                      <a:alpha val="43137"/>
                    </a:srgbClr>
                  </a:outerShdw>
                </a:effectLst>
              </a:rPr>
              <a:t>)</a:t>
            </a:r>
          </a:p>
          <a:p>
            <a:pPr lvl="1" algn="just">
              <a:spcAft>
                <a:spcPts val="600"/>
              </a:spcAft>
            </a:pPr>
            <a:endParaRPr lang="en-US" sz="1400" dirty="0" smtClean="0">
              <a:solidFill>
                <a:schemeClr val="accent1">
                  <a:lumMod val="75000"/>
                </a:schemeClr>
              </a:solidFill>
            </a:endParaRPr>
          </a:p>
          <a:p>
            <a:pPr algn="just">
              <a:spcAft>
                <a:spcPts val="600"/>
              </a:spcAft>
            </a:pPr>
            <a:r>
              <a:rPr lang="en-US" sz="1400" dirty="0" smtClean="0">
                <a:solidFill>
                  <a:schemeClr val="accent1">
                    <a:lumMod val="75000"/>
                  </a:schemeClr>
                </a:solidFill>
              </a:rPr>
              <a:t>The </a:t>
            </a:r>
            <a:r>
              <a:rPr lang="en-US" sz="1400" dirty="0">
                <a:solidFill>
                  <a:schemeClr val="accent1">
                    <a:lumMod val="75000"/>
                  </a:schemeClr>
                </a:solidFill>
              </a:rPr>
              <a:t>integration of CRM and ERP can enhance a company's business intelligence</a:t>
            </a:r>
            <a:r>
              <a:rPr lang="en-US" sz="1400" dirty="0" smtClean="0">
                <a:solidFill>
                  <a:schemeClr val="accent1">
                    <a:lumMod val="75000"/>
                  </a:schemeClr>
                </a:solidFill>
              </a:rPr>
              <a:t>. It can </a:t>
            </a:r>
            <a:r>
              <a:rPr lang="en-US" sz="1400" dirty="0">
                <a:solidFill>
                  <a:schemeClr val="accent1">
                    <a:lumMod val="75000"/>
                  </a:schemeClr>
                </a:solidFill>
              </a:rPr>
              <a:t>empowers business intelligence by providing a more complete and accurate view of operations and customer relationships. Companies that leverage this integration can make more informed decisions, optimize their business processes, and remain competitive in an ever-changing market. Investing in this technology can result in a significant return as organizations harness their data to drive growth and efficiency.</a:t>
            </a:r>
          </a:p>
        </p:txBody>
      </p:sp>
    </p:spTree>
    <p:extLst>
      <p:ext uri="{BB962C8B-B14F-4D97-AF65-F5344CB8AC3E}">
        <p14:creationId xmlns:p14="http://schemas.microsoft.com/office/powerpoint/2010/main" val="4021532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2971800"/>
            <a:ext cx="6858000" cy="504625"/>
          </a:xfrm>
          <a:prstGeom prst="rect">
            <a:avLst/>
          </a:prstGeom>
        </p:spPr>
        <p:txBody>
          <a:bodyPr vert="horz" wrap="square" lIns="0" tIns="12065" rIns="0" bIns="0" rtlCol="0">
            <a:spAutoFit/>
          </a:bodyPr>
          <a:lstStyle/>
          <a:p>
            <a:pPr algn="ctr" eaLnBrk="0" hangingPunct="0"/>
            <a:r>
              <a:rPr lang="en-US" sz="3200" b="0" dirty="0" smtClean="0">
                <a:solidFill>
                  <a:srgbClr val="C00000"/>
                </a:solidFill>
                <a:effectLst>
                  <a:outerShdw blurRad="38100" dist="38100" dir="2700000" algn="tl">
                    <a:srgbClr val="000000">
                      <a:alpha val="43137"/>
                    </a:srgbClr>
                  </a:outerShdw>
                </a:effectLst>
                <a:latin typeface="Comic Sans MS" panose="030F0702030302020204" pitchFamily="66" charset="0"/>
              </a:rPr>
              <a:t>Customer Relationship Management</a:t>
            </a:r>
            <a:endParaRPr lang="en-US" sz="3200" b="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8720207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algn="just" fontAlgn="auto"/>
            <a:r>
              <a:rPr lang="en-US" dirty="0">
                <a:solidFill>
                  <a:schemeClr val="accent1">
                    <a:lumMod val="75000"/>
                  </a:schemeClr>
                </a:solidFill>
                <a:latin typeface="Comic Sans MS" panose="030F0702030302020204" pitchFamily="66" charset="0"/>
              </a:rPr>
              <a:t>CRM (Customer Relationship Management)</a:t>
            </a:r>
          </a:p>
        </p:txBody>
      </p:sp>
      <p:sp>
        <p:nvSpPr>
          <p:cNvPr id="3" name="object 3"/>
          <p:cNvSpPr txBox="1"/>
          <p:nvPr/>
        </p:nvSpPr>
        <p:spPr>
          <a:xfrm>
            <a:off x="609600" y="1143000"/>
            <a:ext cx="8077200" cy="1951816"/>
          </a:xfrm>
          <a:prstGeom prst="rect">
            <a:avLst/>
          </a:prstGeom>
        </p:spPr>
        <p:txBody>
          <a:bodyPr vert="horz" wrap="square" lIns="0" tIns="12700" rIns="0" bIns="0" rtlCol="0">
            <a:spAutoFit/>
          </a:bodyPr>
          <a:lstStyle/>
          <a:p>
            <a:pPr algn="just" fontAlgn="auto"/>
            <a:endParaRPr lang="en-US" sz="1400" dirty="0">
              <a:solidFill>
                <a:schemeClr val="accent1">
                  <a:lumMod val="75000"/>
                </a:schemeClr>
              </a:solidFill>
            </a:endParaRPr>
          </a:p>
          <a:p>
            <a:pPr algn="just" fontAlgn="auto"/>
            <a:r>
              <a:rPr lang="en-US" sz="1400" dirty="0" smtClean="0">
                <a:solidFill>
                  <a:schemeClr val="accent1">
                    <a:lumMod val="75000"/>
                  </a:schemeClr>
                </a:solidFill>
              </a:rPr>
              <a:t>Customer </a:t>
            </a:r>
            <a:r>
              <a:rPr lang="en-US" sz="1400" dirty="0">
                <a:solidFill>
                  <a:schemeClr val="accent1">
                    <a:lumMod val="75000"/>
                  </a:schemeClr>
                </a:solidFill>
              </a:rPr>
              <a:t>Relationship Management (CRM) is a strategic approach that businesses use to manage and analyze interactions with current and potential customers throughout the customer lifecycle. The goal of CRM is to improve customer satisfaction, loyalty, and ultimately, drive business growth. This system focuses on customer relationship management. It allows businesses to track and manage customer interactions throughout their lifecycle, from initial contact to sales and ongoing support. </a:t>
            </a:r>
            <a:r>
              <a:rPr lang="en-US" sz="1400" dirty="0" smtClean="0">
                <a:solidFill>
                  <a:schemeClr val="accent1">
                    <a:lumMod val="75000"/>
                  </a:schemeClr>
                </a:solidFill>
              </a:rPr>
              <a:t>CRM </a:t>
            </a:r>
            <a:r>
              <a:rPr lang="en-US" sz="1400" dirty="0">
                <a:solidFill>
                  <a:schemeClr val="accent1">
                    <a:lumMod val="75000"/>
                  </a:schemeClr>
                </a:solidFill>
              </a:rPr>
              <a:t>involves not only technology but also processes and a customer-centric mindset. CRM stores customer data, sales tracking, interaction histories, and preferences, providing a complete view of customer relationships</a:t>
            </a:r>
            <a:r>
              <a:rPr lang="en-US" sz="1400" dirty="0" smtClean="0">
                <a:solidFill>
                  <a:schemeClr val="accent1">
                    <a:lumMod val="75000"/>
                  </a:schemeClr>
                </a:solidFill>
              </a:rPr>
              <a:t>.</a:t>
            </a:r>
            <a:endParaRPr lang="en-US" sz="1400" dirty="0">
              <a:solidFill>
                <a:schemeClr val="accent1">
                  <a:lumMod val="75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3200400"/>
            <a:ext cx="4467358" cy="3466282"/>
          </a:xfrm>
          <a:prstGeom prst="rect">
            <a:avLst/>
          </a:prstGeom>
        </p:spPr>
      </p:pic>
    </p:spTree>
    <p:extLst>
      <p:ext uri="{BB962C8B-B14F-4D97-AF65-F5344CB8AC3E}">
        <p14:creationId xmlns:p14="http://schemas.microsoft.com/office/powerpoint/2010/main" val="7781478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CRM components</a:t>
            </a:r>
            <a:endParaRPr lang="en-US" dirty="0">
              <a:latin typeface="Comic Sans MS" panose="030F0702030302020204" pitchFamily="66" charset="0"/>
            </a:endParaRPr>
          </a:p>
        </p:txBody>
      </p:sp>
      <p:sp>
        <p:nvSpPr>
          <p:cNvPr id="3" name="object 3"/>
          <p:cNvSpPr txBox="1"/>
          <p:nvPr/>
        </p:nvSpPr>
        <p:spPr>
          <a:xfrm>
            <a:off x="533400" y="1600200"/>
            <a:ext cx="8153400" cy="4106252"/>
          </a:xfrm>
          <a:prstGeom prst="rect">
            <a:avLst/>
          </a:prstGeom>
        </p:spPr>
        <p:txBody>
          <a:bodyPr vert="horz" wrap="square" lIns="0" tIns="12700" rIns="0" bIns="0" rtlCol="0">
            <a:spAutoFit/>
          </a:bodyPr>
          <a:lstStyle/>
          <a:p>
            <a:pPr algn="just"/>
            <a:r>
              <a:rPr lang="en-US" sz="1400" b="1" dirty="0">
                <a:solidFill>
                  <a:schemeClr val="accent1">
                    <a:lumMod val="75000"/>
                  </a:schemeClr>
                </a:solidFill>
              </a:rPr>
              <a:t>Customer satisfaction</a:t>
            </a:r>
          </a:p>
          <a:p>
            <a:pPr algn="just"/>
            <a:r>
              <a:rPr lang="en-US" sz="1400" dirty="0">
                <a:solidFill>
                  <a:schemeClr val="accent1">
                    <a:lumMod val="75000"/>
                  </a:schemeClr>
                </a:solidFill>
              </a:rPr>
              <a:t>M</a:t>
            </a:r>
            <a:r>
              <a:rPr lang="en-US" sz="1400" dirty="0" smtClean="0">
                <a:solidFill>
                  <a:schemeClr val="accent1">
                    <a:lumMod val="75000"/>
                  </a:schemeClr>
                </a:solidFill>
              </a:rPr>
              <a:t>easures </a:t>
            </a:r>
            <a:r>
              <a:rPr lang="en-US" sz="1400" dirty="0">
                <a:solidFill>
                  <a:schemeClr val="accent1">
                    <a:lumMod val="75000"/>
                  </a:schemeClr>
                </a:solidFill>
              </a:rPr>
              <a:t>a customer’s perception of the quality of a product, service, or company, </a:t>
            </a:r>
            <a:r>
              <a:rPr lang="en-US" sz="1400" dirty="0" smtClean="0">
                <a:solidFill>
                  <a:schemeClr val="accent1">
                    <a:lumMod val="75000"/>
                  </a:schemeClr>
                </a:solidFill>
              </a:rPr>
              <a:t>incorporating product engagement</a:t>
            </a:r>
            <a:r>
              <a:rPr lang="en-US" sz="1400" dirty="0">
                <a:solidFill>
                  <a:schemeClr val="accent1">
                    <a:lumMod val="75000"/>
                  </a:schemeClr>
                </a:solidFill>
              </a:rPr>
              <a:t> and many other factors. </a:t>
            </a:r>
            <a:r>
              <a:rPr lang="en-US" sz="1400" dirty="0" smtClean="0">
                <a:solidFill>
                  <a:schemeClr val="accent1">
                    <a:lumMod val="75000"/>
                  </a:schemeClr>
                </a:solidFill>
              </a:rPr>
              <a:t>Customer </a:t>
            </a:r>
            <a:r>
              <a:rPr lang="en-US" sz="1400" dirty="0">
                <a:solidFill>
                  <a:schemeClr val="accent1">
                    <a:lumMod val="75000"/>
                  </a:schemeClr>
                </a:solidFill>
              </a:rPr>
              <a:t>satisfaction is an essential component of CRM because it is a purchasing guideline for the company and the customer. If a customer is not satisfied with the result of their purchase, they are more likely to purchase from another company.</a:t>
            </a:r>
          </a:p>
          <a:p>
            <a:pPr algn="just"/>
            <a:endParaRPr lang="en-US" sz="1400" b="1" dirty="0" smtClean="0">
              <a:solidFill>
                <a:schemeClr val="accent1">
                  <a:lumMod val="75000"/>
                </a:schemeClr>
              </a:solidFill>
            </a:endParaRPr>
          </a:p>
          <a:p>
            <a:pPr algn="just"/>
            <a:r>
              <a:rPr lang="en-US" sz="1400" b="1" dirty="0" smtClean="0">
                <a:solidFill>
                  <a:schemeClr val="accent1">
                    <a:lumMod val="75000"/>
                  </a:schemeClr>
                </a:solidFill>
              </a:rPr>
              <a:t>Customer </a:t>
            </a:r>
            <a:r>
              <a:rPr lang="en-US" sz="1400" b="1" dirty="0">
                <a:solidFill>
                  <a:schemeClr val="accent1">
                    <a:lumMod val="75000"/>
                  </a:schemeClr>
                </a:solidFill>
              </a:rPr>
              <a:t>loyalty</a:t>
            </a:r>
          </a:p>
          <a:p>
            <a:pPr algn="just"/>
            <a:r>
              <a:rPr lang="en-US" sz="1400" dirty="0" smtClean="0">
                <a:solidFill>
                  <a:schemeClr val="accent1">
                    <a:lumMod val="75000"/>
                  </a:schemeClr>
                </a:solidFill>
              </a:rPr>
              <a:t>It is </a:t>
            </a:r>
            <a:r>
              <a:rPr lang="en-US" sz="1400" dirty="0">
                <a:solidFill>
                  <a:schemeClr val="accent1">
                    <a:lumMod val="75000"/>
                  </a:schemeClr>
                </a:solidFill>
              </a:rPr>
              <a:t>the measure of repeat sales and referrals. This measurement depends on how often a customer purchases from one particular company versus others that may be similar or better suited to their needs throughout </a:t>
            </a:r>
            <a:r>
              <a:rPr lang="en-US" sz="1400" dirty="0" smtClean="0">
                <a:solidFill>
                  <a:schemeClr val="accent1">
                    <a:lumMod val="75000"/>
                  </a:schemeClr>
                </a:solidFill>
              </a:rPr>
              <a:t>the customer journey. Loyal </a:t>
            </a:r>
            <a:r>
              <a:rPr lang="en-US" sz="1400" dirty="0">
                <a:solidFill>
                  <a:schemeClr val="accent1">
                    <a:lumMod val="75000"/>
                  </a:schemeClr>
                </a:solidFill>
              </a:rPr>
              <a:t>customers are more likely to be satisfied with their purchase and recommend the product to others. Thus, it is essential because it provides a consistent source of revenue for the company </a:t>
            </a:r>
            <a:r>
              <a:rPr lang="en-US" sz="1400" dirty="0" smtClean="0">
                <a:solidFill>
                  <a:schemeClr val="accent1">
                    <a:lumMod val="75000"/>
                  </a:schemeClr>
                </a:solidFill>
              </a:rPr>
              <a:t>as product engagement</a:t>
            </a:r>
            <a:r>
              <a:rPr lang="en-US" sz="1400" dirty="0">
                <a:solidFill>
                  <a:schemeClr val="accent1">
                    <a:lumMod val="75000"/>
                  </a:schemeClr>
                </a:solidFill>
              </a:rPr>
              <a:t> has a higher success rate as customers are familiar with and satisfied with products from a specific company. </a:t>
            </a:r>
            <a:endParaRPr lang="en-US" sz="1400" dirty="0" smtClean="0">
              <a:solidFill>
                <a:schemeClr val="accent1">
                  <a:lumMod val="75000"/>
                </a:schemeClr>
              </a:solidFill>
            </a:endParaRPr>
          </a:p>
          <a:p>
            <a:pPr algn="just"/>
            <a:endParaRPr lang="en-US" sz="1400" b="1" dirty="0">
              <a:solidFill>
                <a:schemeClr val="accent1">
                  <a:lumMod val="75000"/>
                </a:schemeClr>
              </a:solidFill>
            </a:endParaRPr>
          </a:p>
          <a:p>
            <a:pPr algn="just"/>
            <a:r>
              <a:rPr lang="en-US" sz="1400" b="1" dirty="0" smtClean="0">
                <a:solidFill>
                  <a:schemeClr val="accent1">
                    <a:lumMod val="75000"/>
                  </a:schemeClr>
                </a:solidFill>
              </a:rPr>
              <a:t>Profitability</a:t>
            </a:r>
            <a:endParaRPr lang="en-US" sz="1400" b="1" dirty="0">
              <a:solidFill>
                <a:schemeClr val="accent1">
                  <a:lumMod val="75000"/>
                </a:schemeClr>
              </a:solidFill>
            </a:endParaRPr>
          </a:p>
          <a:p>
            <a:pPr algn="just"/>
            <a:r>
              <a:rPr lang="en-US" sz="1400" dirty="0" smtClean="0">
                <a:solidFill>
                  <a:schemeClr val="accent1">
                    <a:lumMod val="75000"/>
                  </a:schemeClr>
                </a:solidFill>
              </a:rPr>
              <a:t>It measures </a:t>
            </a:r>
            <a:r>
              <a:rPr lang="en-US" sz="1400" dirty="0">
                <a:solidFill>
                  <a:schemeClr val="accent1">
                    <a:lumMod val="75000"/>
                  </a:schemeClr>
                </a:solidFill>
              </a:rPr>
              <a:t>how much profit (or loss) a company makes during its operation. Calculate it by total revenue minus total costs. Profit is significant because it allows companies to continue operations and stay profitable to grow and </a:t>
            </a:r>
            <a:r>
              <a:rPr lang="en-US" sz="1400" dirty="0" smtClean="0">
                <a:solidFill>
                  <a:schemeClr val="accent1">
                    <a:lumMod val="75000"/>
                  </a:schemeClr>
                </a:solidFill>
              </a:rPr>
              <a:t>expand. Without </a:t>
            </a:r>
            <a:r>
              <a:rPr lang="en-US" sz="1400" dirty="0">
                <a:solidFill>
                  <a:schemeClr val="accent1">
                    <a:lumMod val="75000"/>
                  </a:schemeClr>
                </a:solidFill>
              </a:rPr>
              <a:t>profit, companies would eventually be unable to pay employees, suppliers, or taxes and eventually go out of business due to a lack of funds</a:t>
            </a:r>
            <a:r>
              <a:rPr lang="en-US" sz="1400" dirty="0" smtClean="0">
                <a:solidFill>
                  <a:schemeClr val="accent1">
                    <a:lumMod val="75000"/>
                  </a:schemeClr>
                </a:solidFill>
              </a:rPr>
              <a:t>.</a:t>
            </a:r>
            <a:endParaRPr lang="en-US" sz="1400" dirty="0">
              <a:solidFill>
                <a:schemeClr val="accent1">
                  <a:lumMod val="75000"/>
                </a:schemeClr>
              </a:solidFill>
            </a:endParaRPr>
          </a:p>
        </p:txBody>
      </p:sp>
    </p:spTree>
    <p:extLst>
      <p:ext uri="{BB962C8B-B14F-4D97-AF65-F5344CB8AC3E}">
        <p14:creationId xmlns:p14="http://schemas.microsoft.com/office/powerpoint/2010/main" val="1161128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CRM components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457200" y="1143000"/>
            <a:ext cx="8153400" cy="5829801"/>
          </a:xfrm>
          <a:prstGeom prst="rect">
            <a:avLst/>
          </a:prstGeom>
        </p:spPr>
        <p:txBody>
          <a:bodyPr vert="horz" wrap="square" lIns="0" tIns="12700" rIns="0" bIns="0" rtlCol="0">
            <a:spAutoFit/>
          </a:bodyPr>
          <a:lstStyle/>
          <a:p>
            <a:pPr algn="just"/>
            <a:r>
              <a:rPr lang="en-US" sz="1400" b="1" dirty="0">
                <a:solidFill>
                  <a:schemeClr val="accent1">
                    <a:lumMod val="75000"/>
                  </a:schemeClr>
                </a:solidFill>
              </a:rPr>
              <a:t>Customer Retention</a:t>
            </a:r>
          </a:p>
          <a:p>
            <a:pPr algn="just"/>
            <a:r>
              <a:rPr lang="en-US" sz="1400" dirty="0">
                <a:solidFill>
                  <a:schemeClr val="accent1">
                    <a:lumMod val="75000"/>
                  </a:schemeClr>
                </a:solidFill>
              </a:rPr>
              <a:t>Customer retention measures how many customers remain loyal to one company over time</a:t>
            </a:r>
            <a:r>
              <a:rPr lang="en-US" sz="1400" dirty="0" smtClean="0">
                <a:solidFill>
                  <a:schemeClr val="accent1">
                    <a:lumMod val="75000"/>
                  </a:schemeClr>
                </a:solidFill>
              </a:rPr>
              <a:t>. Retained </a:t>
            </a:r>
            <a:r>
              <a:rPr lang="en-US" sz="1400" dirty="0">
                <a:solidFill>
                  <a:schemeClr val="accent1">
                    <a:lumMod val="75000"/>
                  </a:schemeClr>
                </a:solidFill>
              </a:rPr>
              <a:t>customers are less expensive for companies than new customers who have to go through research and development, marketing campaigns, and promotion costs all over again for new customers</a:t>
            </a:r>
            <a:r>
              <a:rPr lang="en-US" sz="1400" dirty="0" smtClean="0">
                <a:solidFill>
                  <a:schemeClr val="accent1">
                    <a:lumMod val="75000"/>
                  </a:schemeClr>
                </a:solidFill>
              </a:rPr>
              <a:t>. They </a:t>
            </a:r>
            <a:r>
              <a:rPr lang="en-US" sz="1400" dirty="0">
                <a:solidFill>
                  <a:schemeClr val="accent1">
                    <a:lumMod val="75000"/>
                  </a:schemeClr>
                </a:solidFill>
              </a:rPr>
              <a:t>are also more profitable for companies because they do not have to spend money acquiring them again after they have already purchased from the company once before.</a:t>
            </a:r>
          </a:p>
          <a:p>
            <a:pPr algn="just"/>
            <a:endParaRPr lang="en-US" sz="1400" b="1" dirty="0" smtClean="0">
              <a:solidFill>
                <a:schemeClr val="accent1">
                  <a:lumMod val="75000"/>
                </a:schemeClr>
              </a:solidFill>
            </a:endParaRPr>
          </a:p>
          <a:p>
            <a:pPr algn="just"/>
            <a:r>
              <a:rPr lang="en-US" sz="1400" b="1" dirty="0" smtClean="0">
                <a:solidFill>
                  <a:schemeClr val="accent1">
                    <a:lumMod val="75000"/>
                  </a:schemeClr>
                </a:solidFill>
              </a:rPr>
              <a:t>Marketing</a:t>
            </a:r>
            <a:r>
              <a:rPr lang="en-US" sz="1400" b="1" dirty="0">
                <a:solidFill>
                  <a:schemeClr val="accent1">
                    <a:lumMod val="75000"/>
                  </a:schemeClr>
                </a:solidFill>
              </a:rPr>
              <a:t> </a:t>
            </a:r>
          </a:p>
          <a:p>
            <a:pPr algn="just"/>
            <a:r>
              <a:rPr lang="en-US" sz="1400" dirty="0">
                <a:solidFill>
                  <a:schemeClr val="accent1">
                    <a:lumMod val="75000"/>
                  </a:schemeClr>
                </a:solidFill>
              </a:rPr>
              <a:t>CRM plays a crucial role in marketing as it involves promoting and advertising your business to attract new customers. By analyzing the </a:t>
            </a:r>
            <a:r>
              <a:rPr lang="en-US" sz="1400" dirty="0" smtClean="0">
                <a:solidFill>
                  <a:schemeClr val="accent1">
                    <a:lumMod val="75000"/>
                  </a:schemeClr>
                </a:solidFill>
              </a:rPr>
              <a:t>behavior </a:t>
            </a:r>
            <a:r>
              <a:rPr lang="en-US" sz="1400" dirty="0">
                <a:solidFill>
                  <a:schemeClr val="accent1">
                    <a:lumMod val="75000"/>
                  </a:schemeClr>
                </a:solidFill>
              </a:rPr>
              <a:t>of potential customers, CRM helps enhance advertising strategies for greater effectiveness</a:t>
            </a:r>
            <a:r>
              <a:rPr lang="en-US" sz="1400" dirty="0" smtClean="0">
                <a:solidFill>
                  <a:schemeClr val="accent1">
                    <a:lumMod val="75000"/>
                  </a:schemeClr>
                </a:solidFill>
              </a:rPr>
              <a:t>. Marketing </a:t>
            </a:r>
            <a:r>
              <a:rPr lang="en-US" sz="1400" dirty="0">
                <a:solidFill>
                  <a:schemeClr val="accent1">
                    <a:lumMod val="75000"/>
                  </a:schemeClr>
                </a:solidFill>
              </a:rPr>
              <a:t>consists of different sub-components that vary depending on your business. One of the sub-components of marketing is customer service</a:t>
            </a:r>
            <a:r>
              <a:rPr lang="en-US" sz="1400" dirty="0" smtClean="0">
                <a:solidFill>
                  <a:schemeClr val="accent1">
                    <a:lumMod val="75000"/>
                  </a:schemeClr>
                </a:solidFill>
              </a:rPr>
              <a:t>. The </a:t>
            </a:r>
            <a:r>
              <a:rPr lang="en-US" sz="1400" dirty="0">
                <a:solidFill>
                  <a:schemeClr val="accent1">
                    <a:lumMod val="75000"/>
                  </a:schemeClr>
                </a:solidFill>
              </a:rPr>
              <a:t>purpose of CRM is to gather consumer information and use it to enhance their experience. By connecting all channels onto a single platform, CRM helps companies personalize their products and services, including personalized marketing messages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Business </a:t>
            </a:r>
            <a:r>
              <a:rPr lang="en-US" sz="1400" b="1" dirty="0">
                <a:solidFill>
                  <a:schemeClr val="accent1">
                    <a:lumMod val="75000"/>
                  </a:schemeClr>
                </a:solidFill>
              </a:rPr>
              <a:t>Reporting</a:t>
            </a:r>
          </a:p>
          <a:p>
            <a:pPr algn="just"/>
            <a:r>
              <a:rPr lang="en-US" sz="1400" dirty="0">
                <a:solidFill>
                  <a:schemeClr val="accent1">
                    <a:lumMod val="75000"/>
                  </a:schemeClr>
                </a:solidFill>
              </a:rPr>
              <a:t>The final component of CRM is business reporting, which provides users with reports containing visual elements to track data over time. By comparing historical data and forecasting future performance, users can gain insights into their business operations</a:t>
            </a:r>
            <a:r>
              <a:rPr lang="en-US" sz="1400" dirty="0" smtClean="0">
                <a:solidFill>
                  <a:schemeClr val="accent1">
                    <a:lumMod val="75000"/>
                  </a:schemeClr>
                </a:solidFill>
              </a:rPr>
              <a:t>. Users </a:t>
            </a:r>
            <a:r>
              <a:rPr lang="en-US" sz="1400" dirty="0">
                <a:solidFill>
                  <a:schemeClr val="accent1">
                    <a:lumMod val="75000"/>
                  </a:schemeClr>
                </a:solidFill>
              </a:rPr>
              <a:t>can export data to other systems using the report function. This helps CRM users track data and make forecasts for upcoming periods</a:t>
            </a:r>
            <a:r>
              <a:rPr lang="en-US" sz="1400" dirty="0" smtClean="0">
                <a:solidFill>
                  <a:schemeClr val="accent1">
                    <a:lumMod val="75000"/>
                  </a:schemeClr>
                </a:solidFill>
              </a:rPr>
              <a:t>. Understanding </a:t>
            </a:r>
            <a:r>
              <a:rPr lang="en-US" sz="1400" dirty="0">
                <a:solidFill>
                  <a:schemeClr val="accent1">
                    <a:lumMod val="75000"/>
                  </a:schemeClr>
                </a:solidFill>
              </a:rPr>
              <a:t>how to create reports for CRM is crucial as reports can assist marketers and customer support departments in enhancing their processes, while also offering valuable insights to business investors regarding the company’s health and revenue trends</a:t>
            </a:r>
            <a:r>
              <a:rPr lang="en-US" sz="1400" dirty="0" smtClean="0">
                <a:solidFill>
                  <a:schemeClr val="accent1">
                    <a:lumMod val="75000"/>
                  </a:schemeClr>
                </a:solidFill>
              </a:rPr>
              <a:t>. The </a:t>
            </a:r>
            <a:r>
              <a:rPr lang="en-US" sz="1400" dirty="0">
                <a:solidFill>
                  <a:schemeClr val="accent1">
                    <a:lumMod val="75000"/>
                  </a:schemeClr>
                </a:solidFill>
              </a:rPr>
              <a:t>reports should be readily available and viewable from any perspective. By having the information centralized, executives can conveniently oversee multiple departments at once.</a:t>
            </a:r>
          </a:p>
        </p:txBody>
      </p:sp>
    </p:spTree>
    <p:extLst>
      <p:ext uri="{BB962C8B-B14F-4D97-AF65-F5344CB8AC3E}">
        <p14:creationId xmlns:p14="http://schemas.microsoft.com/office/powerpoint/2010/main" val="4911069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CRM Benefits</a:t>
            </a:r>
            <a:endParaRPr lang="en-US" dirty="0">
              <a:latin typeface="Comic Sans MS" panose="030F0702030302020204" pitchFamily="66" charset="0"/>
            </a:endParaRPr>
          </a:p>
        </p:txBody>
      </p:sp>
      <p:pic>
        <p:nvPicPr>
          <p:cNvPr id="4098" name="Picture 2" descr="types of crm"/>
          <p:cNvPicPr>
            <a:picLocks noChangeAspect="1" noChangeArrowheads="1"/>
          </p:cNvPicPr>
          <p:nvPr/>
        </p:nvPicPr>
        <p:blipFill rotWithShape="1">
          <a:blip r:embed="rId2">
            <a:extLst>
              <a:ext uri="{28A0092B-C50C-407E-A947-70E740481C1C}">
                <a14:useLocalDpi xmlns:a14="http://schemas.microsoft.com/office/drawing/2010/main" val="0"/>
              </a:ext>
            </a:extLst>
          </a:blip>
          <a:srcRect t="11857"/>
          <a:stretch/>
        </p:blipFill>
        <p:spPr bwMode="auto">
          <a:xfrm>
            <a:off x="990600" y="1447800"/>
            <a:ext cx="7219612" cy="5090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2181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The key features of CRM software</a:t>
            </a:r>
            <a:endParaRPr lang="en-US" dirty="0">
              <a:latin typeface="Comic Sans MS" panose="030F0702030302020204" pitchFamily="66" charset="0"/>
            </a:endParaRPr>
          </a:p>
        </p:txBody>
      </p:sp>
      <p:sp>
        <p:nvSpPr>
          <p:cNvPr id="3" name="object 3"/>
          <p:cNvSpPr txBox="1"/>
          <p:nvPr/>
        </p:nvSpPr>
        <p:spPr>
          <a:xfrm>
            <a:off x="533400" y="1143000"/>
            <a:ext cx="8001000" cy="6045245"/>
          </a:xfrm>
          <a:prstGeom prst="rect">
            <a:avLst/>
          </a:prstGeom>
        </p:spPr>
        <p:txBody>
          <a:bodyPr vert="horz" wrap="square" lIns="0" tIns="12700" rIns="0" bIns="0" rtlCol="0">
            <a:spAutoFit/>
          </a:bodyPr>
          <a:lstStyle/>
          <a:p>
            <a:pPr algn="just"/>
            <a:r>
              <a:rPr lang="en-US" sz="1400" b="1" dirty="0" smtClean="0">
                <a:solidFill>
                  <a:schemeClr val="accent1">
                    <a:lumMod val="75000"/>
                  </a:schemeClr>
                </a:solidFill>
              </a:rPr>
              <a:t>Contact </a:t>
            </a:r>
            <a:r>
              <a:rPr lang="en-US" sz="1400" b="1" dirty="0">
                <a:solidFill>
                  <a:schemeClr val="accent1">
                    <a:lumMod val="75000"/>
                  </a:schemeClr>
                </a:solidFill>
              </a:rPr>
              <a:t>and Lead </a:t>
            </a:r>
            <a:r>
              <a:rPr lang="en-US" sz="1400" b="1" dirty="0" smtClean="0">
                <a:solidFill>
                  <a:schemeClr val="accent1">
                    <a:lumMod val="75000"/>
                  </a:schemeClr>
                </a:solidFill>
              </a:rPr>
              <a:t>Management</a:t>
            </a:r>
            <a:endParaRPr lang="en-US" sz="1400" b="1" dirty="0">
              <a:solidFill>
                <a:schemeClr val="accent1">
                  <a:lumMod val="75000"/>
                </a:schemeClr>
              </a:solidFill>
            </a:endParaRPr>
          </a:p>
          <a:p>
            <a:pPr algn="just"/>
            <a:r>
              <a:rPr lang="en-US" sz="1400" dirty="0">
                <a:solidFill>
                  <a:schemeClr val="accent1">
                    <a:lumMod val="75000"/>
                  </a:schemeClr>
                </a:solidFill>
              </a:rPr>
              <a:t>CRM software provides a centralized database for storing and managing customer contact information</a:t>
            </a:r>
            <a:r>
              <a:rPr lang="en-US" sz="1400" dirty="0" smtClean="0">
                <a:solidFill>
                  <a:schemeClr val="accent1">
                    <a:lumMod val="75000"/>
                  </a:schemeClr>
                </a:solidFill>
              </a:rPr>
              <a:t>. It </a:t>
            </a:r>
            <a:r>
              <a:rPr lang="en-US" sz="1400" dirty="0">
                <a:solidFill>
                  <a:schemeClr val="accent1">
                    <a:lumMod val="75000"/>
                  </a:schemeClr>
                </a:solidFill>
              </a:rPr>
              <a:t>helps track leads, categorize them, and manage their progression through the sales pipeline</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Sales Automation</a:t>
            </a:r>
            <a:endParaRPr lang="en-US" sz="1400" b="1" dirty="0">
              <a:solidFill>
                <a:schemeClr val="accent1">
                  <a:lumMod val="75000"/>
                </a:schemeClr>
              </a:solidFill>
            </a:endParaRPr>
          </a:p>
          <a:p>
            <a:pPr algn="just"/>
            <a:r>
              <a:rPr lang="en-US" sz="1400" dirty="0">
                <a:solidFill>
                  <a:schemeClr val="accent1">
                    <a:lumMod val="75000"/>
                  </a:schemeClr>
                </a:solidFill>
              </a:rPr>
              <a:t>Streamlines sales processes by automating tasks such as lead assignment, opportunity management, and follow-ups</a:t>
            </a:r>
            <a:r>
              <a:rPr lang="en-US" sz="1400" dirty="0" smtClean="0">
                <a:solidFill>
                  <a:schemeClr val="accent1">
                    <a:lumMod val="75000"/>
                  </a:schemeClr>
                </a:solidFill>
              </a:rPr>
              <a:t>. Allows </a:t>
            </a:r>
            <a:r>
              <a:rPr lang="en-US" sz="1400" dirty="0">
                <a:solidFill>
                  <a:schemeClr val="accent1">
                    <a:lumMod val="75000"/>
                  </a:schemeClr>
                </a:solidFill>
              </a:rPr>
              <a:t>sales teams to track and manage deals, forecast sales, and prioritize prospects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Marketing Automation</a:t>
            </a:r>
            <a:endParaRPr lang="en-US" sz="1400" b="1" dirty="0">
              <a:solidFill>
                <a:schemeClr val="accent1">
                  <a:lumMod val="75000"/>
                </a:schemeClr>
              </a:solidFill>
            </a:endParaRPr>
          </a:p>
          <a:p>
            <a:pPr algn="just"/>
            <a:r>
              <a:rPr lang="en-US" sz="1400" dirty="0">
                <a:solidFill>
                  <a:schemeClr val="accent1">
                    <a:lumMod val="75000"/>
                  </a:schemeClr>
                </a:solidFill>
              </a:rPr>
              <a:t>Enables the planning, execution, and tracking of marketing campaigns</a:t>
            </a:r>
            <a:r>
              <a:rPr lang="en-US" sz="1400" dirty="0" smtClean="0">
                <a:solidFill>
                  <a:schemeClr val="accent1">
                    <a:lumMod val="75000"/>
                  </a:schemeClr>
                </a:solidFill>
              </a:rPr>
              <a:t>. Automates </a:t>
            </a:r>
            <a:r>
              <a:rPr lang="en-US" sz="1400" dirty="0">
                <a:solidFill>
                  <a:schemeClr val="accent1">
                    <a:lumMod val="75000"/>
                  </a:schemeClr>
                </a:solidFill>
              </a:rPr>
              <a:t>email marketing, lead nurturing, and other marketing processes to engage prospects and customers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Customer </a:t>
            </a:r>
            <a:r>
              <a:rPr lang="en-US" sz="1400" b="1" dirty="0">
                <a:solidFill>
                  <a:schemeClr val="accent1">
                    <a:lumMod val="75000"/>
                  </a:schemeClr>
                </a:solidFill>
              </a:rPr>
              <a:t>Service and </a:t>
            </a:r>
            <a:r>
              <a:rPr lang="en-US" sz="1400" b="1" dirty="0" smtClean="0">
                <a:solidFill>
                  <a:schemeClr val="accent1">
                    <a:lumMod val="75000"/>
                  </a:schemeClr>
                </a:solidFill>
              </a:rPr>
              <a:t>Support</a:t>
            </a:r>
            <a:endParaRPr lang="en-US" sz="1400" b="1" dirty="0">
              <a:solidFill>
                <a:schemeClr val="accent1">
                  <a:lumMod val="75000"/>
                </a:schemeClr>
              </a:solidFill>
            </a:endParaRPr>
          </a:p>
          <a:p>
            <a:pPr algn="just"/>
            <a:r>
              <a:rPr lang="en-US" sz="1400" dirty="0">
                <a:solidFill>
                  <a:schemeClr val="accent1">
                    <a:lumMod val="75000"/>
                  </a:schemeClr>
                </a:solidFill>
              </a:rPr>
              <a:t>Provides tools for managing customer support tickets, inquiries, and service requests</a:t>
            </a:r>
            <a:r>
              <a:rPr lang="en-US" sz="1400" dirty="0" smtClean="0">
                <a:solidFill>
                  <a:schemeClr val="accent1">
                    <a:lumMod val="75000"/>
                  </a:schemeClr>
                </a:solidFill>
              </a:rPr>
              <a:t>. Helps </a:t>
            </a:r>
            <a:r>
              <a:rPr lang="en-US" sz="1400" dirty="0">
                <a:solidFill>
                  <a:schemeClr val="accent1">
                    <a:lumMod val="75000"/>
                  </a:schemeClr>
                </a:solidFill>
              </a:rPr>
              <a:t>track and resolve customer issues efficiently, improving overall customer satisfaction</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Analytics </a:t>
            </a:r>
            <a:r>
              <a:rPr lang="en-US" sz="1400" b="1" dirty="0">
                <a:solidFill>
                  <a:schemeClr val="accent1">
                    <a:lumMod val="75000"/>
                  </a:schemeClr>
                </a:solidFill>
              </a:rPr>
              <a:t>and </a:t>
            </a:r>
            <a:r>
              <a:rPr lang="en-US" sz="1400" b="1" dirty="0" smtClean="0">
                <a:solidFill>
                  <a:schemeClr val="accent1">
                    <a:lumMod val="75000"/>
                  </a:schemeClr>
                </a:solidFill>
              </a:rPr>
              <a:t>Reporting</a:t>
            </a:r>
            <a:endParaRPr lang="en-US" sz="1400" b="1" dirty="0">
              <a:solidFill>
                <a:schemeClr val="accent1">
                  <a:lumMod val="75000"/>
                </a:schemeClr>
              </a:solidFill>
            </a:endParaRPr>
          </a:p>
          <a:p>
            <a:pPr algn="just"/>
            <a:r>
              <a:rPr lang="en-US" sz="1400" dirty="0">
                <a:solidFill>
                  <a:schemeClr val="accent1">
                    <a:lumMod val="75000"/>
                  </a:schemeClr>
                </a:solidFill>
              </a:rPr>
              <a:t>Offers reporting and analytics features to track key performance indicators (KPIs) related to sales, marketing, and customer service</a:t>
            </a:r>
            <a:r>
              <a:rPr lang="en-US" sz="1400" dirty="0" smtClean="0">
                <a:solidFill>
                  <a:schemeClr val="accent1">
                    <a:lumMod val="75000"/>
                  </a:schemeClr>
                </a:solidFill>
              </a:rPr>
              <a:t>. Provides </a:t>
            </a:r>
            <a:r>
              <a:rPr lang="en-US" sz="1400" dirty="0">
                <a:solidFill>
                  <a:schemeClr val="accent1">
                    <a:lumMod val="75000"/>
                  </a:schemeClr>
                </a:solidFill>
              </a:rPr>
              <a:t>insights into customer behavior, preferences, and trends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a:solidFill>
                  <a:schemeClr val="accent1">
                    <a:lumMod val="75000"/>
                  </a:schemeClr>
                </a:solidFill>
              </a:rPr>
              <a:t>I</a:t>
            </a:r>
            <a:r>
              <a:rPr lang="en-US" sz="1400" b="1" dirty="0" smtClean="0">
                <a:solidFill>
                  <a:schemeClr val="accent1">
                    <a:lumMod val="75000"/>
                  </a:schemeClr>
                </a:solidFill>
              </a:rPr>
              <a:t>ntegration Capabilities</a:t>
            </a:r>
            <a:endParaRPr lang="en-US" sz="1400" b="1" dirty="0">
              <a:solidFill>
                <a:schemeClr val="accent1">
                  <a:lumMod val="75000"/>
                </a:schemeClr>
              </a:solidFill>
            </a:endParaRPr>
          </a:p>
          <a:p>
            <a:pPr algn="just"/>
            <a:r>
              <a:rPr lang="en-US" sz="1400" dirty="0">
                <a:solidFill>
                  <a:schemeClr val="accent1">
                    <a:lumMod val="75000"/>
                  </a:schemeClr>
                </a:solidFill>
              </a:rPr>
              <a:t>Integrates with other business systems, such as ERP (Enterprise Resource Planning) and BI (Business Intelligence), to ensure a seamless flow of information across the organization</a:t>
            </a:r>
            <a:r>
              <a:rPr lang="en-US" sz="1400" dirty="0" smtClean="0">
                <a:solidFill>
                  <a:schemeClr val="accent1">
                    <a:lumMod val="75000"/>
                  </a:schemeClr>
                </a:solidFill>
              </a:rPr>
              <a:t>. Enables </a:t>
            </a:r>
            <a:r>
              <a:rPr lang="en-US" sz="1400" dirty="0">
                <a:solidFill>
                  <a:schemeClr val="accent1">
                    <a:lumMod val="75000"/>
                  </a:schemeClr>
                </a:solidFill>
              </a:rPr>
              <a:t>a holistic view of customer data by connecting with various data sources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fontAlgn="auto"/>
            <a:endParaRPr lang="en-US" sz="1400" dirty="0">
              <a:solidFill>
                <a:schemeClr val="accent1">
                  <a:lumMod val="75000"/>
                </a:schemeClr>
              </a:solidFill>
            </a:endParaRPr>
          </a:p>
        </p:txBody>
      </p:sp>
    </p:spTree>
    <p:extLst>
      <p:ext uri="{BB962C8B-B14F-4D97-AF65-F5344CB8AC3E}">
        <p14:creationId xmlns:p14="http://schemas.microsoft.com/office/powerpoint/2010/main" val="37949436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The key features of CRM </a:t>
            </a:r>
            <a:r>
              <a:rPr lang="en-US" dirty="0" smtClean="0">
                <a:latin typeface="Comic Sans MS" panose="030F0702030302020204" pitchFamily="66" charset="0"/>
              </a:rPr>
              <a:t>software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a:xfrm>
            <a:off x="533400" y="1295400"/>
            <a:ext cx="8001000" cy="5614357"/>
          </a:xfrm>
          <a:prstGeom prst="rect">
            <a:avLst/>
          </a:prstGeom>
        </p:spPr>
        <p:txBody>
          <a:bodyPr vert="horz" wrap="square" lIns="0" tIns="12700" rIns="0" bIns="0" rtlCol="0">
            <a:spAutoFit/>
          </a:bodyPr>
          <a:lstStyle/>
          <a:p>
            <a:pPr algn="just"/>
            <a:r>
              <a:rPr lang="en-US" sz="1400" b="1" dirty="0" smtClean="0">
                <a:solidFill>
                  <a:schemeClr val="accent1">
                    <a:lumMod val="75000"/>
                  </a:schemeClr>
                </a:solidFill>
              </a:rPr>
              <a:t>Workflow Automation</a:t>
            </a:r>
            <a:endParaRPr lang="en-US" sz="1400" b="1" dirty="0">
              <a:solidFill>
                <a:schemeClr val="accent1">
                  <a:lumMod val="75000"/>
                </a:schemeClr>
              </a:solidFill>
            </a:endParaRPr>
          </a:p>
          <a:p>
            <a:pPr algn="just"/>
            <a:r>
              <a:rPr lang="en-US" sz="1400" dirty="0">
                <a:solidFill>
                  <a:schemeClr val="accent1">
                    <a:lumMod val="75000"/>
                  </a:schemeClr>
                </a:solidFill>
              </a:rPr>
              <a:t>Automates routine tasks and workflows to increase efficiency</a:t>
            </a:r>
            <a:r>
              <a:rPr lang="en-US" sz="1400" dirty="0" smtClean="0">
                <a:solidFill>
                  <a:schemeClr val="accent1">
                    <a:lumMod val="75000"/>
                  </a:schemeClr>
                </a:solidFill>
              </a:rPr>
              <a:t>. Customizable </a:t>
            </a:r>
            <a:r>
              <a:rPr lang="en-US" sz="1400" dirty="0">
                <a:solidFill>
                  <a:schemeClr val="accent1">
                    <a:lumMod val="75000"/>
                  </a:schemeClr>
                </a:solidFill>
              </a:rPr>
              <a:t>workflows align with specific business processes and requirements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Mobile CRM</a:t>
            </a:r>
            <a:endParaRPr lang="en-US" sz="1400" b="1" dirty="0">
              <a:solidFill>
                <a:schemeClr val="accent1">
                  <a:lumMod val="75000"/>
                </a:schemeClr>
              </a:solidFill>
            </a:endParaRPr>
          </a:p>
          <a:p>
            <a:pPr algn="just"/>
            <a:r>
              <a:rPr lang="en-US" sz="1400" dirty="0">
                <a:solidFill>
                  <a:schemeClr val="accent1">
                    <a:lumMod val="75000"/>
                  </a:schemeClr>
                </a:solidFill>
              </a:rPr>
              <a:t>Many CRM solutions offer mobile applications, allowing sales and service teams to access and update customer information on the go</a:t>
            </a:r>
            <a:r>
              <a:rPr lang="en-US" sz="1400" dirty="0" smtClean="0">
                <a:solidFill>
                  <a:schemeClr val="accent1">
                    <a:lumMod val="75000"/>
                  </a:schemeClr>
                </a:solidFill>
              </a:rPr>
              <a:t>. Supports </a:t>
            </a:r>
            <a:r>
              <a:rPr lang="en-US" sz="1400" dirty="0">
                <a:solidFill>
                  <a:schemeClr val="accent1">
                    <a:lumMod val="75000"/>
                  </a:schemeClr>
                </a:solidFill>
              </a:rPr>
              <a:t>remote work and facilitates real-time communication</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Social CRM</a:t>
            </a:r>
            <a:endParaRPr lang="en-US" sz="1400" b="1" dirty="0">
              <a:solidFill>
                <a:schemeClr val="accent1">
                  <a:lumMod val="75000"/>
                </a:schemeClr>
              </a:solidFill>
            </a:endParaRPr>
          </a:p>
          <a:p>
            <a:pPr algn="just"/>
            <a:r>
              <a:rPr lang="en-US" sz="1400" dirty="0">
                <a:solidFill>
                  <a:schemeClr val="accent1">
                    <a:lumMod val="75000"/>
                  </a:schemeClr>
                </a:solidFill>
              </a:rPr>
              <a:t>Integrates with social media platforms to gather insights into customer sentiment and engagement</a:t>
            </a:r>
            <a:r>
              <a:rPr lang="en-US" sz="1400" dirty="0" smtClean="0">
                <a:solidFill>
                  <a:schemeClr val="accent1">
                    <a:lumMod val="75000"/>
                  </a:schemeClr>
                </a:solidFill>
              </a:rPr>
              <a:t>. Monitors </a:t>
            </a:r>
            <a:r>
              <a:rPr lang="en-US" sz="1400" dirty="0">
                <a:solidFill>
                  <a:schemeClr val="accent1">
                    <a:lumMod val="75000"/>
                  </a:schemeClr>
                </a:solidFill>
              </a:rPr>
              <a:t>social media channels for customer interactions and feedback</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Customization </a:t>
            </a:r>
            <a:r>
              <a:rPr lang="en-US" sz="1400" b="1" dirty="0">
                <a:solidFill>
                  <a:schemeClr val="accent1">
                    <a:lumMod val="75000"/>
                  </a:schemeClr>
                </a:solidFill>
              </a:rPr>
              <a:t>and </a:t>
            </a:r>
            <a:r>
              <a:rPr lang="en-US" sz="1400" b="1" dirty="0" smtClean="0">
                <a:solidFill>
                  <a:schemeClr val="accent1">
                    <a:lumMod val="75000"/>
                  </a:schemeClr>
                </a:solidFill>
              </a:rPr>
              <a:t>Scalability</a:t>
            </a:r>
            <a:endParaRPr lang="en-US" sz="1400" b="1" dirty="0">
              <a:solidFill>
                <a:schemeClr val="accent1">
                  <a:lumMod val="75000"/>
                </a:schemeClr>
              </a:solidFill>
            </a:endParaRPr>
          </a:p>
          <a:p>
            <a:pPr algn="just"/>
            <a:r>
              <a:rPr lang="en-US" sz="1400" dirty="0">
                <a:solidFill>
                  <a:schemeClr val="accent1">
                    <a:lumMod val="75000"/>
                  </a:schemeClr>
                </a:solidFill>
              </a:rPr>
              <a:t>Allows businesses to customize the CRM system to match their unique processes and needs</a:t>
            </a:r>
            <a:r>
              <a:rPr lang="en-US" sz="1400" dirty="0" smtClean="0">
                <a:solidFill>
                  <a:schemeClr val="accent1">
                    <a:lumMod val="75000"/>
                  </a:schemeClr>
                </a:solidFill>
              </a:rPr>
              <a:t>. Scales </a:t>
            </a:r>
            <a:r>
              <a:rPr lang="en-US" sz="1400" dirty="0">
                <a:solidFill>
                  <a:schemeClr val="accent1">
                    <a:lumMod val="75000"/>
                  </a:schemeClr>
                </a:solidFill>
              </a:rPr>
              <a:t>with the growth of the business, accommodating an increasing volume of customer data and interactions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Customer </a:t>
            </a:r>
            <a:r>
              <a:rPr lang="en-US" sz="1400" b="1" dirty="0">
                <a:solidFill>
                  <a:schemeClr val="accent1">
                    <a:lumMod val="75000"/>
                  </a:schemeClr>
                </a:solidFill>
              </a:rPr>
              <a:t>Loyalty </a:t>
            </a:r>
            <a:r>
              <a:rPr lang="en-US" sz="1400" b="1" dirty="0" smtClean="0">
                <a:solidFill>
                  <a:schemeClr val="accent1">
                    <a:lumMod val="75000"/>
                  </a:schemeClr>
                </a:solidFill>
              </a:rPr>
              <a:t>Programs</a:t>
            </a:r>
            <a:endParaRPr lang="en-US" sz="1400" b="1" dirty="0">
              <a:solidFill>
                <a:schemeClr val="accent1">
                  <a:lumMod val="75000"/>
                </a:schemeClr>
              </a:solidFill>
            </a:endParaRPr>
          </a:p>
          <a:p>
            <a:pPr algn="just"/>
            <a:r>
              <a:rPr lang="en-US" sz="1400" dirty="0">
                <a:solidFill>
                  <a:schemeClr val="accent1">
                    <a:lumMod val="75000"/>
                  </a:schemeClr>
                </a:solidFill>
              </a:rPr>
              <a:t>Tracks and manages customer loyalty programs, reward systems, and incentive programs</a:t>
            </a:r>
            <a:r>
              <a:rPr lang="en-US" sz="1400" dirty="0" smtClean="0">
                <a:solidFill>
                  <a:schemeClr val="accent1">
                    <a:lumMod val="75000"/>
                  </a:schemeClr>
                </a:solidFill>
              </a:rPr>
              <a:t>. Aids </a:t>
            </a:r>
            <a:r>
              <a:rPr lang="en-US" sz="1400" dirty="0">
                <a:solidFill>
                  <a:schemeClr val="accent1">
                    <a:lumMod val="75000"/>
                  </a:schemeClr>
                </a:solidFill>
              </a:rPr>
              <a:t>in retaining and nurturing long-term customer relationships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smtClean="0">
                <a:solidFill>
                  <a:schemeClr val="accent1">
                    <a:lumMod val="75000"/>
                  </a:schemeClr>
                </a:solidFill>
              </a:rPr>
              <a:t>Security </a:t>
            </a:r>
            <a:r>
              <a:rPr lang="en-US" sz="1400" b="1" dirty="0">
                <a:solidFill>
                  <a:schemeClr val="accent1">
                    <a:lumMod val="75000"/>
                  </a:schemeClr>
                </a:solidFill>
              </a:rPr>
              <a:t>and Data </a:t>
            </a:r>
            <a:r>
              <a:rPr lang="en-US" sz="1400" b="1" dirty="0" smtClean="0">
                <a:solidFill>
                  <a:schemeClr val="accent1">
                    <a:lumMod val="75000"/>
                  </a:schemeClr>
                </a:solidFill>
              </a:rPr>
              <a:t>Privacy</a:t>
            </a:r>
            <a:endParaRPr lang="en-US" sz="1400" b="1" dirty="0">
              <a:solidFill>
                <a:schemeClr val="accent1">
                  <a:lumMod val="75000"/>
                </a:schemeClr>
              </a:solidFill>
            </a:endParaRPr>
          </a:p>
          <a:p>
            <a:pPr algn="just"/>
            <a:r>
              <a:rPr lang="en-US" sz="1400" dirty="0">
                <a:solidFill>
                  <a:schemeClr val="accent1">
                    <a:lumMod val="75000"/>
                  </a:schemeClr>
                </a:solidFill>
              </a:rPr>
              <a:t>Ensures the security of sensitive customer data</a:t>
            </a:r>
            <a:r>
              <a:rPr lang="en-US" sz="1400" dirty="0" smtClean="0">
                <a:solidFill>
                  <a:schemeClr val="accent1">
                    <a:lumMod val="75000"/>
                  </a:schemeClr>
                </a:solidFill>
              </a:rPr>
              <a:t>. Complies </a:t>
            </a:r>
            <a:r>
              <a:rPr lang="en-US" sz="1400" dirty="0">
                <a:solidFill>
                  <a:schemeClr val="accent1">
                    <a:lumMod val="75000"/>
                  </a:schemeClr>
                </a:solidFill>
              </a:rPr>
              <a:t>with data privacy regulations to protect customer information.</a:t>
            </a:r>
          </a:p>
          <a:p>
            <a:pPr algn="just" fontAlgn="auto"/>
            <a:endParaRPr lang="en-US" sz="1400" dirty="0">
              <a:solidFill>
                <a:schemeClr val="accent1">
                  <a:lumMod val="75000"/>
                </a:schemeClr>
              </a:solidFill>
            </a:endParaRPr>
          </a:p>
        </p:txBody>
      </p:sp>
    </p:spTree>
    <p:extLst>
      <p:ext uri="{BB962C8B-B14F-4D97-AF65-F5344CB8AC3E}">
        <p14:creationId xmlns:p14="http://schemas.microsoft.com/office/powerpoint/2010/main" val="12013105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Popular CRM software</a:t>
            </a:r>
            <a:endParaRPr lang="en-US" dirty="0">
              <a:latin typeface="Comic Sans MS" panose="030F0702030302020204" pitchFamily="66" charset="0"/>
            </a:endParaRPr>
          </a:p>
        </p:txBody>
      </p:sp>
      <p:sp>
        <p:nvSpPr>
          <p:cNvPr id="3" name="object 3"/>
          <p:cNvSpPr txBox="1"/>
          <p:nvPr/>
        </p:nvSpPr>
        <p:spPr>
          <a:xfrm>
            <a:off x="533400" y="1371600"/>
            <a:ext cx="8077200" cy="1305486"/>
          </a:xfrm>
          <a:prstGeom prst="rect">
            <a:avLst/>
          </a:prstGeom>
        </p:spPr>
        <p:txBody>
          <a:bodyPr vert="horz" wrap="square" lIns="0" tIns="12700" rIns="0" bIns="0" rtlCol="0">
            <a:spAutoFit/>
          </a:bodyPr>
          <a:lstStyle/>
          <a:p>
            <a:pPr algn="just" fontAlgn="auto"/>
            <a:r>
              <a:rPr lang="en-US" sz="1400" dirty="0">
                <a:solidFill>
                  <a:schemeClr val="accent1">
                    <a:lumMod val="75000"/>
                  </a:schemeClr>
                </a:solidFill>
              </a:rPr>
              <a:t>Popular CRM software includes solutions like Salesforce, Microsoft Dynamics 365, </a:t>
            </a:r>
            <a:r>
              <a:rPr lang="en-US" sz="1400" dirty="0" err="1">
                <a:solidFill>
                  <a:schemeClr val="accent1">
                    <a:lumMod val="75000"/>
                  </a:schemeClr>
                </a:solidFill>
              </a:rPr>
              <a:t>HubSpot</a:t>
            </a:r>
            <a:r>
              <a:rPr lang="en-US" sz="1400" dirty="0">
                <a:solidFill>
                  <a:schemeClr val="accent1">
                    <a:lumMod val="75000"/>
                  </a:schemeClr>
                </a:solidFill>
              </a:rPr>
              <a:t> CRM, </a:t>
            </a:r>
            <a:r>
              <a:rPr lang="en-US" sz="1400" dirty="0" err="1">
                <a:solidFill>
                  <a:schemeClr val="accent1">
                    <a:lumMod val="75000"/>
                  </a:schemeClr>
                </a:solidFill>
              </a:rPr>
              <a:t>Zoho</a:t>
            </a:r>
            <a:r>
              <a:rPr lang="en-US" sz="1400" dirty="0">
                <a:solidFill>
                  <a:schemeClr val="accent1">
                    <a:lumMod val="75000"/>
                  </a:schemeClr>
                </a:solidFill>
              </a:rPr>
              <a:t> CRM, and others. The choice of CRM software depends on the specific needs and scale of the business. Implementing a CRM system effectively can lead to improved customer relationships, streamlined processes, and better-informed business decisions</a:t>
            </a:r>
            <a:r>
              <a:rPr lang="en-US" sz="1400" dirty="0" smtClean="0">
                <a:solidFill>
                  <a:schemeClr val="accent1">
                    <a:lumMod val="75000"/>
                  </a:schemeClr>
                </a:solidFill>
              </a:rPr>
              <a:t>.</a:t>
            </a:r>
          </a:p>
          <a:p>
            <a:pPr algn="just" fontAlgn="auto"/>
            <a:endParaRPr lang="en-US" sz="1400" dirty="0" smtClean="0">
              <a:solidFill>
                <a:schemeClr val="accent1">
                  <a:lumMod val="75000"/>
                </a:schemeClr>
              </a:solidFill>
            </a:endParaRPr>
          </a:p>
          <a:p>
            <a:pPr algn="just" fontAlgn="auto"/>
            <a:endParaRPr lang="en-US" sz="1400" dirty="0">
              <a:solidFill>
                <a:schemeClr val="accent1">
                  <a:lumMod val="75000"/>
                </a:schemeClr>
              </a:solidFill>
            </a:endParaRPr>
          </a:p>
        </p:txBody>
      </p:sp>
      <p:pic>
        <p:nvPicPr>
          <p:cNvPr id="6146" name="Picture 2" descr="The top 20 CRM systems for Australian inventory-based businesses"/>
          <p:cNvPicPr>
            <a:picLocks noChangeAspect="1" noChangeArrowheads="1"/>
          </p:cNvPicPr>
          <p:nvPr/>
        </p:nvPicPr>
        <p:blipFill rotWithShape="1">
          <a:blip r:embed="rId2">
            <a:extLst>
              <a:ext uri="{28A0092B-C50C-407E-A947-70E740481C1C}">
                <a14:useLocalDpi xmlns:a14="http://schemas.microsoft.com/office/drawing/2010/main" val="0"/>
              </a:ext>
            </a:extLst>
          </a:blip>
          <a:srcRect l="9144" t="3643" r="12209" b="8761"/>
          <a:stretch/>
        </p:blipFill>
        <p:spPr bwMode="auto">
          <a:xfrm>
            <a:off x="1676400" y="2514600"/>
            <a:ext cx="6120991" cy="3974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0710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r>
              <a:rPr lang="en-US" dirty="0">
                <a:latin typeface="Comic Sans MS" panose="030F0702030302020204" pitchFamily="66" charset="0"/>
              </a:rPr>
              <a:t>Microsoft Dynamics 365</a:t>
            </a:r>
          </a:p>
        </p:txBody>
      </p:sp>
      <p:sp>
        <p:nvSpPr>
          <p:cNvPr id="3" name="object 3"/>
          <p:cNvSpPr txBox="1"/>
          <p:nvPr/>
        </p:nvSpPr>
        <p:spPr>
          <a:xfrm>
            <a:off x="533400" y="1600200"/>
            <a:ext cx="8077200" cy="4814138"/>
          </a:xfrm>
          <a:prstGeom prst="rect">
            <a:avLst/>
          </a:prstGeom>
        </p:spPr>
        <p:txBody>
          <a:bodyPr vert="horz" wrap="square" lIns="0" tIns="12700" rIns="0" bIns="0" rtlCol="0">
            <a:spAutoFit/>
          </a:bodyPr>
          <a:lstStyle/>
          <a:p>
            <a:pPr algn="just"/>
            <a:r>
              <a:rPr lang="en-US" sz="1400" dirty="0" smtClean="0">
                <a:solidFill>
                  <a:schemeClr val="accent1">
                    <a:lumMod val="75000"/>
                  </a:schemeClr>
                </a:solidFill>
              </a:rPr>
              <a:t>Dynamics</a:t>
            </a:r>
            <a:r>
              <a:rPr lang="en-US" sz="1400" dirty="0">
                <a:solidFill>
                  <a:schemeClr val="accent1">
                    <a:lumMod val="75000"/>
                  </a:schemeClr>
                </a:solidFill>
              </a:rPr>
              <a:t> 365 is a portfolio of intelligent business applications that delivers superior operational efficiency and breakthrough customer experiences enabling businesses to become more agile and reduce complexity without increasing costs</a:t>
            </a:r>
            <a:r>
              <a:rPr lang="en-US" sz="1400" dirty="0" smtClean="0">
                <a:solidFill>
                  <a:schemeClr val="accent1">
                    <a:lumMod val="75000"/>
                  </a:schemeClr>
                </a:solidFill>
              </a:rPr>
              <a:t>.</a:t>
            </a:r>
          </a:p>
          <a:p>
            <a:pPr algn="just" fontAlgn="auto"/>
            <a:r>
              <a:rPr lang="en-US" sz="1400" dirty="0">
                <a:solidFill>
                  <a:schemeClr val="accent1">
                    <a:lumMod val="75000"/>
                  </a:schemeClr>
                </a:solidFill>
              </a:rPr>
              <a:t>The latest version of Microsoft Dynamics 365 is Microsoft Copilot for Dynamic 365</a:t>
            </a:r>
            <a:r>
              <a:rPr lang="en-US" sz="1400" dirty="0" smtClean="0">
                <a:solidFill>
                  <a:schemeClr val="accent1">
                    <a:lumMod val="75000"/>
                  </a:schemeClr>
                </a:solidFill>
              </a:rPr>
              <a:t>.</a:t>
            </a:r>
          </a:p>
          <a:p>
            <a:pPr algn="just" fontAlgn="auto"/>
            <a:endParaRPr lang="en-US" sz="1400" dirty="0">
              <a:solidFill>
                <a:schemeClr val="accent1">
                  <a:lumMod val="75000"/>
                </a:schemeClr>
              </a:solidFill>
            </a:endParaRPr>
          </a:p>
          <a:p>
            <a:pPr algn="just" fontAlgn="auto"/>
            <a:r>
              <a:rPr lang="en-US" sz="1400" dirty="0" smtClean="0">
                <a:solidFill>
                  <a:schemeClr val="accent1">
                    <a:lumMod val="75000"/>
                  </a:schemeClr>
                </a:solidFill>
                <a:hlinkClick r:id="rId2"/>
              </a:rPr>
              <a:t>2023 Release Wave 1 Highlight</a:t>
            </a:r>
            <a:endParaRPr lang="en-US" sz="1400" dirty="0" smtClean="0">
              <a:solidFill>
                <a:schemeClr val="accent1">
                  <a:lumMod val="75000"/>
                </a:schemeClr>
              </a:solidFill>
            </a:endParaRPr>
          </a:p>
          <a:p>
            <a:pPr algn="just" fontAlgn="auto"/>
            <a:endParaRPr lang="en-US" sz="1400" dirty="0">
              <a:solidFill>
                <a:schemeClr val="accent1">
                  <a:lumMod val="75000"/>
                </a:schemeClr>
              </a:solidFill>
            </a:endParaRPr>
          </a:p>
          <a:p>
            <a:pPr algn="just" fontAlgn="auto"/>
            <a:r>
              <a:rPr lang="en-US" sz="1400" dirty="0" smtClean="0">
                <a:solidFill>
                  <a:schemeClr val="accent1">
                    <a:lumMod val="75000"/>
                  </a:schemeClr>
                </a:solidFill>
                <a:hlinkClick r:id="rId3"/>
              </a:rPr>
              <a:t>Enrich the employee experience</a:t>
            </a:r>
            <a:endParaRPr lang="en-US" sz="1400" dirty="0" smtClean="0">
              <a:solidFill>
                <a:schemeClr val="accent1">
                  <a:lumMod val="75000"/>
                </a:schemeClr>
              </a:solidFill>
            </a:endParaRPr>
          </a:p>
          <a:p>
            <a:pPr algn="just" fontAlgn="auto"/>
            <a:endParaRPr lang="en-US" sz="1400" dirty="0">
              <a:solidFill>
                <a:schemeClr val="accent1">
                  <a:lumMod val="75000"/>
                </a:schemeClr>
              </a:solidFill>
            </a:endParaRPr>
          </a:p>
          <a:p>
            <a:pPr algn="just"/>
            <a:endParaRPr lang="en-US" sz="1400" dirty="0">
              <a:solidFill>
                <a:schemeClr val="accent1">
                  <a:lumMod val="75000"/>
                </a:schemeClr>
              </a:solidFill>
            </a:endParaRPr>
          </a:p>
          <a:p>
            <a:pPr algn="just" fontAlgn="auto"/>
            <a:r>
              <a:rPr lang="en-US" sz="1400" dirty="0" smtClean="0">
                <a:solidFill>
                  <a:schemeClr val="accent1">
                    <a:lumMod val="75000"/>
                  </a:schemeClr>
                </a:solidFill>
              </a:rPr>
              <a:t>Microsoft introduced</a:t>
            </a:r>
            <a:r>
              <a:rPr lang="en-US" sz="1400" dirty="0">
                <a:solidFill>
                  <a:schemeClr val="accent1">
                    <a:lumMod val="75000"/>
                  </a:schemeClr>
                </a:solidFill>
              </a:rPr>
              <a:t> </a:t>
            </a:r>
            <a:r>
              <a:rPr lang="en-US" sz="1400" u="sng" dirty="0">
                <a:solidFill>
                  <a:schemeClr val="accent1">
                    <a:lumMod val="75000"/>
                  </a:schemeClr>
                </a:solidFill>
                <a:hlinkClick r:id="rId4"/>
              </a:rPr>
              <a:t>Microsoft Copilot for Dynamics 365</a:t>
            </a:r>
            <a:r>
              <a:rPr lang="en-US" sz="1400" dirty="0">
                <a:solidFill>
                  <a:schemeClr val="accent1">
                    <a:lumMod val="75000"/>
                  </a:schemeClr>
                </a:solidFill>
              </a:rPr>
              <a:t>, the world’s first AI copilot natively built for CRM and ERP. Since then, more than 130,000 organizations have experienced copilot capabilities in Microsoft Dynamics 365 and Microsoft Power Platform firsthand. In fact, a survey revealed that 70 percent of the Copilot users were more productive, 73 percent could complete tasks faster, and 68 percent of users improved the quality of their </a:t>
            </a:r>
            <a:r>
              <a:rPr lang="en-US" sz="1400" dirty="0" smtClean="0">
                <a:solidFill>
                  <a:schemeClr val="accent1">
                    <a:lumMod val="75000"/>
                  </a:schemeClr>
                </a:solidFill>
              </a:rPr>
              <a:t>work.</a:t>
            </a:r>
            <a:endParaRPr lang="en-US" sz="1400" baseline="30000" dirty="0">
              <a:solidFill>
                <a:schemeClr val="accent1">
                  <a:lumMod val="75000"/>
                </a:schemeClr>
              </a:solidFill>
            </a:endParaRPr>
          </a:p>
          <a:p>
            <a:pPr algn="just" fontAlgn="auto"/>
            <a:r>
              <a:rPr lang="en-US" sz="1400" dirty="0" smtClean="0">
                <a:solidFill>
                  <a:schemeClr val="accent1">
                    <a:lumMod val="75000"/>
                  </a:schemeClr>
                </a:solidFill>
              </a:rPr>
              <a:t>Close </a:t>
            </a:r>
            <a:r>
              <a:rPr lang="en-US" sz="1400" dirty="0">
                <a:solidFill>
                  <a:schemeClr val="accent1">
                    <a:lumMod val="75000"/>
                  </a:schemeClr>
                </a:solidFill>
              </a:rPr>
              <a:t>more deals and personalize customer journeys by using AI to deliver real-time insights and recommendations to sellers and marketers within the flow of work</a:t>
            </a:r>
            <a:r>
              <a:rPr lang="en-US" sz="1400" dirty="0" smtClean="0">
                <a:solidFill>
                  <a:schemeClr val="accent1">
                    <a:lumMod val="75000"/>
                  </a:schemeClr>
                </a:solidFill>
              </a:rPr>
              <a:t>.</a:t>
            </a:r>
          </a:p>
          <a:p>
            <a:pPr algn="just" fontAlgn="auto"/>
            <a:r>
              <a:rPr lang="en-US" sz="1400" dirty="0" smtClean="0">
                <a:solidFill>
                  <a:schemeClr val="accent1">
                    <a:lumMod val="75000"/>
                  </a:schemeClr>
                </a:solidFill>
              </a:rPr>
              <a:t>With </a:t>
            </a:r>
            <a:r>
              <a:rPr lang="en-US" sz="1400" dirty="0">
                <a:solidFill>
                  <a:schemeClr val="accent1">
                    <a:lumMod val="75000"/>
                  </a:schemeClr>
                </a:solidFill>
              </a:rPr>
              <a:t>Microsoft Sales Copilot and Copilot in Customer Insights, your teams can boost efficiency with automated summaries and content creation and break down barriers in the customer journey by democratizing access to customer data</a:t>
            </a:r>
            <a:r>
              <a:rPr lang="en-US" sz="1400" dirty="0" smtClean="0">
                <a:solidFill>
                  <a:schemeClr val="accent1">
                    <a:lumMod val="75000"/>
                  </a:schemeClr>
                </a:solidFill>
              </a:rPr>
              <a:t>.</a:t>
            </a:r>
          </a:p>
          <a:p>
            <a:pPr algn="just" fontAlgn="auto"/>
            <a:endParaRPr lang="en-US" sz="1400" dirty="0">
              <a:solidFill>
                <a:schemeClr val="accent1">
                  <a:lumMod val="75000"/>
                </a:schemeClr>
              </a:solidFill>
            </a:endParaRPr>
          </a:p>
          <a:p>
            <a:pPr fontAlgn="auto"/>
            <a:endParaRPr lang="en-US" dirty="0"/>
          </a:p>
        </p:txBody>
      </p:sp>
    </p:spTree>
    <p:extLst>
      <p:ext uri="{BB962C8B-B14F-4D97-AF65-F5344CB8AC3E}">
        <p14:creationId xmlns:p14="http://schemas.microsoft.com/office/powerpoint/2010/main" val="42913687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971800"/>
            <a:ext cx="6019800" cy="504625"/>
          </a:xfrm>
          <a:prstGeom prst="rect">
            <a:avLst/>
          </a:prstGeom>
        </p:spPr>
        <p:txBody>
          <a:bodyPr vert="horz" wrap="square" lIns="0" tIns="12065" rIns="0" bIns="0" rtlCol="0">
            <a:spAutoFit/>
          </a:bodyPr>
          <a:lstStyle/>
          <a:p>
            <a:pPr algn="ctr" eaLnBrk="0" hangingPunct="0"/>
            <a:r>
              <a:rPr lang="en-US" sz="3200" b="0" dirty="0" smtClean="0">
                <a:solidFill>
                  <a:srgbClr val="C00000"/>
                </a:solidFill>
                <a:effectLst>
                  <a:outerShdw blurRad="38100" dist="38100" dir="2700000" algn="tl">
                    <a:srgbClr val="000000">
                      <a:alpha val="43137"/>
                    </a:srgbClr>
                  </a:outerShdw>
                </a:effectLst>
                <a:latin typeface="Comic Sans MS" panose="030F0702030302020204" pitchFamily="66" charset="0"/>
              </a:rPr>
              <a:t>Enterprise Resource Planning</a:t>
            </a:r>
            <a:endParaRPr lang="en-US" sz="3200" b="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41184586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219200"/>
            <a:ext cx="8382000" cy="1747684"/>
          </a:xfrm>
        </p:spPr>
        <p:txBody>
          <a:bodyPr/>
          <a:lstStyle/>
          <a:p>
            <a:pPr marL="0" indent="0" algn="just">
              <a:buNone/>
            </a:pPr>
            <a:r>
              <a:rPr lang="en-US" sz="1400" dirty="0"/>
              <a:t>Enterprise resource planning (ERP) is a type of software system that helps </a:t>
            </a:r>
            <a:r>
              <a:rPr lang="en-US" sz="1400" dirty="0" smtClean="0"/>
              <a:t>organizations </a:t>
            </a:r>
            <a:r>
              <a:rPr lang="en-US" sz="1400" dirty="0"/>
              <a:t>automate and manage core business processes for optimal performance. ERP software coordinates the flow of data between a company’s business processes, providing a single source of truth and streamlining operations across the enterprise. It’s capable of linking a company’s financials, supply chain, operations, commerce, reporting, manufacturing and human resources activities on one </a:t>
            </a:r>
            <a:r>
              <a:rPr lang="en-US" sz="1400" dirty="0" smtClean="0"/>
              <a:t>platform. Companies </a:t>
            </a:r>
            <a:r>
              <a:rPr lang="en-US" sz="1400" dirty="0"/>
              <a:t>that include human resource management (HRMS), customer relationship management (CRM) and ecommerce capabilities will see even greater benefits.</a:t>
            </a:r>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61188" y="3048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buFont typeface="Wingdings" panose="05000000000000000000" pitchFamily="2" charset="2"/>
              <a:buNone/>
            </a:pPr>
            <a:r>
              <a:rPr lang="en-US" altLang="en-US" dirty="0" smtClean="0">
                <a:latin typeface="Comic Sans MS" panose="030F0702030302020204" pitchFamily="66" charset="0"/>
              </a:rPr>
              <a:t>Enterprise Resource </a:t>
            </a:r>
            <a:r>
              <a:rPr lang="en-US" altLang="en-US" dirty="0">
                <a:latin typeface="Comic Sans MS" panose="030F0702030302020204" pitchFamily="66" charset="0"/>
              </a:rPr>
              <a:t>P</a:t>
            </a:r>
            <a:r>
              <a:rPr lang="en-US" altLang="en-US" dirty="0" smtClean="0">
                <a:latin typeface="Comic Sans MS" panose="030F0702030302020204" pitchFamily="66" charset="0"/>
              </a:rPr>
              <a:t>lanning (ERP)</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2895600"/>
            <a:ext cx="4673321" cy="3705797"/>
          </a:xfrm>
          <a:prstGeom prst="rect">
            <a:avLst/>
          </a:prstGeom>
        </p:spPr>
      </p:pic>
    </p:spTree>
    <p:extLst>
      <p:ext uri="{BB962C8B-B14F-4D97-AF65-F5344CB8AC3E}">
        <p14:creationId xmlns:p14="http://schemas.microsoft.com/office/powerpoint/2010/main" val="374733280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676400"/>
            <a:ext cx="8229600" cy="3657600"/>
          </a:xfrm>
        </p:spPr>
        <p:txBody>
          <a:bodyPr/>
          <a:lstStyle/>
          <a:p>
            <a:pPr marL="0" indent="0" algn="just">
              <a:buNone/>
            </a:pPr>
            <a:r>
              <a:rPr lang="en-US" sz="1400" dirty="0" smtClean="0"/>
              <a:t>ERP </a:t>
            </a:r>
            <a:r>
              <a:rPr lang="en-US" sz="1400" dirty="0"/>
              <a:t>is generally seen as having the potential to very significantly improve the performance </a:t>
            </a:r>
            <a:r>
              <a:rPr lang="en-US" sz="1400" dirty="0" smtClean="0"/>
              <a:t>of many </a:t>
            </a:r>
            <a:r>
              <a:rPr lang="en-US" sz="1400" dirty="0"/>
              <a:t>companies in many different sectors. This is partly because of the very much </a:t>
            </a:r>
            <a:r>
              <a:rPr lang="en-US" sz="1400" dirty="0" smtClean="0"/>
              <a:t>enhanced visibility </a:t>
            </a:r>
            <a:r>
              <a:rPr lang="en-US" sz="1400" dirty="0"/>
              <a:t>that information integration gives, but it is also a function of the discipline that </a:t>
            </a:r>
            <a:r>
              <a:rPr lang="en-US" sz="1400" dirty="0" smtClean="0"/>
              <a:t>ERP demands</a:t>
            </a:r>
            <a:r>
              <a:rPr lang="en-US" sz="1400" dirty="0"/>
              <a:t>. </a:t>
            </a:r>
            <a:endParaRPr lang="en-US" sz="1400" dirty="0" smtClean="0"/>
          </a:p>
          <a:p>
            <a:pPr marL="0" indent="0" algn="just">
              <a:buNone/>
            </a:pPr>
            <a:r>
              <a:rPr lang="en-US" sz="1400" dirty="0" smtClean="0"/>
              <a:t>The generally accepted </a:t>
            </a:r>
            <a:r>
              <a:rPr lang="en-US" sz="1400" dirty="0"/>
              <a:t>benefits of ERP are usually held to be the following</a:t>
            </a:r>
            <a:r>
              <a:rPr lang="en-US" sz="1400" dirty="0" smtClean="0"/>
              <a:t>:</a:t>
            </a:r>
          </a:p>
          <a:p>
            <a:pPr marL="0" indent="0" algn="just">
              <a:buNone/>
            </a:pPr>
            <a:endParaRPr lang="en-US" sz="1400" dirty="0" smtClean="0"/>
          </a:p>
          <a:p>
            <a:pPr marL="0" indent="0" algn="just">
              <a:buNone/>
            </a:pPr>
            <a:endParaRPr lang="en-US" sz="1400" dirty="0"/>
          </a:p>
          <a:p>
            <a:pPr marL="457200" algn="just"/>
            <a:r>
              <a:rPr lang="en-US" sz="1400" dirty="0" smtClean="0"/>
              <a:t>Because </a:t>
            </a:r>
            <a:r>
              <a:rPr lang="en-US" sz="1400" dirty="0"/>
              <a:t>software communicates across all functions, there is absolute visibility of what </a:t>
            </a:r>
            <a:r>
              <a:rPr lang="en-US" sz="1400" dirty="0" smtClean="0"/>
              <a:t>is happening </a:t>
            </a:r>
            <a:r>
              <a:rPr lang="en-US" sz="1400" dirty="0"/>
              <a:t>in all parts of the business</a:t>
            </a:r>
            <a:r>
              <a:rPr lang="en-US" sz="1400" dirty="0" smtClean="0"/>
              <a:t>.</a:t>
            </a:r>
            <a:r>
              <a:rPr lang="en-US" sz="1400" dirty="0"/>
              <a:t> </a:t>
            </a:r>
            <a:endParaRPr lang="en-US" sz="1400" dirty="0" smtClean="0"/>
          </a:p>
          <a:p>
            <a:pPr marL="457200" algn="just"/>
            <a:r>
              <a:rPr lang="en-US" sz="1400" dirty="0" smtClean="0"/>
              <a:t>The </a:t>
            </a:r>
            <a:r>
              <a:rPr lang="en-US" sz="1400" dirty="0"/>
              <a:t>discipline of forcing business-process-based </a:t>
            </a:r>
            <a:r>
              <a:rPr lang="en-US" sz="1400" dirty="0" smtClean="0"/>
              <a:t>changes is an effective </a:t>
            </a:r>
            <a:r>
              <a:rPr lang="en-US" sz="1400" dirty="0"/>
              <a:t>mechanism for making all parts of the business more efficient</a:t>
            </a:r>
            <a:r>
              <a:rPr lang="en-US" sz="1400" dirty="0" smtClean="0"/>
              <a:t>.</a:t>
            </a:r>
            <a:endParaRPr lang="en-US" sz="1400" dirty="0"/>
          </a:p>
          <a:p>
            <a:pPr marL="457200" algn="just"/>
            <a:r>
              <a:rPr lang="en-US" sz="1400" dirty="0" smtClean="0"/>
              <a:t>There </a:t>
            </a:r>
            <a:r>
              <a:rPr lang="en-US" sz="1400" dirty="0"/>
              <a:t>is better ‘sense of control’ of operations that will form the basis for </a:t>
            </a:r>
            <a:r>
              <a:rPr lang="en-US" sz="1400" dirty="0" smtClean="0"/>
              <a:t>continuous improvement.</a:t>
            </a:r>
            <a:endParaRPr lang="en-US" sz="1400" dirty="0"/>
          </a:p>
          <a:p>
            <a:pPr marL="457200" algn="just"/>
            <a:r>
              <a:rPr lang="en-US" sz="1400" dirty="0" smtClean="0"/>
              <a:t>It </a:t>
            </a:r>
            <a:r>
              <a:rPr lang="en-US" sz="1400" dirty="0"/>
              <a:t>enables far more sophisticated communication with customers, suppliers, and </a:t>
            </a:r>
            <a:r>
              <a:rPr lang="en-US" sz="1400" dirty="0" smtClean="0"/>
              <a:t>other business </a:t>
            </a:r>
            <a:r>
              <a:rPr lang="en-US" sz="1400" dirty="0"/>
              <a:t>partners, often giving more accurate and timely information.</a:t>
            </a:r>
          </a:p>
          <a:p>
            <a:pPr marL="457200" algn="just"/>
            <a:r>
              <a:rPr lang="en-US" sz="1400" dirty="0" smtClean="0"/>
              <a:t>It </a:t>
            </a:r>
            <a:r>
              <a:rPr lang="en-US" sz="1400" dirty="0"/>
              <a:t>is capable of integrating whole supply chains, including suppliers’ suppliers and customers</a:t>
            </a:r>
            <a:r>
              <a:rPr lang="en-US" sz="1400" dirty="0" smtClean="0"/>
              <a:t>’ customers. </a:t>
            </a:r>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44630" y="2286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buFont typeface="Wingdings" panose="05000000000000000000" pitchFamily="2" charset="2"/>
              <a:buNone/>
            </a:pPr>
            <a:r>
              <a:rPr lang="en-US" altLang="en-US" dirty="0" smtClean="0">
                <a:latin typeface="Comic Sans MS" panose="030F0702030302020204" pitchFamily="66" charset="0"/>
              </a:rPr>
              <a:t>The benefits of ERP</a:t>
            </a:r>
          </a:p>
        </p:txBody>
      </p:sp>
      <p:sp>
        <p:nvSpPr>
          <p:cNvPr id="2" name="Snip Diagonal Corner Rectangle 1"/>
          <p:cNvSpPr/>
          <p:nvPr/>
        </p:nvSpPr>
        <p:spPr bwMode="auto">
          <a:xfrm>
            <a:off x="457200" y="3124200"/>
            <a:ext cx="8382000" cy="2743200"/>
          </a:xfrm>
          <a:prstGeom prst="snip2DiagRect">
            <a:avLst/>
          </a:prstGeom>
          <a:noFill/>
          <a:ln w="12700">
            <a:solidFill>
              <a:srgbClr val="C00000"/>
            </a:solidFill>
            <a:prstDash val="dash"/>
          </a:ln>
          <a:effectLst>
            <a:outerShdw blurRad="63500" sx="102000" sy="102000" algn="ctr" rotWithShape="0">
              <a:prstClr val="black">
                <a:alpha val="40000"/>
              </a:prstClr>
            </a:outerShdw>
          </a:effectLst>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ln w="12700">
                <a:solidFill>
                  <a:srgbClr val="C00000"/>
                </a:solidFill>
              </a:ln>
              <a:solidFill>
                <a:srgbClr val="0C2870"/>
              </a:solidFill>
              <a:latin typeface="Arial" charset="0"/>
              <a:ea typeface="+mn-ea"/>
              <a:cs typeface="Times New Roman" pitchFamily="18" charset="0"/>
            </a:endParaRPr>
          </a:p>
        </p:txBody>
      </p:sp>
    </p:spTree>
    <p:extLst>
      <p:ext uri="{BB962C8B-B14F-4D97-AF65-F5344CB8AC3E}">
        <p14:creationId xmlns:p14="http://schemas.microsoft.com/office/powerpoint/2010/main" val="42524372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447800"/>
            <a:ext cx="8382000" cy="1747684"/>
          </a:xfrm>
        </p:spPr>
        <p:txBody>
          <a:bodyPr/>
          <a:lstStyle/>
          <a:p>
            <a:pPr marL="0" indent="0" algn="just">
              <a:buNone/>
            </a:pPr>
            <a:r>
              <a:rPr lang="en-US" sz="1400" b="1" dirty="0" smtClean="0"/>
              <a:t>Integration</a:t>
            </a:r>
            <a:endParaRPr lang="en-US" sz="1400" b="1" dirty="0"/>
          </a:p>
          <a:p>
            <a:pPr marL="0" indent="0" algn="just">
              <a:buNone/>
            </a:pPr>
            <a:r>
              <a:rPr lang="en-US" sz="1400" dirty="0"/>
              <a:t>ERP </a:t>
            </a:r>
            <a:r>
              <a:rPr lang="en-US" sz="1400" dirty="0" smtClean="0"/>
              <a:t>integration is </a:t>
            </a:r>
            <a:r>
              <a:rPr lang="en-US" sz="1400" dirty="0"/>
              <a:t>where an ERP software is connected with other applications and/or systems, with a goal to share data across these systems to improve productivity and insights. </a:t>
            </a:r>
            <a:r>
              <a:rPr lang="en-US" sz="1400" dirty="0" smtClean="0"/>
              <a:t>ERP </a:t>
            </a:r>
            <a:r>
              <a:rPr lang="en-US" sz="1400" dirty="0"/>
              <a:t>systems are widely desired due to their ability to communicate with every application in the same ecosystem, or with other existing business software. </a:t>
            </a:r>
            <a:r>
              <a:rPr lang="en-US" sz="1400" dirty="0" smtClean="0"/>
              <a:t>This </a:t>
            </a:r>
            <a:r>
              <a:rPr lang="en-US" sz="1400" dirty="0"/>
              <a:t>is beneficial for companies that have a variety of departments that need to connect with each other to avoid data duplication, repeat orders, or to avoid bottlenecks through a reduction in human error.</a:t>
            </a:r>
          </a:p>
          <a:p>
            <a:pPr marL="0" indent="0" algn="just">
              <a:buNone/>
            </a:pPr>
            <a:r>
              <a:rPr lang="en-US" sz="1400" b="1" dirty="0" smtClean="0"/>
              <a:t>Automation</a:t>
            </a:r>
            <a:endParaRPr lang="en-US" sz="1400" b="1" dirty="0"/>
          </a:p>
          <a:p>
            <a:pPr marL="0" indent="0" algn="just">
              <a:buNone/>
            </a:pPr>
            <a:r>
              <a:rPr lang="en-US" sz="1400" dirty="0"/>
              <a:t>ERP </a:t>
            </a:r>
            <a:r>
              <a:rPr lang="en-US" sz="1400" dirty="0" smtClean="0"/>
              <a:t>automation</a:t>
            </a:r>
            <a:r>
              <a:rPr lang="en-US" sz="1400" dirty="0"/>
              <a:t> integrations can help streamline processes across multiple departments and workflows. This is known as automation. This will help limit the required manual input and the time it takes for tasks to be completed</a:t>
            </a:r>
            <a:r>
              <a:rPr lang="en-US" sz="1400" dirty="0" smtClean="0"/>
              <a:t>. ERP </a:t>
            </a:r>
            <a:r>
              <a:rPr lang="en-US" sz="1400" dirty="0"/>
              <a:t>software was originally developed to automate and link the processes of manufacturing </a:t>
            </a:r>
            <a:r>
              <a:rPr lang="en-US" sz="1400" dirty="0" smtClean="0"/>
              <a:t>operations - connecting </a:t>
            </a:r>
            <a:r>
              <a:rPr lang="en-US" sz="1400" dirty="0"/>
              <a:t>departments by automating processes when certain steps or procedures became complete. </a:t>
            </a:r>
            <a:r>
              <a:rPr lang="en-US" sz="1400" dirty="0" smtClean="0"/>
              <a:t>With </a:t>
            </a:r>
            <a:r>
              <a:rPr lang="en-US" sz="1400" dirty="0"/>
              <a:t>an ERP system, businesses processes can be automated and data kept in a centralized </a:t>
            </a:r>
            <a:r>
              <a:rPr lang="en-US" sz="1400" dirty="0" smtClean="0"/>
              <a:t>location - letting </a:t>
            </a:r>
            <a:r>
              <a:rPr lang="en-US" sz="1400" dirty="0"/>
              <a:t>all users access it whenever needed.</a:t>
            </a:r>
          </a:p>
          <a:p>
            <a:pPr marL="0" indent="0" algn="just">
              <a:buNone/>
            </a:pPr>
            <a:r>
              <a:rPr lang="en-US" sz="1400" b="1" dirty="0" smtClean="0"/>
              <a:t>Data </a:t>
            </a:r>
            <a:r>
              <a:rPr lang="en-US" sz="1400" b="1" dirty="0"/>
              <a:t>Analysis</a:t>
            </a:r>
          </a:p>
          <a:p>
            <a:pPr marL="0" indent="0" algn="just">
              <a:buNone/>
            </a:pPr>
            <a:r>
              <a:rPr lang="en-US" sz="1400" dirty="0"/>
              <a:t>A business may use reports in order to answer questions about the strength of the business, but where does the data come from that is included on these reports? With every area of your business working under a unified ERP software, data on day-to-day operations can be shared across multiple entities and departments. Data can also be broadcast to multiple streams and allow companies to get real-time feedback for better decision-making</a:t>
            </a:r>
            <a:r>
              <a:rPr lang="en-US" sz="1400" dirty="0" smtClean="0"/>
              <a:t>.</a:t>
            </a:r>
            <a:endParaRPr lang="en-US" sz="1400" dirty="0"/>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61188" y="3048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buFont typeface="Wingdings" panose="05000000000000000000" pitchFamily="2" charset="2"/>
              <a:buNone/>
            </a:pPr>
            <a:r>
              <a:rPr lang="en-US" altLang="en-US" dirty="0" smtClean="0">
                <a:latin typeface="Comic Sans MS" panose="030F0702030302020204" pitchFamily="66" charset="0"/>
              </a:rPr>
              <a:t>ERP features</a:t>
            </a:r>
          </a:p>
        </p:txBody>
      </p:sp>
    </p:spTree>
    <p:extLst>
      <p:ext uri="{BB962C8B-B14F-4D97-AF65-F5344CB8AC3E}">
        <p14:creationId xmlns:p14="http://schemas.microsoft.com/office/powerpoint/2010/main" val="418925755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447800"/>
            <a:ext cx="8382000" cy="1747684"/>
          </a:xfrm>
        </p:spPr>
        <p:txBody>
          <a:bodyPr/>
          <a:lstStyle/>
          <a:p>
            <a:pPr marL="0" indent="0" algn="just">
              <a:buNone/>
            </a:pPr>
            <a:r>
              <a:rPr lang="en-US" sz="1400" b="1" dirty="0" smtClean="0"/>
              <a:t>Reporting</a:t>
            </a:r>
            <a:endParaRPr lang="en-US" sz="1400" b="1" dirty="0"/>
          </a:p>
          <a:p>
            <a:pPr marL="0" indent="0" algn="just">
              <a:buNone/>
            </a:pPr>
            <a:r>
              <a:rPr lang="en-US" sz="1400" dirty="0"/>
              <a:t>Reporting falls into the category </a:t>
            </a:r>
            <a:r>
              <a:rPr lang="en-US" sz="1400" dirty="0" smtClean="0"/>
              <a:t>of business intelligence tools</a:t>
            </a:r>
            <a:r>
              <a:rPr lang="en-US" sz="1400" dirty="0"/>
              <a:t> designed to gather and sort historical data, create engaging visuals, and help analyze and report your findings. This feature can be called many different things or appear in may different forms. Examples include dashboards, data visualization, Gantt charts, pie charts, bar graphs, and more.</a:t>
            </a:r>
          </a:p>
          <a:p>
            <a:pPr marL="0" indent="0" algn="just">
              <a:buNone/>
            </a:pPr>
            <a:r>
              <a:rPr lang="en-US" sz="1400" dirty="0"/>
              <a:t>Reporting features occur in all types of business software, and reports can be created from nearly every type of data. This includes contact management, marketing success levels, sales activity, and lead management.</a:t>
            </a:r>
          </a:p>
          <a:p>
            <a:pPr marL="0" indent="0" algn="just">
              <a:buNone/>
            </a:pPr>
            <a:r>
              <a:rPr lang="en-US" sz="1400" b="1" dirty="0"/>
              <a:t>Financial Management</a:t>
            </a:r>
          </a:p>
          <a:p>
            <a:pPr marL="0" indent="0" algn="just">
              <a:buNone/>
            </a:pPr>
            <a:r>
              <a:rPr lang="en-US" sz="1400" dirty="0"/>
              <a:t>Financial management helps business track income and expenses and plan for growth. Commonly referred to as accounting, financial management modules are designed to help businesses make better spending decisions, create accurate financial reports, and manage assets. Because of this, accounting can be thought of as a subset of ERP software.</a:t>
            </a:r>
          </a:p>
          <a:p>
            <a:pPr marL="0" indent="0" algn="just">
              <a:buNone/>
            </a:pPr>
            <a:r>
              <a:rPr lang="en-US" sz="1400" b="1" dirty="0"/>
              <a:t>Sales and Marketing</a:t>
            </a:r>
          </a:p>
          <a:p>
            <a:pPr marL="0" indent="0" algn="just">
              <a:buNone/>
            </a:pPr>
            <a:r>
              <a:rPr lang="en-US" sz="1400" dirty="0"/>
              <a:t>Sales forecasting and providing sales quotes are a large part of your overall sales management and marketing efforts. Sales forecasting applications </a:t>
            </a:r>
            <a:r>
              <a:rPr lang="en-US" sz="1400" dirty="0" smtClean="0"/>
              <a:t>utilize </a:t>
            </a:r>
            <a:r>
              <a:rPr lang="en-US" sz="1400" dirty="0"/>
              <a:t>historical data and sales funnel status tracking to create better projections for future sales. Sales quotes provide the ability to create, share, and track customer facing sales quotation documents.</a:t>
            </a:r>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61188" y="3048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buFont typeface="Wingdings" panose="05000000000000000000" pitchFamily="2" charset="2"/>
              <a:buNone/>
            </a:pPr>
            <a:r>
              <a:rPr lang="en-US" altLang="en-US" dirty="0" smtClean="0">
                <a:latin typeface="Comic Sans MS" panose="030F0702030302020204" pitchFamily="66" charset="0"/>
              </a:rPr>
              <a:t>ERP features </a:t>
            </a:r>
            <a:r>
              <a:rPr lang="en-US" altLang="en-US" sz="1400" b="0" i="1" dirty="0" smtClean="0">
                <a:latin typeface="Comic Sans MS" panose="030F0702030302020204" pitchFamily="66" charset="0"/>
              </a:rPr>
              <a:t>(cont.)</a:t>
            </a:r>
          </a:p>
        </p:txBody>
      </p:sp>
    </p:spTree>
    <p:extLst>
      <p:ext uri="{BB962C8B-B14F-4D97-AF65-F5344CB8AC3E}">
        <p14:creationId xmlns:p14="http://schemas.microsoft.com/office/powerpoint/2010/main" val="314835703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600200"/>
            <a:ext cx="8382000" cy="1747684"/>
          </a:xfrm>
        </p:spPr>
        <p:txBody>
          <a:bodyPr/>
          <a:lstStyle/>
          <a:p>
            <a:pPr marL="0" indent="0" algn="just">
              <a:buNone/>
            </a:pPr>
            <a:r>
              <a:rPr lang="en-US" sz="1400" b="1" dirty="0"/>
              <a:t>Human Resources</a:t>
            </a:r>
          </a:p>
          <a:p>
            <a:pPr marL="0" indent="0" algn="just">
              <a:buNone/>
            </a:pPr>
            <a:r>
              <a:rPr lang="en-US" sz="1400" dirty="0"/>
              <a:t>While more commonly found as a standalone solution, most ERP software will include some level of human </a:t>
            </a:r>
            <a:r>
              <a:rPr lang="en-US" sz="1400" dirty="0" smtClean="0"/>
              <a:t>resource</a:t>
            </a:r>
            <a:r>
              <a:rPr lang="en-US" sz="1400" dirty="0"/>
              <a:t> capabilities. These capabilities store employee information and automates tasks involving the people in your organization, such as employee scheduling, recruitment, and boosting employee productivity. HR features in an ERP software help your organization achieve it’s goals by allowing managers to better allocate employee time and resources to become a more productive and profitable business through better employee record keeping and increasing employee performance.</a:t>
            </a:r>
          </a:p>
          <a:p>
            <a:pPr marL="0" indent="0" algn="just">
              <a:buNone/>
            </a:pPr>
            <a:r>
              <a:rPr lang="en-US" sz="1400" b="1" dirty="0"/>
              <a:t>Supply Chain Management</a:t>
            </a:r>
          </a:p>
          <a:p>
            <a:pPr marL="0" indent="0" algn="just">
              <a:buNone/>
            </a:pPr>
            <a:r>
              <a:rPr lang="en-US" sz="1400" dirty="0"/>
              <a:t>Supply chain management (SCM) features within an ERP software help manufacturers, logistics providers, distributors, suppliers, and retailers manage the flow of goods and services between locations as efficiently and as cost-effectively as possible. This provides assistance from the acquisition of raw materials to a finished product being delivered to a customer.</a:t>
            </a:r>
          </a:p>
          <a:p>
            <a:pPr marL="0" indent="0" algn="just">
              <a:buNone/>
            </a:pPr>
            <a:r>
              <a:rPr lang="en-US" sz="1400" b="1" dirty="0"/>
              <a:t>Manufacturing</a:t>
            </a:r>
          </a:p>
          <a:p>
            <a:pPr marL="0" indent="0" algn="just">
              <a:buNone/>
            </a:pPr>
            <a:r>
              <a:rPr lang="en-US" sz="1400" dirty="0"/>
              <a:t>Manufacturing ERP features prevent machine downtime and improve upon the quality and efficiency of the products being created by your shop employees. More commonly known as MRP software, most manufacturing software tracks your purchased materials as well as current stock levels to ensure you always have what you need on-hand and don’t have to wait on materials to come in to start a new order.</a:t>
            </a:r>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61188" y="3048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altLang="en-US" dirty="0" smtClean="0">
                <a:latin typeface="Comic Sans MS" panose="030F0702030302020204" pitchFamily="66" charset="0"/>
              </a:rPr>
              <a:t>ERP features </a:t>
            </a:r>
            <a:r>
              <a:rPr lang="en-US" altLang="en-US" sz="1400" b="0" i="1" dirty="0">
                <a:latin typeface="Comic Sans MS" panose="030F0702030302020204" pitchFamily="66" charset="0"/>
              </a:rPr>
              <a:t>(cont.)</a:t>
            </a:r>
          </a:p>
          <a:p>
            <a:pPr>
              <a:buFont typeface="Wingdings" panose="05000000000000000000" pitchFamily="2" charset="2"/>
              <a:buNone/>
            </a:pPr>
            <a:endParaRPr lang="en-US" altLang="en-US" dirty="0" smtClean="0">
              <a:latin typeface="Comic Sans MS" panose="030F0702030302020204" pitchFamily="66" charset="0"/>
            </a:endParaRPr>
          </a:p>
        </p:txBody>
      </p:sp>
    </p:spTree>
    <p:extLst>
      <p:ext uri="{BB962C8B-B14F-4D97-AF65-F5344CB8AC3E}">
        <p14:creationId xmlns:p14="http://schemas.microsoft.com/office/powerpoint/2010/main" val="408944862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body" idx="1"/>
          </p:nvPr>
        </p:nvSpPr>
        <p:spPr>
          <a:xfrm>
            <a:off x="381000" y="1066800"/>
            <a:ext cx="8382000" cy="1747684"/>
          </a:xfrm>
        </p:spPr>
        <p:txBody>
          <a:bodyPr/>
          <a:lstStyle/>
          <a:p>
            <a:pPr marL="0" indent="0" algn="just">
              <a:buNone/>
            </a:pPr>
            <a:r>
              <a:rPr lang="en-US" sz="1400" dirty="0"/>
              <a:t>The use of CRM features within an ERP software can lead to more effective identification of new prospects, reduce time and labor costs involved with managing customer information, and assist with customer upselling</a:t>
            </a:r>
            <a:r>
              <a:rPr lang="en-US" sz="1400" dirty="0" smtClean="0"/>
              <a:t>. This </a:t>
            </a:r>
            <a:r>
              <a:rPr lang="en-US" sz="1400" dirty="0"/>
              <a:t>integration offers several key benefits for business intelligence:</a:t>
            </a:r>
          </a:p>
          <a:p>
            <a:pPr marL="0" indent="0" algn="just" fontAlgn="auto">
              <a:buNone/>
            </a:pPr>
            <a:r>
              <a:rPr lang="en-US" sz="1400" b="1" dirty="0"/>
              <a:t>Comprehensive Customer View</a:t>
            </a:r>
            <a:endParaRPr lang="en-US" sz="1400" dirty="0"/>
          </a:p>
          <a:p>
            <a:pPr marL="0" indent="0" algn="just" fontAlgn="auto">
              <a:buNone/>
            </a:pPr>
            <a:r>
              <a:rPr lang="en-US" sz="1400" dirty="0"/>
              <a:t>Combining CRM and ERP data provides a complete view of each customer. Sales and customer service teams can access financial information, purchase histories, outstanding payments, and contact details in one place. This enables them to make more informed decisions and personalize customer interactions.</a:t>
            </a:r>
          </a:p>
          <a:p>
            <a:pPr marL="0" indent="0" algn="just" fontAlgn="auto">
              <a:buNone/>
            </a:pPr>
            <a:r>
              <a:rPr lang="en-US" sz="1400" b="1" dirty="0"/>
              <a:t>Sales Prediction and Inventory Management</a:t>
            </a:r>
            <a:endParaRPr lang="en-US" sz="1400" dirty="0"/>
          </a:p>
          <a:p>
            <a:pPr marL="0" indent="0" algn="just" fontAlgn="auto">
              <a:buNone/>
            </a:pPr>
            <a:r>
              <a:rPr lang="en-US" sz="1400" dirty="0"/>
              <a:t>By linking real-time sales and inventory data, companies can more accurately forecast product demand. This helps them avoid overstock or inventory shortages, saving costs and improving customer satisfaction.</a:t>
            </a:r>
          </a:p>
          <a:p>
            <a:pPr marL="0" indent="0" algn="just" fontAlgn="auto">
              <a:buNone/>
            </a:pPr>
            <a:r>
              <a:rPr lang="en-US" sz="1400" b="1" dirty="0"/>
              <a:t>Deeper Financial Analysis</a:t>
            </a:r>
            <a:endParaRPr lang="en-US" sz="1400" dirty="0"/>
          </a:p>
          <a:p>
            <a:pPr marL="0" indent="0" algn="just" fontAlgn="auto">
              <a:buNone/>
            </a:pPr>
            <a:r>
              <a:rPr lang="en-US" sz="1400" dirty="0"/>
              <a:t>Integrating ERP financial data with CRM sales and marketing data allows financial teams to conduct deeper analysis. They can identify sales trends, assess product performance, and better understand how marketing strategies impact revenue and costs.</a:t>
            </a:r>
          </a:p>
          <a:p>
            <a:pPr marL="0" indent="0" algn="just" fontAlgn="auto">
              <a:buNone/>
            </a:pPr>
            <a:r>
              <a:rPr lang="en-US" sz="1400" b="1" dirty="0"/>
              <a:t>Business Process Automation</a:t>
            </a:r>
            <a:endParaRPr lang="en-US" sz="1400" dirty="0"/>
          </a:p>
          <a:p>
            <a:pPr marL="0" indent="0" algn="just" fontAlgn="auto">
              <a:buNone/>
            </a:pPr>
            <a:r>
              <a:rPr lang="en-US" sz="1400" dirty="0"/>
              <a:t>Workflow automation between CRM and ERP streamlines business processes. For example, sales information captured in CRM can automatically generate order records in ERP, eliminating the need for manual data entry and reducing errors.</a:t>
            </a:r>
          </a:p>
          <a:p>
            <a:pPr marL="0" indent="0" algn="just" fontAlgn="auto">
              <a:buNone/>
            </a:pPr>
            <a:r>
              <a:rPr lang="en-US" sz="1400" b="1" dirty="0"/>
              <a:t>Customized Reports and Dashboards</a:t>
            </a:r>
            <a:endParaRPr lang="en-US" sz="1400" dirty="0"/>
          </a:p>
          <a:p>
            <a:pPr marL="0" indent="0" algn="just" fontAlgn="auto">
              <a:buNone/>
            </a:pPr>
            <a:r>
              <a:rPr lang="en-US" sz="1400" dirty="0"/>
              <a:t>Integration allows for the creation of customized BI reports and dashboards that combine CRM and ERP data. This makes it easier to visualize key metrics in one place and enables executives to make data-driven decisions in real-time.</a:t>
            </a:r>
          </a:p>
          <a:p>
            <a:pPr marL="0" indent="0" algn="just">
              <a:buNone/>
            </a:pPr>
            <a:endParaRPr lang="en-US" sz="1400" dirty="0"/>
          </a:p>
        </p:txBody>
      </p:sp>
      <p:sp>
        <p:nvSpPr>
          <p:cNvPr id="4" name="Title 1">
            <a:extLst>
              <a:ext uri="{FF2B5EF4-FFF2-40B4-BE49-F238E27FC236}">
                <a16:creationId xmlns:a16="http://schemas.microsoft.com/office/drawing/2014/main" id="{2129AF87-E1D3-4BF9-9686-C3A89C6E62C9}"/>
              </a:ext>
            </a:extLst>
          </p:cNvPr>
          <p:cNvSpPr txBox="1">
            <a:spLocks/>
          </p:cNvSpPr>
          <p:nvPr/>
        </p:nvSpPr>
        <p:spPr>
          <a:xfrm>
            <a:off x="261188" y="304800"/>
            <a:ext cx="7430530" cy="6302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just" fontAlgn="auto"/>
            <a:r>
              <a:rPr lang="en-US" sz="1800" dirty="0">
                <a:latin typeface="Comic Sans MS" panose="030F0702030302020204" pitchFamily="66" charset="0"/>
              </a:rPr>
              <a:t>CRM and ERP i</a:t>
            </a:r>
            <a:r>
              <a:rPr lang="en-US" sz="1800" dirty="0" smtClean="0">
                <a:latin typeface="Comic Sans MS" panose="030F0702030302020204" pitchFamily="66" charset="0"/>
              </a:rPr>
              <a:t>ntegration</a:t>
            </a:r>
            <a:endParaRPr lang="en-US" sz="1800" dirty="0">
              <a:latin typeface="Comic Sans MS" panose="030F0702030302020204" pitchFamily="66" charset="0"/>
            </a:endParaRPr>
          </a:p>
        </p:txBody>
      </p:sp>
    </p:spTree>
    <p:extLst>
      <p:ext uri="{BB962C8B-B14F-4D97-AF65-F5344CB8AC3E}">
        <p14:creationId xmlns:p14="http://schemas.microsoft.com/office/powerpoint/2010/main" val="224053091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Popular ERM software</a:t>
            </a:r>
            <a:endParaRPr lang="en-US" dirty="0">
              <a:latin typeface="Comic Sans MS" panose="030F0702030302020204" pitchFamily="66" charset="0"/>
            </a:endParaRPr>
          </a:p>
        </p:txBody>
      </p:sp>
      <p:sp>
        <p:nvSpPr>
          <p:cNvPr id="3" name="object 3"/>
          <p:cNvSpPr txBox="1"/>
          <p:nvPr/>
        </p:nvSpPr>
        <p:spPr>
          <a:xfrm>
            <a:off x="533400" y="1371600"/>
            <a:ext cx="8077200" cy="659155"/>
          </a:xfrm>
          <a:prstGeom prst="rect">
            <a:avLst/>
          </a:prstGeom>
        </p:spPr>
        <p:txBody>
          <a:bodyPr vert="horz" wrap="square" lIns="0" tIns="12700" rIns="0" bIns="0" rtlCol="0">
            <a:spAutoFit/>
          </a:bodyPr>
          <a:lstStyle/>
          <a:p>
            <a:pPr algn="just" fontAlgn="auto"/>
            <a:r>
              <a:rPr lang="en-US" sz="1400" dirty="0">
                <a:solidFill>
                  <a:schemeClr val="accent1">
                    <a:lumMod val="75000"/>
                  </a:schemeClr>
                </a:solidFill>
              </a:rPr>
              <a:t>Some popular ERP tools that you may have heard of are Oracle NetSuite, Microsoft Dynamics 365, Oracle ERP Cloud, SAP, Sage Business Cloud X3, and/or Epicor ERP.</a:t>
            </a:r>
            <a:endParaRPr lang="en-US" sz="1400" dirty="0" smtClean="0">
              <a:solidFill>
                <a:schemeClr val="accent1">
                  <a:lumMod val="75000"/>
                </a:schemeClr>
              </a:solidFill>
            </a:endParaRPr>
          </a:p>
          <a:p>
            <a:pPr algn="just" fontAlgn="auto"/>
            <a:endParaRPr lang="en-US" sz="1400" dirty="0">
              <a:solidFill>
                <a:schemeClr val="accent1">
                  <a:lumMod val="75000"/>
                </a:schemeClr>
              </a:solidFill>
            </a:endParaRPr>
          </a:p>
        </p:txBody>
      </p:sp>
      <p:pic>
        <p:nvPicPr>
          <p:cNvPr id="16388" name="Picture 4" descr="https://apps4.co/wp-content/uploads/2020/08/Top-10-ERPs-in-Australia.jpg"/>
          <p:cNvPicPr>
            <a:picLocks noChangeAspect="1" noChangeArrowheads="1"/>
          </p:cNvPicPr>
          <p:nvPr/>
        </p:nvPicPr>
        <p:blipFill rotWithShape="1">
          <a:blip r:embed="rId2">
            <a:extLst>
              <a:ext uri="{28A0092B-C50C-407E-A947-70E740481C1C}">
                <a14:useLocalDpi xmlns:a14="http://schemas.microsoft.com/office/drawing/2010/main" val="0"/>
              </a:ext>
            </a:extLst>
          </a:blip>
          <a:srcRect l="18349" t="13008" r="18349" b="15447"/>
          <a:stretch/>
        </p:blipFill>
        <p:spPr bwMode="auto">
          <a:xfrm>
            <a:off x="1600200" y="2286000"/>
            <a:ext cx="6436939" cy="4104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6032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971800"/>
            <a:ext cx="6019800" cy="504625"/>
          </a:xfrm>
          <a:prstGeom prst="rect">
            <a:avLst/>
          </a:prstGeom>
        </p:spPr>
        <p:txBody>
          <a:bodyPr vert="horz" wrap="square" lIns="0" tIns="12065" rIns="0" bIns="0" rtlCol="0">
            <a:spAutoFit/>
          </a:bodyPr>
          <a:lstStyle/>
          <a:p>
            <a:pPr algn="ctr" eaLnBrk="0" hangingPunct="0"/>
            <a:r>
              <a:rPr lang="en-US" sz="3200" b="0" dirty="0" smtClean="0">
                <a:solidFill>
                  <a:srgbClr val="C00000"/>
                </a:solidFill>
                <a:effectLst>
                  <a:outerShdw blurRad="38100" dist="38100" dir="2700000" algn="tl">
                    <a:srgbClr val="000000">
                      <a:alpha val="43137"/>
                    </a:srgbClr>
                  </a:outerShdw>
                </a:effectLst>
                <a:latin typeface="Comic Sans MS" panose="030F0702030302020204" pitchFamily="66" charset="0"/>
              </a:rPr>
              <a:t>Cloud Computing</a:t>
            </a:r>
            <a:endParaRPr lang="en-US" sz="3200" b="0" dirty="0">
              <a:solidFill>
                <a:srgbClr val="C00000"/>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10819054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Cloud Computing</a:t>
            </a:r>
            <a:endParaRPr lang="en-US" dirty="0">
              <a:latin typeface="Comic Sans MS" panose="030F0702030302020204" pitchFamily="66" charset="0"/>
            </a:endParaRPr>
          </a:p>
        </p:txBody>
      </p:sp>
      <p:sp>
        <p:nvSpPr>
          <p:cNvPr id="3" name="object 3"/>
          <p:cNvSpPr txBox="1"/>
          <p:nvPr/>
        </p:nvSpPr>
        <p:spPr>
          <a:xfrm>
            <a:off x="457200" y="1329458"/>
            <a:ext cx="8077200" cy="1090042"/>
          </a:xfrm>
          <a:prstGeom prst="rect">
            <a:avLst/>
          </a:prstGeom>
        </p:spPr>
        <p:txBody>
          <a:bodyPr vert="horz" wrap="square" lIns="0" tIns="12700" rIns="0" bIns="0" rtlCol="0">
            <a:spAutoFit/>
          </a:bodyPr>
          <a:lstStyle/>
          <a:p>
            <a:pPr algn="just"/>
            <a:r>
              <a:rPr lang="en-US" sz="1400" dirty="0">
                <a:solidFill>
                  <a:schemeClr val="accent1">
                    <a:lumMod val="75000"/>
                  </a:schemeClr>
                </a:solidFill>
              </a:rPr>
              <a:t>Simply put, cloud computing is the delivery of computing </a:t>
            </a:r>
            <a:r>
              <a:rPr lang="en-US" sz="1400" dirty="0" smtClean="0">
                <a:solidFill>
                  <a:schemeClr val="accent1">
                    <a:lumMod val="75000"/>
                  </a:schemeClr>
                </a:solidFill>
              </a:rPr>
              <a:t>services - including </a:t>
            </a:r>
            <a:r>
              <a:rPr lang="en-US" sz="1400" dirty="0">
                <a:solidFill>
                  <a:schemeClr val="accent1">
                    <a:lumMod val="75000"/>
                  </a:schemeClr>
                </a:solidFill>
              </a:rPr>
              <a:t>servers, storage, databases, networking, software, analytics, and </a:t>
            </a:r>
            <a:r>
              <a:rPr lang="en-US" sz="1400" dirty="0" smtClean="0">
                <a:solidFill>
                  <a:schemeClr val="accent1">
                    <a:lumMod val="75000"/>
                  </a:schemeClr>
                </a:solidFill>
              </a:rPr>
              <a:t>intelligence - over </a:t>
            </a:r>
            <a:r>
              <a:rPr lang="en-US" sz="1400" dirty="0">
                <a:solidFill>
                  <a:schemeClr val="accent1">
                    <a:lumMod val="75000"/>
                  </a:schemeClr>
                </a:solidFill>
              </a:rPr>
              <a:t>the internet (“the cloud”) to offer faster innovation, flexible resources, and economies of scale. You typically pay only for cloud services you use, helping you lower your operating costs, run your infrastructure more efficiently, and scale as your business needs change.</a:t>
            </a:r>
          </a:p>
        </p:txBody>
      </p:sp>
      <p:pic>
        <p:nvPicPr>
          <p:cNvPr id="19458" name="Picture 2" descr="https://cdn-dynmedia-1.microsoft.com/is/image/microsoftcorp/Overview_image?resMode=sharp2&amp;op_usm=1.5,0.65,15,0&amp;wid=749&amp;qlt=100&amp;fmt=png-alpha&amp;fit=constr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819400"/>
            <a:ext cx="3733800" cy="376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0372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Types of Cloud Computing</a:t>
            </a:r>
            <a:endParaRPr lang="en-US" dirty="0">
              <a:latin typeface="Comic Sans MS" panose="030F0702030302020204" pitchFamily="66" charset="0"/>
            </a:endParaRPr>
          </a:p>
        </p:txBody>
      </p:sp>
      <p:sp>
        <p:nvSpPr>
          <p:cNvPr id="3" name="object 3"/>
          <p:cNvSpPr txBox="1"/>
          <p:nvPr/>
        </p:nvSpPr>
        <p:spPr>
          <a:xfrm>
            <a:off x="533400" y="1447800"/>
            <a:ext cx="8077200" cy="4506362"/>
          </a:xfrm>
          <a:prstGeom prst="rect">
            <a:avLst/>
          </a:prstGeom>
        </p:spPr>
        <p:txBody>
          <a:bodyPr vert="horz" wrap="square" lIns="0" tIns="12700" rIns="0" bIns="0" rtlCol="0">
            <a:spAutoFit/>
          </a:bodyPr>
          <a:lstStyle/>
          <a:p>
            <a:pPr algn="just"/>
            <a:r>
              <a:rPr lang="en-US" sz="1400" b="1" dirty="0">
                <a:solidFill>
                  <a:srgbClr val="C00000"/>
                </a:solidFill>
                <a:latin typeface="Comic Sans MS" panose="030F0702030302020204" pitchFamily="66" charset="0"/>
              </a:rPr>
              <a:t>Public cloud</a:t>
            </a:r>
          </a:p>
          <a:p>
            <a:pPr algn="just"/>
            <a:r>
              <a:rPr lang="en-US" sz="1400" dirty="0">
                <a:solidFill>
                  <a:schemeClr val="accent1">
                    <a:lumMod val="75000"/>
                  </a:schemeClr>
                </a:solidFill>
              </a:rPr>
              <a:t>Public clouds are owned and operated by third-party cloud service providers, which deliver computing resources like servers and storage over the internet. Microsoft Azure is an example of a public cloud. With a public cloud, all hardware, software, and other supporting infrastructure is owned and managed by the cloud provider. You access these services and manage your account using a web browser. </a:t>
            </a:r>
            <a:endParaRPr lang="en-US" sz="1400" dirty="0" smtClean="0">
              <a:solidFill>
                <a:schemeClr val="accent1">
                  <a:lumMod val="75000"/>
                </a:schemeClr>
              </a:solidFill>
            </a:endParaRPr>
          </a:p>
          <a:p>
            <a:pPr algn="just"/>
            <a:endParaRPr lang="en-US" sz="1400" dirty="0">
              <a:solidFill>
                <a:schemeClr val="accent1">
                  <a:lumMod val="75000"/>
                </a:schemeClr>
              </a:solidFill>
            </a:endParaRPr>
          </a:p>
          <a:p>
            <a:pPr algn="just"/>
            <a:r>
              <a:rPr lang="en-US" sz="1400" b="1" dirty="0">
                <a:solidFill>
                  <a:srgbClr val="C00000"/>
                </a:solidFill>
                <a:latin typeface="Comic Sans MS" panose="030F0702030302020204" pitchFamily="66" charset="0"/>
              </a:rPr>
              <a:t>Private cloud</a:t>
            </a:r>
          </a:p>
          <a:p>
            <a:pPr algn="just"/>
            <a:r>
              <a:rPr lang="en-US" sz="1400" dirty="0">
                <a:solidFill>
                  <a:schemeClr val="accent1">
                    <a:lumMod val="75000"/>
                  </a:schemeClr>
                </a:solidFill>
              </a:rPr>
              <a:t>A private cloud refers to cloud computing resources used exclusively by a single business or organization. A private cloud can be physically located on the company’s onsite datacenter. Some companies also pay third-party service providers to host their private cloud. A private cloud is one in which the services and infrastructure are maintained on a private network</a:t>
            </a:r>
            <a:r>
              <a:rPr lang="en-US" sz="1400" dirty="0" smtClean="0">
                <a:solidFill>
                  <a:schemeClr val="accent1">
                    <a:lumMod val="75000"/>
                  </a:schemeClr>
                </a:solidFill>
              </a:rPr>
              <a:t>.</a:t>
            </a:r>
          </a:p>
          <a:p>
            <a:pPr algn="just"/>
            <a:endParaRPr lang="en-US" sz="1400" dirty="0" smtClean="0">
              <a:solidFill>
                <a:schemeClr val="accent1">
                  <a:lumMod val="75000"/>
                </a:schemeClr>
              </a:solidFill>
            </a:endParaRPr>
          </a:p>
          <a:p>
            <a:pPr algn="just"/>
            <a:r>
              <a:rPr lang="en-US" sz="1400" b="1" dirty="0">
                <a:solidFill>
                  <a:srgbClr val="C00000"/>
                </a:solidFill>
                <a:latin typeface="Comic Sans MS" panose="030F0702030302020204" pitchFamily="66" charset="0"/>
              </a:rPr>
              <a:t>Hybrid cloud</a:t>
            </a:r>
          </a:p>
          <a:p>
            <a:pPr algn="just"/>
            <a:r>
              <a:rPr lang="en-US" sz="1400" dirty="0">
                <a:solidFill>
                  <a:schemeClr val="accent1">
                    <a:lumMod val="75000"/>
                  </a:schemeClr>
                </a:solidFill>
              </a:rPr>
              <a:t>Hybrid clouds combine public and private clouds, bound together by technology that allows data and applications to be shared between them. By allowing data and applications to move between private and public clouds, a hybrid cloud gives your business greater flexibility and more deployment options and helps optimize your existing infrastructure, security, and compliance. </a:t>
            </a:r>
          </a:p>
          <a:p>
            <a:endParaRPr lang="en-US" dirty="0"/>
          </a:p>
          <a:p>
            <a:r>
              <a:rPr lang="en-US" dirty="0"/>
              <a:t/>
            </a:r>
            <a:br>
              <a:rPr lang="en-US" dirty="0"/>
            </a:br>
            <a:endParaRPr lang="en-US" dirty="0"/>
          </a:p>
        </p:txBody>
      </p:sp>
    </p:spTree>
    <p:extLst>
      <p:ext uri="{BB962C8B-B14F-4D97-AF65-F5344CB8AC3E}">
        <p14:creationId xmlns:p14="http://schemas.microsoft.com/office/powerpoint/2010/main" val="34698685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788" y="317426"/>
            <a:ext cx="2878455"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2776"/>
                </a:solidFill>
                <a:latin typeface="Comic Sans MS"/>
                <a:cs typeface="Comic Sans MS"/>
              </a:rPr>
              <a:t>Types </a:t>
            </a:r>
            <a:r>
              <a:rPr sz="1800" b="1" dirty="0">
                <a:solidFill>
                  <a:srgbClr val="002776"/>
                </a:solidFill>
                <a:latin typeface="Comic Sans MS"/>
                <a:cs typeface="Comic Sans MS"/>
              </a:rPr>
              <a:t>of </a:t>
            </a:r>
            <a:r>
              <a:rPr lang="en-US" sz="1800" spc="-5" dirty="0">
                <a:solidFill>
                  <a:srgbClr val="002776"/>
                </a:solidFill>
                <a:latin typeface="Comic Sans MS"/>
                <a:cs typeface="Comic Sans MS"/>
              </a:rPr>
              <a:t>c</a:t>
            </a:r>
            <a:r>
              <a:rPr sz="1800" b="1" spc="-5" dirty="0" smtClean="0">
                <a:solidFill>
                  <a:srgbClr val="002776"/>
                </a:solidFill>
                <a:latin typeface="Comic Sans MS"/>
                <a:cs typeface="Comic Sans MS"/>
              </a:rPr>
              <a:t>loud</a:t>
            </a:r>
            <a:r>
              <a:rPr sz="1800" b="1" spc="-70" dirty="0" smtClean="0">
                <a:solidFill>
                  <a:srgbClr val="002776"/>
                </a:solidFill>
                <a:latin typeface="Comic Sans MS"/>
                <a:cs typeface="Comic Sans MS"/>
              </a:rPr>
              <a:t> </a:t>
            </a:r>
            <a:r>
              <a:rPr lang="en-US" sz="1800" b="1" spc="-70" dirty="0" smtClean="0">
                <a:solidFill>
                  <a:srgbClr val="002776"/>
                </a:solidFill>
                <a:latin typeface="Comic Sans MS"/>
                <a:cs typeface="Comic Sans MS"/>
              </a:rPr>
              <a:t>services</a:t>
            </a:r>
            <a:endParaRPr sz="1800" dirty="0">
              <a:latin typeface="Comic Sans MS"/>
              <a:cs typeface="Comic Sans MS"/>
            </a:endParaRPr>
          </a:p>
        </p:txBody>
      </p:sp>
      <p:sp>
        <p:nvSpPr>
          <p:cNvPr id="3" name="object 3"/>
          <p:cNvSpPr txBox="1"/>
          <p:nvPr/>
        </p:nvSpPr>
        <p:spPr>
          <a:xfrm>
            <a:off x="533400" y="1244284"/>
            <a:ext cx="8168640" cy="5613716"/>
          </a:xfrm>
          <a:prstGeom prst="rect">
            <a:avLst/>
          </a:prstGeom>
        </p:spPr>
        <p:txBody>
          <a:bodyPr vert="horz" wrap="square" lIns="0" tIns="12065" rIns="0" bIns="0" rtlCol="0">
            <a:spAutoFit/>
          </a:bodyPr>
          <a:lstStyle/>
          <a:p>
            <a:pPr marL="12700">
              <a:lnSpc>
                <a:spcPct val="100000"/>
              </a:lnSpc>
              <a:spcBef>
                <a:spcPts val="5"/>
              </a:spcBef>
            </a:pPr>
            <a:r>
              <a:rPr sz="1400" b="1" spc="-5" dirty="0" smtClean="0">
                <a:solidFill>
                  <a:srgbClr val="C00000"/>
                </a:solidFill>
                <a:latin typeface="Comic Sans MS"/>
                <a:cs typeface="Comic Sans MS"/>
              </a:rPr>
              <a:t>Software-as-a-service</a:t>
            </a:r>
            <a:r>
              <a:rPr sz="1400" b="1" spc="65" dirty="0" smtClean="0">
                <a:solidFill>
                  <a:srgbClr val="C00000"/>
                </a:solidFill>
                <a:latin typeface="Comic Sans MS"/>
                <a:cs typeface="Comic Sans MS"/>
              </a:rPr>
              <a:t> </a:t>
            </a:r>
            <a:r>
              <a:rPr sz="1400" b="1" spc="-5" dirty="0">
                <a:solidFill>
                  <a:srgbClr val="C00000"/>
                </a:solidFill>
                <a:latin typeface="Comic Sans MS"/>
                <a:cs typeface="Comic Sans MS"/>
              </a:rPr>
              <a:t>(SaaS)</a:t>
            </a:r>
            <a:endParaRPr sz="1400" dirty="0">
              <a:latin typeface="Comic Sans MS"/>
              <a:cs typeface="Comic Sans MS"/>
            </a:endParaRPr>
          </a:p>
          <a:p>
            <a:pPr algn="just"/>
            <a:r>
              <a:rPr sz="1400" spc="-5" dirty="0">
                <a:solidFill>
                  <a:schemeClr val="tx2">
                    <a:lumMod val="75000"/>
                  </a:schemeClr>
                </a:solidFill>
                <a:latin typeface="Arial" panose="020B0604020202020204" pitchFamily="34" charset="0"/>
                <a:cs typeface="Arial" panose="020B0604020202020204" pitchFamily="34" charset="0"/>
              </a:rPr>
              <a:t>Involves the </a:t>
            </a:r>
            <a:r>
              <a:rPr sz="1400" spc="-10" dirty="0">
                <a:solidFill>
                  <a:schemeClr val="tx2">
                    <a:lumMod val="75000"/>
                  </a:schemeClr>
                </a:solidFill>
                <a:latin typeface="Arial" panose="020B0604020202020204" pitchFamily="34" charset="0"/>
                <a:cs typeface="Arial" panose="020B0604020202020204" pitchFamily="34" charset="0"/>
              </a:rPr>
              <a:t>licensure </a:t>
            </a:r>
            <a:r>
              <a:rPr sz="1400" spc="-5" dirty="0">
                <a:solidFill>
                  <a:schemeClr val="tx2">
                    <a:lumMod val="75000"/>
                  </a:schemeClr>
                </a:solidFill>
                <a:latin typeface="Arial" panose="020B0604020202020204" pitchFamily="34" charset="0"/>
                <a:cs typeface="Arial" panose="020B0604020202020204" pitchFamily="34" charset="0"/>
              </a:rPr>
              <a:t>of a software application to customers. Licenses are </a:t>
            </a:r>
            <a:r>
              <a:rPr sz="1400" dirty="0">
                <a:solidFill>
                  <a:schemeClr val="tx2">
                    <a:lumMod val="75000"/>
                  </a:schemeClr>
                </a:solidFill>
                <a:latin typeface="Arial" panose="020B0604020202020204" pitchFamily="34" charset="0"/>
                <a:cs typeface="Arial" panose="020B0604020202020204" pitchFamily="34" charset="0"/>
              </a:rPr>
              <a:t>typically  </a:t>
            </a:r>
            <a:r>
              <a:rPr sz="1400" spc="-5" dirty="0">
                <a:solidFill>
                  <a:schemeClr val="tx2">
                    <a:lumMod val="75000"/>
                  </a:schemeClr>
                </a:solidFill>
                <a:latin typeface="Arial" panose="020B0604020202020204" pitchFamily="34" charset="0"/>
                <a:cs typeface="Arial" panose="020B0604020202020204" pitchFamily="34" charset="0"/>
              </a:rPr>
              <a:t>provided through a pay-as-you-go </a:t>
            </a:r>
            <a:r>
              <a:rPr sz="1400" spc="-10" dirty="0">
                <a:solidFill>
                  <a:schemeClr val="tx2">
                    <a:lumMod val="75000"/>
                  </a:schemeClr>
                </a:solidFill>
                <a:latin typeface="Arial" panose="020B0604020202020204" pitchFamily="34" charset="0"/>
                <a:cs typeface="Arial" panose="020B0604020202020204" pitchFamily="34" charset="0"/>
              </a:rPr>
              <a:t>model </a:t>
            </a:r>
            <a:r>
              <a:rPr sz="1400" spc="-5" dirty="0">
                <a:solidFill>
                  <a:schemeClr val="tx2">
                    <a:lumMod val="75000"/>
                  </a:schemeClr>
                </a:solidFill>
                <a:latin typeface="Arial" panose="020B0604020202020204" pitchFamily="34" charset="0"/>
                <a:cs typeface="Arial" panose="020B0604020202020204" pitchFamily="34" charset="0"/>
              </a:rPr>
              <a:t>or on-demand. </a:t>
            </a:r>
            <a:r>
              <a:rPr lang="en-US" sz="1400" dirty="0" smtClean="0">
                <a:solidFill>
                  <a:schemeClr val="tx2">
                    <a:lumMod val="75000"/>
                  </a:schemeClr>
                </a:solidFill>
                <a:latin typeface="Arial" panose="020B0604020202020204" pitchFamily="34" charset="0"/>
                <a:cs typeface="Arial" panose="020B0604020202020204" pitchFamily="34" charset="0"/>
              </a:rPr>
              <a:t>SaaS </a:t>
            </a:r>
            <a:r>
              <a:rPr lang="en-US" sz="1400" dirty="0">
                <a:solidFill>
                  <a:schemeClr val="tx2">
                    <a:lumMod val="75000"/>
                  </a:schemeClr>
                </a:solidFill>
                <a:latin typeface="Arial" panose="020B0604020202020204" pitchFamily="34" charset="0"/>
                <a:cs typeface="Arial" panose="020B0604020202020204" pitchFamily="34" charset="0"/>
              </a:rPr>
              <a:t>as a ready-to-use software application that you access over the </a:t>
            </a:r>
            <a:r>
              <a:rPr lang="en-US" sz="1400" dirty="0" smtClean="0">
                <a:solidFill>
                  <a:schemeClr val="tx2">
                    <a:lumMod val="75000"/>
                  </a:schemeClr>
                </a:solidFill>
                <a:latin typeface="Arial" panose="020B0604020202020204" pitchFamily="34" charset="0"/>
                <a:cs typeface="Arial" panose="020B0604020202020204" pitchFamily="34" charset="0"/>
              </a:rPr>
              <a:t>internet. It's </a:t>
            </a:r>
            <a:r>
              <a:rPr lang="en-US" sz="1400" dirty="0">
                <a:solidFill>
                  <a:schemeClr val="tx2">
                    <a:lumMod val="75000"/>
                  </a:schemeClr>
                </a:solidFill>
                <a:latin typeface="Arial" panose="020B0604020202020204" pitchFamily="34" charset="0"/>
                <a:cs typeface="Arial" panose="020B0604020202020204" pitchFamily="34" charset="0"/>
              </a:rPr>
              <a:t>like using an app on your smartphone or a website in your browser</a:t>
            </a:r>
            <a:r>
              <a:rPr lang="en-US" sz="1400" dirty="0" smtClean="0">
                <a:solidFill>
                  <a:schemeClr val="tx2">
                    <a:lumMod val="75000"/>
                  </a:schemeClr>
                </a:solidFill>
                <a:latin typeface="Arial" panose="020B0604020202020204" pitchFamily="34" charset="0"/>
                <a:cs typeface="Arial" panose="020B0604020202020204" pitchFamily="34" charset="0"/>
              </a:rPr>
              <a:t>. With </a:t>
            </a:r>
            <a:r>
              <a:rPr lang="en-US" sz="1400" dirty="0">
                <a:solidFill>
                  <a:schemeClr val="tx2">
                    <a:lumMod val="75000"/>
                  </a:schemeClr>
                </a:solidFill>
                <a:latin typeface="Arial" panose="020B0604020202020204" pitchFamily="34" charset="0"/>
                <a:cs typeface="Arial" panose="020B0604020202020204" pitchFamily="34" charset="0"/>
              </a:rPr>
              <a:t>SaaS, </a:t>
            </a:r>
            <a:r>
              <a:rPr lang="en-US" sz="1400" dirty="0" smtClean="0">
                <a:solidFill>
                  <a:schemeClr val="tx2">
                    <a:lumMod val="75000"/>
                  </a:schemeClr>
                </a:solidFill>
                <a:latin typeface="Arial" panose="020B0604020202020204" pitchFamily="34" charset="0"/>
                <a:cs typeface="Arial" panose="020B0604020202020204" pitchFamily="34" charset="0"/>
              </a:rPr>
              <a:t>users </a:t>
            </a:r>
            <a:r>
              <a:rPr lang="en-US" sz="1400" dirty="0">
                <a:solidFill>
                  <a:schemeClr val="tx2">
                    <a:lumMod val="75000"/>
                  </a:schemeClr>
                </a:solidFill>
                <a:latin typeface="Arial" panose="020B0604020202020204" pitchFamily="34" charset="0"/>
                <a:cs typeface="Arial" panose="020B0604020202020204" pitchFamily="34" charset="0"/>
              </a:rPr>
              <a:t>don't need to worry about managing servers, databases, or </a:t>
            </a:r>
            <a:r>
              <a:rPr lang="en-US" sz="1400" dirty="0" smtClean="0">
                <a:solidFill>
                  <a:schemeClr val="tx2">
                    <a:lumMod val="75000"/>
                  </a:schemeClr>
                </a:solidFill>
                <a:latin typeface="Arial" panose="020B0604020202020204" pitchFamily="34" charset="0"/>
                <a:cs typeface="Arial" panose="020B0604020202020204" pitchFamily="34" charset="0"/>
              </a:rPr>
              <a:t>infrastructure, just simply </a:t>
            </a:r>
            <a:r>
              <a:rPr lang="en-US" sz="1400" dirty="0">
                <a:solidFill>
                  <a:schemeClr val="tx2">
                    <a:lumMod val="75000"/>
                  </a:schemeClr>
                </a:solidFill>
                <a:latin typeface="Arial" panose="020B0604020202020204" pitchFamily="34" charset="0"/>
                <a:cs typeface="Arial" panose="020B0604020202020204" pitchFamily="34" charset="0"/>
              </a:rPr>
              <a:t>use the software as it is</a:t>
            </a:r>
            <a:r>
              <a:rPr lang="en-US" sz="1400" dirty="0" smtClean="0">
                <a:solidFill>
                  <a:schemeClr val="tx2">
                    <a:lumMod val="75000"/>
                  </a:schemeClr>
                </a:solidFill>
                <a:latin typeface="Arial" panose="020B0604020202020204" pitchFamily="34" charset="0"/>
                <a:cs typeface="Arial" panose="020B0604020202020204" pitchFamily="34" charset="0"/>
              </a:rPr>
              <a:t>. </a:t>
            </a:r>
            <a:r>
              <a:rPr sz="1400" spc="-5" dirty="0" smtClean="0">
                <a:solidFill>
                  <a:schemeClr val="tx2">
                    <a:lumMod val="75000"/>
                  </a:schemeClr>
                </a:solidFill>
                <a:latin typeface="Arial" panose="020B0604020202020204" pitchFamily="34" charset="0"/>
                <a:cs typeface="Arial" panose="020B0604020202020204" pitchFamily="34" charset="0"/>
              </a:rPr>
              <a:t>This </a:t>
            </a:r>
            <a:r>
              <a:rPr sz="1400" spc="-5" dirty="0">
                <a:solidFill>
                  <a:schemeClr val="tx2">
                    <a:lumMod val="75000"/>
                  </a:schemeClr>
                </a:solidFill>
                <a:latin typeface="Arial" panose="020B0604020202020204" pitchFamily="34" charset="0"/>
                <a:cs typeface="Arial" panose="020B0604020202020204" pitchFamily="34" charset="0"/>
              </a:rPr>
              <a:t>type of system can be </a:t>
            </a:r>
            <a:r>
              <a:rPr sz="1400" dirty="0">
                <a:solidFill>
                  <a:schemeClr val="tx2">
                    <a:lumMod val="75000"/>
                  </a:schemeClr>
                </a:solidFill>
                <a:latin typeface="Arial" panose="020B0604020202020204" pitchFamily="34" charset="0"/>
                <a:cs typeface="Arial" panose="020B0604020202020204" pitchFamily="34" charset="0"/>
              </a:rPr>
              <a:t>found  in </a:t>
            </a:r>
            <a:r>
              <a:rPr sz="1400" spc="-5" dirty="0">
                <a:solidFill>
                  <a:schemeClr val="tx2">
                    <a:lumMod val="75000"/>
                  </a:schemeClr>
                </a:solidFill>
                <a:latin typeface="Arial" panose="020B0604020202020204" pitchFamily="34" charset="0"/>
                <a:cs typeface="Arial" panose="020B0604020202020204" pitchFamily="34" charset="0"/>
              </a:rPr>
              <a:t>Microsoft </a:t>
            </a:r>
            <a:r>
              <a:rPr sz="1400" spc="-10" dirty="0">
                <a:solidFill>
                  <a:schemeClr val="tx2">
                    <a:lumMod val="75000"/>
                  </a:schemeClr>
                </a:solidFill>
                <a:latin typeface="Arial" panose="020B0604020202020204" pitchFamily="34" charset="0"/>
                <a:cs typeface="Arial" panose="020B0604020202020204" pitchFamily="34" charset="0"/>
              </a:rPr>
              <a:t>Office's</a:t>
            </a:r>
            <a:r>
              <a:rPr sz="1400" spc="20" dirty="0">
                <a:solidFill>
                  <a:schemeClr val="tx2">
                    <a:lumMod val="75000"/>
                  </a:schemeClr>
                </a:solidFill>
                <a:latin typeface="Arial" panose="020B0604020202020204" pitchFamily="34" charset="0"/>
                <a:cs typeface="Arial" panose="020B0604020202020204" pitchFamily="34" charset="0"/>
              </a:rPr>
              <a:t> </a:t>
            </a:r>
            <a:r>
              <a:rPr sz="1400" spc="-10" dirty="0" smtClean="0">
                <a:solidFill>
                  <a:schemeClr val="tx2">
                    <a:lumMod val="75000"/>
                  </a:schemeClr>
                </a:solidFill>
                <a:latin typeface="Arial" panose="020B0604020202020204" pitchFamily="34" charset="0"/>
                <a:cs typeface="Arial" panose="020B0604020202020204" pitchFamily="34" charset="0"/>
              </a:rPr>
              <a:t>365</a:t>
            </a:r>
            <a:r>
              <a:rPr lang="en-US" sz="1400" spc="-10" dirty="0" smtClean="0">
                <a:solidFill>
                  <a:schemeClr val="tx2">
                    <a:lumMod val="75000"/>
                  </a:schemeClr>
                </a:solidFill>
                <a:latin typeface="Arial" panose="020B0604020202020204" pitchFamily="34" charset="0"/>
                <a:cs typeface="Arial" panose="020B0604020202020204" pitchFamily="34" charset="0"/>
              </a:rPr>
              <a:t> </a:t>
            </a:r>
            <a:r>
              <a:rPr lang="en-US" sz="1400" dirty="0" smtClean="0">
                <a:solidFill>
                  <a:schemeClr val="tx2">
                    <a:lumMod val="75000"/>
                  </a:schemeClr>
                </a:solidFill>
                <a:latin typeface="Arial" panose="020B0604020202020204" pitchFamily="34" charset="0"/>
                <a:cs typeface="Arial" panose="020B0604020202020204" pitchFamily="34" charset="0"/>
              </a:rPr>
              <a:t>or Gmail.</a:t>
            </a:r>
            <a:endParaRPr sz="1400" dirty="0">
              <a:solidFill>
                <a:schemeClr val="tx2">
                  <a:lumMod val="75000"/>
                </a:schemeClr>
              </a:solidFill>
              <a:latin typeface="Arial" panose="020B0604020202020204" pitchFamily="34" charset="0"/>
              <a:cs typeface="Arial" panose="020B0604020202020204" pitchFamily="34" charset="0"/>
            </a:endParaRPr>
          </a:p>
          <a:p>
            <a:pPr>
              <a:lnSpc>
                <a:spcPct val="100000"/>
              </a:lnSpc>
              <a:spcBef>
                <a:spcPts val="40"/>
              </a:spcBef>
            </a:pPr>
            <a:endParaRPr sz="1400" dirty="0">
              <a:latin typeface="Times New Roman"/>
              <a:cs typeface="Times New Roman"/>
            </a:endParaRPr>
          </a:p>
          <a:p>
            <a:pPr marL="12700">
              <a:lnSpc>
                <a:spcPct val="100000"/>
              </a:lnSpc>
              <a:spcBef>
                <a:spcPts val="5"/>
              </a:spcBef>
            </a:pPr>
            <a:r>
              <a:rPr sz="1400" b="1" spc="-5" dirty="0">
                <a:solidFill>
                  <a:srgbClr val="C00000"/>
                </a:solidFill>
                <a:latin typeface="Comic Sans MS"/>
                <a:cs typeface="Comic Sans MS"/>
              </a:rPr>
              <a:t>Infrastructure-as-a-service</a:t>
            </a:r>
            <a:r>
              <a:rPr sz="1400" b="1" spc="60" dirty="0">
                <a:solidFill>
                  <a:srgbClr val="C00000"/>
                </a:solidFill>
                <a:latin typeface="Comic Sans MS"/>
                <a:cs typeface="Comic Sans MS"/>
              </a:rPr>
              <a:t> </a:t>
            </a:r>
            <a:r>
              <a:rPr sz="1400" b="1" spc="-5" dirty="0">
                <a:solidFill>
                  <a:srgbClr val="C00000"/>
                </a:solidFill>
                <a:latin typeface="Comic Sans MS"/>
                <a:cs typeface="Comic Sans MS"/>
              </a:rPr>
              <a:t>(IaaS)</a:t>
            </a:r>
            <a:endParaRPr sz="1400" dirty="0">
              <a:latin typeface="Comic Sans MS"/>
              <a:cs typeface="Comic Sans MS"/>
            </a:endParaRPr>
          </a:p>
          <a:p>
            <a:pPr algn="just"/>
            <a:r>
              <a:rPr lang="en-US" sz="1400" dirty="0">
                <a:solidFill>
                  <a:schemeClr val="tx2">
                    <a:lumMod val="75000"/>
                  </a:schemeClr>
                </a:solidFill>
                <a:latin typeface="Arial" panose="020B0604020202020204" pitchFamily="34" charset="0"/>
                <a:cs typeface="Arial" panose="020B0604020202020204" pitchFamily="34" charset="0"/>
              </a:rPr>
              <a:t>IaaS is like renting virtualized hardware (computers, storage, networking) from a provider.</a:t>
            </a:r>
          </a:p>
          <a:p>
            <a:pPr algn="just"/>
            <a:r>
              <a:rPr lang="en-US" sz="1400" dirty="0">
                <a:solidFill>
                  <a:schemeClr val="tx2">
                    <a:lumMod val="75000"/>
                  </a:schemeClr>
                </a:solidFill>
                <a:latin typeface="Arial" panose="020B0604020202020204" pitchFamily="34" charset="0"/>
                <a:cs typeface="Arial" panose="020B0604020202020204" pitchFamily="34" charset="0"/>
              </a:rPr>
              <a:t>It's similar to renting a computer in the cloud, where </a:t>
            </a:r>
            <a:r>
              <a:rPr lang="en-US" sz="1400" dirty="0" smtClean="0">
                <a:solidFill>
                  <a:schemeClr val="tx2">
                    <a:lumMod val="75000"/>
                  </a:schemeClr>
                </a:solidFill>
                <a:latin typeface="Arial" panose="020B0604020202020204" pitchFamily="34" charset="0"/>
                <a:cs typeface="Arial" panose="020B0604020202020204" pitchFamily="34" charset="0"/>
              </a:rPr>
              <a:t>users </a:t>
            </a:r>
            <a:r>
              <a:rPr lang="en-US" sz="1400" dirty="0">
                <a:solidFill>
                  <a:schemeClr val="tx2">
                    <a:lumMod val="75000"/>
                  </a:schemeClr>
                </a:solidFill>
                <a:latin typeface="Arial" panose="020B0604020202020204" pitchFamily="34" charset="0"/>
                <a:cs typeface="Arial" panose="020B0604020202020204" pitchFamily="34" charset="0"/>
              </a:rPr>
              <a:t>have control over the operating system, software, and applications</a:t>
            </a:r>
            <a:r>
              <a:rPr lang="en-US" sz="1400" dirty="0" smtClean="0">
                <a:solidFill>
                  <a:schemeClr val="tx2">
                    <a:lumMod val="75000"/>
                  </a:schemeClr>
                </a:solidFill>
                <a:latin typeface="Arial" panose="020B0604020202020204" pitchFamily="34" charset="0"/>
                <a:cs typeface="Arial" panose="020B0604020202020204" pitchFamily="34" charset="0"/>
              </a:rPr>
              <a:t>. Users are </a:t>
            </a:r>
            <a:r>
              <a:rPr lang="en-US" sz="1400" dirty="0">
                <a:solidFill>
                  <a:schemeClr val="tx2">
                    <a:lumMod val="75000"/>
                  </a:schemeClr>
                </a:solidFill>
                <a:latin typeface="Arial" panose="020B0604020202020204" pitchFamily="34" charset="0"/>
                <a:cs typeface="Arial" panose="020B0604020202020204" pitchFamily="34" charset="0"/>
              </a:rPr>
              <a:t>responsible for managing the virtual machines, operating systems, and applications you install on the provided infrastructure.</a:t>
            </a:r>
          </a:p>
          <a:p>
            <a:pPr marL="12700" marR="5080" algn="just">
              <a:lnSpc>
                <a:spcPct val="100000"/>
              </a:lnSpc>
              <a:spcBef>
                <a:spcPts val="35"/>
              </a:spcBef>
            </a:pPr>
            <a:r>
              <a:rPr sz="1400" spc="-5" dirty="0" smtClean="0">
                <a:solidFill>
                  <a:srgbClr val="001D58"/>
                </a:solidFill>
                <a:latin typeface="Arial"/>
                <a:cs typeface="Arial"/>
              </a:rPr>
              <a:t>Popular </a:t>
            </a:r>
            <a:r>
              <a:rPr sz="1400" spc="-10" dirty="0">
                <a:solidFill>
                  <a:srgbClr val="001D58"/>
                </a:solidFill>
                <a:latin typeface="Arial"/>
                <a:cs typeface="Arial"/>
              </a:rPr>
              <a:t>examples </a:t>
            </a:r>
            <a:r>
              <a:rPr sz="1400" spc="-5" dirty="0">
                <a:solidFill>
                  <a:srgbClr val="001D58"/>
                </a:solidFill>
                <a:latin typeface="Arial"/>
                <a:cs typeface="Arial"/>
              </a:rPr>
              <a:t>of the IaaS system include IBM </a:t>
            </a:r>
            <a:r>
              <a:rPr sz="1400" spc="-10" dirty="0" smtClean="0">
                <a:solidFill>
                  <a:srgbClr val="001D58"/>
                </a:solidFill>
                <a:latin typeface="Arial"/>
                <a:cs typeface="Arial"/>
              </a:rPr>
              <a:t>Cloud </a:t>
            </a:r>
            <a:r>
              <a:rPr sz="1400" spc="-10" dirty="0">
                <a:solidFill>
                  <a:srgbClr val="001D58"/>
                </a:solidFill>
                <a:latin typeface="Arial"/>
                <a:cs typeface="Arial"/>
              </a:rPr>
              <a:t>and </a:t>
            </a:r>
            <a:r>
              <a:rPr sz="1400" spc="-5" dirty="0">
                <a:solidFill>
                  <a:srgbClr val="001D58"/>
                </a:solidFill>
                <a:latin typeface="Arial"/>
                <a:cs typeface="Arial"/>
              </a:rPr>
              <a:t>Microsoft</a:t>
            </a:r>
            <a:r>
              <a:rPr sz="1400" spc="-65" dirty="0">
                <a:solidFill>
                  <a:srgbClr val="001D58"/>
                </a:solidFill>
                <a:latin typeface="Arial"/>
                <a:cs typeface="Arial"/>
              </a:rPr>
              <a:t> </a:t>
            </a:r>
            <a:r>
              <a:rPr sz="1400" spc="-5" dirty="0">
                <a:solidFill>
                  <a:srgbClr val="001D58"/>
                </a:solidFill>
                <a:latin typeface="Arial"/>
                <a:cs typeface="Arial"/>
              </a:rPr>
              <a:t>Azure.</a:t>
            </a:r>
            <a:endParaRPr sz="1400" dirty="0">
              <a:latin typeface="Arial"/>
              <a:cs typeface="Arial"/>
            </a:endParaRPr>
          </a:p>
          <a:p>
            <a:pPr>
              <a:lnSpc>
                <a:spcPct val="100000"/>
              </a:lnSpc>
              <a:spcBef>
                <a:spcPts val="40"/>
              </a:spcBef>
            </a:pPr>
            <a:endParaRPr sz="1400" dirty="0">
              <a:latin typeface="Times New Roman"/>
              <a:cs typeface="Times New Roman"/>
            </a:endParaRPr>
          </a:p>
          <a:p>
            <a:pPr marL="12700">
              <a:lnSpc>
                <a:spcPct val="100000"/>
              </a:lnSpc>
              <a:spcBef>
                <a:spcPts val="5"/>
              </a:spcBef>
            </a:pPr>
            <a:r>
              <a:rPr sz="1400" b="1" spc="-5" dirty="0">
                <a:solidFill>
                  <a:srgbClr val="C00000"/>
                </a:solidFill>
                <a:latin typeface="Comic Sans MS"/>
                <a:cs typeface="Comic Sans MS"/>
              </a:rPr>
              <a:t>Platform-as-a-service</a:t>
            </a:r>
            <a:r>
              <a:rPr sz="1400" b="1" spc="40" dirty="0">
                <a:solidFill>
                  <a:srgbClr val="C00000"/>
                </a:solidFill>
                <a:latin typeface="Comic Sans MS"/>
                <a:cs typeface="Comic Sans MS"/>
              </a:rPr>
              <a:t> </a:t>
            </a:r>
            <a:r>
              <a:rPr sz="1400" b="1" spc="-5" dirty="0">
                <a:solidFill>
                  <a:srgbClr val="C00000"/>
                </a:solidFill>
                <a:latin typeface="Comic Sans MS"/>
                <a:cs typeface="Comic Sans MS"/>
              </a:rPr>
              <a:t>(</a:t>
            </a:r>
            <a:r>
              <a:rPr sz="1400" b="1" spc="-5" dirty="0" smtClean="0">
                <a:solidFill>
                  <a:srgbClr val="C00000"/>
                </a:solidFill>
                <a:latin typeface="Comic Sans MS"/>
                <a:cs typeface="Comic Sans MS"/>
              </a:rPr>
              <a:t>PaaS)</a:t>
            </a:r>
            <a:endParaRPr lang="en-US" sz="1400" dirty="0">
              <a:latin typeface="Comic Sans MS"/>
              <a:cs typeface="Comic Sans MS"/>
            </a:endParaRPr>
          </a:p>
          <a:p>
            <a:pPr marL="12700" algn="just">
              <a:lnSpc>
                <a:spcPct val="100000"/>
              </a:lnSpc>
              <a:spcBef>
                <a:spcPts val="5"/>
              </a:spcBef>
            </a:pPr>
            <a:r>
              <a:rPr lang="en-US" sz="1400" dirty="0" smtClean="0">
                <a:solidFill>
                  <a:schemeClr val="tx2">
                    <a:lumMod val="75000"/>
                  </a:schemeClr>
                </a:solidFill>
                <a:latin typeface="Arial" panose="020B0604020202020204" pitchFamily="34" charset="0"/>
                <a:cs typeface="Arial" panose="020B0604020202020204" pitchFamily="34" charset="0"/>
              </a:rPr>
              <a:t>PaaS </a:t>
            </a:r>
            <a:r>
              <a:rPr lang="en-US" sz="1400" dirty="0">
                <a:solidFill>
                  <a:schemeClr val="tx2">
                    <a:lumMod val="75000"/>
                  </a:schemeClr>
                </a:solidFill>
                <a:latin typeface="Arial" panose="020B0604020202020204" pitchFamily="34" charset="0"/>
                <a:cs typeface="Arial" panose="020B0604020202020204" pitchFamily="34" charset="0"/>
              </a:rPr>
              <a:t>is a bit like SaaS but for developers and app builders</a:t>
            </a:r>
            <a:r>
              <a:rPr lang="en-US" sz="1400" dirty="0" smtClean="0">
                <a:solidFill>
                  <a:schemeClr val="tx2">
                    <a:lumMod val="75000"/>
                  </a:schemeClr>
                </a:solidFill>
                <a:latin typeface="Arial" panose="020B0604020202020204" pitchFamily="34" charset="0"/>
                <a:cs typeface="Arial" panose="020B0604020202020204" pitchFamily="34" charset="0"/>
              </a:rPr>
              <a:t>. It </a:t>
            </a:r>
            <a:r>
              <a:rPr lang="en-US" sz="1400" dirty="0">
                <a:solidFill>
                  <a:schemeClr val="tx2">
                    <a:lumMod val="75000"/>
                  </a:schemeClr>
                </a:solidFill>
                <a:latin typeface="Arial" panose="020B0604020202020204" pitchFamily="34" charset="0"/>
                <a:cs typeface="Arial" panose="020B0604020202020204" pitchFamily="34" charset="0"/>
              </a:rPr>
              <a:t>provides a platform with tools and services to help </a:t>
            </a:r>
            <a:r>
              <a:rPr lang="en-US" sz="1400" dirty="0" smtClean="0">
                <a:solidFill>
                  <a:schemeClr val="tx2">
                    <a:lumMod val="75000"/>
                  </a:schemeClr>
                </a:solidFill>
                <a:latin typeface="Arial" panose="020B0604020202020204" pitchFamily="34" charset="0"/>
                <a:cs typeface="Arial" panose="020B0604020202020204" pitchFamily="34" charset="0"/>
              </a:rPr>
              <a:t>users </a:t>
            </a:r>
            <a:r>
              <a:rPr lang="en-US" sz="1400" dirty="0">
                <a:solidFill>
                  <a:schemeClr val="tx2">
                    <a:lumMod val="75000"/>
                  </a:schemeClr>
                </a:solidFill>
                <a:latin typeface="Arial" panose="020B0604020202020204" pitchFamily="34" charset="0"/>
                <a:cs typeface="Arial" panose="020B0604020202020204" pitchFamily="34" charset="0"/>
              </a:rPr>
              <a:t>develop, test, and deploy </a:t>
            </a:r>
            <a:r>
              <a:rPr lang="en-US" sz="1400" dirty="0" smtClean="0">
                <a:solidFill>
                  <a:schemeClr val="tx2">
                    <a:lumMod val="75000"/>
                  </a:schemeClr>
                </a:solidFill>
                <a:latin typeface="Arial" panose="020B0604020202020204" pitchFamily="34" charset="0"/>
                <a:cs typeface="Arial" panose="020B0604020202020204" pitchFamily="34" charset="0"/>
              </a:rPr>
              <a:t>their applications. You </a:t>
            </a:r>
            <a:r>
              <a:rPr lang="en-US" sz="1400" dirty="0">
                <a:solidFill>
                  <a:schemeClr val="tx2">
                    <a:lumMod val="75000"/>
                  </a:schemeClr>
                </a:solidFill>
                <a:latin typeface="Arial" panose="020B0604020202020204" pitchFamily="34" charset="0"/>
                <a:cs typeface="Arial" panose="020B0604020202020204" pitchFamily="34" charset="0"/>
              </a:rPr>
              <a:t>can focus on writing code and building your app, while the PaaS provider manages the underlying infrastructure and services</a:t>
            </a:r>
            <a:r>
              <a:rPr lang="en-US" sz="1400" dirty="0" smtClean="0">
                <a:solidFill>
                  <a:schemeClr val="tx2">
                    <a:lumMod val="75000"/>
                  </a:schemeClr>
                </a:solidFill>
                <a:latin typeface="Arial" panose="020B0604020202020204" pitchFamily="34" charset="0"/>
                <a:cs typeface="Arial" panose="020B0604020202020204" pitchFamily="34" charset="0"/>
              </a:rPr>
              <a:t>. </a:t>
            </a:r>
            <a:r>
              <a:rPr sz="1400" spc="-5" dirty="0" smtClean="0">
                <a:solidFill>
                  <a:schemeClr val="tx2">
                    <a:lumMod val="75000"/>
                  </a:schemeClr>
                </a:solidFill>
                <a:latin typeface="Arial" panose="020B0604020202020204" pitchFamily="34" charset="0"/>
                <a:cs typeface="Arial" panose="020B0604020202020204" pitchFamily="34" charset="0"/>
              </a:rPr>
              <a:t>This </a:t>
            </a:r>
            <a:r>
              <a:rPr sz="1400" spc="-10" dirty="0">
                <a:solidFill>
                  <a:schemeClr val="tx2">
                    <a:lumMod val="75000"/>
                  </a:schemeClr>
                </a:solidFill>
                <a:latin typeface="Arial" panose="020B0604020202020204" pitchFamily="34" charset="0"/>
                <a:cs typeface="Arial" panose="020B0604020202020204" pitchFamily="34" charset="0"/>
              </a:rPr>
              <a:t>model </a:t>
            </a:r>
            <a:r>
              <a:rPr sz="1400" spc="-5" dirty="0">
                <a:solidFill>
                  <a:schemeClr val="tx2">
                    <a:lumMod val="75000"/>
                  </a:schemeClr>
                </a:solidFill>
                <a:latin typeface="Arial" panose="020B0604020202020204" pitchFamily="34" charset="0"/>
                <a:cs typeface="Arial" panose="020B0604020202020204" pitchFamily="34" charset="0"/>
              </a:rPr>
              <a:t>includes platforms </a:t>
            </a:r>
            <a:r>
              <a:rPr sz="1400" dirty="0">
                <a:solidFill>
                  <a:schemeClr val="tx2">
                    <a:lumMod val="75000"/>
                  </a:schemeClr>
                </a:solidFill>
                <a:latin typeface="Arial" panose="020B0604020202020204" pitchFamily="34" charset="0"/>
                <a:cs typeface="Arial" panose="020B0604020202020204" pitchFamily="34" charset="0"/>
              </a:rPr>
              <a:t>like </a:t>
            </a:r>
            <a:r>
              <a:rPr sz="1400" spc="-5" dirty="0">
                <a:solidFill>
                  <a:schemeClr val="tx2">
                    <a:lumMod val="75000"/>
                  </a:schemeClr>
                </a:solidFill>
                <a:latin typeface="Arial" panose="020B0604020202020204" pitchFamily="34" charset="0"/>
                <a:cs typeface="Arial" panose="020B0604020202020204" pitchFamily="34" charset="0"/>
              </a:rPr>
              <a:t>Salesforce.com </a:t>
            </a:r>
            <a:r>
              <a:rPr sz="1400" spc="-10" dirty="0">
                <a:solidFill>
                  <a:schemeClr val="tx2">
                    <a:lumMod val="75000"/>
                  </a:schemeClr>
                </a:solidFill>
                <a:latin typeface="Arial" panose="020B0604020202020204" pitchFamily="34" charset="0"/>
                <a:cs typeface="Arial" panose="020B0604020202020204" pitchFamily="34" charset="0"/>
              </a:rPr>
              <a:t>and</a:t>
            </a:r>
            <a:r>
              <a:rPr sz="1400" spc="45" dirty="0">
                <a:solidFill>
                  <a:schemeClr val="tx2">
                    <a:lumMod val="75000"/>
                  </a:schemeClr>
                </a:solidFill>
                <a:latin typeface="Arial" panose="020B0604020202020204" pitchFamily="34" charset="0"/>
                <a:cs typeface="Arial" panose="020B0604020202020204" pitchFamily="34" charset="0"/>
              </a:rPr>
              <a:t> </a:t>
            </a:r>
            <a:r>
              <a:rPr sz="1400" spc="-5" dirty="0" err="1">
                <a:solidFill>
                  <a:schemeClr val="tx2">
                    <a:lumMod val="75000"/>
                  </a:schemeClr>
                </a:solidFill>
                <a:latin typeface="Arial" panose="020B0604020202020204" pitchFamily="34" charset="0"/>
                <a:cs typeface="Arial" panose="020B0604020202020204" pitchFamily="34" charset="0"/>
              </a:rPr>
              <a:t>Heroku</a:t>
            </a:r>
            <a:r>
              <a:rPr sz="1400" spc="-5" dirty="0" smtClean="0">
                <a:solidFill>
                  <a:schemeClr val="tx2">
                    <a:lumMod val="75000"/>
                  </a:schemeClr>
                </a:solidFill>
                <a:latin typeface="Arial" panose="020B0604020202020204" pitchFamily="34" charset="0"/>
                <a:cs typeface="Arial" panose="020B0604020202020204" pitchFamily="34" charset="0"/>
              </a:rPr>
              <a:t>.</a:t>
            </a:r>
            <a:endParaRPr lang="en-US" sz="1400" spc="-5" dirty="0" smtClean="0">
              <a:solidFill>
                <a:schemeClr val="tx2">
                  <a:lumMod val="75000"/>
                </a:schemeClr>
              </a:solidFill>
              <a:latin typeface="Arial" panose="020B0604020202020204" pitchFamily="34" charset="0"/>
              <a:cs typeface="Arial" panose="020B0604020202020204" pitchFamily="34" charset="0"/>
            </a:endParaRPr>
          </a:p>
          <a:p>
            <a:pPr marL="12700" algn="just">
              <a:lnSpc>
                <a:spcPct val="100000"/>
              </a:lnSpc>
              <a:spcBef>
                <a:spcPts val="5"/>
              </a:spcBef>
            </a:pPr>
            <a:endParaRPr lang="en-US" sz="1400" spc="-5" dirty="0">
              <a:solidFill>
                <a:schemeClr val="tx2">
                  <a:lumMod val="75000"/>
                </a:schemeClr>
              </a:solidFill>
              <a:latin typeface="Arial" panose="020B0604020202020204" pitchFamily="34" charset="0"/>
              <a:cs typeface="Arial" panose="020B0604020202020204" pitchFamily="34" charset="0"/>
            </a:endParaRPr>
          </a:p>
          <a:p>
            <a:pPr algn="just"/>
            <a:r>
              <a:rPr lang="en-US" sz="1400" b="1" dirty="0" err="1">
                <a:solidFill>
                  <a:srgbClr val="C00000"/>
                </a:solidFill>
                <a:latin typeface="Comic Sans MS" panose="030F0702030302020204" pitchFamily="66" charset="0"/>
              </a:rPr>
              <a:t>Serverless</a:t>
            </a:r>
            <a:r>
              <a:rPr lang="en-US" sz="1400" b="1" dirty="0">
                <a:solidFill>
                  <a:srgbClr val="C00000"/>
                </a:solidFill>
                <a:latin typeface="Comic Sans MS" panose="030F0702030302020204" pitchFamily="66" charset="0"/>
              </a:rPr>
              <a:t> computing</a:t>
            </a:r>
          </a:p>
          <a:p>
            <a:pPr algn="just"/>
            <a:r>
              <a:rPr lang="en-US" sz="1400" dirty="0">
                <a:solidFill>
                  <a:schemeClr val="accent1">
                    <a:lumMod val="75000"/>
                  </a:schemeClr>
                </a:solidFill>
              </a:rPr>
              <a:t>Overlapping with PaaS, </a:t>
            </a:r>
            <a:r>
              <a:rPr lang="en-US" sz="1400" dirty="0" err="1">
                <a:solidFill>
                  <a:schemeClr val="accent1">
                    <a:lumMod val="75000"/>
                  </a:schemeClr>
                </a:solidFill>
              </a:rPr>
              <a:t>serverless</a:t>
            </a:r>
            <a:r>
              <a:rPr lang="en-US" sz="1400" dirty="0">
                <a:solidFill>
                  <a:schemeClr val="accent1">
                    <a:lumMod val="75000"/>
                  </a:schemeClr>
                </a:solidFill>
              </a:rPr>
              <a:t> computing focuses on building app functionality without spending time continually managing the servers and infrastructure required to do so. The cloud provider handles the setup, capacity planning, and server management for you. </a:t>
            </a:r>
            <a:r>
              <a:rPr lang="en-US" sz="1400" dirty="0" err="1">
                <a:solidFill>
                  <a:schemeClr val="accent1">
                    <a:lumMod val="75000"/>
                  </a:schemeClr>
                </a:solidFill>
              </a:rPr>
              <a:t>Serverless</a:t>
            </a:r>
            <a:r>
              <a:rPr lang="en-US" sz="1400" dirty="0">
                <a:solidFill>
                  <a:schemeClr val="accent1">
                    <a:lumMod val="75000"/>
                  </a:schemeClr>
                </a:solidFill>
              </a:rPr>
              <a:t> architectures are highly scalable and event-driven, only using resources when a specific function or trigger occurs.</a:t>
            </a:r>
          </a:p>
          <a:p>
            <a:pPr marL="12700" algn="just">
              <a:lnSpc>
                <a:spcPct val="100000"/>
              </a:lnSpc>
              <a:spcBef>
                <a:spcPts val="5"/>
              </a:spcBef>
            </a:pPr>
            <a:endParaRPr sz="1400" dirty="0">
              <a:solidFill>
                <a:schemeClr val="accent1">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64325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788" y="317426"/>
            <a:ext cx="2878455" cy="289823"/>
          </a:xfrm>
          <a:prstGeom prst="rect">
            <a:avLst/>
          </a:prstGeom>
        </p:spPr>
        <p:txBody>
          <a:bodyPr vert="horz" wrap="square" lIns="0" tIns="12700" rIns="0" bIns="0" rtlCol="0">
            <a:spAutoFit/>
          </a:bodyPr>
          <a:lstStyle/>
          <a:p>
            <a:pPr marL="12700">
              <a:lnSpc>
                <a:spcPct val="100000"/>
              </a:lnSpc>
              <a:spcBef>
                <a:spcPts val="100"/>
              </a:spcBef>
            </a:pPr>
            <a:r>
              <a:rPr lang="en-US" sz="1800" b="1" spc="-5" dirty="0" smtClean="0">
                <a:solidFill>
                  <a:srgbClr val="002776"/>
                </a:solidFill>
                <a:latin typeface="Comic Sans MS"/>
                <a:cs typeface="Comic Sans MS"/>
              </a:rPr>
              <a:t>Cloud computing features</a:t>
            </a:r>
            <a:endParaRPr sz="1800" dirty="0">
              <a:latin typeface="Comic Sans MS"/>
              <a:cs typeface="Comic Sans MS"/>
            </a:endParaRPr>
          </a:p>
        </p:txBody>
      </p:sp>
      <p:sp>
        <p:nvSpPr>
          <p:cNvPr id="3" name="object 3"/>
          <p:cNvSpPr txBox="1"/>
          <p:nvPr/>
        </p:nvSpPr>
        <p:spPr>
          <a:xfrm>
            <a:off x="533400" y="1371600"/>
            <a:ext cx="8168640" cy="5213607"/>
          </a:xfrm>
          <a:prstGeom prst="rect">
            <a:avLst/>
          </a:prstGeom>
        </p:spPr>
        <p:txBody>
          <a:bodyPr vert="horz" wrap="square" lIns="0" tIns="12065" rIns="0" bIns="0" rtlCol="0">
            <a:spAutoFit/>
          </a:bodyPr>
          <a:lstStyle/>
          <a:p>
            <a:pPr algn="just"/>
            <a:r>
              <a:rPr lang="en-US" sz="1400" b="1" dirty="0">
                <a:solidFill>
                  <a:schemeClr val="accent1">
                    <a:lumMod val="75000"/>
                  </a:schemeClr>
                </a:solidFill>
              </a:rPr>
              <a:t>Create cloud-native applications</a:t>
            </a:r>
          </a:p>
          <a:p>
            <a:pPr algn="just">
              <a:spcAft>
                <a:spcPts val="600"/>
              </a:spcAft>
            </a:pPr>
            <a:r>
              <a:rPr lang="en-US" sz="1400" dirty="0">
                <a:solidFill>
                  <a:schemeClr val="accent1">
                    <a:lumMod val="75000"/>
                  </a:schemeClr>
                </a:solidFill>
              </a:rPr>
              <a:t>Quickly build, deploy, and scale </a:t>
            </a:r>
            <a:r>
              <a:rPr lang="en-US" sz="1400" dirty="0" smtClean="0">
                <a:solidFill>
                  <a:schemeClr val="accent1">
                    <a:lumMod val="75000"/>
                  </a:schemeClr>
                </a:solidFill>
              </a:rPr>
              <a:t>applications - web</a:t>
            </a:r>
            <a:r>
              <a:rPr lang="en-US" sz="1400" dirty="0">
                <a:solidFill>
                  <a:schemeClr val="accent1">
                    <a:lumMod val="75000"/>
                  </a:schemeClr>
                </a:solidFill>
              </a:rPr>
              <a:t>, mobile, and API. Take advantage of cloud-native technologies and approaches, such as containers, </a:t>
            </a:r>
            <a:r>
              <a:rPr lang="en-US" sz="1400" dirty="0" err="1" smtClean="0">
                <a:solidFill>
                  <a:schemeClr val="accent1">
                    <a:lumMod val="75000"/>
                  </a:schemeClr>
                </a:solidFill>
              </a:rPr>
              <a:t>microservices</a:t>
            </a:r>
            <a:r>
              <a:rPr lang="en-US" sz="1400" dirty="0" smtClean="0">
                <a:solidFill>
                  <a:schemeClr val="accent1">
                    <a:lumMod val="75000"/>
                  </a:schemeClr>
                </a:solidFill>
              </a:rPr>
              <a:t> </a:t>
            </a:r>
            <a:r>
              <a:rPr lang="en-US" sz="1400" dirty="0">
                <a:solidFill>
                  <a:schemeClr val="accent1">
                    <a:lumMod val="75000"/>
                  </a:schemeClr>
                </a:solidFill>
              </a:rPr>
              <a:t>architecture, API-driven </a:t>
            </a:r>
            <a:r>
              <a:rPr lang="en-US" sz="1400" dirty="0" smtClean="0">
                <a:solidFill>
                  <a:schemeClr val="accent1">
                    <a:lumMod val="75000"/>
                  </a:schemeClr>
                </a:solidFill>
              </a:rPr>
              <a:t>communication, </a:t>
            </a:r>
            <a:r>
              <a:rPr lang="en-US" sz="1400" dirty="0">
                <a:solidFill>
                  <a:schemeClr val="accent1">
                    <a:lumMod val="75000"/>
                  </a:schemeClr>
                </a:solidFill>
              </a:rPr>
              <a:t>and DevOps.</a:t>
            </a:r>
          </a:p>
          <a:p>
            <a:pPr algn="just"/>
            <a:r>
              <a:rPr lang="en-US" sz="1400" b="1" dirty="0">
                <a:solidFill>
                  <a:schemeClr val="accent1">
                    <a:lumMod val="75000"/>
                  </a:schemeClr>
                </a:solidFill>
              </a:rPr>
              <a:t>Store, back up, and recover data</a:t>
            </a:r>
          </a:p>
          <a:p>
            <a:pPr algn="just">
              <a:spcAft>
                <a:spcPts val="600"/>
              </a:spcAft>
            </a:pPr>
            <a:r>
              <a:rPr lang="en-US" sz="1400" dirty="0">
                <a:solidFill>
                  <a:schemeClr val="accent1">
                    <a:lumMod val="75000"/>
                  </a:schemeClr>
                </a:solidFill>
              </a:rPr>
              <a:t>Protect your data more </a:t>
            </a:r>
            <a:r>
              <a:rPr lang="en-US" sz="1400" dirty="0" smtClean="0">
                <a:solidFill>
                  <a:schemeClr val="accent1">
                    <a:lumMod val="75000"/>
                  </a:schemeClr>
                </a:solidFill>
              </a:rPr>
              <a:t>cost-efficiently - and </a:t>
            </a:r>
            <a:r>
              <a:rPr lang="en-US" sz="1400" dirty="0">
                <a:solidFill>
                  <a:schemeClr val="accent1">
                    <a:lumMod val="75000"/>
                  </a:schemeClr>
                </a:solidFill>
              </a:rPr>
              <a:t>at massive </a:t>
            </a:r>
            <a:r>
              <a:rPr lang="en-US" sz="1400" dirty="0" smtClean="0">
                <a:solidFill>
                  <a:schemeClr val="accent1">
                    <a:lumMod val="75000"/>
                  </a:schemeClr>
                </a:solidFill>
              </a:rPr>
              <a:t>scale - by </a:t>
            </a:r>
            <a:r>
              <a:rPr lang="en-US" sz="1400" dirty="0">
                <a:solidFill>
                  <a:schemeClr val="accent1">
                    <a:lumMod val="75000"/>
                  </a:schemeClr>
                </a:solidFill>
              </a:rPr>
              <a:t>transferring your data over the internet to an offsite cloud storage system that’s accessible from any location and any device.</a:t>
            </a:r>
          </a:p>
          <a:p>
            <a:pPr algn="just"/>
            <a:r>
              <a:rPr lang="en-US" sz="1400" b="1" dirty="0">
                <a:solidFill>
                  <a:schemeClr val="accent1">
                    <a:lumMod val="75000"/>
                  </a:schemeClr>
                </a:solidFill>
              </a:rPr>
              <a:t>Stream audio and video</a:t>
            </a:r>
          </a:p>
          <a:p>
            <a:pPr algn="just">
              <a:spcAft>
                <a:spcPts val="600"/>
              </a:spcAft>
            </a:pPr>
            <a:r>
              <a:rPr lang="en-US" sz="1400" dirty="0">
                <a:solidFill>
                  <a:schemeClr val="accent1">
                    <a:lumMod val="75000"/>
                  </a:schemeClr>
                </a:solidFill>
              </a:rPr>
              <a:t>Connect with your audience anywhere, anytime, on any device with high-definition video and audio with global distribution.</a:t>
            </a:r>
          </a:p>
          <a:p>
            <a:pPr algn="just"/>
            <a:r>
              <a:rPr lang="en-US" sz="1400" b="1" dirty="0">
                <a:solidFill>
                  <a:schemeClr val="accent1">
                    <a:lumMod val="75000"/>
                  </a:schemeClr>
                </a:solidFill>
              </a:rPr>
              <a:t>Deliver software on demand</a:t>
            </a:r>
          </a:p>
          <a:p>
            <a:pPr algn="just">
              <a:spcAft>
                <a:spcPts val="600"/>
              </a:spcAft>
            </a:pPr>
            <a:r>
              <a:rPr lang="en-US" sz="1400" dirty="0">
                <a:solidFill>
                  <a:schemeClr val="accent1">
                    <a:lumMod val="75000"/>
                  </a:schemeClr>
                </a:solidFill>
              </a:rPr>
              <a:t>Also known as software as a service (SaaS), on-demand software lets you offer the latest software versions and updates to </a:t>
            </a:r>
            <a:r>
              <a:rPr lang="en-US" sz="1400" dirty="0" smtClean="0">
                <a:solidFill>
                  <a:schemeClr val="accent1">
                    <a:lumMod val="75000"/>
                  </a:schemeClr>
                </a:solidFill>
              </a:rPr>
              <a:t>customers - anytime </a:t>
            </a:r>
            <a:r>
              <a:rPr lang="en-US" sz="1400" dirty="0">
                <a:solidFill>
                  <a:schemeClr val="accent1">
                    <a:lumMod val="75000"/>
                  </a:schemeClr>
                </a:solidFill>
              </a:rPr>
              <a:t>they need, anywhere they are</a:t>
            </a:r>
            <a:r>
              <a:rPr lang="en-US" sz="1400" dirty="0" smtClean="0">
                <a:solidFill>
                  <a:schemeClr val="accent1">
                    <a:lumMod val="75000"/>
                  </a:schemeClr>
                </a:solidFill>
              </a:rPr>
              <a:t>.</a:t>
            </a:r>
          </a:p>
          <a:p>
            <a:pPr algn="just"/>
            <a:r>
              <a:rPr lang="en-US" sz="1400" b="1" dirty="0">
                <a:solidFill>
                  <a:schemeClr val="accent1">
                    <a:lumMod val="75000"/>
                  </a:schemeClr>
                </a:solidFill>
              </a:rPr>
              <a:t>Test and build applications</a:t>
            </a:r>
          </a:p>
          <a:p>
            <a:pPr algn="just">
              <a:spcAft>
                <a:spcPts val="600"/>
              </a:spcAft>
            </a:pPr>
            <a:r>
              <a:rPr lang="en-US" sz="1400" dirty="0">
                <a:solidFill>
                  <a:schemeClr val="accent1">
                    <a:lumMod val="75000"/>
                  </a:schemeClr>
                </a:solidFill>
              </a:rPr>
              <a:t>Reduce application development cost and time by using cloud infrastructures that can easily be scaled up or down.</a:t>
            </a:r>
          </a:p>
          <a:p>
            <a:pPr algn="just"/>
            <a:r>
              <a:rPr lang="en-US" sz="1400" b="1" dirty="0">
                <a:solidFill>
                  <a:schemeClr val="accent1">
                    <a:lumMod val="75000"/>
                  </a:schemeClr>
                </a:solidFill>
              </a:rPr>
              <a:t>Analyze data</a:t>
            </a:r>
          </a:p>
          <a:p>
            <a:pPr algn="just">
              <a:spcAft>
                <a:spcPts val="600"/>
              </a:spcAft>
            </a:pPr>
            <a:r>
              <a:rPr lang="en-US" sz="1400" dirty="0">
                <a:solidFill>
                  <a:schemeClr val="accent1">
                    <a:lumMod val="75000"/>
                  </a:schemeClr>
                </a:solidFill>
              </a:rPr>
              <a:t>Unify your data across teams, divisions, and locations in the cloud. Then use cloud services, such as machine learning and artificial intelligence, to uncover insights for more informed decisions.</a:t>
            </a:r>
          </a:p>
          <a:p>
            <a:pPr algn="just"/>
            <a:r>
              <a:rPr lang="en-US" sz="1400" b="1" dirty="0">
                <a:solidFill>
                  <a:schemeClr val="accent1">
                    <a:lumMod val="75000"/>
                  </a:schemeClr>
                </a:solidFill>
              </a:rPr>
              <a:t>Embed intelligence</a:t>
            </a:r>
          </a:p>
          <a:p>
            <a:pPr algn="just"/>
            <a:r>
              <a:rPr lang="en-US" sz="1400" dirty="0">
                <a:solidFill>
                  <a:schemeClr val="accent1">
                    <a:lumMod val="75000"/>
                  </a:schemeClr>
                </a:solidFill>
              </a:rPr>
              <a:t>Use intelligent models to help engage customers and provide valuable insights from the data captured.</a:t>
            </a:r>
          </a:p>
          <a:p>
            <a:pPr algn="just"/>
            <a:endParaRPr lang="en-US" sz="1400" dirty="0">
              <a:solidFill>
                <a:schemeClr val="accent1">
                  <a:lumMod val="75000"/>
                </a:schemeClr>
              </a:solidFill>
            </a:endParaRPr>
          </a:p>
        </p:txBody>
      </p:sp>
    </p:spTree>
    <p:extLst>
      <p:ext uri="{BB962C8B-B14F-4D97-AF65-F5344CB8AC3E}">
        <p14:creationId xmlns:p14="http://schemas.microsoft.com/office/powerpoint/2010/main" val="10169624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250" y="297955"/>
            <a:ext cx="350647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2776"/>
                </a:solidFill>
                <a:latin typeface="Comic Sans MS"/>
                <a:cs typeface="Comic Sans MS"/>
              </a:rPr>
              <a:t>Top </a:t>
            </a:r>
            <a:r>
              <a:rPr sz="1800" b="1" dirty="0">
                <a:solidFill>
                  <a:srgbClr val="002776"/>
                </a:solidFill>
                <a:latin typeface="Comic Sans MS"/>
                <a:cs typeface="Comic Sans MS"/>
              </a:rPr>
              <a:t>10 </a:t>
            </a:r>
            <a:r>
              <a:rPr sz="1800" b="1" spc="-5" dirty="0">
                <a:solidFill>
                  <a:srgbClr val="002776"/>
                </a:solidFill>
                <a:latin typeface="Comic Sans MS"/>
                <a:cs typeface="Comic Sans MS"/>
              </a:rPr>
              <a:t>Cloud Service</a:t>
            </a:r>
            <a:r>
              <a:rPr sz="1800" b="1" spc="-40" dirty="0">
                <a:solidFill>
                  <a:srgbClr val="002776"/>
                </a:solidFill>
                <a:latin typeface="Comic Sans MS"/>
                <a:cs typeface="Comic Sans MS"/>
              </a:rPr>
              <a:t> </a:t>
            </a:r>
            <a:r>
              <a:rPr sz="1800" b="1" spc="-5" dirty="0">
                <a:solidFill>
                  <a:srgbClr val="002776"/>
                </a:solidFill>
                <a:latin typeface="Comic Sans MS"/>
                <a:cs typeface="Comic Sans MS"/>
              </a:rPr>
              <a:t>Providers</a:t>
            </a:r>
            <a:endParaRPr sz="1800">
              <a:latin typeface="Comic Sans MS"/>
              <a:cs typeface="Comic Sans MS"/>
            </a:endParaRPr>
          </a:p>
        </p:txBody>
      </p:sp>
      <p:sp>
        <p:nvSpPr>
          <p:cNvPr id="4" name="object 4"/>
          <p:cNvSpPr/>
          <p:nvPr/>
        </p:nvSpPr>
        <p:spPr>
          <a:xfrm>
            <a:off x="6705599" y="0"/>
            <a:ext cx="2438401" cy="1403337"/>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2057400" y="6096000"/>
            <a:ext cx="5180330" cy="228268"/>
          </a:xfrm>
          <a:prstGeom prst="rect">
            <a:avLst/>
          </a:prstGeom>
        </p:spPr>
        <p:txBody>
          <a:bodyPr vert="horz" wrap="square" lIns="0" tIns="12700" rIns="0" bIns="0" rtlCol="0">
            <a:spAutoFit/>
          </a:bodyPr>
          <a:lstStyle/>
          <a:p>
            <a:pPr marL="12700">
              <a:lnSpc>
                <a:spcPct val="100000"/>
              </a:lnSpc>
              <a:spcBef>
                <a:spcPts val="100"/>
              </a:spcBef>
            </a:pPr>
            <a:r>
              <a:rPr sz="1400" i="1" spc="-5" dirty="0">
                <a:solidFill>
                  <a:srgbClr val="001D58"/>
                </a:solidFill>
                <a:latin typeface="Arial"/>
                <a:cs typeface="Arial"/>
              </a:rPr>
              <a:t>Source:</a:t>
            </a:r>
            <a:r>
              <a:rPr sz="1400" i="1" spc="-45" dirty="0">
                <a:solidFill>
                  <a:srgbClr val="001D58"/>
                </a:solidFill>
                <a:latin typeface="Arial"/>
                <a:cs typeface="Arial"/>
              </a:rPr>
              <a:t> </a:t>
            </a:r>
            <a:r>
              <a:rPr lang="en-US" sz="1400" i="1" spc="-5" dirty="0">
                <a:solidFill>
                  <a:srgbClr val="001D58"/>
                </a:solidFill>
                <a:cs typeface="Arial"/>
              </a:rPr>
              <a:t>https://dgtlinfra.com/top-cloud-service-providers/</a:t>
            </a:r>
            <a:r>
              <a:rPr sz="1400" i="1" spc="-5" dirty="0" smtClean="0">
                <a:solidFill>
                  <a:srgbClr val="001D58"/>
                </a:solidFill>
                <a:latin typeface="Arial"/>
                <a:cs typeface="Arial"/>
              </a:rPr>
              <a:t>/</a:t>
            </a:r>
            <a:endParaRPr sz="1400" dirty="0">
              <a:latin typeface="Arial"/>
              <a:cs typeface="Arial"/>
            </a:endParaRPr>
          </a:p>
        </p:txBody>
      </p:sp>
      <p:pic>
        <p:nvPicPr>
          <p:cNvPr id="6" name="Picture 5"/>
          <p:cNvPicPr>
            <a:picLocks noChangeAspect="1"/>
          </p:cNvPicPr>
          <p:nvPr/>
        </p:nvPicPr>
        <p:blipFill rotWithShape="1">
          <a:blip r:embed="rId3"/>
          <a:srcRect l="5232" t="31689" r="37729" b="15075"/>
          <a:stretch/>
        </p:blipFill>
        <p:spPr>
          <a:xfrm>
            <a:off x="990600" y="1752600"/>
            <a:ext cx="7375908" cy="3872351"/>
          </a:xfrm>
          <a:prstGeom prst="rect">
            <a:avLst/>
          </a:prstGeom>
        </p:spPr>
      </p:pic>
    </p:spTree>
    <p:extLst>
      <p:ext uri="{BB962C8B-B14F-4D97-AF65-F5344CB8AC3E}">
        <p14:creationId xmlns:p14="http://schemas.microsoft.com/office/powerpoint/2010/main" val="4109545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990600" y="1524000"/>
            <a:ext cx="7010400" cy="2246769"/>
          </a:xfrm>
          <a:prstGeom prst="rect">
            <a:avLst/>
          </a:prstGeom>
        </p:spPr>
        <p:txBody>
          <a:bodyPr wrap="square">
            <a:spAutoFit/>
          </a:bodyPr>
          <a:lstStyle/>
          <a:p>
            <a:endParaRPr lang="en-US" sz="1400" dirty="0">
              <a:solidFill>
                <a:schemeClr val="accent1">
                  <a:lumMod val="75000"/>
                </a:schemeClr>
              </a:solidFill>
              <a:hlinkClick r:id=""/>
            </a:endParaRPr>
          </a:p>
          <a:p>
            <a:pPr algn="ctr"/>
            <a:endParaRPr lang="en-US" sz="1400" b="1" dirty="0" smtClean="0"/>
          </a:p>
          <a:p>
            <a:pPr algn="ctr"/>
            <a:r>
              <a:rPr lang="en-US" sz="1400" b="1" dirty="0" smtClean="0">
                <a:solidFill>
                  <a:schemeClr val="accent1">
                    <a:lumMod val="75000"/>
                  </a:schemeClr>
                </a:solidFill>
              </a:rPr>
              <a:t>Basics </a:t>
            </a:r>
            <a:r>
              <a:rPr lang="en-US" sz="1400" b="1" dirty="0">
                <a:solidFill>
                  <a:schemeClr val="accent1">
                    <a:lumMod val="75000"/>
                  </a:schemeClr>
                </a:solidFill>
              </a:rPr>
              <a:t>of </a:t>
            </a:r>
            <a:r>
              <a:rPr lang="en-US" sz="1400" b="1" dirty="0" err="1">
                <a:solidFill>
                  <a:schemeClr val="accent1">
                    <a:lumMod val="75000"/>
                  </a:schemeClr>
                </a:solidFill>
              </a:rPr>
              <a:t>Zoho</a:t>
            </a:r>
            <a:r>
              <a:rPr lang="en-US" sz="1400" b="1" dirty="0">
                <a:solidFill>
                  <a:schemeClr val="accent1">
                    <a:lumMod val="75000"/>
                  </a:schemeClr>
                </a:solidFill>
              </a:rPr>
              <a:t> </a:t>
            </a:r>
            <a:r>
              <a:rPr lang="en-US" sz="1400" b="1" dirty="0" smtClean="0">
                <a:solidFill>
                  <a:schemeClr val="accent1">
                    <a:lumMod val="75000"/>
                  </a:schemeClr>
                </a:solidFill>
              </a:rPr>
              <a:t>CRM</a:t>
            </a:r>
          </a:p>
          <a:p>
            <a:pPr algn="ctr"/>
            <a:endParaRPr lang="en-US" sz="1400" b="1" dirty="0">
              <a:solidFill>
                <a:schemeClr val="accent1">
                  <a:lumMod val="75000"/>
                </a:schemeClr>
              </a:solidFill>
            </a:endParaRPr>
          </a:p>
          <a:p>
            <a:pPr algn="ctr"/>
            <a:r>
              <a:rPr lang="en-US" sz="1400" dirty="0" smtClean="0">
                <a:solidFill>
                  <a:schemeClr val="accent1">
                    <a:lumMod val="75000"/>
                  </a:schemeClr>
                </a:solidFill>
                <a:hlinkClick r:id="rId2"/>
              </a:rPr>
              <a:t>https</a:t>
            </a:r>
            <a:r>
              <a:rPr lang="en-US" sz="1400" dirty="0">
                <a:solidFill>
                  <a:schemeClr val="accent1">
                    <a:lumMod val="75000"/>
                  </a:schemeClr>
                </a:solidFill>
                <a:hlinkClick r:id="rId2"/>
              </a:rPr>
              <a:t>://</a:t>
            </a:r>
            <a:r>
              <a:rPr lang="en-US" sz="1400" dirty="0" smtClean="0">
                <a:solidFill>
                  <a:schemeClr val="accent1">
                    <a:lumMod val="75000"/>
                  </a:schemeClr>
                </a:solidFill>
                <a:hlinkClick r:id="rId2"/>
              </a:rPr>
              <a:t>www.youtube.com/watch?v=x2SuRIFjimI</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endParaRPr lang="en-US" sz="1400" dirty="0" smtClean="0">
              <a:solidFill>
                <a:schemeClr val="accent1">
                  <a:lumMod val="75000"/>
                </a:schemeClr>
              </a:solidFill>
            </a:endParaRPr>
          </a:p>
          <a:p>
            <a:pPr algn="ctr"/>
            <a:r>
              <a:rPr lang="en-US" sz="1400" dirty="0">
                <a:solidFill>
                  <a:schemeClr val="accent1">
                    <a:lumMod val="75000"/>
                  </a:schemeClr>
                </a:solidFill>
                <a:hlinkClick r:id="rId3"/>
              </a:rPr>
              <a:t>Microsoft Copilot for </a:t>
            </a:r>
            <a:r>
              <a:rPr lang="en-US" sz="1400" dirty="0" smtClean="0">
                <a:solidFill>
                  <a:schemeClr val="accent1">
                    <a:lumMod val="75000"/>
                  </a:schemeClr>
                </a:solidFill>
                <a:hlinkClick r:id="rId3"/>
              </a:rPr>
              <a:t>Service</a:t>
            </a:r>
            <a:endParaRPr lang="en-US" sz="1400" dirty="0">
              <a:solidFill>
                <a:schemeClr val="accent1">
                  <a:lumMod val="75000"/>
                </a:schemeClr>
              </a:solidFill>
            </a:endParaRPr>
          </a:p>
          <a:p>
            <a:pPr algn="ctr"/>
            <a:r>
              <a:rPr lang="en-US" sz="1400" dirty="0" smtClean="0">
                <a:solidFill>
                  <a:schemeClr val="accent1">
                    <a:lumMod val="75000"/>
                  </a:schemeClr>
                </a:solidFill>
                <a:hlinkClick r:id="rId4"/>
              </a:rPr>
              <a:t>https</a:t>
            </a:r>
            <a:r>
              <a:rPr lang="en-US" sz="1400" dirty="0">
                <a:solidFill>
                  <a:schemeClr val="accent1">
                    <a:lumMod val="75000"/>
                  </a:schemeClr>
                </a:solidFill>
                <a:hlinkClick r:id="rId4"/>
              </a:rPr>
              <a:t>://</a:t>
            </a:r>
            <a:r>
              <a:rPr lang="en-US" sz="1400" dirty="0" smtClean="0">
                <a:solidFill>
                  <a:schemeClr val="accent1">
                    <a:lumMod val="75000"/>
                  </a:schemeClr>
                </a:solidFill>
                <a:hlinkClick r:id="rId4"/>
              </a:rPr>
              <a:t>www.youtube.com/channel/UCJGCg4rB3QSs8y_1FquelBQ</a:t>
            </a:r>
            <a:endParaRPr lang="en-US" sz="1400" dirty="0" smtClean="0">
              <a:solidFill>
                <a:schemeClr val="accent1">
                  <a:lumMod val="75000"/>
                </a:schemeClr>
              </a:solidFill>
            </a:endParaRPr>
          </a:p>
          <a:p>
            <a:pPr algn="ctr"/>
            <a:endParaRPr lang="en-US" sz="1400" dirty="0" smtClean="0">
              <a:solidFill>
                <a:schemeClr val="accent1">
                  <a:lumMod val="75000"/>
                </a:schemeClr>
              </a:solidFill>
            </a:endParaRPr>
          </a:p>
        </p:txBody>
      </p:sp>
    </p:spTree>
    <p:extLst>
      <p:ext uri="{BB962C8B-B14F-4D97-AF65-F5344CB8AC3E}">
        <p14:creationId xmlns:p14="http://schemas.microsoft.com/office/powerpoint/2010/main" val="2826635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23968</TotalTime>
  <Words>4348</Words>
  <Application>Microsoft Office PowerPoint</Application>
  <PresentationFormat>On-screen Show (4:3)</PresentationFormat>
  <Paragraphs>240</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ＭＳ Ｐゴシック</vt:lpstr>
      <vt:lpstr>Arial</vt:lpstr>
      <vt:lpstr>Calibri</vt:lpstr>
      <vt:lpstr>Comic Sans MS</vt:lpstr>
      <vt:lpstr>Times New Roman</vt:lpstr>
      <vt:lpstr>Wingdings</vt:lpstr>
      <vt:lpstr>Wingdings 3</vt:lpstr>
      <vt:lpstr>Presentation slides</vt:lpstr>
      <vt:lpstr>PowerPoint Presentation</vt:lpstr>
      <vt:lpstr>PowerPoint Presentation</vt:lpstr>
      <vt:lpstr>Business Intelligence</vt:lpstr>
      <vt:lpstr>What is Business Intelligence?</vt:lpstr>
      <vt:lpstr>Business Intelligence concept</vt:lpstr>
      <vt:lpstr>Business Intelligence process</vt:lpstr>
      <vt:lpstr>Business Intelligence Importance</vt:lpstr>
      <vt:lpstr>Business Intelligence Application</vt:lpstr>
      <vt:lpstr>BI and integration of CRM and ERP</vt:lpstr>
      <vt:lpstr>Customer Relationship Management</vt:lpstr>
      <vt:lpstr>CRM (Customer Relationship Management)</vt:lpstr>
      <vt:lpstr>CRM components</vt:lpstr>
      <vt:lpstr>CRM components (cont.)</vt:lpstr>
      <vt:lpstr>CRM Benefits</vt:lpstr>
      <vt:lpstr>The key features of CRM software</vt:lpstr>
      <vt:lpstr>The key features of CRM software (cont.)</vt:lpstr>
      <vt:lpstr>Popular CRM software</vt:lpstr>
      <vt:lpstr>Microsoft Dynamics 365</vt:lpstr>
      <vt:lpstr>Enterprise Resource Planning</vt:lpstr>
      <vt:lpstr>PowerPoint Presentation</vt:lpstr>
      <vt:lpstr>PowerPoint Presentation</vt:lpstr>
      <vt:lpstr>PowerPoint Presentation</vt:lpstr>
      <vt:lpstr>PowerPoint Presentation</vt:lpstr>
      <vt:lpstr>PowerPoint Presentation</vt:lpstr>
      <vt:lpstr>PowerPoint Presentation</vt:lpstr>
      <vt:lpstr>Popular ERM software</vt:lpstr>
      <vt:lpstr>Cloud Computing</vt:lpstr>
      <vt:lpstr>Cloud Computing</vt:lpstr>
      <vt:lpstr>Types of Cloud Computing</vt:lpstr>
      <vt:lpstr>Types of cloud services</vt:lpstr>
      <vt:lpstr>Cloud computing features</vt:lpstr>
      <vt:lpstr>Top 10 Cloud Service Providers</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2935</cp:revision>
  <dcterms:created xsi:type="dcterms:W3CDTF">2013-11-13T03:56:02Z</dcterms:created>
  <dcterms:modified xsi:type="dcterms:W3CDTF">2024-09-08T22:28:55Z</dcterms:modified>
</cp:coreProperties>
</file>