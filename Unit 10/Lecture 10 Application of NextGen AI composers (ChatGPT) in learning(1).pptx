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7"/>
  </p:notesMasterIdLst>
  <p:sldIdLst>
    <p:sldId id="1086" r:id="rId2"/>
    <p:sldId id="2337" r:id="rId3"/>
    <p:sldId id="1958" r:id="rId4"/>
    <p:sldId id="2256" r:id="rId5"/>
    <p:sldId id="2318" r:id="rId6"/>
    <p:sldId id="2319" r:id="rId7"/>
    <p:sldId id="2342" r:id="rId8"/>
    <p:sldId id="2320" r:id="rId9"/>
    <p:sldId id="2343" r:id="rId10"/>
    <p:sldId id="2321" r:id="rId11"/>
    <p:sldId id="2322" r:id="rId12"/>
    <p:sldId id="2323" r:id="rId13"/>
    <p:sldId id="2324" r:id="rId14"/>
    <p:sldId id="2325" r:id="rId15"/>
    <p:sldId id="2336" r:id="rId16"/>
    <p:sldId id="2338" r:id="rId17"/>
    <p:sldId id="2339" r:id="rId18"/>
    <p:sldId id="2326" r:id="rId19"/>
    <p:sldId id="2340" r:id="rId20"/>
    <p:sldId id="2345" r:id="rId21"/>
    <p:sldId id="2344" r:id="rId22"/>
    <p:sldId id="2341" r:id="rId23"/>
    <p:sldId id="2327" r:id="rId24"/>
    <p:sldId id="1985" r:id="rId25"/>
    <p:sldId id="1984"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802A"/>
    <a:srgbClr val="B40CA0"/>
    <a:srgbClr val="D80EC0"/>
    <a:srgbClr val="E9EFEF"/>
    <a:srgbClr val="E2EAEA"/>
    <a:srgbClr val="F2E6BC"/>
    <a:srgbClr val="E16519"/>
    <a:srgbClr val="FAD35B"/>
    <a:srgbClr val="517BA9"/>
    <a:srgbClr val="F77D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544" autoAdjust="0"/>
    <p:restoredTop sz="93673" autoAdjust="0"/>
  </p:normalViewPr>
  <p:slideViewPr>
    <p:cSldViewPr>
      <p:cViewPr varScale="1">
        <p:scale>
          <a:sx n="65" d="100"/>
          <a:sy n="65" d="100"/>
        </p:scale>
        <p:origin x="1016" y="60"/>
      </p:cViewPr>
      <p:guideLst>
        <p:guide orient="horz" pos="2160"/>
        <p:guide pos="2880"/>
      </p:guideLst>
    </p:cSldViewPr>
  </p:slideViewPr>
  <p:notesTextViewPr>
    <p:cViewPr>
      <p:scale>
        <a:sx n="1" d="1"/>
        <a:sy n="1" d="1"/>
      </p:scale>
      <p:origin x="0" y="0"/>
    </p:cViewPr>
  </p:notesTextViewPr>
  <p:sorterViewPr>
    <p:cViewPr varScale="1">
      <p:scale>
        <a:sx n="1" d="1"/>
        <a:sy n="1" d="1"/>
      </p:scale>
      <p:origin x="0" y="-3067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17AF0F-4442-42BF-B078-989F64832F36}" type="datetimeFigureOut">
              <a:rPr lang="en-US" smtClean="0"/>
              <a:t>9/10/2024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1A061F-D6B6-40D9-9777-425CAAB91A12}" type="slidenum">
              <a:rPr lang="en-US" smtClean="0"/>
              <a:t>‹#›</a:t>
            </a:fld>
            <a:endParaRPr lang="en-US" dirty="0"/>
          </a:p>
        </p:txBody>
      </p:sp>
    </p:spTree>
    <p:extLst>
      <p:ext uri="{BB962C8B-B14F-4D97-AF65-F5344CB8AC3E}">
        <p14:creationId xmlns:p14="http://schemas.microsoft.com/office/powerpoint/2010/main" val="190597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913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ชื่อเรื่อง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67494"/>
            <a:ext cx="8229600" cy="1399032"/>
          </a:xfrm>
        </p:spPr>
        <p:txBody>
          <a:bodyPr/>
          <a:lstStyle/>
          <a:p>
            <a:r>
              <a:rPr kumimoji="0" lang="th-TH" smtClean="0"/>
              <a:t>คลิกเพื่อแก้ไขลักษณะชื่อเรื่องต้นแบบ</a:t>
            </a:r>
            <a:endParaRPr kumimoji="0" lang="en-US"/>
          </a:p>
        </p:txBody>
      </p:sp>
      <p:sp>
        <p:nvSpPr>
          <p:cNvPr id="3" name="ตัวยึดเนื้อหา 2"/>
          <p:cNvSpPr>
            <a:spLocks noGrp="1"/>
          </p:cNvSpPr>
          <p:nvPr>
            <p:ph idx="1"/>
          </p:nvPr>
        </p:nvSpPr>
        <p:spPr>
          <a:xfrm>
            <a:off x="457200" y="1882808"/>
            <a:ext cx="8229600" cy="4572000"/>
          </a:xfrm>
        </p:spPr>
        <p:txBody>
          <a:bodyPr/>
          <a:lstStyle/>
          <a:p>
            <a:pPr lvl="0" eaLnBrk="1" latinLnBrk="0" hangingPunct="1"/>
            <a:r>
              <a:rPr lang="th-TH" smtClean="0"/>
              <a:t>คลิกเพื่อแก้ไขลักษณะของข้อความต้นแบบ</a:t>
            </a:r>
          </a:p>
          <a:p>
            <a:pPr lvl="1" eaLnBrk="1" latinLnBrk="0" hangingPunct="1"/>
            <a:r>
              <a:rPr lang="th-TH" smtClean="0"/>
              <a:t>ระดับที่สอง</a:t>
            </a:r>
          </a:p>
          <a:p>
            <a:pPr lvl="2" eaLnBrk="1" latinLnBrk="0" hangingPunct="1"/>
            <a:r>
              <a:rPr lang="th-TH" smtClean="0"/>
              <a:t>ระดับที่สาม</a:t>
            </a:r>
          </a:p>
          <a:p>
            <a:pPr lvl="3" eaLnBrk="1" latinLnBrk="0" hangingPunct="1"/>
            <a:r>
              <a:rPr lang="th-TH" smtClean="0"/>
              <a:t>ระดับที่สี่</a:t>
            </a:r>
          </a:p>
          <a:p>
            <a:pPr lvl="4" eaLnBrk="1" latinLnBrk="0" hangingPunct="1"/>
            <a:r>
              <a:rPr lang="th-TH" smtClean="0"/>
              <a:t>ระดับที่ห้า</a:t>
            </a:r>
            <a:endParaRPr kumimoji="0" lang="en-US"/>
          </a:p>
        </p:txBody>
      </p:sp>
      <p:sp>
        <p:nvSpPr>
          <p:cNvPr id="4" name="ตัวยึดวันที่ 3"/>
          <p:cNvSpPr>
            <a:spLocks noGrp="1"/>
          </p:cNvSpPr>
          <p:nvPr>
            <p:ph type="dt" sz="half" idx="10"/>
          </p:nvPr>
        </p:nvSpPr>
        <p:spPr>
          <a:xfrm>
            <a:off x="4791456" y="6480048"/>
            <a:ext cx="2133600" cy="301752"/>
          </a:xfrm>
        </p:spPr>
        <p:txBody>
          <a:bodyPr/>
          <a:lstStyle/>
          <a:p>
            <a:fld id="{B7C8B310-829C-4548-BECB-84206EE8B18D}" type="datetime1">
              <a:rPr lang="th-TH" smtClean="0"/>
              <a:t>10/09/67</a:t>
            </a:fld>
            <a:endParaRPr lang="th-TH"/>
          </a:p>
        </p:txBody>
      </p:sp>
      <p:sp>
        <p:nvSpPr>
          <p:cNvPr id="5" name="ตัวยึดท้ายกระดาษ 4"/>
          <p:cNvSpPr>
            <a:spLocks noGrp="1"/>
          </p:cNvSpPr>
          <p:nvPr>
            <p:ph type="ftr" sz="quarter" idx="11"/>
          </p:nvPr>
        </p:nvSpPr>
        <p:spPr>
          <a:xfrm>
            <a:off x="457200" y="6480969"/>
            <a:ext cx="4260056" cy="300831"/>
          </a:xfrm>
        </p:spPr>
        <p:txBody>
          <a:bodyPr/>
          <a:lstStyle/>
          <a:p>
            <a:endParaRPr lang="th-TH"/>
          </a:p>
        </p:txBody>
      </p:sp>
      <p:sp>
        <p:nvSpPr>
          <p:cNvPr id="6" name="ตัวยึดหมายเลขภาพนิ่ง 5"/>
          <p:cNvSpPr>
            <a:spLocks noGrp="1"/>
          </p:cNvSpPr>
          <p:nvPr>
            <p:ph type="sldNum" sz="quarter" idx="12"/>
          </p:nvPr>
        </p:nvSpPr>
        <p:spPr/>
        <p:txBody>
          <a:bodyPr/>
          <a:lstStyle/>
          <a:p>
            <a:fld id="{B2F4933C-246D-4C2D-BF23-31330A08DB85}" type="slidenum">
              <a:rPr lang="th-TH" smtClean="0"/>
              <a:pPr/>
              <a:t>‹#›</a:t>
            </a:fld>
            <a:endParaRPr lang="th-TH"/>
          </a:p>
        </p:txBody>
      </p:sp>
    </p:spTree>
    <p:extLst>
      <p:ext uri="{BB962C8B-B14F-4D97-AF65-F5344CB8AC3E}">
        <p14:creationId xmlns:p14="http://schemas.microsoft.com/office/powerpoint/2010/main" val="2024457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FA441A-F2C1-46D9-A35C-E2269C12AC96}"/>
              </a:ext>
            </a:extLst>
          </p:cNvPr>
          <p:cNvSpPr/>
          <p:nvPr userDrawn="1"/>
        </p:nvSpPr>
        <p:spPr>
          <a:xfrm>
            <a:off x="0" y="0"/>
            <a:ext cx="9144000" cy="980316"/>
          </a:xfrm>
          <a:prstGeom prst="rect">
            <a:avLst/>
          </a:prstGeom>
          <a:solidFill>
            <a:schemeClr val="bg1">
              <a:lumMod val="95000"/>
            </a:schemeClr>
          </a:solidFill>
          <a:ln>
            <a:noFill/>
          </a:ln>
          <a:effectLst/>
        </p:spPr>
        <p:txBody>
          <a:bodyPr lIns="24490" tIns="12245" rIns="24490" bIns="12245" anchor="ctr"/>
          <a:lstStyle/>
          <a:p>
            <a:pPr marL="48906" marR="0" lvl="0" indent="-48906" algn="just" defTabSz="167130" eaLnBrk="1" fontAlgn="base" latinLnBrk="0" hangingPunct="1">
              <a:lnSpc>
                <a:spcPts val="295"/>
              </a:lnSpc>
              <a:spcBef>
                <a:spcPct val="0"/>
              </a:spcBef>
              <a:spcAft>
                <a:spcPct val="0"/>
              </a:spcAft>
              <a:buClr>
                <a:srgbClr val="000000"/>
              </a:buClr>
              <a:buSzTx/>
              <a:buFont typeface="Wingdings 3" pitchFamily="18" charset="2"/>
              <a:buChar char="}"/>
              <a:tabLst/>
              <a:defRPr/>
            </a:pPr>
            <a:endParaRPr kumimoji="0" lang="en-US" sz="321" b="0" i="0" u="none" strike="noStrike" kern="0" cap="none" spc="0" normalizeH="0" baseline="0" noProof="0" dirty="0">
              <a:ln>
                <a:noFill/>
              </a:ln>
              <a:solidFill>
                <a:srgbClr val="FFFFFF"/>
              </a:solidFill>
              <a:effectLst/>
              <a:uLnTx/>
              <a:uFillTx/>
              <a:latin typeface="Arial" charset="0"/>
              <a:cs typeface="Times New Roman" pitchFamily="18" charset="0"/>
            </a:endParaRPr>
          </a:p>
        </p:txBody>
      </p:sp>
    </p:spTree>
    <p:extLst>
      <p:ext uri="{BB962C8B-B14F-4D97-AF65-F5344CB8AC3E}">
        <p14:creationId xmlns:p14="http://schemas.microsoft.com/office/powerpoint/2010/main" val="485703443"/>
      </p:ext>
    </p:extLst>
  </p:cSld>
  <p:clrMap bg1="lt1" tx1="dk1" bg2="lt2" tx2="dk2" accent1="accent1" accent2="accent2" accent3="accent3" accent4="accent4" accent5="accent5" accent6="accent6" hlink="hlink" folHlink="folHlink"/>
  <p:sldLayoutIdLst>
    <p:sldLayoutId id="2147483661" r:id="rId1"/>
    <p:sldLayoutId id="2147483705" r:id="rId2"/>
  </p:sldLayoutIdLst>
  <p:hf sldNum="0" hdr="0" ftr="0" dt="0"/>
  <p:txStyles>
    <p:title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p:titleStyle>
    <p:bodyStyle>
      <a:lvl1pPr marL="192496" indent="-192496" algn="l" defTabSz="957998" rtl="0" eaLnBrk="1" fontAlgn="base" hangingPunct="1">
        <a:spcBef>
          <a:spcPts val="300"/>
        </a:spcBef>
        <a:spcAft>
          <a:spcPts val="300"/>
        </a:spcAft>
        <a:buFont typeface="Arial" pitchFamily="34" charset="0"/>
        <a:buChar char="•"/>
        <a:tabLst/>
        <a:defRPr sz="1600">
          <a:solidFill>
            <a:schemeClr val="tx2"/>
          </a:solidFill>
          <a:latin typeface="+mn-lt"/>
          <a:ea typeface="+mn-ea"/>
          <a:cs typeface="+mn-cs"/>
        </a:defRPr>
      </a:lvl1pPr>
      <a:lvl2pPr marL="420803" indent="-219355" algn="l" defTabSz="957998" rtl="0" eaLnBrk="1" fontAlgn="base" hangingPunct="1">
        <a:spcBef>
          <a:spcPts val="300"/>
        </a:spcBef>
        <a:spcAft>
          <a:spcPts val="300"/>
        </a:spcAft>
        <a:buFont typeface="Arial" pitchFamily="34" charset="0"/>
        <a:buChar char="‒"/>
        <a:tabLst/>
        <a:defRPr sz="1400">
          <a:solidFill>
            <a:schemeClr val="tx2"/>
          </a:solidFill>
          <a:latin typeface="+mn-lt"/>
        </a:defRPr>
      </a:lvl2pPr>
      <a:lvl3pPr marL="622252" indent="-183542" algn="l" defTabSz="957998" rtl="0" eaLnBrk="1" fontAlgn="base" hangingPunct="1">
        <a:spcBef>
          <a:spcPts val="300"/>
        </a:spcBef>
        <a:spcAft>
          <a:spcPts val="300"/>
        </a:spcAft>
        <a:buFont typeface="Arial" pitchFamily="34" charset="0"/>
        <a:buChar char="‒"/>
        <a:tabLst/>
        <a:defRPr sz="1200">
          <a:solidFill>
            <a:schemeClr val="tx2"/>
          </a:solidFill>
          <a:latin typeface="+mn-lt"/>
        </a:defRPr>
      </a:lvl3pPr>
      <a:lvl4pPr marL="811761" indent="-193988" algn="l" defTabSz="957998" rtl="0" eaLnBrk="1" fontAlgn="base" hangingPunct="1">
        <a:spcBef>
          <a:spcPts val="300"/>
        </a:spcBef>
        <a:spcAft>
          <a:spcPts val="300"/>
        </a:spcAft>
        <a:buFont typeface="Arial" pitchFamily="34" charset="0"/>
        <a:buChar char="‒"/>
        <a:defRPr sz="1100">
          <a:solidFill>
            <a:schemeClr val="tx2"/>
          </a:solidFill>
          <a:latin typeface="+mn-lt"/>
        </a:defRPr>
      </a:lvl4pPr>
      <a:lvl5pPr marL="1002764" indent="-191002" algn="l" defTabSz="957998" rtl="0" eaLnBrk="1" fontAlgn="base" hangingPunct="1">
        <a:spcBef>
          <a:spcPts val="300"/>
        </a:spcBef>
        <a:spcAft>
          <a:spcPts val="300"/>
        </a:spcAft>
        <a:buFont typeface="Arial" pitchFamily="34" charset="0"/>
        <a:buChar char="‒"/>
        <a:defRPr sz="1100">
          <a:solidFill>
            <a:schemeClr val="tx2"/>
          </a:solidFill>
          <a:latin typeface="+mn-lt"/>
        </a:defRPr>
      </a:lvl5pPr>
      <a:lvl6pPr marL="1175860" indent="-180558" algn="l" defTabSz="957998" rtl="0" eaLnBrk="1" fontAlgn="base" hangingPunct="1">
        <a:spcBef>
          <a:spcPct val="0"/>
        </a:spcBef>
        <a:spcAft>
          <a:spcPts val="564"/>
        </a:spcAft>
        <a:buFont typeface="Arial" charset="0"/>
        <a:buChar char="‒"/>
        <a:defRPr sz="1500">
          <a:solidFill>
            <a:schemeClr val="tx2"/>
          </a:solidFill>
          <a:latin typeface="+mn-lt"/>
        </a:defRPr>
      </a:lvl6pPr>
      <a:lvl7pPr marL="1605616" indent="-180558" algn="l" defTabSz="957998" rtl="0" eaLnBrk="1" fontAlgn="base" hangingPunct="1">
        <a:spcBef>
          <a:spcPct val="0"/>
        </a:spcBef>
        <a:spcAft>
          <a:spcPts val="564"/>
        </a:spcAft>
        <a:buFont typeface="Arial" charset="0"/>
        <a:buChar char="‒"/>
        <a:defRPr sz="1500">
          <a:solidFill>
            <a:schemeClr val="tx2"/>
          </a:solidFill>
          <a:latin typeface="+mn-lt"/>
        </a:defRPr>
      </a:lvl7pPr>
      <a:lvl8pPr marL="2035372" indent="-180558" algn="l" defTabSz="957998" rtl="0" eaLnBrk="1" fontAlgn="base" hangingPunct="1">
        <a:spcBef>
          <a:spcPct val="0"/>
        </a:spcBef>
        <a:spcAft>
          <a:spcPts val="564"/>
        </a:spcAft>
        <a:buFont typeface="Arial" charset="0"/>
        <a:buChar char="‒"/>
        <a:defRPr sz="1500">
          <a:solidFill>
            <a:schemeClr val="tx2"/>
          </a:solidFill>
          <a:latin typeface="+mn-lt"/>
        </a:defRPr>
      </a:lvl8pPr>
      <a:lvl9pPr marL="2465128" indent="-180558" algn="l" defTabSz="957998" rtl="0" eaLnBrk="1" fontAlgn="base" hangingPunct="1">
        <a:spcBef>
          <a:spcPct val="0"/>
        </a:spcBef>
        <a:spcAft>
          <a:spcPts val="564"/>
        </a:spcAft>
        <a:buFont typeface="Arial" charset="0"/>
        <a:buChar char="‒"/>
        <a:defRPr sz="1500">
          <a:solidFill>
            <a:schemeClr val="tx2"/>
          </a:solidFill>
          <a:latin typeface="+mn-lt"/>
        </a:defRPr>
      </a:lvl9pPr>
    </p:bodyStyle>
    <p:otherStyle>
      <a:defPPr>
        <a:defRPr lang="en-US"/>
      </a:defPPr>
      <a:lvl1pPr marL="0" algn="l" defTabSz="859512" rtl="0" eaLnBrk="1" latinLnBrk="0" hangingPunct="1">
        <a:defRPr sz="1700" kern="1200">
          <a:solidFill>
            <a:schemeClr val="tx1"/>
          </a:solidFill>
          <a:latin typeface="+mn-lt"/>
          <a:ea typeface="+mn-ea"/>
          <a:cs typeface="+mn-cs"/>
        </a:defRPr>
      </a:lvl1pPr>
      <a:lvl2pPr marL="429756" algn="l" defTabSz="859512" rtl="0" eaLnBrk="1" latinLnBrk="0" hangingPunct="1">
        <a:defRPr sz="1700" kern="1200">
          <a:solidFill>
            <a:schemeClr val="tx1"/>
          </a:solidFill>
          <a:latin typeface="+mn-lt"/>
          <a:ea typeface="+mn-ea"/>
          <a:cs typeface="+mn-cs"/>
        </a:defRPr>
      </a:lvl2pPr>
      <a:lvl3pPr marL="859512" algn="l" defTabSz="859512" rtl="0" eaLnBrk="1" latinLnBrk="0" hangingPunct="1">
        <a:defRPr sz="1700" kern="1200">
          <a:solidFill>
            <a:schemeClr val="tx1"/>
          </a:solidFill>
          <a:latin typeface="+mn-lt"/>
          <a:ea typeface="+mn-ea"/>
          <a:cs typeface="+mn-cs"/>
        </a:defRPr>
      </a:lvl3pPr>
      <a:lvl4pPr marL="1289268" algn="l" defTabSz="859512" rtl="0" eaLnBrk="1" latinLnBrk="0" hangingPunct="1">
        <a:defRPr sz="1700" kern="1200">
          <a:solidFill>
            <a:schemeClr val="tx1"/>
          </a:solidFill>
          <a:latin typeface="+mn-lt"/>
          <a:ea typeface="+mn-ea"/>
          <a:cs typeface="+mn-cs"/>
        </a:defRPr>
      </a:lvl4pPr>
      <a:lvl5pPr marL="1719024" algn="l" defTabSz="859512" rtl="0" eaLnBrk="1" latinLnBrk="0" hangingPunct="1">
        <a:defRPr sz="1700" kern="1200">
          <a:solidFill>
            <a:schemeClr val="tx1"/>
          </a:solidFill>
          <a:latin typeface="+mn-lt"/>
          <a:ea typeface="+mn-ea"/>
          <a:cs typeface="+mn-cs"/>
        </a:defRPr>
      </a:lvl5pPr>
      <a:lvl6pPr marL="2148780" algn="l" defTabSz="859512" rtl="0" eaLnBrk="1" latinLnBrk="0" hangingPunct="1">
        <a:defRPr sz="1700" kern="1200">
          <a:solidFill>
            <a:schemeClr val="tx1"/>
          </a:solidFill>
          <a:latin typeface="+mn-lt"/>
          <a:ea typeface="+mn-ea"/>
          <a:cs typeface="+mn-cs"/>
        </a:defRPr>
      </a:lvl6pPr>
      <a:lvl7pPr marL="2578536" algn="l" defTabSz="859512" rtl="0" eaLnBrk="1" latinLnBrk="0" hangingPunct="1">
        <a:defRPr sz="1700" kern="1200">
          <a:solidFill>
            <a:schemeClr val="tx1"/>
          </a:solidFill>
          <a:latin typeface="+mn-lt"/>
          <a:ea typeface="+mn-ea"/>
          <a:cs typeface="+mn-cs"/>
        </a:defRPr>
      </a:lvl7pPr>
      <a:lvl8pPr marL="3008291" algn="l" defTabSz="859512" rtl="0" eaLnBrk="1" latinLnBrk="0" hangingPunct="1">
        <a:defRPr sz="1700" kern="1200">
          <a:solidFill>
            <a:schemeClr val="tx1"/>
          </a:solidFill>
          <a:latin typeface="+mn-lt"/>
          <a:ea typeface="+mn-ea"/>
          <a:cs typeface="+mn-cs"/>
        </a:defRPr>
      </a:lvl8pPr>
      <a:lvl9pPr marL="3438048" algn="l" defTabSz="859512"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slidebook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watch?v=4qGrteTY1E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f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youtube.com/watch?v=4qGrteTY1E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BF2711-4A0F-498C-90D2-8CFD2B263A94}"/>
              </a:ext>
            </a:extLst>
          </p:cNvPr>
          <p:cNvSpPr/>
          <p:nvPr/>
        </p:nvSpPr>
        <p:spPr>
          <a:xfrm>
            <a:off x="0" y="-22817"/>
            <a:ext cx="9144000" cy="3135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 name="Rectangle 2">
            <a:hlinkClick r:id="rId2"/>
            <a:extLst>
              <a:ext uri="{FF2B5EF4-FFF2-40B4-BE49-F238E27FC236}">
                <a16:creationId xmlns:a16="http://schemas.microsoft.com/office/drawing/2014/main" id="{FD1865EF-0F65-48A6-AE05-15D009823A16}"/>
              </a:ext>
            </a:extLst>
          </p:cNvPr>
          <p:cNvSpPr/>
          <p:nvPr/>
        </p:nvSpPr>
        <p:spPr>
          <a:xfrm>
            <a:off x="0" y="3112706"/>
            <a:ext cx="9144000" cy="11544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 tIns="11430" rIns="22860" bIns="11430" numCol="1" spcCol="0" rtlCol="0" fromWordArt="0" anchor="ctr" anchorCtr="0" forceAA="0" compatLnSpc="1">
            <a:prstTxWarp prst="textNoShape">
              <a:avLst/>
            </a:prstTxWarp>
            <a:noAutofit/>
          </a:bodyPr>
          <a:lstStyle/>
          <a:p>
            <a:pPr algn="ctr" defTabSz="435356"/>
            <a:endParaRPr lang="en-US" sz="857" dirty="0">
              <a:solidFill>
                <a:prstClr val="white"/>
              </a:solidFill>
            </a:endParaRPr>
          </a:p>
        </p:txBody>
      </p:sp>
      <p:sp>
        <p:nvSpPr>
          <p:cNvPr id="4" name="TextBox 3">
            <a:extLst>
              <a:ext uri="{FF2B5EF4-FFF2-40B4-BE49-F238E27FC236}">
                <a16:creationId xmlns:a16="http://schemas.microsoft.com/office/drawing/2014/main" id="{407B1663-578C-4965-803E-6E8177F96AC7}"/>
              </a:ext>
            </a:extLst>
          </p:cNvPr>
          <p:cNvSpPr txBox="1"/>
          <p:nvPr/>
        </p:nvSpPr>
        <p:spPr>
          <a:xfrm>
            <a:off x="76200" y="3422596"/>
            <a:ext cx="9247952" cy="461665"/>
          </a:xfrm>
          <a:prstGeom prst="rect">
            <a:avLst/>
          </a:prstGeom>
          <a:noFill/>
        </p:spPr>
        <p:txBody>
          <a:bodyPr wrap="square" rtlCol="0">
            <a:spAutoFit/>
          </a:bodyPr>
          <a:lstStyle/>
          <a:p>
            <a:r>
              <a:rPr lang="en-US" sz="2400" b="1" dirty="0">
                <a:solidFill>
                  <a:schemeClr val="bg1"/>
                </a:solidFill>
                <a:latin typeface="Comic Sans MS" panose="030F0702030302020204" pitchFamily="66" charset="0"/>
              </a:rPr>
              <a:t>Application of </a:t>
            </a:r>
            <a:r>
              <a:rPr lang="en-US" sz="2400" b="1" dirty="0" err="1">
                <a:solidFill>
                  <a:schemeClr val="bg1"/>
                </a:solidFill>
                <a:latin typeface="Comic Sans MS" panose="030F0702030302020204" pitchFamily="66" charset="0"/>
              </a:rPr>
              <a:t>NextGen</a:t>
            </a:r>
            <a:r>
              <a:rPr lang="en-US" sz="2400" b="1" dirty="0">
                <a:solidFill>
                  <a:schemeClr val="bg1"/>
                </a:solidFill>
                <a:latin typeface="Comic Sans MS" panose="030F0702030302020204" pitchFamily="66" charset="0"/>
              </a:rPr>
              <a:t> AI composers (</a:t>
            </a:r>
            <a:r>
              <a:rPr lang="en-US" sz="2400" b="1" dirty="0" err="1">
                <a:solidFill>
                  <a:schemeClr val="bg1"/>
                </a:solidFill>
                <a:latin typeface="Comic Sans MS" panose="030F0702030302020204" pitchFamily="66" charset="0"/>
              </a:rPr>
              <a:t>ChatGPT</a:t>
            </a:r>
            <a:r>
              <a:rPr lang="en-US" sz="2400" b="1" dirty="0">
                <a:solidFill>
                  <a:schemeClr val="bg1"/>
                </a:solidFill>
                <a:latin typeface="Comic Sans MS" panose="030F0702030302020204" pitchFamily="66" charset="0"/>
              </a:rPr>
              <a:t>) in learning</a:t>
            </a:r>
            <a:endParaRPr lang="en-US" sz="2400" dirty="0">
              <a:solidFill>
                <a:schemeClr val="bg1"/>
              </a:solidFill>
            </a:endParaRPr>
          </a:p>
        </p:txBody>
      </p:sp>
      <p:sp>
        <p:nvSpPr>
          <p:cNvPr id="6" name="TextBox 5">
            <a:extLst>
              <a:ext uri="{FF2B5EF4-FFF2-40B4-BE49-F238E27FC236}">
                <a16:creationId xmlns:a16="http://schemas.microsoft.com/office/drawing/2014/main" id="{DDFBAF2D-A175-44E7-9B43-AC97CDAEBEA6}"/>
              </a:ext>
            </a:extLst>
          </p:cNvPr>
          <p:cNvSpPr txBox="1"/>
          <p:nvPr/>
        </p:nvSpPr>
        <p:spPr>
          <a:xfrm>
            <a:off x="124648" y="597254"/>
            <a:ext cx="7876352" cy="461665"/>
          </a:xfrm>
          <a:prstGeom prst="rect">
            <a:avLst/>
          </a:prstGeom>
          <a:noFill/>
          <a:ln>
            <a:noFill/>
          </a:ln>
        </p:spPr>
        <p:txBody>
          <a:bodyPr wrap="square" rtlCol="0">
            <a:spAutoFit/>
          </a:bodyPr>
          <a:lstStyle/>
          <a:p>
            <a:pPr defTabSz="435356"/>
            <a:r>
              <a:rPr lang="en-US" sz="2400" b="1" dirty="0" smtClean="0">
                <a:solidFill>
                  <a:srgbClr val="002060"/>
                </a:solidFill>
              </a:rPr>
              <a:t>University American College Skopje</a:t>
            </a:r>
            <a:endParaRPr lang="en-US" sz="2400" b="1" dirty="0">
              <a:solidFill>
                <a:srgbClr val="002060"/>
              </a:solidFill>
            </a:endParaRPr>
          </a:p>
        </p:txBody>
      </p:sp>
      <p:sp>
        <p:nvSpPr>
          <p:cNvPr id="8" name="TextBox 7">
            <a:extLst>
              <a:ext uri="{FF2B5EF4-FFF2-40B4-BE49-F238E27FC236}">
                <a16:creationId xmlns:a16="http://schemas.microsoft.com/office/drawing/2014/main" id="{DDFBAF2D-A175-44E7-9B43-AC97CDAEBEA6}"/>
              </a:ext>
            </a:extLst>
          </p:cNvPr>
          <p:cNvSpPr txBox="1"/>
          <p:nvPr/>
        </p:nvSpPr>
        <p:spPr>
          <a:xfrm>
            <a:off x="124648" y="1448157"/>
            <a:ext cx="7876352" cy="369332"/>
          </a:xfrm>
          <a:prstGeom prst="rect">
            <a:avLst/>
          </a:prstGeom>
          <a:noFill/>
          <a:ln>
            <a:noFill/>
          </a:ln>
        </p:spPr>
        <p:txBody>
          <a:bodyPr wrap="square" rtlCol="0">
            <a:spAutoFit/>
          </a:bodyPr>
          <a:lstStyle/>
          <a:p>
            <a:pPr defTabSz="435356"/>
            <a:r>
              <a:rPr lang="en-US" b="1" dirty="0" smtClean="0">
                <a:solidFill>
                  <a:srgbClr val="002060"/>
                </a:solidFill>
              </a:rPr>
              <a:t>Course</a:t>
            </a:r>
            <a:r>
              <a:rPr lang="en-US" b="1" smtClean="0">
                <a:solidFill>
                  <a:srgbClr val="002060"/>
                </a:solidFill>
              </a:rPr>
              <a:t>: Business Computer Applications</a:t>
            </a:r>
            <a:endParaRPr lang="en-US" b="1" dirty="0">
              <a:solidFill>
                <a:srgbClr val="002060"/>
              </a:solidFill>
            </a:endParaRPr>
          </a:p>
        </p:txBody>
      </p:sp>
      <p:sp>
        <p:nvSpPr>
          <p:cNvPr id="9" name="TextBox 8">
            <a:extLst>
              <a:ext uri="{FF2B5EF4-FFF2-40B4-BE49-F238E27FC236}">
                <a16:creationId xmlns:a16="http://schemas.microsoft.com/office/drawing/2014/main" id="{DDFBAF2D-A175-44E7-9B43-AC97CDAEBEA6}"/>
              </a:ext>
            </a:extLst>
          </p:cNvPr>
          <p:cNvSpPr txBox="1"/>
          <p:nvPr/>
        </p:nvSpPr>
        <p:spPr>
          <a:xfrm>
            <a:off x="111574" y="5410200"/>
            <a:ext cx="7876352" cy="646331"/>
          </a:xfrm>
          <a:prstGeom prst="rect">
            <a:avLst/>
          </a:prstGeom>
          <a:noFill/>
          <a:ln>
            <a:noFill/>
          </a:ln>
        </p:spPr>
        <p:txBody>
          <a:bodyPr wrap="square" rtlCol="0">
            <a:spAutoFit/>
          </a:bodyPr>
          <a:lstStyle/>
          <a:p>
            <a:pPr defTabSz="435356"/>
            <a:endParaRPr lang="en-US" b="1" dirty="0" smtClean="0">
              <a:solidFill>
                <a:srgbClr val="002060"/>
              </a:solidFill>
            </a:endParaRPr>
          </a:p>
          <a:p>
            <a:pPr defTabSz="435356"/>
            <a:r>
              <a:rPr lang="en-US" b="1" dirty="0" smtClean="0">
                <a:solidFill>
                  <a:srgbClr val="002060"/>
                </a:solidFill>
              </a:rPr>
              <a:t>Marija Stanojeska, PhD</a:t>
            </a:r>
          </a:p>
        </p:txBody>
      </p:sp>
    </p:spTree>
    <p:extLst>
      <p:ext uri="{BB962C8B-B14F-4D97-AF65-F5344CB8AC3E}">
        <p14:creationId xmlns:p14="http://schemas.microsoft.com/office/powerpoint/2010/main" val="2995915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The Evolution of Education: How AI is Reshaping Grading - Bangladesh Po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90600"/>
            <a:ext cx="9144001" cy="510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8002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Lecture overview</a:t>
            </a:r>
            <a:endParaRPr lang="en-US" b="1" dirty="0">
              <a:solidFill>
                <a:schemeClr val="accent1">
                  <a:lumMod val="75000"/>
                </a:schemeClr>
              </a:solidFill>
              <a:latin typeface="Comic Sans MS" panose="030F0702030302020204" pitchFamily="66" charset="0"/>
              <a:cs typeface="Times New Roman" pitchFamily="18" charset="0"/>
            </a:endParaRPr>
          </a:p>
        </p:txBody>
      </p:sp>
      <p:sp>
        <p:nvSpPr>
          <p:cNvPr id="6" name="Rectangle 5"/>
          <p:cNvSpPr/>
          <p:nvPr/>
        </p:nvSpPr>
        <p:spPr>
          <a:xfrm>
            <a:off x="685800" y="1828800"/>
            <a:ext cx="8118987" cy="2646878"/>
          </a:xfrm>
          <a:prstGeom prst="rect">
            <a:avLst/>
          </a:prstGeom>
        </p:spPr>
        <p:txBody>
          <a:bodyPr wrap="square">
            <a:spAutoFit/>
          </a:bodyPr>
          <a:lstStyle/>
          <a:p>
            <a:pPr marL="457200" lvl="0" indent="-457200">
              <a:lnSpc>
                <a:spcPct val="150000"/>
              </a:lnSpc>
              <a:buFont typeface="+mj-lt"/>
              <a:buAutoNum type="romanLcPeriod"/>
            </a:pPr>
            <a:r>
              <a:rPr lang="en-US" sz="1400" dirty="0" smtClean="0">
                <a:solidFill>
                  <a:schemeClr val="accent1">
                    <a:lumMod val="75000"/>
                  </a:schemeClr>
                </a:solidFill>
              </a:rPr>
              <a:t>Explanation </a:t>
            </a:r>
            <a:r>
              <a:rPr lang="en-US" sz="1400" dirty="0" smtClean="0">
                <a:solidFill>
                  <a:schemeClr val="accent1">
                    <a:lumMod val="75000"/>
                  </a:schemeClr>
                </a:solidFill>
              </a:rPr>
              <a:t>of the </a:t>
            </a:r>
            <a:r>
              <a:rPr lang="en-US" sz="1400" dirty="0" smtClean="0"/>
              <a:t>role </a:t>
            </a:r>
            <a:r>
              <a:rPr lang="en-US" sz="1400" dirty="0"/>
              <a:t>of AI composers, specifically </a:t>
            </a:r>
            <a:r>
              <a:rPr lang="en-US" sz="1400" dirty="0" err="1"/>
              <a:t>ChatGPT</a:t>
            </a:r>
            <a:r>
              <a:rPr lang="en-US" sz="1400" dirty="0" smtClean="0">
                <a:solidFill>
                  <a:schemeClr val="accent1">
                    <a:lumMod val="75000"/>
                  </a:schemeClr>
                </a:solidFill>
              </a:rPr>
              <a:t>.</a:t>
            </a:r>
            <a:endParaRPr lang="en-US" sz="1400" dirty="0">
              <a:solidFill>
                <a:schemeClr val="accent1">
                  <a:lumMod val="75000"/>
                </a:schemeClr>
              </a:solidFill>
            </a:endParaRPr>
          </a:p>
          <a:p>
            <a:pPr marL="457200" lvl="0" indent="-457200">
              <a:lnSpc>
                <a:spcPct val="150000"/>
              </a:lnSpc>
              <a:buFont typeface="+mj-lt"/>
              <a:buAutoNum type="romanLcPeriod"/>
            </a:pPr>
            <a:r>
              <a:rPr lang="en-US" sz="1400" dirty="0" smtClean="0">
                <a:solidFill>
                  <a:schemeClr val="accent1">
                    <a:lumMod val="75000"/>
                  </a:schemeClr>
                </a:solidFill>
              </a:rPr>
              <a:t>Discussion the </a:t>
            </a:r>
            <a:r>
              <a:rPr lang="en-US" sz="1400" dirty="0" smtClean="0">
                <a:solidFill>
                  <a:schemeClr val="accent1">
                    <a:lumMod val="75000"/>
                  </a:schemeClr>
                </a:solidFill>
              </a:rPr>
              <a:t>evolution of AI in education.</a:t>
            </a:r>
            <a:endParaRPr lang="en-US" sz="1400" dirty="0" smtClean="0">
              <a:solidFill>
                <a:schemeClr val="accent1">
                  <a:lumMod val="75000"/>
                </a:schemeClr>
              </a:solidFill>
            </a:endParaRPr>
          </a:p>
          <a:p>
            <a:pPr marL="457200" lvl="0" indent="-457200">
              <a:lnSpc>
                <a:spcPct val="150000"/>
              </a:lnSpc>
              <a:buFont typeface="+mj-lt"/>
              <a:buAutoNum type="romanLcPeriod"/>
            </a:pPr>
            <a:r>
              <a:rPr lang="en-US" sz="1400" dirty="0" smtClean="0">
                <a:solidFill>
                  <a:schemeClr val="accent1">
                    <a:lumMod val="75000"/>
                  </a:schemeClr>
                </a:solidFill>
              </a:rPr>
              <a:t>Explanation of the practical applications in learning.</a:t>
            </a:r>
            <a:endParaRPr lang="en-US" sz="1400" dirty="0" smtClean="0">
              <a:solidFill>
                <a:schemeClr val="accent1">
                  <a:lumMod val="75000"/>
                </a:schemeClr>
              </a:solidFill>
            </a:endParaRPr>
          </a:p>
          <a:p>
            <a:pPr marL="457200" lvl="0" indent="-457200">
              <a:lnSpc>
                <a:spcPct val="150000"/>
              </a:lnSpc>
              <a:buFont typeface="+mj-lt"/>
              <a:buAutoNum type="romanLcPeriod"/>
            </a:pPr>
            <a:r>
              <a:rPr lang="en-US" sz="1400" dirty="0" smtClean="0">
                <a:solidFill>
                  <a:schemeClr val="accent1">
                    <a:lumMod val="75000"/>
                  </a:schemeClr>
                </a:solidFill>
              </a:rPr>
              <a:t>Discussion about the ethical </a:t>
            </a:r>
            <a:r>
              <a:rPr lang="en-US" sz="1400" dirty="0" smtClean="0">
                <a:solidFill>
                  <a:schemeClr val="accent1">
                    <a:lumMod val="75000"/>
                  </a:schemeClr>
                </a:solidFill>
              </a:rPr>
              <a:t>aspects of using AI in education.</a:t>
            </a:r>
          </a:p>
          <a:p>
            <a:pPr marL="457200" lvl="0" indent="-457200">
              <a:lnSpc>
                <a:spcPct val="150000"/>
              </a:lnSpc>
              <a:buFont typeface="+mj-lt"/>
              <a:buAutoNum type="romanLcPeriod"/>
            </a:pPr>
            <a:r>
              <a:rPr lang="en-US" sz="1400" dirty="0" smtClean="0">
                <a:solidFill>
                  <a:schemeClr val="accent1">
                    <a:lumMod val="75000"/>
                  </a:schemeClr>
                </a:solidFill>
              </a:rPr>
              <a:t>Traditional vs. adaptive education discussion.</a:t>
            </a:r>
          </a:p>
          <a:p>
            <a:pPr marL="457200" lvl="0" indent="-457200">
              <a:lnSpc>
                <a:spcPct val="150000"/>
              </a:lnSpc>
              <a:buFont typeface="+mj-lt"/>
              <a:buAutoNum type="romanLcPeriod"/>
            </a:pPr>
            <a:r>
              <a:rPr lang="en-US" sz="1400" dirty="0" smtClean="0">
                <a:solidFill>
                  <a:schemeClr val="accent1">
                    <a:lumMod val="75000"/>
                  </a:schemeClr>
                </a:solidFill>
              </a:rPr>
              <a:t>Analyze of benefits of inclusion of AI in education.</a:t>
            </a:r>
            <a:endParaRPr lang="en-US" sz="1400" dirty="0">
              <a:solidFill>
                <a:schemeClr val="accent1">
                  <a:lumMod val="75000"/>
                </a:schemeClr>
              </a:solidFill>
            </a:endParaRPr>
          </a:p>
          <a:p>
            <a:pPr marL="400050" indent="-400050" algn="just">
              <a:lnSpc>
                <a:spcPct val="150000"/>
              </a:lnSpc>
              <a:buFont typeface="+mj-lt"/>
              <a:buAutoNum type="romanLcPeriod"/>
            </a:pPr>
            <a:endParaRPr lang="en-US" sz="1600" dirty="0" smtClean="0">
              <a:solidFill>
                <a:schemeClr val="accent1">
                  <a:lumMod val="75000"/>
                </a:schemeClr>
              </a:solidFill>
            </a:endParaRPr>
          </a:p>
          <a:p>
            <a:pPr marL="400050" indent="-400050" algn="just">
              <a:buFont typeface="+mj-lt"/>
              <a:buAutoNum type="romanLcPeriod"/>
            </a:pPr>
            <a:endParaRPr lang="en-US" sz="1600" dirty="0" smtClean="0">
              <a:solidFill>
                <a:schemeClr val="accent1">
                  <a:lumMod val="75000"/>
                </a:schemeClr>
              </a:solidFill>
            </a:endParaRPr>
          </a:p>
        </p:txBody>
      </p:sp>
    </p:spTree>
    <p:extLst>
      <p:ext uri="{BB962C8B-B14F-4D97-AF65-F5344CB8AC3E}">
        <p14:creationId xmlns:p14="http://schemas.microsoft.com/office/powerpoint/2010/main" val="9859239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Introduction</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457200" y="1371600"/>
            <a:ext cx="8229600" cy="4572000"/>
          </a:xfrm>
        </p:spPr>
        <p:txBody>
          <a:bodyPr/>
          <a:lstStyle/>
          <a:p>
            <a:endParaRPr lang="en-US" dirty="0"/>
          </a:p>
          <a:p>
            <a:pPr marL="201448" lvl="1" indent="0" algn="just">
              <a:buNone/>
            </a:pPr>
            <a:r>
              <a:rPr lang="en-US" sz="1600" dirty="0"/>
              <a:t>Artificial Intelligence (AI) is </a:t>
            </a:r>
            <a:r>
              <a:rPr lang="en-US" sz="1600" dirty="0" smtClean="0"/>
              <a:t>transforming </a:t>
            </a:r>
            <a:r>
              <a:rPr lang="en-US" sz="1600" dirty="0"/>
              <a:t>various industries, and education is no exception. </a:t>
            </a:r>
            <a:endParaRPr lang="en-US" sz="1600" dirty="0" smtClean="0"/>
          </a:p>
          <a:p>
            <a:pPr marL="201448" lvl="1" indent="0" algn="just">
              <a:buNone/>
            </a:pPr>
            <a:r>
              <a:rPr lang="en-US" sz="1600" dirty="0" smtClean="0"/>
              <a:t>With </a:t>
            </a:r>
            <a:r>
              <a:rPr lang="en-US" sz="1600" dirty="0"/>
              <a:t>advancements in AI, particularly in Natural Language Processing (NLP), tools like </a:t>
            </a:r>
            <a:r>
              <a:rPr lang="en-US" sz="1600" dirty="0" err="1"/>
              <a:t>ChatGPT</a:t>
            </a:r>
            <a:r>
              <a:rPr lang="en-US" sz="1600" dirty="0"/>
              <a:t> have emerged as powerful </a:t>
            </a:r>
            <a:r>
              <a:rPr lang="en-US" sz="1600" dirty="0" smtClean="0"/>
              <a:t>partners </a:t>
            </a:r>
            <a:r>
              <a:rPr lang="en-US" sz="1600" dirty="0"/>
              <a:t>in the learning process. </a:t>
            </a:r>
            <a:endParaRPr lang="en-US" sz="1600" dirty="0" smtClean="0"/>
          </a:p>
          <a:p>
            <a:pPr marL="201448" lvl="1" indent="0" algn="just">
              <a:buNone/>
            </a:pPr>
            <a:r>
              <a:rPr lang="en-US" sz="1600" dirty="0" smtClean="0"/>
              <a:t>The role of AI </a:t>
            </a:r>
            <a:r>
              <a:rPr lang="en-US" sz="1600" dirty="0"/>
              <a:t>composers, specifically </a:t>
            </a:r>
            <a:r>
              <a:rPr lang="en-US" sz="1600" dirty="0" err="1"/>
              <a:t>ChatGPT</a:t>
            </a:r>
            <a:r>
              <a:rPr lang="en-US" sz="1600" dirty="0"/>
              <a:t>, </a:t>
            </a:r>
            <a:r>
              <a:rPr lang="en-US" sz="1600" dirty="0" smtClean="0"/>
              <a:t>in </a:t>
            </a:r>
            <a:r>
              <a:rPr lang="en-US" sz="1600" dirty="0"/>
              <a:t>transforming writing and </a:t>
            </a:r>
            <a:r>
              <a:rPr lang="en-US" sz="1600" dirty="0" smtClean="0"/>
              <a:t>learning will be explored, </a:t>
            </a:r>
            <a:r>
              <a:rPr lang="en-US" sz="1600" dirty="0"/>
              <a:t>and </a:t>
            </a:r>
            <a:r>
              <a:rPr lang="en-US" sz="1600" dirty="0" smtClean="0"/>
              <a:t>the </a:t>
            </a:r>
            <a:r>
              <a:rPr lang="en-US" sz="1600" dirty="0"/>
              <a:t>practical applications and ethical considerations that educators and students must be aware </a:t>
            </a:r>
            <a:r>
              <a:rPr lang="en-US" sz="1600" dirty="0" smtClean="0"/>
              <a:t>of will be discussed.</a:t>
            </a:r>
            <a:endParaRPr lang="en-US" sz="16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80858"/>
            <a:ext cx="9178413" cy="2177142"/>
          </a:xfrm>
          <a:prstGeom prst="rect">
            <a:avLst/>
          </a:prstGeom>
        </p:spPr>
      </p:pic>
    </p:spTree>
    <p:extLst>
      <p:ext uri="{BB962C8B-B14F-4D97-AF65-F5344CB8AC3E}">
        <p14:creationId xmlns:p14="http://schemas.microsoft.com/office/powerpoint/2010/main" val="3218878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AI tools in writing</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457200" y="1371600"/>
            <a:ext cx="8229600" cy="4572000"/>
          </a:xfrm>
        </p:spPr>
        <p:txBody>
          <a:bodyPr/>
          <a:lstStyle/>
          <a:p>
            <a:pPr marL="0" indent="0" algn="just">
              <a:buNone/>
            </a:pPr>
            <a:endParaRPr lang="en-US" dirty="0"/>
          </a:p>
          <a:p>
            <a:pPr marL="201448" lvl="1" indent="0" algn="just">
              <a:buNone/>
            </a:pPr>
            <a:r>
              <a:rPr lang="en-US" sz="1600" dirty="0"/>
              <a:t>AI tools like </a:t>
            </a:r>
            <a:r>
              <a:rPr lang="en-US" sz="1600" dirty="0" err="1"/>
              <a:t>ChatGPT</a:t>
            </a:r>
            <a:r>
              <a:rPr lang="en-US" sz="1600" dirty="0"/>
              <a:t> are designed to assist and enhance the writing process. They can generate content, suggest improvements, and even help with research by providing relevant information quickly. </a:t>
            </a:r>
            <a:endParaRPr lang="en-US" sz="1600" dirty="0" smtClean="0"/>
          </a:p>
          <a:p>
            <a:pPr marL="201448" lvl="1" indent="0" algn="just">
              <a:buNone/>
            </a:pPr>
            <a:r>
              <a:rPr lang="en-US" sz="1600" dirty="0" smtClean="0"/>
              <a:t>These </a:t>
            </a:r>
            <a:r>
              <a:rPr lang="en-US" sz="1600" dirty="0"/>
              <a:t>tools are not just limited to writing; they can also aid </a:t>
            </a:r>
            <a:r>
              <a:rPr lang="en-US" sz="1600" dirty="0" smtClean="0"/>
              <a:t>in:</a:t>
            </a:r>
          </a:p>
          <a:p>
            <a:pPr lvl="1" algn="just">
              <a:buFont typeface="Arial" panose="020B0604020202020204" pitchFamily="34" charset="0"/>
              <a:buChar char="•"/>
            </a:pPr>
            <a:r>
              <a:rPr lang="en-US" sz="1600" dirty="0" smtClean="0"/>
              <a:t>learning </a:t>
            </a:r>
            <a:r>
              <a:rPr lang="en-US" sz="1600" dirty="0"/>
              <a:t>languages, </a:t>
            </a:r>
            <a:endParaRPr lang="en-US" sz="1600" dirty="0" smtClean="0"/>
          </a:p>
          <a:p>
            <a:pPr lvl="1" algn="just">
              <a:buFont typeface="Arial" panose="020B0604020202020204" pitchFamily="34" charset="0"/>
              <a:buChar char="•"/>
            </a:pPr>
            <a:r>
              <a:rPr lang="en-US" sz="1600" dirty="0" smtClean="0"/>
              <a:t>brainstorming </a:t>
            </a:r>
            <a:r>
              <a:rPr lang="en-US" sz="1600" dirty="0"/>
              <a:t>ideas, </a:t>
            </a:r>
            <a:endParaRPr lang="en-US" sz="1600" dirty="0" smtClean="0"/>
          </a:p>
          <a:p>
            <a:pPr lvl="1" algn="just">
              <a:buFont typeface="Arial" panose="020B0604020202020204" pitchFamily="34" charset="0"/>
              <a:buChar char="•"/>
            </a:pPr>
            <a:r>
              <a:rPr lang="en-US" sz="1600" dirty="0" smtClean="0"/>
              <a:t>improving grammar.</a:t>
            </a:r>
          </a:p>
          <a:p>
            <a:pPr marL="201448" lvl="1" indent="0" algn="just">
              <a:buNone/>
            </a:pPr>
            <a:endParaRPr lang="en-US" sz="1600" dirty="0" smtClean="0"/>
          </a:p>
          <a:p>
            <a:pPr marL="201448" lvl="1" indent="0" algn="just">
              <a:buNone/>
            </a:pPr>
            <a:r>
              <a:rPr lang="en-US" sz="1600" dirty="0" smtClean="0"/>
              <a:t>Popular </a:t>
            </a:r>
            <a:r>
              <a:rPr lang="en-US" sz="1600" dirty="0"/>
              <a:t>AI tools </a:t>
            </a:r>
            <a:r>
              <a:rPr lang="en-US" sz="1600" dirty="0" smtClean="0"/>
              <a:t>include:</a:t>
            </a:r>
          </a:p>
          <a:p>
            <a:pPr lvl="1" algn="just"/>
            <a:r>
              <a:rPr lang="en-US" sz="1600" dirty="0" err="1" smtClean="0">
                <a:solidFill>
                  <a:srgbClr val="FF0000"/>
                </a:solidFill>
                <a:latin typeface="Comic Sans MS" panose="030F0702030302020204" pitchFamily="66" charset="0"/>
              </a:rPr>
              <a:t>ChatGPT</a:t>
            </a:r>
            <a:r>
              <a:rPr lang="en-US" sz="1600" dirty="0" smtClean="0"/>
              <a:t> </a:t>
            </a:r>
            <a:r>
              <a:rPr lang="en-US" sz="1600" dirty="0"/>
              <a:t>for content generation, </a:t>
            </a:r>
            <a:endParaRPr lang="en-US" sz="1600" dirty="0" smtClean="0"/>
          </a:p>
          <a:p>
            <a:pPr lvl="1" algn="just"/>
            <a:r>
              <a:rPr lang="en-US" sz="1600" dirty="0" err="1" smtClean="0">
                <a:solidFill>
                  <a:srgbClr val="FF0000"/>
                </a:solidFill>
                <a:latin typeface="Comic Sans MS" panose="030F0702030302020204" pitchFamily="66" charset="0"/>
              </a:rPr>
              <a:t>Grammarly</a:t>
            </a:r>
            <a:r>
              <a:rPr lang="en-US" sz="1600" dirty="0" smtClean="0"/>
              <a:t> </a:t>
            </a:r>
            <a:r>
              <a:rPr lang="en-US" sz="1600" dirty="0"/>
              <a:t>for grammar checks, and </a:t>
            </a:r>
            <a:endParaRPr lang="en-US" sz="1600" dirty="0" smtClean="0"/>
          </a:p>
          <a:p>
            <a:pPr lvl="1" algn="just"/>
            <a:r>
              <a:rPr lang="en-US" sz="1600" dirty="0" err="1" smtClean="0">
                <a:solidFill>
                  <a:srgbClr val="FF0000"/>
                </a:solidFill>
                <a:latin typeface="Comic Sans MS" panose="030F0702030302020204" pitchFamily="66" charset="0"/>
              </a:rPr>
              <a:t>Quillbot</a:t>
            </a:r>
            <a:r>
              <a:rPr lang="en-US" sz="1600" dirty="0" smtClean="0"/>
              <a:t> </a:t>
            </a:r>
            <a:r>
              <a:rPr lang="en-US" sz="1600" dirty="0"/>
              <a:t>for paraphrasing.</a:t>
            </a:r>
          </a:p>
        </p:txBody>
      </p:sp>
    </p:spTree>
    <p:extLst>
      <p:ext uri="{BB962C8B-B14F-4D97-AF65-F5344CB8AC3E}">
        <p14:creationId xmlns:p14="http://schemas.microsoft.com/office/powerpoint/2010/main" val="17069104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Evolution of AI in education</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304800" y="1004316"/>
            <a:ext cx="8229600" cy="4572000"/>
          </a:xfrm>
        </p:spPr>
        <p:txBody>
          <a:bodyPr/>
          <a:lstStyle/>
          <a:p>
            <a:endParaRPr lang="en-US" dirty="0"/>
          </a:p>
          <a:p>
            <a:pPr marL="201448" lvl="1" indent="0" algn="just">
              <a:buNone/>
            </a:pPr>
            <a:r>
              <a:rPr lang="en-US" sz="1600" dirty="0"/>
              <a:t>The integration of AI into education has been a gradual process. </a:t>
            </a:r>
            <a:endParaRPr lang="en-US" sz="1600" dirty="0" smtClean="0"/>
          </a:p>
          <a:p>
            <a:pPr marL="201448" lvl="1" indent="0" algn="just">
              <a:buNone/>
            </a:pPr>
            <a:r>
              <a:rPr lang="en-US" sz="1600" dirty="0" smtClean="0"/>
              <a:t>Initially</a:t>
            </a:r>
            <a:r>
              <a:rPr lang="en-US" sz="1600" dirty="0"/>
              <a:t>, AI was used for simple tasks like grading and providing personalized learning paths. However, with advancements in AI technology, its applications have expanded significantly. </a:t>
            </a:r>
            <a:endParaRPr lang="en-US" sz="1600" dirty="0" smtClean="0"/>
          </a:p>
          <a:p>
            <a:pPr marL="201448" lvl="1" indent="0" algn="just">
              <a:buNone/>
            </a:pPr>
            <a:r>
              <a:rPr lang="en-US" sz="1600" dirty="0" smtClean="0"/>
              <a:t>Today</a:t>
            </a:r>
            <a:r>
              <a:rPr lang="en-US" sz="1600" dirty="0"/>
              <a:t>, AI can engage in sophisticated tasks such as tutoring, content creation, and even emotional recognition to provide support to students. </a:t>
            </a:r>
            <a:endParaRPr lang="en-US" sz="1600" dirty="0" smtClean="0"/>
          </a:p>
          <a:p>
            <a:pPr marL="201448" lvl="1" indent="0" algn="just">
              <a:buNone/>
            </a:pPr>
            <a:r>
              <a:rPr lang="en-US" sz="1600" dirty="0" smtClean="0"/>
              <a:t>The </a:t>
            </a:r>
            <a:r>
              <a:rPr lang="en-US" sz="1600" dirty="0"/>
              <a:t>role of machine learning and NLP has been crucial in this evolution, enabling AI tools to understand and generate human-like text.</a:t>
            </a:r>
          </a:p>
        </p:txBody>
      </p:sp>
    </p:spTree>
    <p:extLst>
      <p:ext uri="{BB962C8B-B14F-4D97-AF65-F5344CB8AC3E}">
        <p14:creationId xmlns:p14="http://schemas.microsoft.com/office/powerpoint/2010/main" val="20167257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Evolution of AI in education illustration</a:t>
            </a:r>
            <a:endParaRPr lang="en-US" sz="1800" dirty="0">
              <a:solidFill>
                <a:schemeClr val="accent1">
                  <a:lumMod val="75000"/>
                </a:schemeClr>
              </a:solidFill>
              <a:latin typeface="Comic Sans MS" panose="030F0702030302020204" pitchFamily="66" charset="0"/>
              <a:cs typeface="Lucida Sans"/>
            </a:endParaRPr>
          </a:p>
        </p:txBody>
      </p:sp>
      <p:pic>
        <p:nvPicPr>
          <p:cNvPr id="1026" name="Picture 2" descr="https://pixelspark.nl/wp-content/uploads/2019/04/aihistory.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0431"/>
          <a:stretch/>
        </p:blipFill>
        <p:spPr bwMode="auto">
          <a:xfrm>
            <a:off x="12290" y="1905000"/>
            <a:ext cx="91440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6007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How AI composer work</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457200" y="1371600"/>
            <a:ext cx="8229600" cy="4572000"/>
          </a:xfrm>
        </p:spPr>
        <p:txBody>
          <a:bodyPr/>
          <a:lstStyle/>
          <a:p>
            <a:endParaRPr lang="en-US" dirty="0"/>
          </a:p>
          <a:p>
            <a:pPr marL="201448" lvl="1" indent="0" algn="just">
              <a:buNone/>
            </a:pPr>
            <a:r>
              <a:rPr lang="en-US" sz="1600" dirty="0"/>
              <a:t>AI composers like </a:t>
            </a:r>
            <a:r>
              <a:rPr lang="en-US" sz="1600" dirty="0" err="1"/>
              <a:t>ChatGPT</a:t>
            </a:r>
            <a:r>
              <a:rPr lang="en-US" sz="1600" dirty="0"/>
              <a:t> are powered by large language models (LLMs) that have been trained on vast amounts of text data. </a:t>
            </a:r>
            <a:endParaRPr lang="en-US" sz="1600" dirty="0" smtClean="0"/>
          </a:p>
          <a:p>
            <a:pPr marL="201448" lvl="1" indent="0" algn="just">
              <a:buNone/>
            </a:pPr>
            <a:r>
              <a:rPr lang="en-US" sz="1600" dirty="0" smtClean="0"/>
              <a:t>These </a:t>
            </a:r>
            <a:r>
              <a:rPr lang="en-US" sz="1600" dirty="0"/>
              <a:t>models learn patterns in language, enabling them to generate coherent and contextually appropriate text. </a:t>
            </a:r>
            <a:endParaRPr lang="en-US" sz="1600" dirty="0" smtClean="0"/>
          </a:p>
          <a:p>
            <a:pPr marL="201448" lvl="1" indent="0" algn="just">
              <a:buNone/>
            </a:pPr>
            <a:r>
              <a:rPr lang="en-US" sz="1600" dirty="0" smtClean="0"/>
              <a:t>When </a:t>
            </a:r>
            <a:r>
              <a:rPr lang="en-US" sz="1600" dirty="0"/>
              <a:t>you input a prompt, the AI analyzes it and generates a response based on its training. </a:t>
            </a:r>
            <a:endParaRPr lang="en-US" sz="1600" dirty="0" smtClean="0"/>
          </a:p>
          <a:p>
            <a:pPr marL="201448" lvl="1" indent="0" algn="just">
              <a:buNone/>
            </a:pPr>
            <a:r>
              <a:rPr lang="en-US" sz="1600" dirty="0" smtClean="0"/>
              <a:t>The </a:t>
            </a:r>
            <a:r>
              <a:rPr lang="en-US" sz="1600" dirty="0"/>
              <a:t>more complex the model, the better it can understand and produce text that is both relevant and accurate. </a:t>
            </a:r>
            <a:endParaRPr lang="en-US" sz="1600" dirty="0" smtClean="0"/>
          </a:p>
          <a:p>
            <a:pPr marL="201448" lvl="1" indent="0" algn="just">
              <a:buNone/>
            </a:pPr>
            <a:r>
              <a:rPr lang="en-US" sz="1600" dirty="0" smtClean="0"/>
              <a:t>This </a:t>
            </a:r>
            <a:r>
              <a:rPr lang="en-US" sz="1600" dirty="0"/>
              <a:t>ability to generate text has opened new possibilities in education, where AI can assist students in a variety of writing tasks</a:t>
            </a:r>
            <a:r>
              <a:rPr lang="en-US" sz="1600" dirty="0" smtClean="0"/>
              <a:t>.</a:t>
            </a:r>
          </a:p>
          <a:p>
            <a:pPr marL="201448" lvl="1" indent="0" algn="just">
              <a:buNone/>
            </a:pPr>
            <a:endParaRPr lang="en-US" sz="1600" dirty="0"/>
          </a:p>
          <a:p>
            <a:pPr marL="0" indent="0">
              <a:buNone/>
            </a:pPr>
            <a:r>
              <a:rPr lang="en-US" sz="1400" dirty="0" smtClean="0">
                <a:solidFill>
                  <a:schemeClr val="accent1">
                    <a:lumMod val="75000"/>
                  </a:schemeClr>
                </a:solidFill>
                <a:hlinkClick r:id=""/>
              </a:rPr>
              <a:t>     https</a:t>
            </a:r>
            <a:r>
              <a:rPr lang="en-US" sz="1400" dirty="0">
                <a:solidFill>
                  <a:schemeClr val="accent1">
                    <a:lumMod val="75000"/>
                  </a:schemeClr>
                </a:solidFill>
                <a:hlinkClick r:id=""/>
              </a:rPr>
              <a:t>://www.youtube.com/watch?v=bSvTVREwSNw</a:t>
            </a:r>
          </a:p>
          <a:p>
            <a:pPr marL="0" indent="0">
              <a:buNone/>
            </a:pPr>
            <a:r>
              <a:rPr lang="en-US" sz="1400" dirty="0" smtClean="0">
                <a:solidFill>
                  <a:schemeClr val="accent1">
                    <a:lumMod val="75000"/>
                  </a:schemeClr>
                </a:solidFill>
                <a:hlinkClick r:id="rId2"/>
              </a:rPr>
              <a:t>     https</a:t>
            </a:r>
            <a:r>
              <a:rPr lang="en-US" sz="1400" dirty="0">
                <a:solidFill>
                  <a:schemeClr val="accent1">
                    <a:lumMod val="75000"/>
                  </a:schemeClr>
                </a:solidFill>
                <a:hlinkClick r:id="rId2"/>
              </a:rPr>
              <a:t>://www.youtube.com/watch?v=4qGrteTY1EM</a:t>
            </a:r>
            <a:endParaRPr lang="en-US" sz="1400" dirty="0">
              <a:solidFill>
                <a:schemeClr val="accent1">
                  <a:lumMod val="75000"/>
                </a:schemeClr>
              </a:solidFill>
            </a:endParaRPr>
          </a:p>
          <a:p>
            <a:pPr marL="201448" lvl="1" indent="0" algn="just">
              <a:buNone/>
            </a:pPr>
            <a:endParaRPr lang="en-US" sz="1600" dirty="0"/>
          </a:p>
        </p:txBody>
      </p:sp>
    </p:spTree>
    <p:extLst>
      <p:ext uri="{BB962C8B-B14F-4D97-AF65-F5344CB8AC3E}">
        <p14:creationId xmlns:p14="http://schemas.microsoft.com/office/powerpoint/2010/main" val="25298893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Illustration</a:t>
            </a:r>
            <a:endParaRPr lang="en-US" sz="1800" dirty="0">
              <a:solidFill>
                <a:schemeClr val="accent1">
                  <a:lumMod val="75000"/>
                </a:schemeClr>
              </a:solidFill>
              <a:latin typeface="Comic Sans MS" panose="030F0702030302020204" pitchFamily="66" charset="0"/>
              <a:cs typeface="Lucida Sans"/>
            </a:endParaRPr>
          </a:p>
        </p:txBody>
      </p:sp>
      <p:pic>
        <p:nvPicPr>
          <p:cNvPr id="2050" name="Picture 2" descr="Tutorial accompaniment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12217" t="3235" r="10463"/>
          <a:stretch/>
        </p:blipFill>
        <p:spPr bwMode="auto">
          <a:xfrm>
            <a:off x="290052" y="1176381"/>
            <a:ext cx="8642530" cy="5681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78282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Practical applications in learning</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381000" y="1371600"/>
            <a:ext cx="8229600" cy="4572000"/>
          </a:xfrm>
        </p:spPr>
        <p:txBody>
          <a:bodyPr/>
          <a:lstStyle/>
          <a:p>
            <a:pPr algn="just"/>
            <a:r>
              <a:rPr lang="en-US" dirty="0"/>
              <a:t>AI tools like </a:t>
            </a:r>
            <a:r>
              <a:rPr lang="en-US" dirty="0" err="1"/>
              <a:t>ChatGPT</a:t>
            </a:r>
            <a:r>
              <a:rPr lang="en-US" dirty="0"/>
              <a:t> are transforming how students approach writing assignments. </a:t>
            </a:r>
            <a:r>
              <a:rPr lang="en-US" dirty="0" smtClean="0"/>
              <a:t>They </a:t>
            </a:r>
            <a:r>
              <a:rPr lang="en-US" dirty="0"/>
              <a:t>can generate entire essays, research papers, and reports, offering students a starting point or helping them overcome writer's block. </a:t>
            </a:r>
            <a:r>
              <a:rPr lang="en-US" dirty="0" smtClean="0"/>
              <a:t>AI </a:t>
            </a:r>
            <a:r>
              <a:rPr lang="en-US" dirty="0"/>
              <a:t>can also be used for brainstorming, providing students with ideas or alternative perspectives on a topic. </a:t>
            </a:r>
            <a:endParaRPr lang="en-US" dirty="0" smtClean="0"/>
          </a:p>
          <a:p>
            <a:pPr algn="just"/>
            <a:r>
              <a:rPr lang="en-US" dirty="0" smtClean="0"/>
              <a:t>Furthermore</a:t>
            </a:r>
            <a:r>
              <a:rPr lang="en-US" dirty="0"/>
              <a:t>, AI tools are valuable in language learning, as they can provide instant grammar corrections and suggest improvements in real-time. Effective communication is essential for academic success and future-readiness, yet many students struggle with confidence in these skills. Chat GPT can support language learning, communication and comprehension by providing interactive and immersive language practice</a:t>
            </a:r>
            <a:r>
              <a:rPr lang="en-US" dirty="0" smtClean="0"/>
              <a:t>. For </a:t>
            </a:r>
            <a:r>
              <a:rPr lang="en-US" dirty="0"/>
              <a:t>instance, in foreign language classes, </a:t>
            </a:r>
            <a:r>
              <a:rPr lang="en-US" dirty="0" err="1"/>
              <a:t>ChatGPT</a:t>
            </a:r>
            <a:r>
              <a:rPr lang="en-US" dirty="0"/>
              <a:t> can engage students in conversational practice in various languages, helping them improve their speaking and listening skills. The AI can simulate real-life conversations and provide instant feedback. It also offers a “read aloud” setting that lets the student hear the pronunciation of words they may be struggling with. This interactive approach can boost students’ confidence in using a new language and accelerate their learning process.</a:t>
            </a:r>
          </a:p>
          <a:p>
            <a:pPr algn="just"/>
            <a:r>
              <a:rPr lang="en-US" dirty="0" err="1"/>
              <a:t>ChatGPT</a:t>
            </a:r>
            <a:r>
              <a:rPr lang="en-US" dirty="0"/>
              <a:t> can also assist with grammar and vocabulary exercises, reading comprehension and writing practice. By offering personalized feedback </a:t>
            </a:r>
            <a:r>
              <a:rPr lang="en-US" dirty="0" smtClean="0"/>
              <a:t>and tailored exercises, </a:t>
            </a:r>
            <a:r>
              <a:rPr lang="en-US" dirty="0" err="1"/>
              <a:t>ChatGPT</a:t>
            </a:r>
            <a:r>
              <a:rPr lang="en-US" dirty="0"/>
              <a:t> can help students become more proficient and confident communicators.</a:t>
            </a:r>
          </a:p>
        </p:txBody>
      </p:sp>
    </p:spTree>
    <p:extLst>
      <p:ext uri="{BB962C8B-B14F-4D97-AF65-F5344CB8AC3E}">
        <p14:creationId xmlns:p14="http://schemas.microsoft.com/office/powerpoint/2010/main" val="517786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AI in collaborative learning</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324465" y="1524000"/>
            <a:ext cx="8229600" cy="2362200"/>
          </a:xfrm>
        </p:spPr>
        <p:txBody>
          <a:bodyPr/>
          <a:lstStyle/>
          <a:p>
            <a:pPr marL="201448" lvl="1" indent="0" algn="just">
              <a:buNone/>
            </a:pPr>
            <a:r>
              <a:rPr lang="en-US" sz="1600" dirty="0" smtClean="0"/>
              <a:t>AI </a:t>
            </a:r>
            <a:r>
              <a:rPr lang="en-US" sz="1600" dirty="0"/>
              <a:t>tools are not just for individual use; they can also enhance collaborative learning experiences. </a:t>
            </a:r>
            <a:endParaRPr lang="en-US" sz="1600" dirty="0" smtClean="0"/>
          </a:p>
          <a:p>
            <a:pPr marL="201448" lvl="1" indent="0" algn="just">
              <a:buNone/>
            </a:pPr>
            <a:r>
              <a:rPr lang="en-US" sz="1600" dirty="0" smtClean="0"/>
              <a:t>In </a:t>
            </a:r>
            <a:r>
              <a:rPr lang="en-US" sz="1600" dirty="0"/>
              <a:t>group projects, </a:t>
            </a:r>
            <a:r>
              <a:rPr lang="en-US" sz="1600" dirty="0" smtClean="0"/>
              <a:t>AI </a:t>
            </a:r>
            <a:r>
              <a:rPr lang="en-US" sz="1600" dirty="0"/>
              <a:t>can facilitate communication by generating content that can be reviewed and edited by the group. It can also act as a peer-review tool, providing feedback on drafts before they are finalized. </a:t>
            </a:r>
            <a:endParaRPr lang="en-US" sz="1600" dirty="0" smtClean="0"/>
          </a:p>
          <a:p>
            <a:pPr marL="201448" lvl="1" indent="0" algn="just">
              <a:buNone/>
            </a:pPr>
            <a:r>
              <a:rPr lang="en-US" sz="1600" dirty="0" smtClean="0"/>
              <a:t>By </a:t>
            </a:r>
            <a:r>
              <a:rPr lang="en-US" sz="1600" dirty="0"/>
              <a:t>analyzing AI-generated content, students can develop critical thinking skills, learning to evaluate and refine ideas presented by the AI. This collaborative approach ensures that AI is integrated into the learning process in a way that benefits all participants.</a:t>
            </a:r>
          </a:p>
        </p:txBody>
      </p:sp>
    </p:spTree>
    <p:extLst>
      <p:ext uri="{BB962C8B-B14F-4D97-AF65-F5344CB8AC3E}">
        <p14:creationId xmlns:p14="http://schemas.microsoft.com/office/powerpoint/2010/main" val="8580081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Ethical consideration</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457200" y="762000"/>
            <a:ext cx="8229600" cy="4572000"/>
          </a:xfrm>
        </p:spPr>
        <p:txBody>
          <a:bodyPr/>
          <a:lstStyle/>
          <a:p>
            <a:endParaRPr lang="en-US" dirty="0"/>
          </a:p>
          <a:p>
            <a:pPr marL="201448" lvl="1" indent="0" algn="just">
              <a:buNone/>
            </a:pPr>
            <a:r>
              <a:rPr lang="en-US" sz="1600" dirty="0"/>
              <a:t>While AI offers many benefits, there are also ethical concerns that must be addressed. One major issue is academic integrity. </a:t>
            </a:r>
            <a:r>
              <a:rPr lang="en-US" sz="1600" dirty="0" smtClean="0"/>
              <a:t>T</a:t>
            </a:r>
          </a:p>
          <a:p>
            <a:pPr marL="201448" lvl="1" indent="0" algn="just">
              <a:buNone/>
            </a:pPr>
            <a:r>
              <a:rPr lang="en-US" sz="1600" dirty="0" smtClean="0"/>
              <a:t>he comfort </a:t>
            </a:r>
            <a:r>
              <a:rPr lang="en-US" sz="1600" dirty="0"/>
              <a:t>with which AI can generate content raises the risk of plagiarism, as students might be tempted to submit AI-generated work as their own. </a:t>
            </a:r>
            <a:endParaRPr lang="en-US" sz="1600" dirty="0" smtClean="0"/>
          </a:p>
          <a:p>
            <a:pPr marL="201448" lvl="1" indent="0" algn="just">
              <a:buNone/>
            </a:pPr>
            <a:r>
              <a:rPr lang="en-US" sz="1600" dirty="0" smtClean="0"/>
              <a:t>Additionally</a:t>
            </a:r>
            <a:r>
              <a:rPr lang="en-US" sz="1600" dirty="0"/>
              <a:t>, there is a concern about over-reliance on AI, where students might rely too heavily on these tools and </a:t>
            </a:r>
            <a:r>
              <a:rPr lang="en-US" sz="1600" dirty="0" smtClean="0"/>
              <a:t>abandonment </a:t>
            </a:r>
            <a:r>
              <a:rPr lang="en-US" sz="1600" dirty="0"/>
              <a:t>developing their own writing skills. </a:t>
            </a:r>
            <a:endParaRPr lang="en-US" sz="1600" dirty="0" smtClean="0"/>
          </a:p>
          <a:p>
            <a:pPr marL="201448" lvl="1" indent="0" algn="just">
              <a:buNone/>
            </a:pPr>
            <a:r>
              <a:rPr lang="en-US" sz="1600" dirty="0" smtClean="0"/>
              <a:t>Ethical </a:t>
            </a:r>
            <a:r>
              <a:rPr lang="en-US" sz="1600" dirty="0"/>
              <a:t>concerns also extend to data privacy and AI bias, as these tools are trained on data that may contain biases or sensitive information. </a:t>
            </a:r>
            <a:endParaRPr lang="en-US" sz="1600" dirty="0" smtClean="0"/>
          </a:p>
          <a:p>
            <a:pPr marL="201448" lvl="1" indent="0" algn="just">
              <a:buNone/>
            </a:pPr>
            <a:r>
              <a:rPr lang="en-US" sz="1600" dirty="0" smtClean="0"/>
              <a:t>It's </a:t>
            </a:r>
            <a:r>
              <a:rPr lang="en-US" sz="1600" dirty="0"/>
              <a:t>crucial that educators and students use AI responsibly and understand its limitations.</a:t>
            </a:r>
          </a:p>
        </p:txBody>
      </p:sp>
      <p:pic>
        <p:nvPicPr>
          <p:cNvPr id="4098" name="Picture 2" descr="https://www.frontiersin.org/files/Articles/862322/fsurg-09-862322-HTML/image_m/fsurg-09-862322-g0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2262" y="4114800"/>
            <a:ext cx="5331538" cy="2678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73950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Balancing AI and human creativity</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381000" y="838200"/>
            <a:ext cx="8229600" cy="4572000"/>
          </a:xfrm>
        </p:spPr>
        <p:txBody>
          <a:bodyPr/>
          <a:lstStyle/>
          <a:p>
            <a:endParaRPr lang="en-US" dirty="0"/>
          </a:p>
          <a:p>
            <a:pPr marL="201448" lvl="1" indent="0" algn="just">
              <a:buNone/>
            </a:pPr>
            <a:r>
              <a:rPr lang="en-US" sz="1600" dirty="0"/>
              <a:t>AI should be seen as a complement to human creativity, not a replacement. While AI can generate content and provide ideas, the creative process still requires human input to be truly effective. </a:t>
            </a:r>
            <a:endParaRPr lang="en-US" sz="1600" dirty="0" smtClean="0"/>
          </a:p>
          <a:p>
            <a:pPr marL="201448" lvl="1" indent="0" algn="just">
              <a:buNone/>
            </a:pPr>
            <a:r>
              <a:rPr lang="en-US" sz="1600" dirty="0" smtClean="0"/>
              <a:t>Educators </a:t>
            </a:r>
            <a:r>
              <a:rPr lang="en-US" sz="1600" dirty="0"/>
              <a:t>should encourage students to use AI as a tool to enhance their work, rather than as a crutch. </a:t>
            </a:r>
            <a:endParaRPr lang="en-US" sz="1600" dirty="0" smtClean="0"/>
          </a:p>
          <a:p>
            <a:pPr marL="201448" lvl="1" indent="0" algn="just">
              <a:buNone/>
            </a:pPr>
            <a:r>
              <a:rPr lang="en-US" sz="1600" dirty="0" smtClean="0"/>
              <a:t>By </a:t>
            </a:r>
            <a:r>
              <a:rPr lang="en-US" sz="1600" dirty="0"/>
              <a:t>combining the strengths of AI with human creativity, students can produce higher quality work and develop a deeper understanding of their subjects. </a:t>
            </a:r>
            <a:endParaRPr lang="en-US" sz="1600" dirty="0" smtClean="0"/>
          </a:p>
          <a:p>
            <a:pPr marL="201448" lvl="1" indent="0" algn="just">
              <a:buNone/>
            </a:pPr>
            <a:r>
              <a:rPr lang="en-US" sz="1600" dirty="0" smtClean="0"/>
              <a:t>Examples </a:t>
            </a:r>
            <a:r>
              <a:rPr lang="en-US" sz="1600" dirty="0"/>
              <a:t>of successful collaboration between AI and human input can help illustrate this balance.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4332953"/>
            <a:ext cx="4159250" cy="2495550"/>
          </a:xfrm>
          <a:prstGeom prst="rect">
            <a:avLst/>
          </a:prstGeom>
        </p:spPr>
      </p:pic>
    </p:spTree>
    <p:extLst>
      <p:ext uri="{BB962C8B-B14F-4D97-AF65-F5344CB8AC3E}">
        <p14:creationId xmlns:p14="http://schemas.microsoft.com/office/powerpoint/2010/main" val="8002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Guidelines for ethical AI use in education</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454513" y="838200"/>
            <a:ext cx="8079887" cy="2628747"/>
          </a:xfrm>
        </p:spPr>
        <p:txBody>
          <a:bodyPr/>
          <a:lstStyle/>
          <a:p>
            <a:endParaRPr lang="en-US" dirty="0"/>
          </a:p>
          <a:p>
            <a:pPr marL="201448" lvl="1" indent="0" algn="just">
              <a:buNone/>
            </a:pPr>
            <a:r>
              <a:rPr lang="en-US" sz="1600" dirty="0"/>
              <a:t>To ensure ethical use of AI in education, it's important to establish clear guidelines. Students should be taught how to use AI tools responsibly, understanding when and how to use them effectively. </a:t>
            </a:r>
            <a:endParaRPr lang="en-US" sz="1600" dirty="0" smtClean="0"/>
          </a:p>
          <a:p>
            <a:pPr marL="201448" lvl="1" indent="0" algn="just">
              <a:buNone/>
            </a:pPr>
            <a:r>
              <a:rPr lang="en-US" sz="1600" dirty="0" smtClean="0"/>
              <a:t>Proper </a:t>
            </a:r>
            <a:r>
              <a:rPr lang="en-US" sz="1600" dirty="0"/>
              <a:t>citation of AI-generated content is crucial to maintain academic integrity. Educators should also develop policies that outline acceptable use of AI in assignments and assessments. </a:t>
            </a:r>
            <a:endParaRPr lang="en-US" sz="1600" dirty="0" smtClean="0"/>
          </a:p>
          <a:p>
            <a:pPr marL="201448" lvl="1" indent="0" algn="just">
              <a:buNone/>
            </a:pPr>
            <a:r>
              <a:rPr lang="en-US" sz="1600" dirty="0" smtClean="0"/>
              <a:t>By </a:t>
            </a:r>
            <a:r>
              <a:rPr lang="en-US" sz="1600" dirty="0"/>
              <a:t>providing students with the right guidance, we can ensure that AI is used as a valuable resource in education rather than a shortcut.</a:t>
            </a:r>
          </a:p>
        </p:txBody>
      </p:sp>
      <p:pic>
        <p:nvPicPr>
          <p:cNvPr id="7170" name="Picture 2" descr="AI Ethical Concer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6687" y="3733800"/>
            <a:ext cx="3922713" cy="3023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0535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Teaching support and professional development</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457200" y="1371600"/>
            <a:ext cx="8229600" cy="4572000"/>
          </a:xfrm>
        </p:spPr>
        <p:txBody>
          <a:bodyPr/>
          <a:lstStyle/>
          <a:p>
            <a:endParaRPr lang="en-US" dirty="0"/>
          </a:p>
          <a:p>
            <a:pPr algn="just"/>
            <a:r>
              <a:rPr lang="en-US" dirty="0"/>
              <a:t>As well as academic support for students, </a:t>
            </a:r>
            <a:r>
              <a:rPr lang="en-US" dirty="0" err="1"/>
              <a:t>ChatGPT</a:t>
            </a:r>
            <a:r>
              <a:rPr lang="en-US" dirty="0"/>
              <a:t> offers significant advantages for teachers. Educators can leverage </a:t>
            </a:r>
            <a:r>
              <a:rPr lang="en-US" dirty="0" err="1"/>
              <a:t>ChatGPT</a:t>
            </a:r>
            <a:r>
              <a:rPr lang="en-US" dirty="0"/>
              <a:t> to enhance their teaching methods, brainstorm new exercises or applications, manage administrative tasks and engage in professional development.</a:t>
            </a:r>
          </a:p>
          <a:p>
            <a:pPr algn="just"/>
            <a:r>
              <a:rPr lang="en-US" dirty="0" err="1"/>
              <a:t>ChatGPT</a:t>
            </a:r>
            <a:r>
              <a:rPr lang="en-US" dirty="0"/>
              <a:t> can assist teachers in creating lesson plans, generating educational materials and designing assessments. By automating these time-consuming tasks, teachers can focus more on delivering high-quality instruction and providing individualized attention to their students.</a:t>
            </a:r>
          </a:p>
          <a:p>
            <a:pPr algn="just"/>
            <a:r>
              <a:rPr lang="en-US" dirty="0" err="1"/>
              <a:t>ChatGPT</a:t>
            </a:r>
            <a:r>
              <a:rPr lang="en-US" dirty="0"/>
              <a:t> can also serve as a professional development tool for teachers. Educators can use the AI to stay updated on the latest educational trends, research and best practices. </a:t>
            </a:r>
            <a:r>
              <a:rPr lang="en-US" dirty="0" err="1"/>
              <a:t>ChatGPT</a:t>
            </a:r>
            <a:r>
              <a:rPr lang="en-US" dirty="0"/>
              <a:t> can also facilitate peer collaboration by connecting teachers with experiences, ideas, and advice shared by colleagues around the world.</a:t>
            </a:r>
          </a:p>
        </p:txBody>
      </p:sp>
    </p:spTree>
    <p:extLst>
      <p:ext uri="{BB962C8B-B14F-4D97-AF65-F5344CB8AC3E}">
        <p14:creationId xmlns:p14="http://schemas.microsoft.com/office/powerpoint/2010/main" val="16129856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Enhancing critical thinking and analytical skills</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457200" y="1371600"/>
            <a:ext cx="8229600" cy="4572000"/>
          </a:xfrm>
        </p:spPr>
        <p:txBody>
          <a:bodyPr/>
          <a:lstStyle/>
          <a:p>
            <a:pPr algn="just"/>
            <a:r>
              <a:rPr lang="en-US" dirty="0" smtClean="0"/>
              <a:t>Developing </a:t>
            </a:r>
            <a:r>
              <a:rPr lang="en-US" dirty="0"/>
              <a:t>critical thinking and analytical skills is fundamental </a:t>
            </a:r>
            <a:r>
              <a:rPr lang="en-US" dirty="0" smtClean="0"/>
              <a:t>to future-readiness</a:t>
            </a:r>
            <a:r>
              <a:rPr lang="en-US" dirty="0"/>
              <a:t> in education. These skills are essential for problem-solving, decision-making and understanding complex concepts. </a:t>
            </a:r>
            <a:r>
              <a:rPr lang="en-US" dirty="0" err="1"/>
              <a:t>ChatGPT</a:t>
            </a:r>
            <a:r>
              <a:rPr lang="en-US" dirty="0"/>
              <a:t> can enhance students’ critical thinking abilities by engaging them in thought-provoking discussions and activities.</a:t>
            </a:r>
          </a:p>
          <a:p>
            <a:pPr algn="just"/>
            <a:r>
              <a:rPr lang="en-US" dirty="0"/>
              <a:t>For example, </a:t>
            </a:r>
            <a:r>
              <a:rPr lang="en-US" dirty="0" err="1"/>
              <a:t>ChatGPT</a:t>
            </a:r>
            <a:r>
              <a:rPr lang="en-US" dirty="0"/>
              <a:t> can facilitate debates on various topics, encouraging students to articulate their viewpoints, analyze opposing arguments and defend their positions. These activities help students develop logical reasoning and persuasive communication skills.</a:t>
            </a:r>
          </a:p>
          <a:p>
            <a:pPr algn="just"/>
            <a:r>
              <a:rPr lang="en-US" dirty="0"/>
              <a:t>Additionally, </a:t>
            </a:r>
            <a:r>
              <a:rPr lang="en-US" dirty="0" err="1"/>
              <a:t>ChatGPT</a:t>
            </a:r>
            <a:r>
              <a:rPr lang="en-US" dirty="0"/>
              <a:t> can help to </a:t>
            </a:r>
            <a:r>
              <a:rPr lang="en-US" dirty="0" smtClean="0"/>
              <a:t>support computational thinking</a:t>
            </a:r>
            <a:r>
              <a:rPr lang="en-US" dirty="0"/>
              <a:t> by presenting students with challenging problems and guiding them through the process of breaking down the problem, analyzing data and formulating solutions. This hands-on approach to problem-solving helps students develop a structured and analytical mindset, preparing them for future academic and professional endeavors.</a:t>
            </a:r>
          </a:p>
        </p:txBody>
      </p:sp>
    </p:spTree>
    <p:extLst>
      <p:ext uri="{BB962C8B-B14F-4D97-AF65-F5344CB8AC3E}">
        <p14:creationId xmlns:p14="http://schemas.microsoft.com/office/powerpoint/2010/main" val="7095003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Addressing diverse learning needs</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457200" y="1143000"/>
            <a:ext cx="8229600" cy="2743200"/>
          </a:xfrm>
        </p:spPr>
        <p:txBody>
          <a:bodyPr/>
          <a:lstStyle/>
          <a:p>
            <a:pPr algn="just"/>
            <a:endParaRPr lang="en-US" dirty="0"/>
          </a:p>
          <a:p>
            <a:pPr algn="just"/>
            <a:r>
              <a:rPr lang="en-US" dirty="0" smtClean="0"/>
              <a:t>The classrooms </a:t>
            </a:r>
            <a:r>
              <a:rPr lang="en-US" dirty="0"/>
              <a:t>are diverse environments, with students exhibiting a wide range of learning needs and abilities. </a:t>
            </a:r>
            <a:r>
              <a:rPr lang="en-US" dirty="0" err="1"/>
              <a:t>ChatGPT</a:t>
            </a:r>
            <a:r>
              <a:rPr lang="en-US" dirty="0"/>
              <a:t> could help address this diversity by offering differentiated instruction and support. For example, students with special educational needs can benefit from the personalized attention </a:t>
            </a:r>
            <a:r>
              <a:rPr lang="en-US" dirty="0" smtClean="0"/>
              <a:t>and tailored experiences</a:t>
            </a:r>
            <a:r>
              <a:rPr lang="en-US" dirty="0"/>
              <a:t> provided by </a:t>
            </a:r>
            <a:r>
              <a:rPr lang="en-US" dirty="0" err="1"/>
              <a:t>ChatGPT</a:t>
            </a:r>
            <a:r>
              <a:rPr lang="en-US" dirty="0"/>
              <a:t>.</a:t>
            </a:r>
          </a:p>
          <a:p>
            <a:pPr algn="just"/>
            <a:r>
              <a:rPr lang="en-US" dirty="0"/>
              <a:t>Additionally, </a:t>
            </a:r>
            <a:r>
              <a:rPr lang="en-US" dirty="0" err="1"/>
              <a:t>ChatGPT</a:t>
            </a:r>
            <a:r>
              <a:rPr lang="en-US" dirty="0"/>
              <a:t> </a:t>
            </a:r>
            <a:r>
              <a:rPr lang="en-US" dirty="0" smtClean="0"/>
              <a:t>can support English language learners</a:t>
            </a:r>
            <a:r>
              <a:rPr lang="en-US" dirty="0"/>
              <a:t> by providing language </a:t>
            </a:r>
            <a:r>
              <a:rPr lang="en-US" dirty="0" smtClean="0"/>
              <a:t>support, </a:t>
            </a:r>
            <a:r>
              <a:rPr lang="en-US" dirty="0"/>
              <a:t>vocabulary support and cultural context. This targeted assistance can help </a:t>
            </a:r>
            <a:r>
              <a:rPr lang="en-US" dirty="0" smtClean="0"/>
              <a:t>students </a:t>
            </a:r>
            <a:r>
              <a:rPr lang="en-US" dirty="0"/>
              <a:t>overcome language barriers and succeed academically.</a:t>
            </a:r>
          </a:p>
        </p:txBody>
      </p:sp>
    </p:spTree>
    <p:extLst>
      <p:ext uri="{BB962C8B-B14F-4D97-AF65-F5344CB8AC3E}">
        <p14:creationId xmlns:p14="http://schemas.microsoft.com/office/powerpoint/2010/main" val="7454795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Future trends and innovation</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457200" y="1371600"/>
            <a:ext cx="8229600" cy="4572000"/>
          </a:xfrm>
        </p:spPr>
        <p:txBody>
          <a:bodyPr/>
          <a:lstStyle/>
          <a:p>
            <a:endParaRPr lang="en-US" dirty="0"/>
          </a:p>
          <a:p>
            <a:pPr marL="201448" lvl="1" indent="0" algn="just">
              <a:buNone/>
            </a:pPr>
            <a:r>
              <a:rPr lang="en-US" sz="1600" dirty="0"/>
              <a:t>The field of AI is rapidly evolving, and new innovations are constantly emerging. </a:t>
            </a:r>
            <a:endParaRPr lang="en-US" sz="1600" dirty="0" smtClean="0"/>
          </a:p>
          <a:p>
            <a:pPr marL="201448" lvl="1" indent="0" algn="just">
              <a:buNone/>
            </a:pPr>
            <a:r>
              <a:rPr lang="en-US" sz="1600" dirty="0" smtClean="0"/>
              <a:t>In </a:t>
            </a:r>
            <a:r>
              <a:rPr lang="en-US" sz="1600" dirty="0"/>
              <a:t>the future, we can expect AI to become even more integrated into the educational process, with tools that are more personalized and adaptive to individual learning styles. </a:t>
            </a:r>
            <a:endParaRPr lang="en-US" sz="1600" dirty="0" smtClean="0"/>
          </a:p>
          <a:p>
            <a:pPr marL="201448" lvl="1" indent="0" algn="just">
              <a:buNone/>
            </a:pPr>
            <a:r>
              <a:rPr lang="en-US" sz="1600" dirty="0" smtClean="0"/>
              <a:t>Virtual </a:t>
            </a:r>
            <a:r>
              <a:rPr lang="en-US" sz="1600" dirty="0"/>
              <a:t>tutors powered by AI could provide real-time assistance to students, while AI-driven analytics could offer educators deeper insights into student performance. </a:t>
            </a:r>
            <a:endParaRPr lang="en-US" sz="1600" dirty="0" smtClean="0"/>
          </a:p>
          <a:p>
            <a:pPr marL="201448" lvl="1" indent="0" algn="just">
              <a:buNone/>
            </a:pPr>
            <a:r>
              <a:rPr lang="en-US" sz="1600" dirty="0" smtClean="0"/>
              <a:t>While </a:t>
            </a:r>
            <a:r>
              <a:rPr lang="en-US" sz="1600" dirty="0"/>
              <a:t>many see </a:t>
            </a:r>
            <a:r>
              <a:rPr lang="en-US" sz="1600" dirty="0" err="1"/>
              <a:t>ChatGPT</a:t>
            </a:r>
            <a:r>
              <a:rPr lang="en-US" sz="1600" dirty="0"/>
              <a:t> as muting creativity and innovation, it can instead be used as a tool to bolster creativity. For instance, </a:t>
            </a:r>
            <a:r>
              <a:rPr lang="en-US" sz="1600" dirty="0" err="1"/>
              <a:t>ChatGPT</a:t>
            </a:r>
            <a:r>
              <a:rPr lang="en-US" sz="1600" dirty="0"/>
              <a:t> can engage students in creative writing exercises, brainstorming sessions and interactive storytelling, encouraging them to think outside the box and explore new ideas</a:t>
            </a:r>
            <a:r>
              <a:rPr lang="en-US" sz="1600" dirty="0" smtClean="0"/>
              <a:t>. </a:t>
            </a:r>
          </a:p>
          <a:p>
            <a:pPr marL="201448" lvl="1" indent="0" algn="just">
              <a:buNone/>
            </a:pPr>
            <a:r>
              <a:rPr lang="en-US" sz="1600" dirty="0" smtClean="0"/>
              <a:t>Additionally</a:t>
            </a:r>
            <a:r>
              <a:rPr lang="en-US" sz="1600" dirty="0"/>
              <a:t>, AI such as </a:t>
            </a:r>
            <a:r>
              <a:rPr lang="en-US" sz="1600" dirty="0" err="1"/>
              <a:t>ChatGPT</a:t>
            </a:r>
            <a:r>
              <a:rPr lang="en-US" sz="1600" dirty="0"/>
              <a:t> can assist in creative problem-solving exercises, such as designing experiments or developing solutions to real-world problems. By guiding students through the brainstorming process and offering diverse perspectives, </a:t>
            </a:r>
            <a:r>
              <a:rPr lang="en-US" sz="1600" dirty="0" err="1"/>
              <a:t>ChatGPT</a:t>
            </a:r>
            <a:r>
              <a:rPr lang="en-US" sz="1600" dirty="0"/>
              <a:t> can help cultivate innovative thinking and prepare students for future challenges.</a:t>
            </a:r>
          </a:p>
        </p:txBody>
      </p:sp>
    </p:spTree>
    <p:extLst>
      <p:ext uri="{BB962C8B-B14F-4D97-AF65-F5344CB8AC3E}">
        <p14:creationId xmlns:p14="http://schemas.microsoft.com/office/powerpoint/2010/main" val="35586404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Personalized “Tutoring” and adaptive learning</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381000" y="1712642"/>
            <a:ext cx="3965575" cy="4572000"/>
          </a:xfrm>
        </p:spPr>
        <p:txBody>
          <a:bodyPr/>
          <a:lstStyle/>
          <a:p>
            <a:pPr marL="0" indent="0" algn="just">
              <a:buNone/>
            </a:pPr>
            <a:r>
              <a:rPr lang="en-US" dirty="0" smtClean="0"/>
              <a:t>While </a:t>
            </a:r>
            <a:r>
              <a:rPr lang="en-US" dirty="0"/>
              <a:t>almost every student could benefit from personal tutoring, this isn’t always within the bandwidth of teachers or </a:t>
            </a:r>
            <a:r>
              <a:rPr lang="en-US" dirty="0" smtClean="0"/>
              <a:t>administrators. </a:t>
            </a:r>
            <a:r>
              <a:rPr lang="en-US" dirty="0"/>
              <a:t>However, with </a:t>
            </a:r>
            <a:r>
              <a:rPr lang="en-US" dirty="0" smtClean="0"/>
              <a:t>careful </a:t>
            </a:r>
            <a:r>
              <a:rPr lang="en-US" dirty="0"/>
              <a:t>use of AI such as </a:t>
            </a:r>
            <a:r>
              <a:rPr lang="en-US" dirty="0" err="1"/>
              <a:t>ChatGPT</a:t>
            </a:r>
            <a:r>
              <a:rPr lang="en-US" dirty="0"/>
              <a:t>, it can be possible to provide one-on-one support in a more scalable environment.</a:t>
            </a:r>
          </a:p>
          <a:p>
            <a:pPr marL="0" indent="0" algn="just">
              <a:buNone/>
            </a:pPr>
            <a:r>
              <a:rPr lang="en-US" dirty="0"/>
              <a:t>For instance, a student can use </a:t>
            </a:r>
            <a:r>
              <a:rPr lang="en-US" dirty="0" err="1"/>
              <a:t>ChatGPT</a:t>
            </a:r>
            <a:r>
              <a:rPr lang="en-US" dirty="0"/>
              <a:t> to answer questions in real-time, provide additional explanations, or even re-word explanations when they don’t make sense to a student. Teachers can also use </a:t>
            </a:r>
            <a:r>
              <a:rPr lang="en-US" dirty="0" err="1"/>
              <a:t>ChatGPT</a:t>
            </a:r>
            <a:r>
              <a:rPr lang="en-US" dirty="0"/>
              <a:t> to provide personalized exercises, examples, practice questions and more for individual students.</a:t>
            </a:r>
          </a:p>
        </p:txBody>
      </p:sp>
      <p:pic>
        <p:nvPicPr>
          <p:cNvPr id="1026" name="Picture 2" descr="The Role of AI in Personalized Learning | Claned"/>
          <p:cNvPicPr>
            <a:picLocks noChangeAspect="1" noChangeArrowheads="1"/>
          </p:cNvPicPr>
          <p:nvPr/>
        </p:nvPicPr>
        <p:blipFill rotWithShape="1">
          <a:blip r:embed="rId2">
            <a:extLst>
              <a:ext uri="{28A0092B-C50C-407E-A947-70E740481C1C}">
                <a14:useLocalDpi xmlns:a14="http://schemas.microsoft.com/office/drawing/2010/main" val="0"/>
              </a:ext>
            </a:extLst>
          </a:blip>
          <a:srcRect t="8527" r="40439"/>
          <a:stretch/>
        </p:blipFill>
        <p:spPr bwMode="auto">
          <a:xfrm>
            <a:off x="4419600" y="1600200"/>
            <a:ext cx="2667000" cy="408686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7086600" y="1981200"/>
            <a:ext cx="1828800" cy="3416320"/>
          </a:xfrm>
          <a:prstGeom prst="rect">
            <a:avLst/>
          </a:prstGeom>
          <a:solidFill>
            <a:schemeClr val="bg1"/>
          </a:solidFill>
        </p:spPr>
        <p:txBody>
          <a:bodyPr wrap="square" rtlCol="0">
            <a:spAutoFit/>
          </a:bodyPr>
          <a:lstStyle/>
          <a:p>
            <a:pPr algn="ctr"/>
            <a:r>
              <a:rPr lang="en-US" sz="1200" b="1" dirty="0" smtClean="0">
                <a:solidFill>
                  <a:schemeClr val="accent1">
                    <a:lumMod val="75000"/>
                  </a:schemeClr>
                </a:solidFill>
              </a:rPr>
              <a:t>Analyzing students learning patterns</a:t>
            </a:r>
          </a:p>
          <a:p>
            <a:pPr algn="ctr"/>
            <a:endParaRPr lang="en-US" sz="1200" b="1" dirty="0" smtClean="0">
              <a:solidFill>
                <a:schemeClr val="accent1">
                  <a:lumMod val="75000"/>
                </a:schemeClr>
              </a:solidFill>
            </a:endParaRPr>
          </a:p>
          <a:p>
            <a:pPr algn="ctr"/>
            <a:endParaRPr lang="en-US" sz="1200" b="1" dirty="0">
              <a:solidFill>
                <a:schemeClr val="accent1">
                  <a:lumMod val="75000"/>
                </a:schemeClr>
              </a:solidFill>
            </a:endParaRPr>
          </a:p>
          <a:p>
            <a:pPr algn="ctr"/>
            <a:endParaRPr lang="en-US" sz="1200" b="1" dirty="0">
              <a:solidFill>
                <a:schemeClr val="accent1">
                  <a:lumMod val="75000"/>
                </a:schemeClr>
              </a:solidFill>
            </a:endParaRPr>
          </a:p>
          <a:p>
            <a:pPr algn="ctr"/>
            <a:r>
              <a:rPr lang="en-US" sz="1200" b="1" dirty="0" smtClean="0">
                <a:solidFill>
                  <a:schemeClr val="accent1">
                    <a:lumMod val="75000"/>
                  </a:schemeClr>
                </a:solidFill>
              </a:rPr>
              <a:t>Designing specific courses</a:t>
            </a:r>
          </a:p>
          <a:p>
            <a:pPr algn="ctr"/>
            <a:endParaRPr lang="en-US" sz="1200" b="1" dirty="0" smtClean="0">
              <a:solidFill>
                <a:schemeClr val="accent1">
                  <a:lumMod val="75000"/>
                </a:schemeClr>
              </a:solidFill>
            </a:endParaRPr>
          </a:p>
          <a:p>
            <a:pPr algn="ctr"/>
            <a:endParaRPr lang="en-US" sz="1200" b="1" dirty="0" smtClean="0">
              <a:solidFill>
                <a:schemeClr val="accent1">
                  <a:lumMod val="75000"/>
                </a:schemeClr>
              </a:solidFill>
            </a:endParaRPr>
          </a:p>
          <a:p>
            <a:pPr algn="ctr"/>
            <a:endParaRPr lang="en-US" sz="1200" b="1" dirty="0">
              <a:solidFill>
                <a:schemeClr val="accent1">
                  <a:lumMod val="75000"/>
                </a:schemeClr>
              </a:solidFill>
            </a:endParaRPr>
          </a:p>
          <a:p>
            <a:pPr algn="ctr"/>
            <a:r>
              <a:rPr lang="en-US" sz="1200" b="1" dirty="0" smtClean="0">
                <a:solidFill>
                  <a:schemeClr val="accent1">
                    <a:lumMod val="75000"/>
                  </a:schemeClr>
                </a:solidFill>
              </a:rPr>
              <a:t>Providing suggestions for any gaps in learning</a:t>
            </a:r>
          </a:p>
          <a:p>
            <a:pPr algn="ctr"/>
            <a:endParaRPr lang="en-US" sz="1200" b="1" dirty="0" smtClean="0">
              <a:solidFill>
                <a:schemeClr val="accent1">
                  <a:lumMod val="75000"/>
                </a:schemeClr>
              </a:solidFill>
            </a:endParaRPr>
          </a:p>
          <a:p>
            <a:pPr algn="ctr"/>
            <a:endParaRPr lang="en-US" sz="1200" b="1" dirty="0" smtClean="0">
              <a:solidFill>
                <a:schemeClr val="accent1">
                  <a:lumMod val="75000"/>
                </a:schemeClr>
              </a:solidFill>
            </a:endParaRPr>
          </a:p>
          <a:p>
            <a:pPr algn="ctr"/>
            <a:endParaRPr lang="en-US" sz="1200" b="1" dirty="0">
              <a:solidFill>
                <a:schemeClr val="accent1">
                  <a:lumMod val="75000"/>
                </a:schemeClr>
              </a:solidFill>
            </a:endParaRPr>
          </a:p>
          <a:p>
            <a:pPr algn="ctr"/>
            <a:r>
              <a:rPr lang="en-US" sz="1200" b="1" dirty="0" smtClean="0">
                <a:solidFill>
                  <a:schemeClr val="accent1">
                    <a:lumMod val="75000"/>
                  </a:schemeClr>
                </a:solidFill>
              </a:rPr>
              <a:t>Tracking student progress</a:t>
            </a:r>
            <a:endParaRPr lang="en-US" sz="1200" b="1" dirty="0">
              <a:solidFill>
                <a:schemeClr val="accent1">
                  <a:lumMod val="75000"/>
                </a:schemeClr>
              </a:solidFill>
            </a:endParaRPr>
          </a:p>
        </p:txBody>
      </p:sp>
    </p:spTree>
    <p:extLst>
      <p:ext uri="{BB962C8B-B14F-4D97-AF65-F5344CB8AC3E}">
        <p14:creationId xmlns:p14="http://schemas.microsoft.com/office/powerpoint/2010/main" val="35356854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How AI is used to personalize learning</a:t>
            </a:r>
            <a:endParaRPr lang="en-US" sz="1800" dirty="0">
              <a:solidFill>
                <a:schemeClr val="accent1">
                  <a:lumMod val="75000"/>
                </a:schemeClr>
              </a:solidFill>
              <a:latin typeface="Comic Sans MS" panose="030F0702030302020204" pitchFamily="66" charset="0"/>
              <a:cs typeface="Lucida Sans"/>
            </a:endParaRPr>
          </a:p>
        </p:txBody>
      </p:sp>
      <p:pic>
        <p:nvPicPr>
          <p:cNvPr id="1028" name="Picture 4" descr="https://cdn.prod.website-files.com/63931f83d202611a0c28744c/64f5aff73e2504f6bbe3746d_fWyAIIHnZweTidB7VnRAIjWlI0hvs4uQaT5_UnqWSG_qPEOeAOY0dWziqoU1842MERL8MxWaXmcF3fh6Ze5-xeVes899fme037G9Kz97LvgvgOfcmnM_ZZTWbUKZ2Qy4i7rH8xaLmbHvp95jWBVaZtI.png"/>
          <p:cNvPicPr>
            <a:picLocks noChangeAspect="1" noChangeArrowheads="1"/>
          </p:cNvPicPr>
          <p:nvPr/>
        </p:nvPicPr>
        <p:blipFill rotWithShape="1">
          <a:blip r:embed="rId2">
            <a:extLst>
              <a:ext uri="{28A0092B-C50C-407E-A947-70E740481C1C}">
                <a14:useLocalDpi xmlns:a14="http://schemas.microsoft.com/office/drawing/2010/main" val="0"/>
              </a:ext>
            </a:extLst>
          </a:blip>
          <a:srcRect t="18154" b="8952"/>
          <a:stretch/>
        </p:blipFill>
        <p:spPr bwMode="auto">
          <a:xfrm>
            <a:off x="400665" y="1905000"/>
            <a:ext cx="8153400" cy="393527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05581" y="1905000"/>
            <a:ext cx="1752600" cy="523220"/>
          </a:xfrm>
          <a:prstGeom prst="rect">
            <a:avLst/>
          </a:prstGeom>
          <a:solidFill>
            <a:schemeClr val="bg1"/>
          </a:solidFill>
        </p:spPr>
        <p:txBody>
          <a:bodyPr wrap="square" rtlCol="0">
            <a:spAutoFit/>
          </a:bodyPr>
          <a:lstStyle/>
          <a:p>
            <a:pPr algn="ctr"/>
            <a:r>
              <a:rPr lang="en-US" sz="1400" b="1" dirty="0" smtClean="0">
                <a:solidFill>
                  <a:schemeClr val="accent1">
                    <a:lumMod val="75000"/>
                  </a:schemeClr>
                </a:solidFill>
              </a:rPr>
              <a:t>Adaptive learning pathways</a:t>
            </a:r>
            <a:endParaRPr lang="en-US" sz="1400" b="1" dirty="0">
              <a:solidFill>
                <a:schemeClr val="accent1">
                  <a:lumMod val="75000"/>
                </a:schemeClr>
              </a:solidFill>
            </a:endParaRPr>
          </a:p>
        </p:txBody>
      </p:sp>
      <p:sp>
        <p:nvSpPr>
          <p:cNvPr id="8" name="TextBox 7"/>
          <p:cNvSpPr txBox="1"/>
          <p:nvPr/>
        </p:nvSpPr>
        <p:spPr>
          <a:xfrm>
            <a:off x="3352800" y="1965133"/>
            <a:ext cx="1968910" cy="523220"/>
          </a:xfrm>
          <a:prstGeom prst="rect">
            <a:avLst/>
          </a:prstGeom>
          <a:solidFill>
            <a:schemeClr val="bg1"/>
          </a:solidFill>
        </p:spPr>
        <p:txBody>
          <a:bodyPr wrap="square" rtlCol="0">
            <a:spAutoFit/>
          </a:bodyPr>
          <a:lstStyle/>
          <a:p>
            <a:pPr algn="ctr"/>
            <a:r>
              <a:rPr lang="en-US" sz="1400" b="1" dirty="0" smtClean="0">
                <a:solidFill>
                  <a:schemeClr val="accent1">
                    <a:lumMod val="75000"/>
                  </a:schemeClr>
                </a:solidFill>
              </a:rPr>
              <a:t>Real-time feedback and assessment</a:t>
            </a:r>
            <a:endParaRPr lang="en-US" sz="1400" b="1" dirty="0">
              <a:solidFill>
                <a:schemeClr val="accent1">
                  <a:lumMod val="75000"/>
                </a:schemeClr>
              </a:solidFill>
            </a:endParaRPr>
          </a:p>
        </p:txBody>
      </p:sp>
      <p:sp>
        <p:nvSpPr>
          <p:cNvPr id="9" name="TextBox 8"/>
          <p:cNvSpPr txBox="1"/>
          <p:nvPr/>
        </p:nvSpPr>
        <p:spPr>
          <a:xfrm>
            <a:off x="990600" y="5146395"/>
            <a:ext cx="1981200" cy="523220"/>
          </a:xfrm>
          <a:prstGeom prst="rect">
            <a:avLst/>
          </a:prstGeom>
          <a:solidFill>
            <a:schemeClr val="bg1"/>
          </a:solidFill>
        </p:spPr>
        <p:txBody>
          <a:bodyPr wrap="square" rtlCol="0">
            <a:spAutoFit/>
          </a:bodyPr>
          <a:lstStyle/>
          <a:p>
            <a:pPr algn="ctr"/>
            <a:r>
              <a:rPr lang="en-US" sz="1400" b="1" dirty="0" smtClean="0">
                <a:solidFill>
                  <a:schemeClr val="accent1">
                    <a:lumMod val="75000"/>
                  </a:schemeClr>
                </a:solidFill>
              </a:rPr>
              <a:t>Peer collaboration and social learning</a:t>
            </a:r>
            <a:endParaRPr lang="en-US" sz="1400" b="1" dirty="0">
              <a:solidFill>
                <a:schemeClr val="accent1">
                  <a:lumMod val="75000"/>
                </a:schemeClr>
              </a:solidFill>
            </a:endParaRPr>
          </a:p>
        </p:txBody>
      </p:sp>
      <p:sp>
        <p:nvSpPr>
          <p:cNvPr id="10" name="TextBox 9"/>
          <p:cNvSpPr txBox="1"/>
          <p:nvPr/>
        </p:nvSpPr>
        <p:spPr>
          <a:xfrm>
            <a:off x="6781800" y="1965133"/>
            <a:ext cx="1752600" cy="523220"/>
          </a:xfrm>
          <a:prstGeom prst="rect">
            <a:avLst/>
          </a:prstGeom>
          <a:solidFill>
            <a:schemeClr val="bg1"/>
          </a:solidFill>
        </p:spPr>
        <p:txBody>
          <a:bodyPr wrap="square" rtlCol="0">
            <a:spAutoFit/>
          </a:bodyPr>
          <a:lstStyle/>
          <a:p>
            <a:pPr algn="ctr"/>
            <a:r>
              <a:rPr lang="en-US" sz="1400" b="1" dirty="0" smtClean="0">
                <a:solidFill>
                  <a:schemeClr val="accent1">
                    <a:lumMod val="75000"/>
                  </a:schemeClr>
                </a:solidFill>
              </a:rPr>
              <a:t>Personalized progress tracking</a:t>
            </a:r>
            <a:endParaRPr lang="en-US" sz="1400" b="1" dirty="0">
              <a:solidFill>
                <a:schemeClr val="accent1">
                  <a:lumMod val="75000"/>
                </a:schemeClr>
              </a:solidFill>
            </a:endParaRPr>
          </a:p>
        </p:txBody>
      </p:sp>
      <p:sp>
        <p:nvSpPr>
          <p:cNvPr id="11" name="TextBox 10"/>
          <p:cNvSpPr txBox="1"/>
          <p:nvPr/>
        </p:nvSpPr>
        <p:spPr>
          <a:xfrm>
            <a:off x="6019800" y="5257800"/>
            <a:ext cx="1981200" cy="523220"/>
          </a:xfrm>
          <a:prstGeom prst="rect">
            <a:avLst/>
          </a:prstGeom>
          <a:solidFill>
            <a:schemeClr val="bg1"/>
          </a:solidFill>
        </p:spPr>
        <p:txBody>
          <a:bodyPr wrap="square" rtlCol="0">
            <a:spAutoFit/>
          </a:bodyPr>
          <a:lstStyle/>
          <a:p>
            <a:pPr algn="ctr"/>
            <a:r>
              <a:rPr lang="en-US" sz="1400" b="1" dirty="0" smtClean="0">
                <a:solidFill>
                  <a:schemeClr val="accent1">
                    <a:lumMod val="75000"/>
                  </a:schemeClr>
                </a:solidFill>
              </a:rPr>
              <a:t>Automated tutoring and support</a:t>
            </a:r>
            <a:endParaRPr lang="en-US" sz="1400" b="1" dirty="0">
              <a:solidFill>
                <a:schemeClr val="accent1">
                  <a:lumMod val="75000"/>
                </a:schemeClr>
              </a:solidFill>
            </a:endParaRPr>
          </a:p>
        </p:txBody>
      </p:sp>
    </p:spTree>
    <p:extLst>
      <p:ext uri="{BB962C8B-B14F-4D97-AF65-F5344CB8AC3E}">
        <p14:creationId xmlns:p14="http://schemas.microsoft.com/office/powerpoint/2010/main" val="34054556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Traditional vs. Adaptive learning</a:t>
            </a:r>
            <a:endParaRPr lang="en-US" sz="1800" dirty="0">
              <a:solidFill>
                <a:schemeClr val="accent1">
                  <a:lumMod val="75000"/>
                </a:schemeClr>
              </a:solidFill>
              <a:latin typeface="Comic Sans MS" panose="030F0702030302020204" pitchFamily="66" charset="0"/>
              <a:cs typeface="Lucida Sans"/>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29" y="1371599"/>
            <a:ext cx="9104671" cy="5456730"/>
          </a:xfrm>
          <a:prstGeom prst="rect">
            <a:avLst/>
          </a:prstGeom>
        </p:spPr>
      </p:pic>
    </p:spTree>
    <p:extLst>
      <p:ext uri="{BB962C8B-B14F-4D97-AF65-F5344CB8AC3E}">
        <p14:creationId xmlns:p14="http://schemas.microsoft.com/office/powerpoint/2010/main" val="22720810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Final thoughts…</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381000" y="1004316"/>
            <a:ext cx="8229600" cy="4572000"/>
          </a:xfrm>
        </p:spPr>
        <p:txBody>
          <a:bodyPr/>
          <a:lstStyle/>
          <a:p>
            <a:endParaRPr lang="en-US" dirty="0"/>
          </a:p>
          <a:p>
            <a:pPr marL="0" indent="0" algn="just">
              <a:buNone/>
            </a:pPr>
            <a:r>
              <a:rPr lang="en-US" dirty="0"/>
              <a:t>However, critics worry that the ease with which students can use </a:t>
            </a:r>
            <a:r>
              <a:rPr lang="en-US" dirty="0" err="1"/>
              <a:t>ChatGPT</a:t>
            </a:r>
            <a:r>
              <a:rPr lang="en-US" dirty="0"/>
              <a:t> to generate essays, solve problems and complete assignments may lead to an increase in academic dishonesty. They fear that reliance on AI-generated content might undermine the development of critical thinking and writing skills, as students may be tempted to pass off AI-produced work as their own.</a:t>
            </a:r>
          </a:p>
          <a:p>
            <a:pPr marL="0" indent="0" algn="just">
              <a:buNone/>
            </a:pPr>
            <a:r>
              <a:rPr lang="en-US" dirty="0"/>
              <a:t>This debate is further complicated by the rapid advancement and accessibility of AI technologies. Educators and institutions are grappling with the challenge of integrating these tools into curriculum in ways that maximize their educational benefits while minimizing the risks of misuse</a:t>
            </a:r>
            <a:r>
              <a:rPr lang="en-US" dirty="0" smtClean="0"/>
              <a:t>. </a:t>
            </a:r>
          </a:p>
          <a:p>
            <a:pPr marL="0" indent="0" algn="just">
              <a:buNone/>
            </a:pPr>
            <a:r>
              <a:rPr lang="en-US" sz="1600" dirty="0" smtClean="0"/>
              <a:t>In </a:t>
            </a:r>
            <a:r>
              <a:rPr lang="en-US" sz="1600" dirty="0"/>
              <a:t>conclusion, AI composers like </a:t>
            </a:r>
            <a:r>
              <a:rPr lang="en-US" sz="1600" dirty="0" err="1"/>
              <a:t>ChatGPT</a:t>
            </a:r>
            <a:r>
              <a:rPr lang="en-US" sz="1600" dirty="0"/>
              <a:t> are powerful tools that have the potential to transform the way we approach writing and learning. </a:t>
            </a:r>
            <a:r>
              <a:rPr lang="en-US" sz="1600" dirty="0" smtClean="0"/>
              <a:t>It's </a:t>
            </a:r>
            <a:r>
              <a:rPr lang="en-US" sz="1600" dirty="0"/>
              <a:t>important to use these tools responsibly, keeping in mind the ethical considerations and the need for human oversight. </a:t>
            </a:r>
            <a:endParaRPr lang="en-US" sz="1600" dirty="0" smtClean="0"/>
          </a:p>
          <a:p>
            <a:pPr marL="0" indent="0" algn="just">
              <a:buNone/>
            </a:pPr>
            <a:r>
              <a:rPr lang="en-US" sz="1600" dirty="0" smtClean="0"/>
              <a:t>While </a:t>
            </a:r>
            <a:r>
              <a:rPr lang="en-US" sz="1600" dirty="0" err="1"/>
              <a:t>ChatGPT</a:t>
            </a:r>
            <a:r>
              <a:rPr lang="en-US" sz="1600" dirty="0"/>
              <a:t> and other widely available AI technologies bring new challenges and considerations in education, it also has the potential to enhance an engaging educational experience when used strategically and conscientiously. </a:t>
            </a:r>
            <a:endParaRPr lang="en-US" sz="1600" dirty="0" smtClean="0"/>
          </a:p>
          <a:p>
            <a:pPr marL="0" indent="0" algn="just">
              <a:buNone/>
            </a:pPr>
            <a:r>
              <a:rPr lang="en-US" sz="1600" dirty="0" smtClean="0"/>
              <a:t>As </a:t>
            </a:r>
            <a:r>
              <a:rPr lang="en-US" sz="1600" dirty="0"/>
              <a:t>technology continues to evolve, the role of AI in education will undoubtedly expand, offering new opportunities to enrich the student experience and prepare the next generation for success in an ever-changing world.</a:t>
            </a:r>
          </a:p>
        </p:txBody>
      </p:sp>
    </p:spTree>
    <p:extLst>
      <p:ext uri="{BB962C8B-B14F-4D97-AF65-F5344CB8AC3E}">
        <p14:creationId xmlns:p14="http://schemas.microsoft.com/office/powerpoint/2010/main" val="34987912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304800"/>
            <a:ext cx="8229600" cy="1399032"/>
          </a:xfrm>
        </p:spPr>
        <p:txBody>
          <a:bodyPr/>
          <a:lstStyle/>
          <a:p>
            <a:pPr marL="12700" marR="5080">
              <a:lnSpc>
                <a:spcPct val="100400"/>
              </a:lnSpc>
              <a:spcBef>
                <a:spcPts val="85"/>
              </a:spcBef>
            </a:pPr>
            <a:r>
              <a:rPr lang="en-US" sz="1800" spc="-85" dirty="0" smtClean="0">
                <a:solidFill>
                  <a:schemeClr val="accent1">
                    <a:lumMod val="75000"/>
                  </a:schemeClr>
                </a:solidFill>
                <a:latin typeface="Comic Sans MS" panose="030F0702030302020204" pitchFamily="66" charset="0"/>
                <a:cs typeface="Lucida Sans"/>
              </a:rPr>
              <a:t>Conclusion</a:t>
            </a:r>
            <a:endParaRPr lang="en-US" sz="1800" dirty="0">
              <a:solidFill>
                <a:schemeClr val="accent1">
                  <a:lumMod val="75000"/>
                </a:schemeClr>
              </a:solidFill>
              <a:latin typeface="Comic Sans MS" panose="030F0702030302020204" pitchFamily="66" charset="0"/>
              <a:cs typeface="Lucida Sans"/>
            </a:endParaRPr>
          </a:p>
        </p:txBody>
      </p:sp>
      <p:sp>
        <p:nvSpPr>
          <p:cNvPr id="26627" name="Content Placeholder 2"/>
          <p:cNvSpPr>
            <a:spLocks noGrp="1"/>
          </p:cNvSpPr>
          <p:nvPr>
            <p:ph idx="1"/>
          </p:nvPr>
        </p:nvSpPr>
        <p:spPr>
          <a:xfrm>
            <a:off x="457200" y="1371600"/>
            <a:ext cx="8229600" cy="4572000"/>
          </a:xfrm>
        </p:spPr>
        <p:txBody>
          <a:bodyPr/>
          <a:lstStyle/>
          <a:p>
            <a:endParaRPr lang="en-US" dirty="0"/>
          </a:p>
          <a:p>
            <a:pPr marL="201448" lvl="1" indent="0" algn="just">
              <a:buNone/>
            </a:pPr>
            <a:r>
              <a:rPr lang="en-US" sz="1600" dirty="0"/>
              <a:t>In conclusion, AI composers like </a:t>
            </a:r>
            <a:r>
              <a:rPr lang="en-US" sz="1600" dirty="0" err="1"/>
              <a:t>ChatGPT</a:t>
            </a:r>
            <a:r>
              <a:rPr lang="en-US" sz="1600" dirty="0"/>
              <a:t> are powerful tools that have the potential to transform the way we approach writing and learning. </a:t>
            </a:r>
            <a:endParaRPr lang="en-US" sz="1600" dirty="0" smtClean="0"/>
          </a:p>
          <a:p>
            <a:pPr marL="201448" lvl="1" indent="0" algn="just">
              <a:buNone/>
            </a:pPr>
            <a:r>
              <a:rPr lang="en-US" sz="1600" dirty="0" smtClean="0"/>
              <a:t>However</a:t>
            </a:r>
            <a:r>
              <a:rPr lang="en-US" sz="1600" dirty="0"/>
              <a:t>, it's important to use these tools responsibly, keeping in mind the ethical considerations and the need for human oversight. </a:t>
            </a:r>
            <a:endParaRPr lang="en-US" sz="1600" dirty="0" smtClean="0"/>
          </a:p>
          <a:p>
            <a:pPr marL="201448" lvl="1" indent="0" algn="just">
              <a:buNone/>
            </a:pPr>
            <a:r>
              <a:rPr lang="en-US" sz="1600" dirty="0"/>
              <a:t>While </a:t>
            </a:r>
            <a:r>
              <a:rPr lang="en-US" sz="1600" dirty="0" err="1"/>
              <a:t>ChatGPT</a:t>
            </a:r>
            <a:r>
              <a:rPr lang="en-US" sz="1600" dirty="0"/>
              <a:t> and other widely available AI technologies bring new challenges and considerations in education, it also has the potential to enhance an engaging educational experience when used strategically and conscientiously. </a:t>
            </a:r>
            <a:endParaRPr lang="en-US" sz="1600" dirty="0" smtClean="0"/>
          </a:p>
          <a:p>
            <a:pPr marL="201448" lvl="1" indent="0" algn="just">
              <a:buNone/>
            </a:pPr>
            <a:r>
              <a:rPr lang="en-US" sz="1600" dirty="0" smtClean="0"/>
              <a:t>As </a:t>
            </a:r>
            <a:r>
              <a:rPr lang="en-US" sz="1600" dirty="0"/>
              <a:t>technology continues to evolve, the role of AI in education will undoubtedly expand, offering new opportunities to enrich the student experience and prepare the next generation for success in an ever-changing world.</a:t>
            </a:r>
          </a:p>
        </p:txBody>
      </p:sp>
    </p:spTree>
    <p:extLst>
      <p:ext uri="{BB962C8B-B14F-4D97-AF65-F5344CB8AC3E}">
        <p14:creationId xmlns:p14="http://schemas.microsoft.com/office/powerpoint/2010/main" val="1836810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304800" y="304800"/>
            <a:ext cx="8229600" cy="494506"/>
          </a:xfrm>
        </p:spPr>
        <p:txBody>
          <a:bodyPr/>
          <a:lstStyle/>
          <a:p>
            <a:pPr>
              <a:defRPr/>
            </a:pPr>
            <a:r>
              <a:rPr lang="en-US" sz="1800" dirty="0" smtClean="0">
                <a:solidFill>
                  <a:srgbClr val="C00000"/>
                </a:solidFill>
                <a:latin typeface="Comic Sans MS" panose="030F0702030302020204" pitchFamily="66" charset="0"/>
              </a:rPr>
              <a:t>Useful links</a:t>
            </a:r>
            <a:endParaRPr lang="en-US" sz="1800" b="1" u="sng" dirty="0" smtClean="0">
              <a:solidFill>
                <a:srgbClr val="C00000"/>
              </a:solidFill>
              <a:latin typeface="Comic Sans MS" panose="030F0702030302020204" pitchFamily="66" charset="0"/>
            </a:endParaRPr>
          </a:p>
        </p:txBody>
      </p:sp>
      <p:sp>
        <p:nvSpPr>
          <p:cNvPr id="2" name="Rectangle 1"/>
          <p:cNvSpPr/>
          <p:nvPr/>
        </p:nvSpPr>
        <p:spPr>
          <a:xfrm>
            <a:off x="609600" y="1676400"/>
            <a:ext cx="8001000" cy="3170099"/>
          </a:xfrm>
          <a:prstGeom prst="rect">
            <a:avLst/>
          </a:prstGeom>
        </p:spPr>
        <p:txBody>
          <a:bodyPr wrap="square">
            <a:spAutoFit/>
          </a:bodyPr>
          <a:lstStyle/>
          <a:p>
            <a:pPr algn="ctr"/>
            <a:endParaRPr lang="en-US" sz="1400" dirty="0">
              <a:solidFill>
                <a:schemeClr val="accent1">
                  <a:lumMod val="75000"/>
                </a:schemeClr>
              </a:solidFill>
            </a:endParaRPr>
          </a:p>
          <a:p>
            <a:pPr algn="ctr"/>
            <a:endParaRPr lang="en-US" sz="1400" dirty="0">
              <a:solidFill>
                <a:schemeClr val="accent1">
                  <a:lumMod val="75000"/>
                </a:schemeClr>
              </a:solidFill>
            </a:endParaRPr>
          </a:p>
          <a:p>
            <a:pPr algn="ctr"/>
            <a:r>
              <a:rPr lang="en-US" sz="1400" dirty="0">
                <a:solidFill>
                  <a:schemeClr val="accent1">
                    <a:lumMod val="75000"/>
                  </a:schemeClr>
                </a:solidFill>
              </a:rPr>
              <a:t>How </a:t>
            </a:r>
            <a:r>
              <a:rPr lang="en-US" sz="1400" dirty="0" err="1">
                <a:solidFill>
                  <a:schemeClr val="accent1">
                    <a:lumMod val="75000"/>
                  </a:schemeClr>
                </a:solidFill>
              </a:rPr>
              <a:t>ChatGPT</a:t>
            </a:r>
            <a:r>
              <a:rPr lang="en-US" sz="1400" dirty="0">
                <a:solidFill>
                  <a:schemeClr val="accent1">
                    <a:lumMod val="75000"/>
                  </a:schemeClr>
                </a:solidFill>
              </a:rPr>
              <a:t> Works Technically | </a:t>
            </a:r>
            <a:r>
              <a:rPr lang="en-US" sz="1400" dirty="0" err="1">
                <a:solidFill>
                  <a:schemeClr val="accent1">
                    <a:lumMod val="75000"/>
                  </a:schemeClr>
                </a:solidFill>
              </a:rPr>
              <a:t>ChatGPT</a:t>
            </a:r>
            <a:r>
              <a:rPr lang="en-US" sz="1400" dirty="0">
                <a:solidFill>
                  <a:schemeClr val="accent1">
                    <a:lumMod val="75000"/>
                  </a:schemeClr>
                </a:solidFill>
              </a:rPr>
              <a:t> Architecture</a:t>
            </a:r>
          </a:p>
          <a:p>
            <a:pPr algn="ctr"/>
            <a:r>
              <a:rPr lang="en-US" sz="1400" dirty="0" smtClean="0">
                <a:solidFill>
                  <a:schemeClr val="accent1">
                    <a:lumMod val="75000"/>
                  </a:schemeClr>
                </a:solidFill>
                <a:hlinkClick r:id=""/>
              </a:rPr>
              <a:t>https</a:t>
            </a:r>
            <a:r>
              <a:rPr lang="en-US" sz="1400" dirty="0">
                <a:solidFill>
                  <a:schemeClr val="accent1">
                    <a:lumMod val="75000"/>
                  </a:schemeClr>
                </a:solidFill>
                <a:hlinkClick r:id=""/>
              </a:rPr>
              <a:t>://</a:t>
            </a:r>
            <a:r>
              <a:rPr lang="en-US" sz="1400" dirty="0" smtClean="0">
                <a:solidFill>
                  <a:schemeClr val="accent1">
                    <a:lumMod val="75000"/>
                  </a:schemeClr>
                </a:solidFill>
                <a:hlinkClick r:id=""/>
              </a:rPr>
              <a:t>www.youtube.com/watch?v=bSvTVREwSNw</a:t>
            </a:r>
          </a:p>
          <a:p>
            <a:pPr algn="ctr"/>
            <a:endParaRPr lang="en-US" sz="1400" dirty="0">
              <a:solidFill>
                <a:schemeClr val="accent1">
                  <a:lumMod val="75000"/>
                </a:schemeClr>
              </a:solidFill>
              <a:hlinkClick r:id=""/>
            </a:endParaRPr>
          </a:p>
          <a:p>
            <a:pPr algn="ctr"/>
            <a:endParaRPr lang="en-US" sz="1400" dirty="0">
              <a:solidFill>
                <a:schemeClr val="accent1">
                  <a:lumMod val="75000"/>
                </a:schemeClr>
              </a:solidFill>
              <a:hlinkClick r:id=""/>
            </a:endParaRPr>
          </a:p>
          <a:p>
            <a:pPr algn="ctr"/>
            <a:r>
              <a:rPr lang="en-US" sz="1400" dirty="0">
                <a:solidFill>
                  <a:schemeClr val="accent1">
                    <a:lumMod val="75000"/>
                  </a:schemeClr>
                </a:solidFill>
              </a:rPr>
              <a:t>How </a:t>
            </a:r>
            <a:r>
              <a:rPr lang="en-US" sz="1400" dirty="0" err="1">
                <a:solidFill>
                  <a:schemeClr val="accent1">
                    <a:lumMod val="75000"/>
                  </a:schemeClr>
                </a:solidFill>
              </a:rPr>
              <a:t>ChatGPT</a:t>
            </a:r>
            <a:r>
              <a:rPr lang="en-US" sz="1400" dirty="0">
                <a:solidFill>
                  <a:schemeClr val="accent1">
                    <a:lumMod val="75000"/>
                  </a:schemeClr>
                </a:solidFill>
              </a:rPr>
              <a:t> Works?</a:t>
            </a:r>
          </a:p>
          <a:p>
            <a:pPr algn="ctr"/>
            <a:r>
              <a:rPr lang="en-US" sz="1400" dirty="0" smtClean="0">
                <a:solidFill>
                  <a:schemeClr val="accent1">
                    <a:lumMod val="75000"/>
                  </a:schemeClr>
                </a:solidFill>
                <a:hlinkClick r:id="rId2"/>
              </a:rPr>
              <a:t>https</a:t>
            </a:r>
            <a:r>
              <a:rPr lang="en-US" sz="1400" dirty="0">
                <a:solidFill>
                  <a:schemeClr val="accent1">
                    <a:lumMod val="75000"/>
                  </a:schemeClr>
                </a:solidFill>
                <a:hlinkClick r:id="rId2"/>
              </a:rPr>
              <a:t>://</a:t>
            </a:r>
            <a:r>
              <a:rPr lang="en-US" sz="1400" dirty="0" smtClean="0">
                <a:solidFill>
                  <a:schemeClr val="accent1">
                    <a:lumMod val="75000"/>
                  </a:schemeClr>
                </a:solidFill>
                <a:hlinkClick r:id="rId2"/>
              </a:rPr>
              <a:t>www.youtube.com/watch?v=4qGrteTY1EM</a:t>
            </a:r>
            <a:endParaRPr lang="en-US" sz="1400" dirty="0" smtClean="0">
              <a:solidFill>
                <a:schemeClr val="accent1">
                  <a:lumMod val="75000"/>
                </a:schemeClr>
              </a:solidFill>
            </a:endParaRPr>
          </a:p>
          <a:p>
            <a:pPr algn="ctr"/>
            <a:endParaRPr lang="en-US" sz="1400" dirty="0">
              <a:solidFill>
                <a:schemeClr val="accent1">
                  <a:lumMod val="75000"/>
                </a:schemeClr>
              </a:solidFill>
            </a:endParaRPr>
          </a:p>
          <a:p>
            <a:pPr algn="ctr"/>
            <a:endParaRPr lang="en-US" sz="1400" dirty="0" smtClean="0">
              <a:solidFill>
                <a:schemeClr val="accent1">
                  <a:lumMod val="75000"/>
                </a:schemeClr>
              </a:solidFill>
            </a:endParaRPr>
          </a:p>
          <a:p>
            <a:pPr algn="ctr"/>
            <a:r>
              <a:rPr lang="en-US" sz="1400" dirty="0" smtClean="0">
                <a:solidFill>
                  <a:schemeClr val="accent1">
                    <a:lumMod val="75000"/>
                  </a:schemeClr>
                </a:solidFill>
              </a:rPr>
              <a:t>How </a:t>
            </a:r>
            <a:r>
              <a:rPr lang="en-US" sz="1400" dirty="0">
                <a:solidFill>
                  <a:schemeClr val="accent1">
                    <a:lumMod val="75000"/>
                  </a:schemeClr>
                </a:solidFill>
              </a:rPr>
              <a:t>Cambridge </a:t>
            </a:r>
            <a:r>
              <a:rPr lang="en-US" sz="1400" dirty="0" err="1">
                <a:solidFill>
                  <a:schemeClr val="accent1">
                    <a:lumMod val="75000"/>
                  </a:schemeClr>
                </a:solidFill>
              </a:rPr>
              <a:t>Analytica</a:t>
            </a:r>
            <a:r>
              <a:rPr lang="en-US" sz="1400" dirty="0">
                <a:solidFill>
                  <a:schemeClr val="accent1">
                    <a:lumMod val="75000"/>
                  </a:schemeClr>
                </a:solidFill>
              </a:rPr>
              <a:t> Used Algorithms To Trawl Through Facebook User Data | Mach | NBC News</a:t>
            </a:r>
          </a:p>
          <a:p>
            <a:pPr algn="ctr"/>
            <a:r>
              <a:rPr lang="en-US" sz="1400" dirty="0" smtClean="0">
                <a:solidFill>
                  <a:schemeClr val="accent1">
                    <a:lumMod val="75000"/>
                  </a:schemeClr>
                </a:solidFill>
                <a:hlinkClick r:id=""/>
              </a:rPr>
              <a:t>https</a:t>
            </a:r>
            <a:r>
              <a:rPr lang="en-US" sz="1400" dirty="0">
                <a:solidFill>
                  <a:schemeClr val="accent1">
                    <a:lumMod val="75000"/>
                  </a:schemeClr>
                </a:solidFill>
                <a:hlinkClick r:id=""/>
              </a:rPr>
              <a:t>://</a:t>
            </a:r>
            <a:r>
              <a:rPr lang="en-US" sz="1400" dirty="0" smtClean="0">
                <a:solidFill>
                  <a:schemeClr val="accent1">
                    <a:lumMod val="75000"/>
                  </a:schemeClr>
                </a:solidFill>
                <a:hlinkClick r:id=""/>
              </a:rPr>
              <a:t>www.youtube.com/watch?v=olysFQkYkCA&amp;t=16s</a:t>
            </a:r>
          </a:p>
          <a:p>
            <a:pPr algn="ctr"/>
            <a:endParaRPr lang="en-US" sz="1400" dirty="0">
              <a:solidFill>
                <a:schemeClr val="accent1">
                  <a:lumMod val="75000"/>
                </a:schemeClr>
              </a:solidFill>
              <a:hlinkClick r:id=""/>
            </a:endParaRPr>
          </a:p>
        </p:txBody>
      </p:sp>
    </p:spTree>
    <p:extLst>
      <p:ext uri="{BB962C8B-B14F-4D97-AF65-F5344CB8AC3E}">
        <p14:creationId xmlns:p14="http://schemas.microsoft.com/office/powerpoint/2010/main" val="28266353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Rot="1" noChangeArrowheads="1"/>
          </p:cNvSpPr>
          <p:nvPr>
            <p:ph type="body" idx="1"/>
          </p:nvPr>
        </p:nvSpPr>
        <p:spPr>
          <a:xfrm>
            <a:off x="533400" y="3124200"/>
            <a:ext cx="8001000" cy="1143000"/>
          </a:xfrm>
        </p:spPr>
        <p:txBody>
          <a:bodyPr/>
          <a:lstStyle/>
          <a:p>
            <a:pPr marL="0" indent="0" algn="ctr">
              <a:buNone/>
            </a:pPr>
            <a:r>
              <a:rPr lang="en-US" sz="1400" dirty="0" smtClean="0"/>
              <a:t>Thank </a:t>
            </a:r>
            <a:r>
              <a:rPr lang="en-US" sz="1400" dirty="0"/>
              <a:t>y</a:t>
            </a:r>
            <a:r>
              <a:rPr lang="en-US" sz="1400" dirty="0" smtClean="0"/>
              <a:t>ou for your attention!</a:t>
            </a:r>
            <a:endParaRPr lang="en-US" sz="1400" dirty="0"/>
          </a:p>
        </p:txBody>
      </p:sp>
    </p:spTree>
    <p:extLst>
      <p:ext uri="{BB962C8B-B14F-4D97-AF65-F5344CB8AC3E}">
        <p14:creationId xmlns:p14="http://schemas.microsoft.com/office/powerpoint/2010/main" val="2929430128"/>
      </p:ext>
    </p:extLst>
  </p:cSld>
  <p:clrMapOvr>
    <a:masterClrMapping/>
  </p:clrMapOvr>
  <p:timing>
    <p:tnLst>
      <p:par>
        <p:cTn id="1" dur="indefinite" restart="never" nodeType="tmRoot"/>
      </p:par>
    </p:tnLst>
  </p:timing>
</p:sld>
</file>

<file path=ppt/theme/theme1.xml><?xml version="1.0" encoding="utf-8"?>
<a:theme xmlns:a="http://schemas.openxmlformats.org/drawingml/2006/main" name="Presentation slides">
  <a:themeElements>
    <a:clrScheme name="Deloitte 2008">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8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FF">
            <a:lumMod val="95000"/>
          </a:srgbClr>
        </a:solidFill>
        <a:ln>
          <a:solidFill>
            <a:srgbClr val="FFFFFF">
              <a:lumMod val="75000"/>
            </a:srgbClr>
          </a:solidFill>
        </a:ln>
      </a:spPr>
      <a:bodyPr wrap="square" lIns="91428" tIns="45715" rIns="91428" bIns="45715" rtlCol="0">
        <a:noAutofit/>
      </a:bodyPr>
      <a:lstStyle>
        <a:defPPr marL="182553" indent="-182553" algn="just" defTabSz="623853" rtl="0" fontAlgn="base">
          <a:lnSpc>
            <a:spcPts val="1100"/>
          </a:lnSpc>
          <a:spcBef>
            <a:spcPct val="0"/>
          </a:spcBef>
          <a:spcAft>
            <a:spcPct val="0"/>
          </a:spcAft>
          <a:buClr>
            <a:srgbClr val="000000"/>
          </a:buClr>
          <a:buFont typeface="Wingdings 3" pitchFamily="18" charset="2"/>
          <a:buChar char="}"/>
          <a:defRPr sz="1200" kern="1200" dirty="0">
            <a:solidFill>
              <a:srgbClr val="0C2870"/>
            </a:solidFill>
            <a:latin typeface="Arial" charset="0"/>
            <a:ea typeface="+mn-ea"/>
            <a:cs typeface="Times New Roman" pitchFamily="18" charset="0"/>
          </a:defRPr>
        </a:defPPr>
      </a:lstStyle>
    </a:spDef>
  </a:objectDefaults>
  <a:extraClrSchemeLst>
    <a:extraClrScheme>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22849</TotalTime>
  <Words>2204</Words>
  <Application>Microsoft Office PowerPoint</Application>
  <PresentationFormat>On-screen Show (4:3)</PresentationFormat>
  <Paragraphs>143</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Comic Sans MS</vt:lpstr>
      <vt:lpstr>Lucida Sans</vt:lpstr>
      <vt:lpstr>Times New Roman</vt:lpstr>
      <vt:lpstr>Wingdings 3</vt:lpstr>
      <vt:lpstr>Presentation slides</vt:lpstr>
      <vt:lpstr>PowerPoint Presentation</vt:lpstr>
      <vt:lpstr>PowerPoint Presentation</vt:lpstr>
      <vt:lpstr>PowerPoint Presentation</vt:lpstr>
      <vt:lpstr>Introduction</vt:lpstr>
      <vt:lpstr>AI tools in writing</vt:lpstr>
      <vt:lpstr>Evolution of AI in education</vt:lpstr>
      <vt:lpstr>Evolution of AI in education illustration</vt:lpstr>
      <vt:lpstr>How AI composer work</vt:lpstr>
      <vt:lpstr>Illustration</vt:lpstr>
      <vt:lpstr>Practical applications in learning</vt:lpstr>
      <vt:lpstr>AI in collaborative learning</vt:lpstr>
      <vt:lpstr>Ethical consideration</vt:lpstr>
      <vt:lpstr>Balancing AI and human creativity</vt:lpstr>
      <vt:lpstr>Guidelines for ethical AI use in education</vt:lpstr>
      <vt:lpstr>Teaching support and professional development</vt:lpstr>
      <vt:lpstr>Enhancing critical thinking and analytical skills</vt:lpstr>
      <vt:lpstr>Addressing diverse learning needs</vt:lpstr>
      <vt:lpstr>Future trends and innovation</vt:lpstr>
      <vt:lpstr>Personalized “Tutoring” and adaptive learning</vt:lpstr>
      <vt:lpstr>How AI is used to personalize learning</vt:lpstr>
      <vt:lpstr>Traditional vs. Adaptive learning</vt:lpstr>
      <vt:lpstr>Final thoughts…</vt:lpstr>
      <vt:lpstr>Conclusion</vt:lpstr>
      <vt:lpstr>Useful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Aurelien</dc:creator>
  <cp:lastModifiedBy>MS</cp:lastModifiedBy>
  <cp:revision>2779</cp:revision>
  <dcterms:created xsi:type="dcterms:W3CDTF">2013-11-13T03:56:02Z</dcterms:created>
  <dcterms:modified xsi:type="dcterms:W3CDTF">2024-09-10T15:48:02Z</dcterms:modified>
</cp:coreProperties>
</file>