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6"/>
  </p:notesMasterIdLst>
  <p:sldIdLst>
    <p:sldId id="1086" r:id="rId2"/>
    <p:sldId id="1754" r:id="rId3"/>
    <p:sldId id="1958" r:id="rId4"/>
    <p:sldId id="2105" r:id="rId5"/>
    <p:sldId id="2106" r:id="rId6"/>
    <p:sldId id="2116" r:id="rId7"/>
    <p:sldId id="2146" r:id="rId8"/>
    <p:sldId id="2118" r:id="rId9"/>
    <p:sldId id="2125" r:id="rId10"/>
    <p:sldId id="2126" r:id="rId11"/>
    <p:sldId id="2127" r:id="rId12"/>
    <p:sldId id="2128" r:id="rId13"/>
    <p:sldId id="2129" r:id="rId14"/>
    <p:sldId id="2133" r:id="rId15"/>
    <p:sldId id="2137" r:id="rId16"/>
    <p:sldId id="2143" r:id="rId17"/>
    <p:sldId id="2144" r:id="rId18"/>
    <p:sldId id="2145" r:id="rId19"/>
    <p:sldId id="2134" r:id="rId20"/>
    <p:sldId id="2142" r:id="rId21"/>
    <p:sldId id="2047" r:id="rId22"/>
    <p:sldId id="2048" r:id="rId23"/>
    <p:sldId id="2049" r:id="rId24"/>
    <p:sldId id="2050" r:id="rId25"/>
    <p:sldId id="2051" r:id="rId26"/>
    <p:sldId id="2052" r:id="rId27"/>
    <p:sldId id="2053" r:id="rId28"/>
    <p:sldId id="2054" r:id="rId29"/>
    <p:sldId id="2055" r:id="rId30"/>
    <p:sldId id="2056" r:id="rId31"/>
    <p:sldId id="2057" r:id="rId32"/>
    <p:sldId id="2058" r:id="rId33"/>
    <p:sldId id="2059" r:id="rId34"/>
    <p:sldId id="2060" r:id="rId35"/>
    <p:sldId id="2061" r:id="rId36"/>
    <p:sldId id="2062" r:id="rId37"/>
    <p:sldId id="2063" r:id="rId38"/>
    <p:sldId id="2064" r:id="rId39"/>
    <p:sldId id="2065" r:id="rId40"/>
    <p:sldId id="2066" r:id="rId41"/>
    <p:sldId id="2067" r:id="rId42"/>
    <p:sldId id="2068" r:id="rId43"/>
    <p:sldId id="2069" r:id="rId44"/>
    <p:sldId id="2071" r:id="rId45"/>
    <p:sldId id="2072" r:id="rId46"/>
    <p:sldId id="2073" r:id="rId47"/>
    <p:sldId id="2077" r:id="rId48"/>
    <p:sldId id="2078" r:id="rId49"/>
    <p:sldId id="2079" r:id="rId50"/>
    <p:sldId id="2080" r:id="rId51"/>
    <p:sldId id="2081" r:id="rId52"/>
    <p:sldId id="2082" r:id="rId53"/>
    <p:sldId id="2083" r:id="rId54"/>
    <p:sldId id="2085" r:id="rId55"/>
    <p:sldId id="2092" r:id="rId56"/>
    <p:sldId id="2093" r:id="rId57"/>
    <p:sldId id="2094" r:id="rId58"/>
    <p:sldId id="2095" r:id="rId59"/>
    <p:sldId id="2096" r:id="rId60"/>
    <p:sldId id="2097" r:id="rId61"/>
    <p:sldId id="2098" r:id="rId62"/>
    <p:sldId id="2099" r:id="rId63"/>
    <p:sldId id="2100" r:id="rId64"/>
    <p:sldId id="2101" r:id="rId65"/>
    <p:sldId id="2102" r:id="rId66"/>
    <p:sldId id="2103" r:id="rId67"/>
    <p:sldId id="2040" r:id="rId68"/>
    <p:sldId id="2038" r:id="rId69"/>
    <p:sldId id="2041" r:id="rId70"/>
    <p:sldId id="2042" r:id="rId71"/>
    <p:sldId id="2139" r:id="rId72"/>
    <p:sldId id="2140" r:id="rId73"/>
    <p:sldId id="2141" r:id="rId74"/>
    <p:sldId id="1984"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6519"/>
    <a:srgbClr val="FAD35B"/>
    <a:srgbClr val="517BA9"/>
    <a:srgbClr val="B40CA0"/>
    <a:srgbClr val="D80EC0"/>
    <a:srgbClr val="F77DEB"/>
    <a:srgbClr val="F2802A"/>
    <a:srgbClr val="F59E5D"/>
    <a:srgbClr val="F2E6BC"/>
    <a:srgbClr val="FAB4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44" autoAdjust="0"/>
    <p:restoredTop sz="93673" autoAdjust="0"/>
  </p:normalViewPr>
  <p:slideViewPr>
    <p:cSldViewPr>
      <p:cViewPr varScale="1">
        <p:scale>
          <a:sx n="65" d="100"/>
          <a:sy n="65" d="100"/>
        </p:scale>
        <p:origin x="316" y="60"/>
      </p:cViewPr>
      <p:guideLst>
        <p:guide orient="horz" pos="2160"/>
        <p:guide pos="2880"/>
      </p:guideLst>
    </p:cSldViewPr>
  </p:slideViewPr>
  <p:notesTextViewPr>
    <p:cViewPr>
      <p:scale>
        <a:sx n="1" d="1"/>
        <a:sy n="1" d="1"/>
      </p:scale>
      <p:origin x="0" y="0"/>
    </p:cViewPr>
  </p:notesTextViewPr>
  <p:sorterViewPr>
    <p:cViewPr varScale="1">
      <p:scale>
        <a:sx n="1" d="1"/>
        <a:sy n="1" d="1"/>
      </p:scale>
      <p:origin x="0" y="-3067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9/26/2024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310E1E-B54D-486B-A45E-ABB83EAFE0EF}" type="slidenum">
              <a:rPr lang="en-GB" altLang="en-US"/>
              <a:pPr eaLnBrk="1" hangingPunct="1"/>
              <a:t>21</a:t>
            </a:fld>
            <a:endParaRPr lang="en-GB" alt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3928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F729BB-3437-481C-AE30-C0B4355AA1EA}" type="slidenum">
              <a:rPr lang="en-GB" altLang="en-US"/>
              <a:pPr eaLnBrk="1" hangingPunct="1"/>
              <a:t>22</a:t>
            </a:fld>
            <a:endParaRPr lang="en-GB" alt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3342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488C3D-740B-415A-9A58-5795A6E3FE5C}" type="slidenum">
              <a:rPr lang="en-GB" altLang="en-US"/>
              <a:pPr eaLnBrk="1" hangingPunct="1"/>
              <a:t>23</a:t>
            </a:fld>
            <a:endParaRPr lang="en-GB"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8390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145ACF-93BA-424D-883B-1F1948C28940}" type="slidenum">
              <a:rPr lang="en-GB" altLang="en-US"/>
              <a:pPr eaLnBrk="1" hangingPunct="1"/>
              <a:t>24</a:t>
            </a:fld>
            <a:endParaRPr lang="en-GB" alt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7095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4D3203-12D0-4E0F-BDFA-3ECF636A27FE}" type="slidenum">
              <a:rPr lang="en-GB" altLang="en-US"/>
              <a:pPr eaLnBrk="1" hangingPunct="1"/>
              <a:t>25</a:t>
            </a:fld>
            <a:endParaRPr lang="en-GB" alt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5816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FD11FB-D820-43DC-9717-5A55C071BB78}" type="slidenum">
              <a:rPr lang="en-GB" altLang="en-US"/>
              <a:pPr eaLnBrk="1" hangingPunct="1"/>
              <a:t>26</a:t>
            </a:fld>
            <a:endParaRPr lang="en-GB" alt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2114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C50DA4-0483-4CD5-8E49-C3A8187C6533}" type="slidenum">
              <a:rPr lang="en-GB" altLang="en-US"/>
              <a:pPr eaLnBrk="1" hangingPunct="1"/>
              <a:t>27</a:t>
            </a:fld>
            <a:endParaRPr lang="en-GB" alt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4384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50FE04-5740-4605-8E6C-61C1E4FD3E97}" type="slidenum">
              <a:rPr lang="en-GB" altLang="en-US"/>
              <a:pPr eaLnBrk="1" hangingPunct="1"/>
              <a:t>28</a:t>
            </a:fld>
            <a:endParaRPr lang="en-GB" alt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5978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6DC74D-13AC-484C-AF2F-946D1D95CF86}" type="slidenum">
              <a:rPr lang="en-GB" altLang="en-US"/>
              <a:pPr eaLnBrk="1" hangingPunct="1"/>
              <a:t>29</a:t>
            </a:fld>
            <a:endParaRPr lang="en-GB" alt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9429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C9AA66-8A4C-4B20-9E77-0D092ADEA76E}" type="slidenum">
              <a:rPr lang="en-GB" altLang="en-US"/>
              <a:pPr eaLnBrk="1" hangingPunct="1"/>
              <a:t>30</a:t>
            </a:fld>
            <a:endParaRPr lang="en-GB"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413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6FDF92-3A66-4412-8E06-36E26042C8F5}" type="slidenum">
              <a:rPr lang="en-GB" altLang="en-US"/>
              <a:pPr eaLnBrk="1" hangingPunct="1"/>
              <a:t>31</a:t>
            </a:fld>
            <a:endParaRPr lang="en-GB" alt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532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FB37B9-DACD-4FC2-8B9D-3EF496FEE684}" type="slidenum">
              <a:rPr lang="en-GB" altLang="en-US"/>
              <a:pPr eaLnBrk="1" hangingPunct="1"/>
              <a:t>32</a:t>
            </a:fld>
            <a:endParaRPr lang="en-GB"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6274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79CEC7-DAC3-4B33-87B8-52885DAF3601}" type="slidenum">
              <a:rPr lang="en-GB" altLang="en-US"/>
              <a:pPr eaLnBrk="1" hangingPunct="1"/>
              <a:t>33</a:t>
            </a:fld>
            <a:endParaRPr lang="en-GB"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0517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136B446-FE06-4EE6-A7C8-697BAFDF7C96}" type="slidenum">
              <a:rPr lang="en-GB" altLang="en-US"/>
              <a:pPr eaLnBrk="1" hangingPunct="1"/>
              <a:t>34</a:t>
            </a:fld>
            <a:endParaRPr lang="en-GB" alt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301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F762262-D28B-485F-BA77-06356AE0181B}" type="slidenum">
              <a:rPr lang="en-GB" altLang="en-US"/>
              <a:pPr eaLnBrk="1" hangingPunct="1"/>
              <a:t>35</a:t>
            </a:fld>
            <a:endParaRPr lang="en-GB" alt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2828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AF72C1-6059-41B1-A860-D1B508C7F201}" type="slidenum">
              <a:rPr lang="en-GB" altLang="en-US"/>
              <a:pPr eaLnBrk="1" hangingPunct="1"/>
              <a:t>36</a:t>
            </a:fld>
            <a:endParaRPr lang="en-GB" alt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3200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75E451-730E-4E08-ACC8-322DD1EC594F}" type="slidenum">
              <a:rPr lang="en-GB" altLang="en-US"/>
              <a:pPr eaLnBrk="1" hangingPunct="1"/>
              <a:t>37</a:t>
            </a:fld>
            <a:endParaRPr lang="en-GB" alt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1004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235C55-2036-45EC-8C95-DA1E11C42C02}" type="slidenum">
              <a:rPr lang="en-GB" altLang="en-US"/>
              <a:pPr eaLnBrk="1" hangingPunct="1"/>
              <a:t>38</a:t>
            </a:fld>
            <a:endParaRPr lang="en-GB" alt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20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363140-9ECA-4856-ABAB-20447B29375C}" type="slidenum">
              <a:rPr lang="en-GB" altLang="en-US"/>
              <a:pPr eaLnBrk="1" hangingPunct="1"/>
              <a:t>39</a:t>
            </a:fld>
            <a:endParaRPr lang="en-GB"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7916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527270-4005-488C-9E6B-79B3DD0F2EEF}" type="slidenum">
              <a:rPr lang="en-GB" altLang="en-US"/>
              <a:pPr eaLnBrk="1" hangingPunct="1"/>
              <a:t>40</a:t>
            </a:fld>
            <a:endParaRPr lang="en-GB" alt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96052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027AFF-BEC0-4437-964C-8552C95D0E03}" type="slidenum">
              <a:rPr lang="en-GB" altLang="en-US"/>
              <a:pPr eaLnBrk="1" hangingPunct="1"/>
              <a:t>41</a:t>
            </a:fld>
            <a:endParaRPr lang="en-GB" alt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4278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DE3F9E-1142-4264-8B64-5CEF99DB3762}" type="slidenum">
              <a:rPr lang="en-GB" altLang="en-US"/>
              <a:pPr eaLnBrk="1" hangingPunct="1"/>
              <a:t>42</a:t>
            </a:fld>
            <a:endParaRPr lang="en-GB" alt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3865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473258-53F8-46DA-BB81-2A70A07C7C01}" type="slidenum">
              <a:rPr lang="en-GB" altLang="en-US"/>
              <a:pPr eaLnBrk="1" hangingPunct="1"/>
              <a:t>43</a:t>
            </a:fld>
            <a:endParaRPr lang="en-GB" alt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9955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38DEBF-1945-48DF-AC0F-B6C833523E4D}" type="slidenum">
              <a:rPr lang="en-GB" altLang="en-US"/>
              <a:pPr eaLnBrk="1" hangingPunct="1"/>
              <a:t>44</a:t>
            </a:fld>
            <a:endParaRPr lang="en-GB" alt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0205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3DCA96-B6BF-4167-AA57-D42DEE810942}" type="slidenum">
              <a:rPr lang="en-GB" altLang="en-US"/>
              <a:pPr eaLnBrk="1" hangingPunct="1"/>
              <a:t>45</a:t>
            </a:fld>
            <a:endParaRPr lang="en-GB" alt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5942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1AC678-7FC7-4C75-BC5C-4E96322C99F6}" type="slidenum">
              <a:rPr lang="en-GB" altLang="en-US"/>
              <a:pPr eaLnBrk="1" hangingPunct="1"/>
              <a:t>46</a:t>
            </a:fld>
            <a:endParaRPr lang="en-GB" alt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2482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89524C1-294F-4438-96D2-C33BCD0DD1DE}" type="slidenum">
              <a:rPr lang="en-GB" altLang="en-US"/>
              <a:pPr eaLnBrk="1" hangingPunct="1"/>
              <a:t>47</a:t>
            </a:fld>
            <a:endParaRPr lang="en-GB"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76505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29CBF7-D5A8-4973-BDE3-4BAE2CB10B6A}" type="slidenum">
              <a:rPr lang="en-GB" altLang="en-US"/>
              <a:pPr eaLnBrk="1" hangingPunct="1"/>
              <a:t>48</a:t>
            </a:fld>
            <a:endParaRPr lang="en-GB"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81406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E1ADFC-4720-4B4A-85AF-D4915382D568}" type="slidenum">
              <a:rPr lang="en-GB" altLang="en-US"/>
              <a:pPr eaLnBrk="1" hangingPunct="1"/>
              <a:t>49</a:t>
            </a:fld>
            <a:endParaRPr lang="en-GB"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48747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B29DD2-40F0-486E-9D0F-4FC9F040C014}" type="slidenum">
              <a:rPr lang="en-GB" altLang="en-US"/>
              <a:pPr eaLnBrk="1" hangingPunct="1"/>
              <a:t>50</a:t>
            </a:fld>
            <a:endParaRPr lang="en-GB" alt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2740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FD998A7-CA87-4A5B-B80A-84455CFA99DB}" type="slidenum">
              <a:rPr lang="en-GB" altLang="en-US"/>
              <a:pPr eaLnBrk="1" hangingPunct="1"/>
              <a:t>51</a:t>
            </a:fld>
            <a:endParaRPr lang="en-GB"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3429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D56B42-407D-4905-97C2-454923C08AFF}" type="slidenum">
              <a:rPr lang="en-GB" altLang="en-US"/>
              <a:pPr eaLnBrk="1" hangingPunct="1"/>
              <a:t>52</a:t>
            </a:fld>
            <a:endParaRPr lang="en-GB"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62350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DEB232-2177-49F8-B554-AB3FED948988}" type="slidenum">
              <a:rPr lang="en-GB" altLang="en-US"/>
              <a:pPr eaLnBrk="1" hangingPunct="1"/>
              <a:t>53</a:t>
            </a:fld>
            <a:endParaRPr lang="en-GB"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84653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CCBAFE-C2AE-4B73-9C40-7AF4CACF82B4}" type="slidenum">
              <a:rPr lang="en-GB" altLang="en-US"/>
              <a:pPr eaLnBrk="1" hangingPunct="1"/>
              <a:t>54</a:t>
            </a:fld>
            <a:endParaRPr lang="en-GB" alt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1427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D7F363-6E82-4C7B-A367-88E22AE885F4}" type="slidenum">
              <a:rPr lang="en-GB" altLang="en-US"/>
              <a:pPr eaLnBrk="1" hangingPunct="1"/>
              <a:t>55</a:t>
            </a:fld>
            <a:endParaRPr lang="en-GB" altLang="en-US"/>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3250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CC5438-03AF-4BCB-AD8C-35C579B928BA}" type="slidenum">
              <a:rPr lang="en-GB" altLang="en-US"/>
              <a:pPr eaLnBrk="1" hangingPunct="1"/>
              <a:t>56</a:t>
            </a:fld>
            <a:endParaRPr lang="en-GB" alt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8792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9A4AD2-0834-47C4-863D-2B8709F08407}" type="slidenum">
              <a:rPr lang="en-GB" altLang="en-US"/>
              <a:pPr eaLnBrk="1" hangingPunct="1"/>
              <a:t>57</a:t>
            </a:fld>
            <a:endParaRPr lang="en-GB" altLang="en-US"/>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24592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9A21BF-A496-41AC-83CA-7EC0E0852B3B}" type="slidenum">
              <a:rPr lang="en-GB" altLang="en-US"/>
              <a:pPr eaLnBrk="1" hangingPunct="1"/>
              <a:t>58</a:t>
            </a:fld>
            <a:endParaRPr lang="en-GB" altLang="en-US"/>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74303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936BF3-B35E-4A1D-A19E-00BB09D5157B}" type="slidenum">
              <a:rPr lang="en-GB" altLang="en-US"/>
              <a:pPr eaLnBrk="1" hangingPunct="1"/>
              <a:t>59</a:t>
            </a:fld>
            <a:endParaRPr lang="en-GB" altLang="en-US"/>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74089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B5B463-B4F0-4913-9AF1-60D6A2238E3F}" type="slidenum">
              <a:rPr lang="en-GB" altLang="en-US"/>
              <a:pPr eaLnBrk="1" hangingPunct="1"/>
              <a:t>60</a:t>
            </a:fld>
            <a:endParaRPr lang="en-GB" altLang="en-US"/>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3655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5CF9F0-1B67-48F3-9CF7-21929E41476B}" type="slidenum">
              <a:rPr lang="en-GB" altLang="en-US"/>
              <a:pPr eaLnBrk="1" hangingPunct="1"/>
              <a:t>61</a:t>
            </a:fld>
            <a:endParaRPr lang="en-GB" altLang="en-US"/>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0026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C55B34-8FAA-421B-A936-81539F9C37AF}" type="slidenum">
              <a:rPr lang="en-GB" altLang="en-US"/>
              <a:pPr eaLnBrk="1" hangingPunct="1"/>
              <a:t>62</a:t>
            </a:fld>
            <a:endParaRPr lang="en-GB" altLang="en-US"/>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52536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1C31E0-8EA1-4A03-94A7-0BF08928C28E}" type="slidenum">
              <a:rPr lang="en-GB" altLang="en-US"/>
              <a:pPr eaLnBrk="1" hangingPunct="1"/>
              <a:t>63</a:t>
            </a:fld>
            <a:endParaRPr lang="en-GB" altLang="en-US"/>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25537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657D577-7A8C-4874-B87E-C90E82AE8D9B}" type="slidenum">
              <a:rPr lang="en-GB" altLang="en-US"/>
              <a:pPr eaLnBrk="1" hangingPunct="1"/>
              <a:t>64</a:t>
            </a:fld>
            <a:endParaRPr lang="en-GB" altLang="en-US"/>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92346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3B5CBF-A773-42AE-BC07-41E811D8CBF6}" type="slidenum">
              <a:rPr lang="en-GB" altLang="en-US"/>
              <a:pPr eaLnBrk="1" hangingPunct="1"/>
              <a:t>65</a:t>
            </a:fld>
            <a:endParaRPr lang="en-GB" altLang="en-US"/>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48227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6AEFC42-20B0-433D-90A7-78F498F1BDD9}" type="slidenum">
              <a:rPr lang="en-GB" altLang="en-US"/>
              <a:pPr eaLnBrk="1" hangingPunct="1"/>
              <a:t>66</a:t>
            </a:fld>
            <a:endParaRPr lang="en-GB" altLang="en-US"/>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987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26/09/67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jpeg"/></Relationships>
</file>

<file path=ppt/slides/_rels/slide3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png"/><Relationship Id="rId4" Type="http://schemas.openxmlformats.org/officeDocument/2006/relationships/image" Target="../media/image34.jpeg"/></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2.jpeg"/><Relationship Id="rId4" Type="http://schemas.openxmlformats.org/officeDocument/2006/relationships/image" Target="../media/image47.jpeg"/></Relationships>
</file>

<file path=ppt/slides/_rels/slide4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image" Target="../media/image52.jpeg"/></Relationships>
</file>

<file path=ppt/slides/_rels/slide4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6.jpeg"/><Relationship Id="rId4" Type="http://schemas.openxmlformats.org/officeDocument/2006/relationships/image" Target="../media/image55.jpeg"/></Relationships>
</file>

<file path=ppt/slides/_rels/slide4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70.jpeg"/></Relationships>
</file>

<file path=ppt/slides/_rels/slide6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72.jpeg"/></Relationships>
</file>

<file path=ppt/slides/_rels/slide6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4.jpeg"/></Relationships>
</file>

<file path=ppt/slides/_rels/slide6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6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3.xml.rels><?xml version="1.0" encoding="UTF-8" standalone="yes"?>
<Relationships xmlns="http://schemas.openxmlformats.org/package/2006/relationships"><Relationship Id="rId3" Type="http://schemas.openxmlformats.org/officeDocument/2006/relationships/hyperlink" Target="https://www.youtube.com/watch?v=FAyit_s9eY0" TargetMode="External"/><Relationship Id="rId2" Type="http://schemas.openxmlformats.org/officeDocument/2006/relationships/hyperlink" Target="https://www.youtube.com/watch?v=q6WlzHLxNKI" TargetMode="External"/><Relationship Id="rId1" Type="http://schemas.openxmlformats.org/officeDocument/2006/relationships/slideLayout" Target="../slideLayouts/slideLayout2.xml"/><Relationship Id="rId5" Type="http://schemas.openxmlformats.org/officeDocument/2006/relationships/hyperlink" Target="https://www.youtube.com/watch?v=XZmGGAbHqa0" TargetMode="External"/><Relationship Id="rId4" Type="http://schemas.openxmlformats.org/officeDocument/2006/relationships/hyperlink" Target="https://www.youtube.com/watch?v=0_veMXUsutU"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38132" y="3289843"/>
            <a:ext cx="8867736" cy="800219"/>
          </a:xfrm>
          <a:prstGeom prst="rect">
            <a:avLst/>
          </a:prstGeom>
          <a:noFill/>
        </p:spPr>
        <p:txBody>
          <a:bodyPr wrap="square" rtlCol="0">
            <a:spAutoFit/>
          </a:bodyPr>
          <a:lstStyle/>
          <a:p>
            <a:r>
              <a:rPr lang="en-US" sz="2800" b="1" dirty="0" smtClean="0">
                <a:solidFill>
                  <a:schemeClr val="bg1"/>
                </a:solidFill>
                <a:latin typeface="Comic Sans MS" panose="030F0702030302020204" pitchFamily="66" charset="0"/>
              </a:rPr>
              <a:t>Management Information Systems</a:t>
            </a:r>
          </a:p>
          <a:p>
            <a:r>
              <a:rPr lang="en-US" b="1" dirty="0" smtClean="0">
                <a:solidFill>
                  <a:schemeClr val="bg1"/>
                </a:solidFill>
              </a:rPr>
              <a:t>Components of PC</a:t>
            </a:r>
            <a:endParaRPr lang="en-US" dirty="0">
              <a:solidFill>
                <a:schemeClr val="bg1"/>
              </a:solidFill>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 Computer Applications 1</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0600"/>
            <a:ext cx="9144000" cy="5867401"/>
          </a:xfrm>
          <a:prstGeom prst="rect">
            <a:avLst/>
          </a:prstGeom>
        </p:spPr>
      </p:pic>
    </p:spTree>
    <p:extLst>
      <p:ext uri="{BB962C8B-B14F-4D97-AF65-F5344CB8AC3E}">
        <p14:creationId xmlns:p14="http://schemas.microsoft.com/office/powerpoint/2010/main" val="1736608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Lecture overview</a:t>
            </a:r>
            <a:endParaRPr lang="en-US" b="1" dirty="0">
              <a:solidFill>
                <a:schemeClr val="accent1">
                  <a:lumMod val="75000"/>
                </a:schemeClr>
              </a:solidFill>
              <a:latin typeface="Comic Sans MS" panose="030F0702030302020204" pitchFamily="66" charset="0"/>
              <a:cs typeface="Times New Roman" pitchFamily="18" charset="0"/>
            </a:endParaRPr>
          </a:p>
        </p:txBody>
      </p:sp>
      <p:sp>
        <p:nvSpPr>
          <p:cNvPr id="6" name="Rectangle 5"/>
          <p:cNvSpPr/>
          <p:nvPr/>
        </p:nvSpPr>
        <p:spPr>
          <a:xfrm>
            <a:off x="685800" y="1828800"/>
            <a:ext cx="8118987" cy="2646878"/>
          </a:xfrm>
          <a:prstGeom prst="rect">
            <a:avLst/>
          </a:prstGeom>
        </p:spPr>
        <p:txBody>
          <a:bodyPr wrap="square">
            <a:spAutoFit/>
          </a:bodyPr>
          <a:lstStyle/>
          <a:p>
            <a:pPr marL="457200" lvl="0" indent="-457200">
              <a:lnSpc>
                <a:spcPct val="150000"/>
              </a:lnSpc>
              <a:buFont typeface="+mj-lt"/>
              <a:buAutoNum type="arabicPeriod"/>
            </a:pPr>
            <a:r>
              <a:rPr lang="en-US" sz="1400" dirty="0" smtClean="0">
                <a:solidFill>
                  <a:schemeClr val="accent1">
                    <a:lumMod val="75000"/>
                  </a:schemeClr>
                </a:solidFill>
              </a:rPr>
              <a:t>Presentation of Information System perspective.</a:t>
            </a:r>
            <a:endParaRPr lang="en-US" sz="1400" dirty="0">
              <a:solidFill>
                <a:schemeClr val="accent1">
                  <a:lumMod val="75000"/>
                </a:schemeClr>
              </a:solidFill>
            </a:endParaRPr>
          </a:p>
          <a:p>
            <a:pPr marL="457200" lvl="0" indent="-457200">
              <a:lnSpc>
                <a:spcPct val="150000"/>
              </a:lnSpc>
              <a:buFont typeface="+mj-lt"/>
              <a:buAutoNum type="arabicPeriod"/>
            </a:pPr>
            <a:r>
              <a:rPr lang="en-US" sz="1400" dirty="0" smtClean="0">
                <a:solidFill>
                  <a:schemeClr val="accent1">
                    <a:lumMod val="75000"/>
                  </a:schemeClr>
                </a:solidFill>
              </a:rPr>
              <a:t>Explanation of Management Information System concept, role and types.</a:t>
            </a:r>
            <a:endParaRPr lang="en-US" sz="1400" dirty="0">
              <a:solidFill>
                <a:schemeClr val="accent1">
                  <a:lumMod val="75000"/>
                </a:schemeClr>
              </a:solidFill>
            </a:endParaRPr>
          </a:p>
          <a:p>
            <a:pPr marL="457200" lvl="0" indent="-457200">
              <a:lnSpc>
                <a:spcPct val="150000"/>
              </a:lnSpc>
              <a:buFont typeface="+mj-lt"/>
              <a:buAutoNum type="arabicPeriod"/>
            </a:pPr>
            <a:r>
              <a:rPr lang="en-US" sz="1400" dirty="0" smtClean="0">
                <a:solidFill>
                  <a:schemeClr val="accent1">
                    <a:lumMod val="75000"/>
                  </a:schemeClr>
                </a:solidFill>
              </a:rPr>
              <a:t>Description of the components of MIS.</a:t>
            </a:r>
          </a:p>
          <a:p>
            <a:pPr marL="457200" indent="-457200">
              <a:lnSpc>
                <a:spcPct val="150000"/>
              </a:lnSpc>
              <a:buFont typeface="+mj-lt"/>
              <a:buAutoNum type="arabicPeriod"/>
            </a:pPr>
            <a:r>
              <a:rPr lang="x-none" sz="1400" dirty="0" smtClean="0">
                <a:solidFill>
                  <a:schemeClr val="accent1">
                    <a:lumMod val="75000"/>
                  </a:schemeClr>
                </a:solidFill>
              </a:rPr>
              <a:t>D</a:t>
            </a:r>
            <a:r>
              <a:rPr lang="en-US" sz="1400" dirty="0" err="1" smtClean="0">
                <a:solidFill>
                  <a:schemeClr val="accent1">
                    <a:lumMod val="75000"/>
                  </a:schemeClr>
                </a:solidFill>
              </a:rPr>
              <a:t>iscussion</a:t>
            </a:r>
            <a:r>
              <a:rPr lang="en-US" sz="1400" dirty="0" smtClean="0">
                <a:solidFill>
                  <a:schemeClr val="accent1">
                    <a:lumMod val="75000"/>
                  </a:schemeClr>
                </a:solidFill>
              </a:rPr>
              <a:t> of the role of MIS in businesses, outcomes, and benefits.</a:t>
            </a:r>
          </a:p>
          <a:p>
            <a:pPr marL="457200" indent="-457200">
              <a:lnSpc>
                <a:spcPct val="150000"/>
              </a:lnSpc>
              <a:buFont typeface="+mj-lt"/>
              <a:buAutoNum type="arabicPeriod"/>
            </a:pPr>
            <a:r>
              <a:rPr lang="en-US" sz="1400" dirty="0" smtClean="0">
                <a:solidFill>
                  <a:schemeClr val="accent1">
                    <a:lumMod val="75000"/>
                  </a:schemeClr>
                </a:solidFill>
              </a:rPr>
              <a:t>Presentation of computer components.</a:t>
            </a:r>
            <a:endParaRPr lang="en-US" sz="1400" dirty="0"/>
          </a:p>
          <a:p>
            <a:pPr marL="457200" lvl="0" indent="-457200">
              <a:lnSpc>
                <a:spcPct val="150000"/>
              </a:lnSpc>
              <a:buFont typeface="+mj-lt"/>
              <a:buAutoNum type="arabicPeriod"/>
            </a:pPr>
            <a:endParaRPr lang="en-US" sz="1400" dirty="0">
              <a:solidFill>
                <a:schemeClr val="accent1">
                  <a:lumMod val="75000"/>
                </a:schemeClr>
              </a:solidFill>
            </a:endParaRPr>
          </a:p>
          <a:p>
            <a:pPr marL="400050" indent="-400050" algn="just">
              <a:lnSpc>
                <a:spcPct val="150000"/>
              </a:lnSpc>
              <a:buFont typeface="+mj-lt"/>
              <a:buAutoNum type="romanLcPeriod"/>
            </a:pPr>
            <a:endParaRPr lang="en-US" sz="1600" dirty="0" smtClean="0">
              <a:solidFill>
                <a:schemeClr val="accent1">
                  <a:lumMod val="75000"/>
                </a:schemeClr>
              </a:solidFill>
            </a:endParaRPr>
          </a:p>
          <a:p>
            <a:pPr marL="400050" indent="-400050" algn="just">
              <a:buFont typeface="+mj-lt"/>
              <a:buAutoNum type="romanLcPeriod"/>
            </a:pPr>
            <a:endParaRPr lang="en-US" sz="1600" dirty="0" smtClean="0">
              <a:solidFill>
                <a:schemeClr val="accent1">
                  <a:lumMod val="75000"/>
                </a:schemeClr>
              </a:solidFill>
            </a:endParaRPr>
          </a:p>
        </p:txBody>
      </p:sp>
    </p:spTree>
    <p:extLst>
      <p:ext uri="{BB962C8B-B14F-4D97-AF65-F5344CB8AC3E}">
        <p14:creationId xmlns:p14="http://schemas.microsoft.com/office/powerpoint/2010/main" val="9859239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91308"/>
            <a:ext cx="8229600" cy="639762"/>
          </a:xfrm>
        </p:spPr>
        <p:txBody>
          <a:bodyPr>
            <a:normAutofit/>
          </a:bodyPr>
          <a:lstStyle/>
          <a:p>
            <a:r>
              <a:rPr lang="en-US" sz="1800" dirty="0" smtClean="0">
                <a:latin typeface="Comic Sans MS" panose="030F0702030302020204" pitchFamily="66" charset="0"/>
              </a:rPr>
              <a:t>Information System</a:t>
            </a:r>
            <a:endParaRPr lang="en-US" sz="1800" dirty="0">
              <a:latin typeface="Comic Sans MS" panose="030F0702030302020204" pitchFamily="66" charset="0"/>
            </a:endParaRPr>
          </a:p>
        </p:txBody>
      </p:sp>
      <p:sp>
        <p:nvSpPr>
          <p:cNvPr id="3" name="Content Placeholder 2"/>
          <p:cNvSpPr>
            <a:spLocks noGrp="1"/>
          </p:cNvSpPr>
          <p:nvPr>
            <p:ph idx="1"/>
          </p:nvPr>
        </p:nvSpPr>
        <p:spPr>
          <a:xfrm>
            <a:off x="457200" y="1330607"/>
            <a:ext cx="8229600" cy="2286000"/>
          </a:xfrm>
        </p:spPr>
        <p:txBody>
          <a:bodyPr/>
          <a:lstStyle/>
          <a:p>
            <a:pPr marL="0" indent="0" algn="just">
              <a:buNone/>
            </a:pPr>
            <a:r>
              <a:rPr lang="en-US" dirty="0" smtClean="0">
                <a:solidFill>
                  <a:schemeClr val="accent1">
                    <a:lumMod val="75000"/>
                  </a:schemeClr>
                </a:solidFill>
              </a:rPr>
              <a:t>Information System (IS), can be any organized combination of People, Hardware, Software and data resources that collects transformation or screening the information in an organization.</a:t>
            </a:r>
          </a:p>
          <a:p>
            <a:pPr algn="just"/>
            <a:endParaRPr lang="en-US" dirty="0"/>
          </a:p>
        </p:txBody>
      </p:sp>
      <p:grpSp>
        <p:nvGrpSpPr>
          <p:cNvPr id="29" name="Group 28"/>
          <p:cNvGrpSpPr/>
          <p:nvPr/>
        </p:nvGrpSpPr>
        <p:grpSpPr>
          <a:xfrm>
            <a:off x="1219200" y="2743200"/>
            <a:ext cx="6553200" cy="3352800"/>
            <a:chOff x="609600" y="3276600"/>
            <a:chExt cx="6553200" cy="3352800"/>
          </a:xfrm>
          <a:effectLst>
            <a:outerShdw blurRad="50800" dist="38100" dir="5400000" algn="t" rotWithShape="0">
              <a:prstClr val="black">
                <a:alpha val="40000"/>
              </a:prstClr>
            </a:outerShdw>
          </a:effectLst>
        </p:grpSpPr>
        <p:sp>
          <p:nvSpPr>
            <p:cNvPr id="4" name="Rectangle 3"/>
            <p:cNvSpPr/>
            <p:nvPr/>
          </p:nvSpPr>
          <p:spPr>
            <a:xfrm>
              <a:off x="609600" y="3276600"/>
              <a:ext cx="1524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Comic Sans MS" panose="030F0702030302020204" pitchFamily="66" charset="0"/>
                </a:rPr>
                <a:t>Input</a:t>
              </a:r>
              <a:endParaRPr lang="en-US" sz="1600" b="1" dirty="0">
                <a:latin typeface="Comic Sans MS" panose="030F0702030302020204" pitchFamily="66" charset="0"/>
              </a:endParaRPr>
            </a:p>
          </p:txBody>
        </p:sp>
        <p:sp>
          <p:nvSpPr>
            <p:cNvPr id="5" name="Rectangle 4"/>
            <p:cNvSpPr/>
            <p:nvPr/>
          </p:nvSpPr>
          <p:spPr>
            <a:xfrm>
              <a:off x="2971800" y="327660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Comic Sans MS" panose="030F0702030302020204" pitchFamily="66" charset="0"/>
                </a:rPr>
                <a:t>Processing</a:t>
              </a:r>
              <a:endParaRPr lang="en-US" sz="1600" b="1" dirty="0">
                <a:latin typeface="Comic Sans MS" panose="030F0702030302020204" pitchFamily="66" charset="0"/>
              </a:endParaRPr>
            </a:p>
          </p:txBody>
        </p:sp>
        <p:sp>
          <p:nvSpPr>
            <p:cNvPr id="6" name="Rectangle 5"/>
            <p:cNvSpPr/>
            <p:nvPr/>
          </p:nvSpPr>
          <p:spPr>
            <a:xfrm>
              <a:off x="5638800" y="3276600"/>
              <a:ext cx="1524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Comic Sans MS" panose="030F0702030302020204" pitchFamily="66" charset="0"/>
                </a:rPr>
                <a:t>Output</a:t>
              </a:r>
              <a:endParaRPr lang="en-US" sz="1600" b="1" dirty="0">
                <a:latin typeface="Comic Sans MS" panose="030F0702030302020204" pitchFamily="66" charset="0"/>
              </a:endParaRPr>
            </a:p>
          </p:txBody>
        </p:sp>
        <p:sp>
          <p:nvSpPr>
            <p:cNvPr id="7" name="Rectangle 6"/>
            <p:cNvSpPr/>
            <p:nvPr/>
          </p:nvSpPr>
          <p:spPr>
            <a:xfrm>
              <a:off x="3048000" y="457200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Comic Sans MS" panose="030F0702030302020204" pitchFamily="66" charset="0"/>
                </a:rPr>
                <a:t>Storage</a:t>
              </a:r>
              <a:endParaRPr lang="en-US" sz="1600" b="1" dirty="0">
                <a:latin typeface="Comic Sans MS" panose="030F0702030302020204" pitchFamily="66" charset="0"/>
              </a:endParaRPr>
            </a:p>
          </p:txBody>
        </p:sp>
        <p:sp>
          <p:nvSpPr>
            <p:cNvPr id="8" name="Rectangle 7"/>
            <p:cNvSpPr/>
            <p:nvPr/>
          </p:nvSpPr>
          <p:spPr>
            <a:xfrm>
              <a:off x="3048000" y="571500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Comic Sans MS" panose="030F0702030302020204" pitchFamily="66" charset="0"/>
                </a:rPr>
                <a:t>Feedback</a:t>
              </a:r>
              <a:endParaRPr lang="en-US" sz="1600" b="1" dirty="0">
                <a:latin typeface="Comic Sans MS" panose="030F0702030302020204" pitchFamily="66" charset="0"/>
              </a:endParaRPr>
            </a:p>
          </p:txBody>
        </p:sp>
        <p:cxnSp>
          <p:nvCxnSpPr>
            <p:cNvPr id="10" name="Straight Arrow Connector 9"/>
            <p:cNvCxnSpPr/>
            <p:nvPr/>
          </p:nvCxnSpPr>
          <p:spPr>
            <a:xfrm>
              <a:off x="2057400" y="37338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724400" y="37338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2"/>
            </p:cNvCxnSpPr>
            <p:nvPr/>
          </p:nvCxnSpPr>
          <p:spPr>
            <a:xfrm rot="5400000">
              <a:off x="3695700" y="4381500"/>
              <a:ext cx="3810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5372100" y="5066506"/>
              <a:ext cx="2057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a:off x="4953000" y="6172200"/>
              <a:ext cx="1524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8" idx="1"/>
            </p:cNvCxnSpPr>
            <p:nvPr/>
          </p:nvCxnSpPr>
          <p:spPr>
            <a:xfrm rot="10800000">
              <a:off x="1295400" y="6172200"/>
              <a:ext cx="1752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flipH="1" flipV="1">
              <a:off x="457200" y="51816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239323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8600" y="291308"/>
            <a:ext cx="8229600" cy="639762"/>
          </a:xfrm>
        </p:spPr>
        <p:txBody>
          <a:bodyPr>
            <a:normAutofit/>
          </a:bodyPr>
          <a:lstStyle/>
          <a:p>
            <a:r>
              <a:rPr lang="en-US" sz="1800" dirty="0" smtClean="0">
                <a:latin typeface="Comic Sans MS" panose="030F0702030302020204" pitchFamily="66" charset="0"/>
              </a:rPr>
              <a:t>Perspectives of Information System</a:t>
            </a:r>
            <a:endParaRPr lang="en-US" sz="1800" dirty="0">
              <a:latin typeface="Comic Sans MS" panose="030F0702030302020204" pitchFamily="66"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2590800"/>
            <a:ext cx="4419600" cy="4170878"/>
          </a:xfrm>
          <a:prstGeom prst="rect">
            <a:avLst/>
          </a:prstGeom>
        </p:spPr>
      </p:pic>
      <p:sp>
        <p:nvSpPr>
          <p:cNvPr id="7" name="Content Placeholder 2"/>
          <p:cNvSpPr>
            <a:spLocks noGrp="1"/>
          </p:cNvSpPr>
          <p:nvPr>
            <p:ph idx="1"/>
          </p:nvPr>
        </p:nvSpPr>
        <p:spPr>
          <a:xfrm>
            <a:off x="457200" y="1330607"/>
            <a:ext cx="8229600" cy="2286000"/>
          </a:xfrm>
        </p:spPr>
        <p:txBody>
          <a:bodyPr/>
          <a:lstStyle/>
          <a:p>
            <a:pPr marL="0" indent="0" algn="just">
              <a:buNone/>
            </a:pPr>
            <a:r>
              <a:rPr lang="en-US" dirty="0" smtClean="0">
                <a:solidFill>
                  <a:schemeClr val="accent1">
                    <a:lumMod val="75000"/>
                  </a:schemeClr>
                </a:solidFill>
              </a:rPr>
              <a:t>Using IS effectively, requires an understanding an organization, management, and  information technology shaping the systems. An IS creates value for the firm as an organizational and management solution to challenges posed by the environment.</a:t>
            </a:r>
            <a:endParaRPr lang="en-US" dirty="0">
              <a:solidFill>
                <a:schemeClr val="accent1">
                  <a:lumMod val="75000"/>
                </a:schemeClr>
              </a:solidFill>
            </a:endParaRPr>
          </a:p>
        </p:txBody>
      </p:sp>
    </p:spTree>
    <p:extLst>
      <p:ext uri="{BB962C8B-B14F-4D97-AF65-F5344CB8AC3E}">
        <p14:creationId xmlns:p14="http://schemas.microsoft.com/office/powerpoint/2010/main" val="27668025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399032"/>
          </a:xfrm>
        </p:spPr>
        <p:txBody>
          <a:bodyPr>
            <a:normAutofit/>
          </a:bodyPr>
          <a:lstStyle/>
          <a:p>
            <a:r>
              <a:rPr lang="en-US" sz="1800" dirty="0" smtClean="0">
                <a:latin typeface="Comic Sans MS" panose="030F0702030302020204" pitchFamily="66" charset="0"/>
              </a:rPr>
              <a:t>Management Information System </a:t>
            </a:r>
            <a:endParaRPr lang="en-US" sz="1800" dirty="0">
              <a:latin typeface="Comic Sans MS" panose="030F0702030302020204" pitchFamily="66" charset="0"/>
            </a:endParaRPr>
          </a:p>
        </p:txBody>
      </p:sp>
      <p:sp>
        <p:nvSpPr>
          <p:cNvPr id="3" name="Content Placeholder 2"/>
          <p:cNvSpPr>
            <a:spLocks noGrp="1"/>
          </p:cNvSpPr>
          <p:nvPr>
            <p:ph idx="1"/>
          </p:nvPr>
        </p:nvSpPr>
        <p:spPr>
          <a:xfrm>
            <a:off x="444193" y="1413320"/>
            <a:ext cx="8229600" cy="2133600"/>
          </a:xfrm>
        </p:spPr>
        <p:txBody>
          <a:bodyPr/>
          <a:lstStyle/>
          <a:p>
            <a:pPr algn="just"/>
            <a:r>
              <a:rPr lang="tr-TR" dirty="0" smtClean="0">
                <a:solidFill>
                  <a:schemeClr val="accent1">
                    <a:lumMod val="75000"/>
                  </a:schemeClr>
                </a:solidFill>
              </a:rPr>
              <a:t>The MIS is defined as a system based on the database of the evolved for the purpose of providing information to the people in the organization.</a:t>
            </a:r>
            <a:endParaRPr lang="en-US" dirty="0" smtClean="0">
              <a:solidFill>
                <a:schemeClr val="accent1">
                  <a:lumMod val="75000"/>
                </a:schemeClr>
              </a:solidFill>
            </a:endParaRPr>
          </a:p>
          <a:p>
            <a:pPr algn="just"/>
            <a:r>
              <a:rPr lang="tr-TR" b="1" dirty="0" smtClean="0">
                <a:solidFill>
                  <a:schemeClr val="accent1">
                    <a:lumMod val="75000"/>
                  </a:schemeClr>
                </a:solidFill>
              </a:rPr>
              <a:t>M</a:t>
            </a:r>
            <a:r>
              <a:rPr lang="en-US" b="1" dirty="0" smtClean="0">
                <a:solidFill>
                  <a:schemeClr val="accent1">
                    <a:lumMod val="75000"/>
                  </a:schemeClr>
                </a:solidFill>
              </a:rPr>
              <a:t>IS</a:t>
            </a:r>
            <a:r>
              <a:rPr lang="tr-TR" b="1" dirty="0" smtClean="0">
                <a:solidFill>
                  <a:schemeClr val="accent1">
                    <a:lumMod val="75000"/>
                  </a:schemeClr>
                </a:solidFill>
              </a:rPr>
              <a:t> are </a:t>
            </a:r>
            <a:r>
              <a:rPr lang="tr-TR" b="1" dirty="0">
                <a:solidFill>
                  <a:schemeClr val="accent1">
                    <a:lumMod val="75000"/>
                  </a:schemeClr>
                </a:solidFill>
              </a:rPr>
              <a:t>distinct from regular </a:t>
            </a:r>
            <a:r>
              <a:rPr lang="en-US" b="1" dirty="0" smtClean="0">
                <a:solidFill>
                  <a:schemeClr val="accent1">
                    <a:lumMod val="75000"/>
                  </a:schemeClr>
                </a:solidFill>
              </a:rPr>
              <a:t>IS</a:t>
            </a:r>
            <a:r>
              <a:rPr lang="tr-TR" b="1" dirty="0" smtClean="0">
                <a:solidFill>
                  <a:schemeClr val="accent1">
                    <a:lumMod val="75000"/>
                  </a:schemeClr>
                </a:solidFill>
              </a:rPr>
              <a:t> </a:t>
            </a:r>
            <a:r>
              <a:rPr lang="tr-TR" b="1" dirty="0">
                <a:solidFill>
                  <a:schemeClr val="accent1">
                    <a:lumMod val="75000"/>
                  </a:schemeClr>
                </a:solidFill>
              </a:rPr>
              <a:t>in that </a:t>
            </a:r>
            <a:r>
              <a:rPr lang="en-US" b="1" dirty="0" smtClean="0">
                <a:solidFill>
                  <a:schemeClr val="accent1">
                    <a:lumMod val="75000"/>
                  </a:schemeClr>
                </a:solidFill>
              </a:rPr>
              <a:t>MIS </a:t>
            </a:r>
            <a:r>
              <a:rPr lang="tr-TR" b="1" dirty="0" smtClean="0">
                <a:solidFill>
                  <a:schemeClr val="accent1">
                    <a:lumMod val="75000"/>
                  </a:schemeClr>
                </a:solidFill>
              </a:rPr>
              <a:t>are </a:t>
            </a:r>
            <a:r>
              <a:rPr lang="tr-TR" b="1" dirty="0">
                <a:solidFill>
                  <a:schemeClr val="accent1">
                    <a:lumMod val="75000"/>
                  </a:schemeClr>
                </a:solidFill>
              </a:rPr>
              <a:t>used to analyze other information systems applied in operational activities in the organization</a:t>
            </a:r>
            <a:r>
              <a:rPr lang="tr-TR" b="1" dirty="0" smtClean="0">
                <a:solidFill>
                  <a:schemeClr val="accent1">
                    <a:lumMod val="75000"/>
                  </a:schemeClr>
                </a:solidFill>
              </a:rPr>
              <a:t>.</a:t>
            </a:r>
            <a:endParaRPr lang="en-US" b="1" dirty="0" smtClean="0">
              <a:solidFill>
                <a:schemeClr val="accent1">
                  <a:lumMod val="75000"/>
                </a:schemeClr>
              </a:solidFill>
            </a:endParaRPr>
          </a:p>
          <a:p>
            <a:pPr algn="just"/>
            <a:r>
              <a:rPr lang="tr-TR" dirty="0" smtClean="0">
                <a:solidFill>
                  <a:schemeClr val="accent1">
                    <a:lumMod val="75000"/>
                  </a:schemeClr>
                </a:solidFill>
              </a:rPr>
              <a:t>MIS </a:t>
            </a:r>
            <a:r>
              <a:rPr lang="tr-TR" dirty="0">
                <a:solidFill>
                  <a:schemeClr val="accent1">
                    <a:lumMod val="75000"/>
                  </a:schemeClr>
                </a:solidFill>
              </a:rPr>
              <a:t>involve three primary resources: technology, information, and people.</a:t>
            </a:r>
          </a:p>
          <a:p>
            <a:pPr algn="just"/>
            <a:r>
              <a:rPr lang="tr-TR" dirty="0" smtClean="0">
                <a:solidFill>
                  <a:schemeClr val="accent1">
                    <a:lumMod val="75000"/>
                  </a:schemeClr>
                </a:solidFill>
              </a:rPr>
              <a:t>M</a:t>
            </a:r>
            <a:r>
              <a:rPr lang="en-US" dirty="0" smtClean="0">
                <a:solidFill>
                  <a:schemeClr val="accent1">
                    <a:lumMod val="75000"/>
                  </a:schemeClr>
                </a:solidFill>
              </a:rPr>
              <a:t>IS</a:t>
            </a:r>
            <a:r>
              <a:rPr lang="tr-TR" dirty="0" smtClean="0">
                <a:solidFill>
                  <a:schemeClr val="accent1">
                    <a:lumMod val="75000"/>
                  </a:schemeClr>
                </a:solidFill>
              </a:rPr>
              <a:t> </a:t>
            </a:r>
            <a:r>
              <a:rPr lang="tr-TR" dirty="0">
                <a:solidFill>
                  <a:schemeClr val="accent1">
                    <a:lumMod val="75000"/>
                  </a:schemeClr>
                </a:solidFill>
              </a:rPr>
              <a:t>are regarded to be a subset of the overall internal </a:t>
            </a:r>
            <a:r>
              <a:rPr lang="tr-TR" dirty="0" smtClean="0">
                <a:solidFill>
                  <a:schemeClr val="accent1">
                    <a:lumMod val="75000"/>
                  </a:schemeClr>
                </a:solidFill>
              </a:rPr>
              <a:t>controls </a:t>
            </a:r>
            <a:r>
              <a:rPr lang="tr-TR" dirty="0">
                <a:solidFill>
                  <a:schemeClr val="accent1">
                    <a:lumMod val="75000"/>
                  </a:schemeClr>
                </a:solidFill>
              </a:rPr>
              <a:t>procedures in a business, which cover the application of people, documents, technologies, and procedures used by management accountants to solve business problems such as costing a product, service or a business-wide strategy.</a:t>
            </a:r>
          </a:p>
          <a:p>
            <a:pPr algn="just"/>
            <a:endParaRPr lang="tr-TR" dirty="0" smtClean="0">
              <a:latin typeface="Times New Roman" pitchFamily="18" charset="0"/>
            </a:endParaRPr>
          </a:p>
          <a:p>
            <a:pPr algn="just"/>
            <a:endParaRPr lang="en-US" dirty="0"/>
          </a:p>
        </p:txBody>
      </p:sp>
      <p:pic>
        <p:nvPicPr>
          <p:cNvPr id="1026" name="Picture 2" descr="What is management information system? Explain management information system.  | by Mishaalhafeez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038600"/>
            <a:ext cx="3657600" cy="2682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3960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399032"/>
          </a:xfrm>
        </p:spPr>
        <p:txBody>
          <a:bodyPr>
            <a:normAutofit/>
          </a:bodyPr>
          <a:lstStyle/>
          <a:p>
            <a:r>
              <a:rPr lang="en-US" sz="1800" dirty="0" smtClean="0">
                <a:latin typeface="Comic Sans MS" panose="030F0702030302020204" pitchFamily="66" charset="0"/>
              </a:rPr>
              <a:t>Typical use of MIS</a:t>
            </a:r>
            <a:endParaRPr lang="en-US" sz="1800" dirty="0">
              <a:latin typeface="Comic Sans MS" panose="030F0702030302020204" pitchFamily="66" charset="0"/>
            </a:endParaRPr>
          </a:p>
        </p:txBody>
      </p:sp>
      <p:sp>
        <p:nvSpPr>
          <p:cNvPr id="3" name="Content Placeholder 2"/>
          <p:cNvSpPr>
            <a:spLocks noGrp="1"/>
          </p:cNvSpPr>
          <p:nvPr>
            <p:ph idx="1"/>
          </p:nvPr>
        </p:nvSpPr>
        <p:spPr>
          <a:xfrm>
            <a:off x="444193" y="1413320"/>
            <a:ext cx="8229600" cy="2133600"/>
          </a:xfrm>
        </p:spPr>
        <p:txBody>
          <a:bodyPr/>
          <a:lstStyle/>
          <a:p>
            <a:pPr marL="0" indent="0" algn="just">
              <a:buNone/>
            </a:pPr>
            <a:r>
              <a:rPr lang="en-US" dirty="0"/>
              <a:t>In practice, Management Information Systems are used to store and control </a:t>
            </a:r>
            <a:r>
              <a:rPr lang="en-US" dirty="0" smtClean="0"/>
              <a:t>actual data </a:t>
            </a:r>
            <a:r>
              <a:rPr lang="en-US" dirty="0"/>
              <a:t>to the day-to-day operation of a business. This can include financial data, statutory data, and many other forms of information tracked by an </a:t>
            </a:r>
            <a:r>
              <a:rPr lang="en-US" dirty="0" smtClean="0"/>
              <a:t>organization</a:t>
            </a:r>
            <a:r>
              <a:rPr lang="en-US" dirty="0"/>
              <a:t>.</a:t>
            </a:r>
            <a:endParaRPr lang="tr-TR" dirty="0" smtClean="0">
              <a:latin typeface="Times New Roman" pitchFamily="18" charset="0"/>
            </a:endParaRPr>
          </a:p>
          <a:p>
            <a:pPr algn="just"/>
            <a:endParaRPr lang="en-US" dirty="0"/>
          </a:p>
        </p:txBody>
      </p:sp>
      <p:pic>
        <p:nvPicPr>
          <p:cNvPr id="2050" name="Picture 2" descr="Management Information System"/>
          <p:cNvPicPr>
            <a:picLocks noChangeAspect="1" noChangeArrowheads="1"/>
          </p:cNvPicPr>
          <p:nvPr/>
        </p:nvPicPr>
        <p:blipFill rotWithShape="1">
          <a:blip r:embed="rId2">
            <a:extLst>
              <a:ext uri="{28A0092B-C50C-407E-A947-70E740481C1C}">
                <a14:useLocalDpi xmlns:a14="http://schemas.microsoft.com/office/drawing/2010/main" val="0"/>
              </a:ext>
            </a:extLst>
          </a:blip>
          <a:srcRect l="2958" t="9798" r="5043" b="8150"/>
          <a:stretch/>
        </p:blipFill>
        <p:spPr bwMode="auto">
          <a:xfrm>
            <a:off x="1053793" y="2590800"/>
            <a:ext cx="701040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6522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z="1800" b="1" dirty="0" smtClean="0">
                <a:latin typeface="Comic Sans MS" panose="030F0702030302020204" pitchFamily="66" charset="0"/>
              </a:rPr>
              <a:t>Role </a:t>
            </a:r>
            <a:r>
              <a:rPr lang="en-US" sz="1800" b="1" dirty="0" smtClean="0">
                <a:latin typeface="Comic Sans MS" panose="030F0702030302020204" pitchFamily="66" charset="0"/>
              </a:rPr>
              <a:t>o</a:t>
            </a:r>
            <a:r>
              <a:rPr lang="tr-TR" sz="1800" b="1" dirty="0" smtClean="0">
                <a:latin typeface="Comic Sans MS" panose="030F0702030302020204" pitchFamily="66" charset="0"/>
              </a:rPr>
              <a:t>f MIS</a:t>
            </a:r>
            <a:r>
              <a:rPr lang="tr-TR" sz="1800" dirty="0" smtClean="0">
                <a:latin typeface="Comic Sans MS" panose="030F0702030302020204" pitchFamily="66" charset="0"/>
              </a:rPr>
              <a:t> </a:t>
            </a:r>
            <a:endParaRPr lang="en-US" sz="1800" dirty="0">
              <a:latin typeface="Comic Sans MS" panose="030F0702030302020204" pitchFamily="66" charset="0"/>
            </a:endParaRPr>
          </a:p>
        </p:txBody>
      </p:sp>
      <p:sp>
        <p:nvSpPr>
          <p:cNvPr id="3" name="Content Placeholder 2"/>
          <p:cNvSpPr>
            <a:spLocks noGrp="1"/>
          </p:cNvSpPr>
          <p:nvPr>
            <p:ph idx="1"/>
          </p:nvPr>
        </p:nvSpPr>
        <p:spPr>
          <a:xfrm>
            <a:off x="381000" y="1666526"/>
            <a:ext cx="8229600" cy="4572000"/>
          </a:xfrm>
        </p:spPr>
        <p:txBody>
          <a:bodyPr>
            <a:normAutofit/>
          </a:bodyPr>
          <a:lstStyle/>
          <a:p>
            <a:pPr algn="just">
              <a:spcAft>
                <a:spcPts val="600"/>
              </a:spcAft>
            </a:pPr>
            <a:r>
              <a:rPr lang="en-US" dirty="0">
                <a:solidFill>
                  <a:schemeClr val="accent1">
                    <a:lumMod val="75000"/>
                  </a:schemeClr>
                </a:solidFill>
              </a:rPr>
              <a:t>The role of MIS in an organization can be compared to the role of the heart in the </a:t>
            </a:r>
            <a:r>
              <a:rPr lang="en-US" dirty="0" smtClean="0">
                <a:solidFill>
                  <a:schemeClr val="accent1">
                    <a:lumMod val="75000"/>
                  </a:schemeClr>
                </a:solidFill>
              </a:rPr>
              <a:t>body. The </a:t>
            </a:r>
            <a:r>
              <a:rPr lang="en-US" dirty="0">
                <a:solidFill>
                  <a:schemeClr val="accent1">
                    <a:lumMod val="75000"/>
                  </a:schemeClr>
                </a:solidFill>
              </a:rPr>
              <a:t>information is the blood and MIS is the heart. In the body, the heart plays the role of supplying pure blood to all the elements of the </a:t>
            </a:r>
            <a:r>
              <a:rPr lang="en-US" dirty="0" smtClean="0">
                <a:solidFill>
                  <a:schemeClr val="accent1">
                    <a:lumMod val="75000"/>
                  </a:schemeClr>
                </a:solidFill>
              </a:rPr>
              <a:t>body including </a:t>
            </a:r>
            <a:r>
              <a:rPr lang="en-US" dirty="0">
                <a:solidFill>
                  <a:schemeClr val="accent1">
                    <a:lumMod val="75000"/>
                  </a:schemeClr>
                </a:solidFill>
              </a:rPr>
              <a:t>the </a:t>
            </a:r>
            <a:r>
              <a:rPr lang="en-US" dirty="0" smtClean="0">
                <a:solidFill>
                  <a:schemeClr val="accent1">
                    <a:lumMod val="75000"/>
                  </a:schemeClr>
                </a:solidFill>
              </a:rPr>
              <a:t>brain. The </a:t>
            </a:r>
            <a:r>
              <a:rPr lang="en-US" dirty="0">
                <a:solidFill>
                  <a:schemeClr val="accent1">
                    <a:lumMod val="75000"/>
                  </a:schemeClr>
                </a:solidFill>
              </a:rPr>
              <a:t>MIS plays the same role in the </a:t>
            </a:r>
            <a:r>
              <a:rPr lang="en-US" dirty="0" smtClean="0">
                <a:solidFill>
                  <a:schemeClr val="accent1">
                    <a:lumMod val="75000"/>
                  </a:schemeClr>
                </a:solidFill>
              </a:rPr>
              <a:t>organization.</a:t>
            </a:r>
          </a:p>
          <a:p>
            <a:pPr algn="just">
              <a:spcAft>
                <a:spcPts val="600"/>
              </a:spcAft>
            </a:pPr>
            <a:r>
              <a:rPr lang="en-US" dirty="0" smtClean="0">
                <a:solidFill>
                  <a:schemeClr val="accent1">
                    <a:lumMod val="75000"/>
                  </a:schemeClr>
                </a:solidFill>
              </a:rPr>
              <a:t>The </a:t>
            </a:r>
            <a:r>
              <a:rPr lang="en-US" dirty="0">
                <a:solidFill>
                  <a:schemeClr val="accent1">
                    <a:lumMod val="75000"/>
                  </a:schemeClr>
                </a:solidFill>
              </a:rPr>
              <a:t>system ensures that appropriate data is collected from various sources, processed, and sent further to all the needy destinations. </a:t>
            </a:r>
            <a:endParaRPr lang="en-US" dirty="0" smtClean="0">
              <a:solidFill>
                <a:schemeClr val="accent1">
                  <a:lumMod val="75000"/>
                </a:schemeClr>
              </a:solidFill>
            </a:endParaRPr>
          </a:p>
          <a:p>
            <a:pPr algn="just">
              <a:spcAft>
                <a:spcPts val="600"/>
              </a:spcAft>
            </a:pPr>
            <a:r>
              <a:rPr lang="en-US" dirty="0" smtClean="0">
                <a:solidFill>
                  <a:schemeClr val="accent1">
                    <a:lumMod val="75000"/>
                  </a:schemeClr>
                </a:solidFill>
              </a:rPr>
              <a:t>The </a:t>
            </a:r>
            <a:r>
              <a:rPr lang="en-US" dirty="0">
                <a:solidFill>
                  <a:schemeClr val="accent1">
                    <a:lumMod val="75000"/>
                  </a:schemeClr>
                </a:solidFill>
              </a:rPr>
              <a:t>system is expected to fulfill the information needs of an individual, a group of individuals, and the management functionaries: the managers and the top </a:t>
            </a:r>
            <a:r>
              <a:rPr lang="en-US" dirty="0" smtClean="0">
                <a:solidFill>
                  <a:schemeClr val="accent1">
                    <a:lumMod val="75000"/>
                  </a:schemeClr>
                </a:solidFill>
              </a:rPr>
              <a:t>management.</a:t>
            </a:r>
          </a:p>
          <a:p>
            <a:pPr algn="just">
              <a:spcAft>
                <a:spcPts val="600"/>
              </a:spcAft>
            </a:pPr>
            <a:r>
              <a:rPr lang="en-US" dirty="0" smtClean="0">
                <a:solidFill>
                  <a:schemeClr val="accent1">
                    <a:lumMod val="75000"/>
                  </a:schemeClr>
                </a:solidFill>
              </a:rPr>
              <a:t>The </a:t>
            </a:r>
            <a:r>
              <a:rPr lang="en-US" dirty="0">
                <a:solidFill>
                  <a:schemeClr val="accent1">
                    <a:lumMod val="75000"/>
                  </a:schemeClr>
                </a:solidFill>
              </a:rPr>
              <a:t>MIS helps in Strategic Planning, Management Control, Operational Control, and Transaction </a:t>
            </a:r>
            <a:r>
              <a:rPr lang="en-US" dirty="0" smtClean="0">
                <a:solidFill>
                  <a:schemeClr val="accent1">
                    <a:lumMod val="75000"/>
                  </a:schemeClr>
                </a:solidFill>
              </a:rPr>
              <a:t>Processing.</a:t>
            </a:r>
          </a:p>
          <a:p>
            <a:pPr algn="just">
              <a:spcAft>
                <a:spcPts val="600"/>
              </a:spcAft>
            </a:pPr>
            <a:r>
              <a:rPr lang="en-US" dirty="0" smtClean="0">
                <a:solidFill>
                  <a:schemeClr val="accent1">
                    <a:lumMod val="75000"/>
                  </a:schemeClr>
                </a:solidFill>
              </a:rPr>
              <a:t>The </a:t>
            </a:r>
            <a:r>
              <a:rPr lang="en-US" dirty="0">
                <a:solidFill>
                  <a:schemeClr val="accent1">
                    <a:lumMod val="75000"/>
                  </a:schemeClr>
                </a:solidFill>
              </a:rPr>
              <a:t>main aim of MIS is to inform management and help them make informed decisions about management and the way the business is run</a:t>
            </a:r>
            <a:r>
              <a:rPr lang="en-US" dirty="0" smtClean="0">
                <a:solidFill>
                  <a:schemeClr val="accent1">
                    <a:lumMod val="75000"/>
                  </a:schemeClr>
                </a:solidFill>
              </a:rPr>
              <a:t>.</a:t>
            </a:r>
            <a:endParaRPr lang="tr-TR" dirty="0" smtClean="0">
              <a:latin typeface="Times New Roman" pitchFamily="18" charset="0"/>
              <a:cs typeface="Times New Roman" pitchFamily="18" charset="0"/>
            </a:endParaRPr>
          </a:p>
          <a:p>
            <a:pPr algn="just">
              <a:lnSpc>
                <a:spcPct val="80000"/>
              </a:lnSpc>
              <a:spcAft>
                <a:spcPts val="600"/>
              </a:spcAft>
            </a:pPr>
            <a:endParaRPr lang="en-US" dirty="0" smtClean="0">
              <a:latin typeface="Times New Roman" pitchFamily="18" charset="0"/>
            </a:endParaRPr>
          </a:p>
          <a:p>
            <a:pPr algn="just">
              <a:lnSpc>
                <a:spcPct val="80000"/>
              </a:lnSpc>
              <a:spcAft>
                <a:spcPts val="600"/>
              </a:spcAft>
            </a:pPr>
            <a:endParaRPr lang="tr-TR" dirty="0" smtClean="0">
              <a:latin typeface="Times New Roman" pitchFamily="18" charset="0"/>
            </a:endParaRPr>
          </a:p>
          <a:p>
            <a:pPr algn="just">
              <a:spcAft>
                <a:spcPts val="600"/>
              </a:spcAft>
            </a:pPr>
            <a:endParaRPr lang="en-US" dirty="0"/>
          </a:p>
        </p:txBody>
      </p:sp>
    </p:spTree>
    <p:extLst>
      <p:ext uri="{BB962C8B-B14F-4D97-AF65-F5344CB8AC3E}">
        <p14:creationId xmlns:p14="http://schemas.microsoft.com/office/powerpoint/2010/main" val="17707726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399032"/>
          </a:xfrm>
        </p:spPr>
        <p:txBody>
          <a:bodyPr/>
          <a:lstStyle/>
          <a:p>
            <a:r>
              <a:rPr lang="tr-TR" sz="1800" b="1" dirty="0" smtClean="0">
                <a:latin typeface="Comic Sans MS" panose="030F0702030302020204" pitchFamily="66" charset="0"/>
              </a:rPr>
              <a:t>Types </a:t>
            </a:r>
            <a:r>
              <a:rPr lang="en-US" sz="1800" b="1" dirty="0" smtClean="0">
                <a:latin typeface="Comic Sans MS" panose="030F0702030302020204" pitchFamily="66" charset="0"/>
              </a:rPr>
              <a:t>o</a:t>
            </a:r>
            <a:r>
              <a:rPr lang="tr-TR" sz="1800" b="1" dirty="0" smtClean="0">
                <a:latin typeface="Comic Sans MS" panose="030F0702030302020204" pitchFamily="66" charset="0"/>
              </a:rPr>
              <a:t>f MIS</a:t>
            </a:r>
            <a:r>
              <a:rPr lang="tr-TR" sz="1800" dirty="0" smtClean="0">
                <a:latin typeface="Comic Sans MS" panose="030F0702030302020204" pitchFamily="66" charset="0"/>
              </a:rPr>
              <a:t> </a:t>
            </a:r>
            <a:endParaRPr lang="en-US" sz="1800" dirty="0">
              <a:latin typeface="Comic Sans MS" panose="030F0702030302020204" pitchFamily="66" charset="0"/>
            </a:endParaRPr>
          </a:p>
        </p:txBody>
      </p:sp>
      <p:sp>
        <p:nvSpPr>
          <p:cNvPr id="3" name="Content Placeholder 2"/>
          <p:cNvSpPr>
            <a:spLocks noGrp="1"/>
          </p:cNvSpPr>
          <p:nvPr>
            <p:ph idx="1"/>
          </p:nvPr>
        </p:nvSpPr>
        <p:spPr/>
        <p:txBody>
          <a:bodyPr>
            <a:normAutofit/>
          </a:bodyPr>
          <a:lstStyle/>
          <a:p>
            <a:pPr marL="0" indent="0" algn="just">
              <a:buNone/>
            </a:pPr>
            <a:r>
              <a:rPr lang="tr-TR" b="1" dirty="0" smtClean="0"/>
              <a:t>Transaction processing systems</a:t>
            </a:r>
            <a:r>
              <a:rPr lang="en-US" b="1" dirty="0" smtClean="0"/>
              <a:t>.</a:t>
            </a:r>
            <a:r>
              <a:rPr lang="tr-TR" dirty="0" smtClean="0"/>
              <a:t> These systems process a large volume of routine, recurring transactions. </a:t>
            </a:r>
          </a:p>
          <a:p>
            <a:pPr marL="0" indent="0" algn="just">
              <a:buNone/>
            </a:pPr>
            <a:r>
              <a:rPr lang="tr-TR" b="1" dirty="0" smtClean="0"/>
              <a:t>Operations information systems</a:t>
            </a:r>
            <a:r>
              <a:rPr lang="en-US" b="1" dirty="0" smtClean="0"/>
              <a:t>.</a:t>
            </a:r>
            <a:r>
              <a:rPr lang="tr-TR" dirty="0" smtClean="0"/>
              <a:t> These systems gather comprehensive data, organize it and summarize it in a form that is useful for managers. </a:t>
            </a:r>
          </a:p>
          <a:p>
            <a:pPr marL="0" indent="0" algn="just">
              <a:buNone/>
            </a:pPr>
            <a:r>
              <a:rPr lang="tr-TR" b="1" dirty="0" smtClean="0"/>
              <a:t>Decision support systems</a:t>
            </a:r>
            <a:r>
              <a:rPr lang="en-US" b="1" dirty="0" smtClean="0"/>
              <a:t>.</a:t>
            </a:r>
            <a:r>
              <a:rPr lang="tr-TR" dirty="0" smtClean="0"/>
              <a:t> These systems help man</a:t>
            </a:r>
            <a:r>
              <a:rPr lang="en-US" dirty="0" smtClean="0"/>
              <a:t>a</a:t>
            </a:r>
            <a:r>
              <a:rPr lang="tr-TR" dirty="0" smtClean="0"/>
              <a:t>gers with the necessary information to make intelligent decisions. </a:t>
            </a:r>
          </a:p>
          <a:p>
            <a:pPr marL="0" indent="0" algn="just">
              <a:buNone/>
            </a:pPr>
            <a:r>
              <a:rPr lang="tr-TR" b="1" dirty="0" smtClean="0"/>
              <a:t>Expert systems</a:t>
            </a:r>
            <a:r>
              <a:rPr lang="en-US" b="1" dirty="0" smtClean="0"/>
              <a:t>.</a:t>
            </a:r>
            <a:r>
              <a:rPr lang="tr-TR" dirty="0" smtClean="0"/>
              <a:t> They are meant to mimic humans in making decisions in a specific field.</a:t>
            </a:r>
          </a:p>
          <a:p>
            <a:endParaRPr lang="en-US" dirty="0"/>
          </a:p>
        </p:txBody>
      </p:sp>
    </p:spTree>
    <p:extLst>
      <p:ext uri="{BB962C8B-B14F-4D97-AF65-F5344CB8AC3E}">
        <p14:creationId xmlns:p14="http://schemas.microsoft.com/office/powerpoint/2010/main" val="1878326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64669"/>
            <a:ext cx="8229600" cy="1399032"/>
          </a:xfrm>
        </p:spPr>
        <p:txBody>
          <a:bodyPr/>
          <a:lstStyle/>
          <a:p>
            <a:r>
              <a:rPr lang="en-US" sz="1800" dirty="0" smtClean="0">
                <a:latin typeface="Comic Sans MS" panose="030F0702030302020204" pitchFamily="66" charset="0"/>
              </a:rPr>
              <a:t>Component</a:t>
            </a:r>
            <a:r>
              <a:rPr lang="tr-TR" sz="1800" b="1" dirty="0" smtClean="0">
                <a:latin typeface="Comic Sans MS" panose="030F0702030302020204" pitchFamily="66" charset="0"/>
              </a:rPr>
              <a:t>s of MIS</a:t>
            </a:r>
            <a:r>
              <a:rPr lang="tr-TR" sz="1800" dirty="0" smtClean="0">
                <a:latin typeface="Comic Sans MS" panose="030F0702030302020204" pitchFamily="66" charset="0"/>
              </a:rPr>
              <a:t> </a:t>
            </a:r>
            <a:endParaRPr lang="en-US" sz="1800" dirty="0">
              <a:latin typeface="Comic Sans MS" panose="030F0702030302020204" pitchFamily="66"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524000"/>
            <a:ext cx="5715000" cy="4862945"/>
          </a:xfrm>
          <a:prstGeom prst="rect">
            <a:avLst/>
          </a:prstGeom>
        </p:spPr>
      </p:pic>
      <p:sp>
        <p:nvSpPr>
          <p:cNvPr id="11" name="Text Box 6"/>
          <p:cNvSpPr txBox="1">
            <a:spLocks noChangeArrowheads="1"/>
          </p:cNvSpPr>
          <p:nvPr/>
        </p:nvSpPr>
        <p:spPr bwMode="auto">
          <a:xfrm>
            <a:off x="3844412" y="3429000"/>
            <a:ext cx="1718187" cy="1136072"/>
          </a:xfrm>
          <a:prstGeom prst="rect">
            <a:avLst/>
          </a:prstGeom>
          <a:solidFill>
            <a:schemeClr val="bg1"/>
          </a:solidFill>
          <a:ln w="19050" algn="in">
            <a:noFill/>
            <a:miter lim="800000"/>
            <a:headEnd/>
            <a:tailEnd/>
          </a:ln>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IE" altLang="en-US" sz="2000" b="1" dirty="0" smtClean="0">
              <a:solidFill>
                <a:schemeClr val="accent1">
                  <a:lumMod val="75000"/>
                </a:schemeClr>
              </a:solidFill>
              <a:latin typeface="Comic Sans MS" panose="030F0702030302020204" pitchFamily="66" charset="0"/>
            </a:endParaRPr>
          </a:p>
          <a:p>
            <a:pPr algn="ctr" eaLnBrk="1" hangingPunct="1"/>
            <a:r>
              <a:rPr lang="en-IE" altLang="en-US" sz="2800" b="1" dirty="0" smtClean="0">
                <a:solidFill>
                  <a:schemeClr val="accent1">
                    <a:lumMod val="75000"/>
                  </a:schemeClr>
                </a:solidFill>
                <a:latin typeface="Comic Sans MS" panose="030F0702030302020204" pitchFamily="66" charset="0"/>
              </a:rPr>
              <a:t>MIS</a:t>
            </a:r>
          </a:p>
          <a:p>
            <a:pPr algn="ctr" eaLnBrk="1" hangingPunct="1"/>
            <a:endParaRPr lang="en-US" altLang="en-US" sz="2000" b="1" dirty="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31420535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95036"/>
            <a:ext cx="8229600" cy="1399032"/>
          </a:xfrm>
        </p:spPr>
        <p:txBody>
          <a:bodyPr/>
          <a:lstStyle/>
          <a:p>
            <a:r>
              <a:rPr lang="tr-TR" sz="1800" b="1" dirty="0" smtClean="0">
                <a:latin typeface="Comic Sans MS" panose="030F0702030302020204" pitchFamily="66" charset="0"/>
              </a:rPr>
              <a:t>Outputs </a:t>
            </a:r>
            <a:r>
              <a:rPr lang="en-US" sz="1800" b="1" dirty="0" smtClean="0">
                <a:latin typeface="Comic Sans MS" panose="030F0702030302020204" pitchFamily="66" charset="0"/>
              </a:rPr>
              <a:t>o</a:t>
            </a:r>
            <a:r>
              <a:rPr lang="tr-TR" sz="1800" b="1" dirty="0" smtClean="0">
                <a:latin typeface="Comic Sans MS" panose="030F0702030302020204" pitchFamily="66" charset="0"/>
              </a:rPr>
              <a:t>f MIS</a:t>
            </a:r>
            <a:endParaRPr lang="en-US" sz="1800" dirty="0">
              <a:latin typeface="Comic Sans MS" panose="030F0702030302020204" pitchFamily="66" charset="0"/>
            </a:endParaRPr>
          </a:p>
        </p:txBody>
      </p:sp>
      <p:sp>
        <p:nvSpPr>
          <p:cNvPr id="4" name="Rectangle 3"/>
          <p:cNvSpPr txBox="1">
            <a:spLocks noChangeArrowheads="1"/>
          </p:cNvSpPr>
          <p:nvPr/>
        </p:nvSpPr>
        <p:spPr>
          <a:xfrm>
            <a:off x="381000" y="1143000"/>
            <a:ext cx="8185150" cy="4038600"/>
          </a:xfrm>
          <a:prstGeom prst="rect">
            <a:avLst/>
          </a:prstGeom>
        </p:spPr>
        <p:txBody>
          <a:bodyPr vert="horz" lIns="91440" tIns="45720" rIns="91440" bIns="45720" rtlCol="0">
            <a:normAutofit/>
          </a:bodyPr>
          <a:lstStyle/>
          <a:p>
            <a:pPr marR="0" lvl="0" algn="l" defTabSz="914400" rtl="0" eaLnBrk="1" fontAlgn="auto" latinLnBrk="0" hangingPunct="1">
              <a:spcBef>
                <a:spcPct val="20000"/>
              </a:spcBef>
              <a:spcAft>
                <a:spcPts val="0"/>
              </a:spcAft>
              <a:buClrTx/>
              <a:buSzTx/>
              <a:tabLst/>
              <a:defRPr/>
            </a:pPr>
            <a:endParaRPr kumimoji="0" lang="tr-TR" sz="1600" b="0" i="0" u="none" strike="noStrike" kern="1200" cap="none" spc="0" normalizeH="0" baseline="0" noProof="0" dirty="0" smtClean="0">
              <a:ln>
                <a:noFill/>
              </a:ln>
              <a:solidFill>
                <a:schemeClr val="accent1">
                  <a:lumMod val="75000"/>
                </a:schemeClr>
              </a:solidFill>
              <a:effectLst/>
              <a:uLnTx/>
              <a:uFillTx/>
              <a:ea typeface="+mn-ea"/>
              <a:cs typeface="+mn-cs"/>
            </a:endParaRPr>
          </a:p>
          <a:p>
            <a:pPr marR="0" lvl="0" algn="just" defTabSz="914400" rtl="0" eaLnBrk="1" fontAlgn="auto" latinLnBrk="0" hangingPunct="1">
              <a:spcBef>
                <a:spcPct val="20000"/>
              </a:spcBef>
              <a:spcAft>
                <a:spcPts val="0"/>
              </a:spcAft>
              <a:buClrTx/>
              <a:buSzTx/>
              <a:tabLst/>
              <a:defRPr/>
            </a:pPr>
            <a:r>
              <a:rPr kumimoji="0" lang="tr-TR" sz="1600" b="1" i="0" u="none" strike="noStrike" kern="1200" cap="none" spc="0" normalizeH="0" baseline="0" noProof="0" dirty="0" smtClean="0">
                <a:ln>
                  <a:noFill/>
                </a:ln>
                <a:solidFill>
                  <a:schemeClr val="accent1">
                    <a:lumMod val="75000"/>
                  </a:schemeClr>
                </a:solidFill>
                <a:effectLst/>
                <a:uLnTx/>
                <a:uFillTx/>
                <a:ea typeface="+mn-ea"/>
                <a:cs typeface="+mn-cs"/>
              </a:rPr>
              <a:t>Scheduled reports</a:t>
            </a:r>
            <a:r>
              <a:rPr kumimoji="0" lang="tr-TR" sz="1600" b="0" i="0" u="none" strike="noStrike" kern="1200" cap="none" spc="0" normalizeH="0" baseline="0" noProof="0" dirty="0" smtClean="0">
                <a:ln>
                  <a:noFill/>
                </a:ln>
                <a:solidFill>
                  <a:schemeClr val="accent1">
                    <a:lumMod val="75000"/>
                  </a:schemeClr>
                </a:solidFill>
                <a:effectLst/>
                <a:uLnTx/>
                <a:uFillTx/>
                <a:ea typeface="+mn-ea"/>
                <a:cs typeface="+mn-cs"/>
              </a:rPr>
              <a:t> which are produced periodically, or on a Schedule (daily, weekly, monthly).</a:t>
            </a:r>
          </a:p>
          <a:p>
            <a:pPr marR="0" lvl="0" algn="ctr" defTabSz="914400" rtl="0" eaLnBrk="1" fontAlgn="auto" latinLnBrk="0" hangingPunct="1">
              <a:spcBef>
                <a:spcPct val="20000"/>
              </a:spcBef>
              <a:spcAft>
                <a:spcPts val="0"/>
              </a:spcAft>
              <a:buClrTx/>
              <a:buSzTx/>
              <a:tabLst/>
              <a:defRPr/>
            </a:pPr>
            <a:endParaRPr kumimoji="0" lang="tr-TR" sz="1600" b="1" i="0" u="none" strike="noStrike" kern="1200" cap="none" spc="0" normalizeH="0" baseline="0" noProof="0" dirty="0" smtClean="0">
              <a:ln>
                <a:noFill/>
              </a:ln>
              <a:solidFill>
                <a:schemeClr val="accent1">
                  <a:lumMod val="75000"/>
                </a:schemeClr>
              </a:solidFill>
              <a:effectLst/>
              <a:uLnTx/>
              <a:uFillTx/>
              <a:ea typeface="+mn-ea"/>
              <a:cs typeface="+mn-cs"/>
            </a:endParaRPr>
          </a:p>
          <a:p>
            <a:pPr marR="0" lvl="0" algn="just" defTabSz="914400" rtl="0" eaLnBrk="1" fontAlgn="auto" latinLnBrk="0" hangingPunct="1">
              <a:spcBef>
                <a:spcPct val="20000"/>
              </a:spcBef>
              <a:spcAft>
                <a:spcPts val="0"/>
              </a:spcAft>
              <a:buClrTx/>
              <a:buSzTx/>
              <a:tabLst/>
              <a:defRPr/>
            </a:pPr>
            <a:r>
              <a:rPr kumimoji="0" lang="tr-TR" sz="1600" b="1" i="0" u="none" strike="noStrike" kern="1200" cap="none" spc="0" normalizeH="0" baseline="0" noProof="0" dirty="0" smtClean="0">
                <a:ln>
                  <a:noFill/>
                </a:ln>
                <a:solidFill>
                  <a:schemeClr val="accent1">
                    <a:lumMod val="75000"/>
                  </a:schemeClr>
                </a:solidFill>
                <a:effectLst/>
                <a:uLnTx/>
                <a:uFillTx/>
                <a:ea typeface="+mn-ea"/>
                <a:cs typeface="+mn-cs"/>
              </a:rPr>
              <a:t>Key-indicator report</a:t>
            </a:r>
            <a:r>
              <a:rPr kumimoji="0" lang="tr-TR" sz="1600" b="0" i="0" u="none" strike="noStrike" kern="1200" cap="none" spc="0" normalizeH="0" baseline="0" noProof="0" dirty="0" smtClean="0">
                <a:ln>
                  <a:noFill/>
                </a:ln>
                <a:solidFill>
                  <a:schemeClr val="accent1">
                    <a:lumMod val="75000"/>
                  </a:schemeClr>
                </a:solidFill>
                <a:effectLst/>
                <a:uLnTx/>
                <a:uFillTx/>
                <a:ea typeface="+mn-ea"/>
                <a:cs typeface="+mn-cs"/>
              </a:rPr>
              <a:t> which summarizes the previous day’s critical activities and also it is typically available at the beginning of each day.</a:t>
            </a:r>
          </a:p>
          <a:p>
            <a:pPr marL="342900" marR="0" lvl="0" indent="-342900" algn="ctr" defTabSz="914400" rtl="0" eaLnBrk="1" fontAlgn="auto" latinLnBrk="0" hangingPunct="1">
              <a:lnSpc>
                <a:spcPct val="90000"/>
              </a:lnSpc>
              <a:spcBef>
                <a:spcPct val="20000"/>
              </a:spcBef>
              <a:spcAft>
                <a:spcPts val="0"/>
              </a:spcAft>
              <a:buClrTx/>
              <a:buSzTx/>
              <a:buFont typeface="Arial" pitchFamily="34" charset="0"/>
              <a:buChar char="•"/>
              <a:tabLst/>
              <a:defRPr/>
            </a:pPr>
            <a:endParaRPr kumimoji="0" lang="tr-TR" sz="2400" b="0" i="0" u="none" strike="noStrike" kern="1200" cap="none" spc="0" normalizeH="0" baseline="0" noProof="0" dirty="0" smtClean="0">
              <a:ln>
                <a:noFill/>
              </a:ln>
              <a:solidFill>
                <a:schemeClr val="tx1"/>
              </a:solidFill>
              <a:effectLst/>
              <a:uLnTx/>
              <a:uFillTx/>
              <a:latin typeface="Times New Roman" pitchFamily="18" charset="0"/>
              <a:ea typeface="+mn-ea"/>
              <a:cs typeface="+mn-cs"/>
            </a:endParaRPr>
          </a:p>
        </p:txBody>
      </p:sp>
      <p:pic>
        <p:nvPicPr>
          <p:cNvPr id="5" name="Picture 5" descr="Kaseya-Summary-Report[1]"/>
          <p:cNvPicPr>
            <a:picLocks noChangeAspect="1" noChangeArrowheads="1"/>
          </p:cNvPicPr>
          <p:nvPr/>
        </p:nvPicPr>
        <p:blipFill>
          <a:blip r:embed="rId2"/>
          <a:srcRect/>
          <a:stretch>
            <a:fillRect/>
          </a:stretch>
        </p:blipFill>
        <p:spPr bwMode="auto">
          <a:xfrm>
            <a:off x="741024" y="3265539"/>
            <a:ext cx="4094982" cy="2982861"/>
          </a:xfrm>
          <a:prstGeom prst="rect">
            <a:avLst/>
          </a:prstGeom>
          <a:noFill/>
          <a:ln w="9525">
            <a:noFill/>
            <a:miter lim="800000"/>
            <a:headEnd/>
            <a:tailEnd/>
          </a:ln>
        </p:spPr>
      </p:pic>
      <p:pic>
        <p:nvPicPr>
          <p:cNvPr id="6" name="Picture 6" descr="188177_large[1]"/>
          <p:cNvPicPr>
            <a:picLocks noChangeAspect="1" noChangeArrowheads="1"/>
          </p:cNvPicPr>
          <p:nvPr/>
        </p:nvPicPr>
        <p:blipFill>
          <a:blip r:embed="rId3"/>
          <a:srcRect/>
          <a:stretch>
            <a:fillRect/>
          </a:stretch>
        </p:blipFill>
        <p:spPr bwMode="auto">
          <a:xfrm>
            <a:off x="5181745" y="3469558"/>
            <a:ext cx="3038666" cy="2550242"/>
          </a:xfrm>
          <a:prstGeom prst="rect">
            <a:avLst/>
          </a:prstGeom>
          <a:noFill/>
          <a:ln w="9525">
            <a:noFill/>
            <a:miter lim="800000"/>
            <a:headEnd/>
            <a:tailEnd/>
          </a:ln>
        </p:spPr>
      </p:pic>
    </p:spTree>
    <p:extLst>
      <p:ext uri="{BB962C8B-B14F-4D97-AF65-F5344CB8AC3E}">
        <p14:creationId xmlns:p14="http://schemas.microsoft.com/office/powerpoint/2010/main" val="41240347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1403"/>
            <a:ext cx="8229600" cy="1399032"/>
          </a:xfrm>
        </p:spPr>
        <p:txBody>
          <a:bodyPr/>
          <a:lstStyle/>
          <a:p>
            <a:r>
              <a:rPr lang="tr-TR" sz="1800" b="1" dirty="0" smtClean="0">
                <a:latin typeface="Comic Sans MS" panose="030F0702030302020204" pitchFamily="66" charset="0"/>
              </a:rPr>
              <a:t>Outputs </a:t>
            </a:r>
            <a:r>
              <a:rPr lang="en-US" sz="1800" b="1" dirty="0" smtClean="0">
                <a:latin typeface="Comic Sans MS" panose="030F0702030302020204" pitchFamily="66" charset="0"/>
              </a:rPr>
              <a:t>o</a:t>
            </a:r>
            <a:r>
              <a:rPr lang="tr-TR" sz="1800" b="1" dirty="0" smtClean="0">
                <a:latin typeface="Comic Sans MS" panose="030F0702030302020204" pitchFamily="66" charset="0"/>
              </a:rPr>
              <a:t>f MIS</a:t>
            </a:r>
            <a:r>
              <a:rPr lang="en-US" sz="1800" b="1" dirty="0" smtClean="0">
                <a:latin typeface="Comic Sans MS" panose="030F0702030302020204" pitchFamily="66" charset="0"/>
              </a:rPr>
              <a:t>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4" name="Rectangle 3"/>
          <p:cNvSpPr txBox="1">
            <a:spLocks noChangeArrowheads="1"/>
          </p:cNvSpPr>
          <p:nvPr/>
        </p:nvSpPr>
        <p:spPr>
          <a:xfrm>
            <a:off x="381000" y="2133600"/>
            <a:ext cx="3370263" cy="4038600"/>
          </a:xfrm>
          <a:prstGeom prst="rect">
            <a:avLst/>
          </a:prstGeom>
        </p:spPr>
        <p:txBody>
          <a:bodyPr vert="horz" lIns="91440" tIns="45720" rIns="91440" bIns="45720" rtlCol="0">
            <a:normAutofit/>
          </a:bodyPr>
          <a:lstStyle/>
          <a:p>
            <a:pPr marR="0" lvl="0" algn="just" defTabSz="914400" rtl="0" eaLnBrk="1" fontAlgn="auto" latinLnBrk="0" hangingPunct="1">
              <a:lnSpc>
                <a:spcPct val="90000"/>
              </a:lnSpc>
              <a:spcBef>
                <a:spcPct val="20000"/>
              </a:spcBef>
              <a:spcAft>
                <a:spcPts val="0"/>
              </a:spcAft>
              <a:buClrTx/>
              <a:buSzTx/>
              <a:tabLst/>
              <a:defRPr/>
            </a:pPr>
            <a:r>
              <a:rPr kumimoji="0" lang="tr-TR" sz="1600" b="1" i="0" u="none" strike="noStrike" kern="1200" cap="none" spc="0" normalizeH="0" baseline="0" noProof="0" dirty="0" smtClean="0">
                <a:ln>
                  <a:noFill/>
                </a:ln>
                <a:solidFill>
                  <a:schemeClr val="accent1">
                    <a:lumMod val="75000"/>
                  </a:schemeClr>
                </a:solidFill>
                <a:effectLst/>
                <a:uLnTx/>
                <a:uFillTx/>
                <a:ea typeface="+mn-ea"/>
                <a:cs typeface="+mn-cs"/>
              </a:rPr>
              <a:t>Demand report</a:t>
            </a:r>
            <a:r>
              <a:rPr kumimoji="0" lang="tr-TR" sz="1600" b="0" i="0" u="none" strike="noStrike" kern="1200" cap="none" spc="0" normalizeH="0" baseline="0" noProof="0" dirty="0" smtClean="0">
                <a:ln>
                  <a:noFill/>
                </a:ln>
                <a:solidFill>
                  <a:schemeClr val="accent1">
                    <a:lumMod val="75000"/>
                  </a:schemeClr>
                </a:solidFill>
                <a:effectLst/>
                <a:uLnTx/>
                <a:uFillTx/>
                <a:ea typeface="+mn-ea"/>
                <a:cs typeface="+mn-cs"/>
              </a:rPr>
              <a:t> which gives certain information at a manager’s request.</a:t>
            </a:r>
            <a:endParaRPr kumimoji="0" lang="en-US" sz="1600" b="0" i="0" u="none" strike="noStrike" kern="1200" cap="none" spc="0" normalizeH="0" baseline="0" noProof="0" dirty="0" smtClean="0">
              <a:ln>
                <a:noFill/>
              </a:ln>
              <a:solidFill>
                <a:schemeClr val="accent1">
                  <a:lumMod val="75000"/>
                </a:schemeClr>
              </a:solidFill>
              <a:effectLst/>
              <a:uLnTx/>
              <a:uFillTx/>
              <a:ea typeface="+mn-ea"/>
              <a:cs typeface="+mn-cs"/>
            </a:endParaRPr>
          </a:p>
          <a:p>
            <a:pPr marR="0" lvl="0" algn="just" defTabSz="914400" rtl="0" eaLnBrk="1" fontAlgn="auto" latinLnBrk="0" hangingPunct="1">
              <a:lnSpc>
                <a:spcPct val="90000"/>
              </a:lnSpc>
              <a:spcBef>
                <a:spcPct val="20000"/>
              </a:spcBef>
              <a:spcAft>
                <a:spcPts val="0"/>
              </a:spcAft>
              <a:buClrTx/>
              <a:buSzTx/>
              <a:tabLst/>
              <a:defRPr/>
            </a:pPr>
            <a:endParaRPr lang="en-US" sz="1600" dirty="0">
              <a:solidFill>
                <a:schemeClr val="accent1">
                  <a:lumMod val="75000"/>
                </a:schemeClr>
              </a:solidFill>
            </a:endParaRPr>
          </a:p>
          <a:p>
            <a:pPr marR="0" lvl="0" algn="just" defTabSz="914400" rtl="0" eaLnBrk="1" fontAlgn="auto" latinLnBrk="0" hangingPunct="1">
              <a:lnSpc>
                <a:spcPct val="90000"/>
              </a:lnSpc>
              <a:spcBef>
                <a:spcPct val="20000"/>
              </a:spcBef>
              <a:spcAft>
                <a:spcPts val="0"/>
              </a:spcAft>
              <a:buClrTx/>
              <a:buSzTx/>
              <a:tabLst/>
              <a:defRPr/>
            </a:pPr>
            <a:endParaRPr kumimoji="0" lang="en-US" sz="1600" b="0" i="0" u="none" strike="noStrike" kern="1200" cap="none" spc="0" normalizeH="0" baseline="0" noProof="0" dirty="0" smtClean="0">
              <a:ln>
                <a:noFill/>
              </a:ln>
              <a:solidFill>
                <a:schemeClr val="accent1">
                  <a:lumMod val="75000"/>
                </a:schemeClr>
              </a:solidFill>
              <a:effectLst/>
              <a:uLnTx/>
              <a:uFillTx/>
              <a:ea typeface="+mn-ea"/>
              <a:cs typeface="+mn-cs"/>
            </a:endParaRPr>
          </a:p>
          <a:p>
            <a:pPr marR="0" lvl="0" algn="just" defTabSz="914400" rtl="0" eaLnBrk="1" fontAlgn="auto" latinLnBrk="0" hangingPunct="1">
              <a:lnSpc>
                <a:spcPct val="90000"/>
              </a:lnSpc>
              <a:spcBef>
                <a:spcPct val="20000"/>
              </a:spcBef>
              <a:spcAft>
                <a:spcPts val="0"/>
              </a:spcAft>
              <a:buClrTx/>
              <a:buSzTx/>
              <a:tabLst/>
              <a:defRPr/>
            </a:pPr>
            <a:endParaRPr lang="en-US" sz="1600" dirty="0">
              <a:solidFill>
                <a:schemeClr val="accent1">
                  <a:lumMod val="75000"/>
                </a:schemeClr>
              </a:solidFill>
            </a:endParaRPr>
          </a:p>
          <a:p>
            <a:pPr marR="0" lvl="0" algn="just" defTabSz="914400" rtl="0" eaLnBrk="1" fontAlgn="auto" latinLnBrk="0" hangingPunct="1">
              <a:lnSpc>
                <a:spcPct val="90000"/>
              </a:lnSpc>
              <a:spcBef>
                <a:spcPct val="20000"/>
              </a:spcBef>
              <a:spcAft>
                <a:spcPts val="0"/>
              </a:spcAft>
              <a:buClrTx/>
              <a:buSzTx/>
              <a:tabLst/>
              <a:defRPr/>
            </a:pPr>
            <a:endParaRPr kumimoji="0" lang="en-US" sz="1600" b="0" i="0" u="none" strike="noStrike" kern="1200" cap="none" spc="0" normalizeH="0" baseline="0" noProof="0" dirty="0" smtClean="0">
              <a:ln>
                <a:noFill/>
              </a:ln>
              <a:solidFill>
                <a:schemeClr val="accent1">
                  <a:lumMod val="75000"/>
                </a:schemeClr>
              </a:solidFill>
              <a:effectLst/>
              <a:uLnTx/>
              <a:uFillTx/>
              <a:ea typeface="+mn-ea"/>
              <a:cs typeface="+mn-cs"/>
            </a:endParaRPr>
          </a:p>
          <a:p>
            <a:pPr marR="0" lvl="0" algn="just" defTabSz="914400" rtl="0" eaLnBrk="1" fontAlgn="auto" latinLnBrk="0" hangingPunct="1">
              <a:lnSpc>
                <a:spcPct val="90000"/>
              </a:lnSpc>
              <a:spcBef>
                <a:spcPct val="20000"/>
              </a:spcBef>
              <a:spcAft>
                <a:spcPts val="0"/>
              </a:spcAft>
              <a:buClrTx/>
              <a:buSzTx/>
              <a:tabLst/>
              <a:defRPr/>
            </a:pPr>
            <a:endParaRPr kumimoji="0" lang="tr-TR" sz="1600" b="0" i="0" u="none" strike="noStrike" kern="1200" cap="none" spc="0" normalizeH="0" baseline="0" noProof="0" dirty="0" smtClean="0">
              <a:ln>
                <a:noFill/>
              </a:ln>
              <a:solidFill>
                <a:schemeClr val="accent1">
                  <a:lumMod val="75000"/>
                </a:schemeClr>
              </a:solidFill>
              <a:effectLst/>
              <a:uLnTx/>
              <a:uFillTx/>
              <a:ea typeface="+mn-ea"/>
              <a:cs typeface="+mn-cs"/>
            </a:endParaRPr>
          </a:p>
          <a:p>
            <a:pPr marR="0" lvl="0" algn="ctr" defTabSz="914400" rtl="0" eaLnBrk="1" fontAlgn="auto" latinLnBrk="0" hangingPunct="1">
              <a:lnSpc>
                <a:spcPct val="90000"/>
              </a:lnSpc>
              <a:spcBef>
                <a:spcPct val="20000"/>
              </a:spcBef>
              <a:spcAft>
                <a:spcPts val="0"/>
              </a:spcAft>
              <a:buClrTx/>
              <a:buSzTx/>
              <a:tabLst/>
              <a:defRPr/>
            </a:pPr>
            <a:endParaRPr kumimoji="0" lang="tr-TR" sz="1600" b="1" i="0" u="none" strike="noStrike" kern="1200" cap="none" spc="0" normalizeH="0" baseline="0" noProof="0" dirty="0" smtClean="0">
              <a:ln>
                <a:noFill/>
              </a:ln>
              <a:solidFill>
                <a:schemeClr val="accent1">
                  <a:lumMod val="75000"/>
                </a:schemeClr>
              </a:solidFill>
              <a:effectLst/>
              <a:uLnTx/>
              <a:uFillTx/>
              <a:ea typeface="+mn-ea"/>
              <a:cs typeface="+mn-cs"/>
            </a:endParaRPr>
          </a:p>
          <a:p>
            <a:pPr marR="0" lvl="0" algn="just" defTabSz="914400" rtl="0" eaLnBrk="1" fontAlgn="auto" latinLnBrk="0" hangingPunct="1">
              <a:lnSpc>
                <a:spcPct val="90000"/>
              </a:lnSpc>
              <a:spcBef>
                <a:spcPct val="20000"/>
              </a:spcBef>
              <a:spcAft>
                <a:spcPts val="0"/>
              </a:spcAft>
              <a:buClrTx/>
              <a:buSzTx/>
              <a:tabLst/>
              <a:defRPr/>
            </a:pPr>
            <a:r>
              <a:rPr kumimoji="0" lang="tr-TR" sz="1600" b="1" i="0" u="none" strike="noStrike" kern="1200" cap="none" spc="0" normalizeH="0" baseline="0" noProof="0" dirty="0" smtClean="0">
                <a:ln>
                  <a:noFill/>
                </a:ln>
                <a:solidFill>
                  <a:schemeClr val="accent1">
                    <a:lumMod val="75000"/>
                  </a:schemeClr>
                </a:solidFill>
                <a:effectLst/>
                <a:uLnTx/>
                <a:uFillTx/>
                <a:ea typeface="+mn-ea"/>
                <a:cs typeface="+mn-cs"/>
              </a:rPr>
              <a:t>Exception report</a:t>
            </a:r>
            <a:r>
              <a:rPr kumimoji="0" lang="tr-TR" sz="1600" b="0" i="0" u="none" strike="noStrike" kern="1200" cap="none" spc="0" normalizeH="0" baseline="0" noProof="0" dirty="0" smtClean="0">
                <a:ln>
                  <a:noFill/>
                </a:ln>
                <a:solidFill>
                  <a:schemeClr val="accent1">
                    <a:lumMod val="75000"/>
                  </a:schemeClr>
                </a:solidFill>
                <a:effectLst/>
                <a:uLnTx/>
                <a:uFillTx/>
                <a:ea typeface="+mn-ea"/>
                <a:cs typeface="+mn-cs"/>
              </a:rPr>
              <a:t> which is automatically produced when a situation is unusual or requires management action.</a:t>
            </a:r>
          </a:p>
        </p:txBody>
      </p:sp>
      <p:pic>
        <p:nvPicPr>
          <p:cNvPr id="5" name="Picture 4" descr="new_pa5[1]"/>
          <p:cNvPicPr>
            <a:picLocks noChangeAspect="1" noChangeArrowheads="1"/>
          </p:cNvPicPr>
          <p:nvPr/>
        </p:nvPicPr>
        <p:blipFill>
          <a:blip r:embed="rId2"/>
          <a:srcRect/>
          <a:stretch>
            <a:fillRect/>
          </a:stretch>
        </p:blipFill>
        <p:spPr bwMode="auto">
          <a:xfrm>
            <a:off x="4132262" y="1025500"/>
            <a:ext cx="4859337" cy="2362200"/>
          </a:xfrm>
          <a:prstGeom prst="rect">
            <a:avLst/>
          </a:prstGeom>
          <a:noFill/>
          <a:ln w="9525">
            <a:noFill/>
            <a:miter lim="800000"/>
            <a:headEnd/>
            <a:tailEnd/>
          </a:ln>
        </p:spPr>
      </p:pic>
      <p:pic>
        <p:nvPicPr>
          <p:cNvPr id="6" name="Picture 5" descr="Application-Exception-Report-for%20Top-Groups[1]"/>
          <p:cNvPicPr>
            <a:picLocks noChangeAspect="1" noChangeArrowheads="1"/>
          </p:cNvPicPr>
          <p:nvPr/>
        </p:nvPicPr>
        <p:blipFill rotWithShape="1">
          <a:blip r:embed="rId3"/>
          <a:srcRect t="9017"/>
          <a:stretch/>
        </p:blipFill>
        <p:spPr bwMode="auto">
          <a:xfrm>
            <a:off x="4132262" y="4038600"/>
            <a:ext cx="4554537" cy="2306637"/>
          </a:xfrm>
          <a:prstGeom prst="rect">
            <a:avLst/>
          </a:prstGeom>
          <a:noFill/>
          <a:ln w="9525">
            <a:noFill/>
            <a:miter lim="800000"/>
            <a:headEnd/>
            <a:tailEnd/>
          </a:ln>
        </p:spPr>
      </p:pic>
    </p:spTree>
    <p:extLst>
      <p:ext uri="{BB962C8B-B14F-4D97-AF65-F5344CB8AC3E}">
        <p14:creationId xmlns:p14="http://schemas.microsoft.com/office/powerpoint/2010/main" val="33632692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399032"/>
          </a:xfrm>
        </p:spPr>
        <p:txBody>
          <a:bodyPr/>
          <a:lstStyle/>
          <a:p>
            <a:r>
              <a:rPr lang="tr-TR" sz="1800" b="1" dirty="0" smtClean="0">
                <a:latin typeface="Comic Sans MS" panose="030F0702030302020204" pitchFamily="66" charset="0"/>
              </a:rPr>
              <a:t>Benefits of MIS</a:t>
            </a:r>
            <a:endParaRPr lang="en-US" sz="1800" dirty="0">
              <a:latin typeface="Comic Sans MS" panose="030F0702030302020204" pitchFamily="66" charset="0"/>
            </a:endParaRPr>
          </a:p>
        </p:txBody>
      </p:sp>
      <p:sp>
        <p:nvSpPr>
          <p:cNvPr id="4" name="Rectangle 3"/>
          <p:cNvSpPr txBox="1">
            <a:spLocks noChangeArrowheads="1"/>
          </p:cNvSpPr>
          <p:nvPr/>
        </p:nvSpPr>
        <p:spPr>
          <a:xfrm>
            <a:off x="462219" y="1600200"/>
            <a:ext cx="8131175" cy="4878388"/>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It improves personal efficiency.</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It expedites problem</a:t>
            </a:r>
            <a:r>
              <a:rPr kumimoji="0" lang="en-US"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a:t>
            </a: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solving</a:t>
            </a:r>
            <a:r>
              <a:rPr kumimoji="0" lang="en-US"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 </a:t>
            </a: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(speed</a:t>
            </a:r>
            <a:r>
              <a:rPr kumimoji="0" lang="en-US"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s</a:t>
            </a: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 up the progress of problems solving in an organization).</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It facilitates interpersonal communication</a:t>
            </a:r>
            <a:r>
              <a:rPr kumimoji="0" lang="en-US"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a:t>
            </a:r>
            <a:endPar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It promotes learning or training.</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rPr>
              <a:t>It increases organizational control.</a:t>
            </a:r>
            <a:endParaRPr kumimoji="0" lang="en-US"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tr-TR" sz="1600" dirty="0" smtClean="0">
                <a:solidFill>
                  <a:schemeClr val="accent1">
                    <a:lumMod val="75000"/>
                  </a:schemeClr>
                </a:solidFill>
                <a:latin typeface="Arial" panose="020B0604020202020204" pitchFamily="34" charset="0"/>
                <a:cs typeface="Arial" panose="020B0604020202020204" pitchFamily="34" charset="0"/>
              </a:rPr>
              <a:t>It generates new evidence in support of a decision.</a:t>
            </a:r>
            <a:endParaRPr lang="en-US" sz="1600" dirty="0" smtClean="0">
              <a:solidFill>
                <a:schemeClr val="accent1">
                  <a:lumMod val="75000"/>
                </a:schemeClr>
              </a:solidFill>
              <a:latin typeface="Arial" panose="020B0604020202020204" pitchFamily="34" charset="0"/>
              <a:cs typeface="Arial" panose="020B0604020202020204"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tr-TR" sz="1600" dirty="0" smtClean="0">
                <a:solidFill>
                  <a:schemeClr val="accent1">
                    <a:lumMod val="75000"/>
                  </a:schemeClr>
                </a:solidFill>
                <a:latin typeface="Arial" panose="020B0604020202020204" pitchFamily="34" charset="0"/>
                <a:cs typeface="Arial" panose="020B0604020202020204" pitchFamily="34" charset="0"/>
              </a:rPr>
              <a:t>It creates a competitive advantage over competition.</a:t>
            </a:r>
            <a:endParaRPr lang="en-US" sz="1600" dirty="0" smtClean="0">
              <a:solidFill>
                <a:schemeClr val="accent1">
                  <a:lumMod val="75000"/>
                </a:schemeClr>
              </a:solidFill>
              <a:latin typeface="Arial" panose="020B0604020202020204" pitchFamily="34" charset="0"/>
              <a:cs typeface="Arial" panose="020B0604020202020204"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tr-TR" sz="1600" dirty="0" smtClean="0">
                <a:solidFill>
                  <a:schemeClr val="accent1">
                    <a:lumMod val="75000"/>
                  </a:schemeClr>
                </a:solidFill>
                <a:latin typeface="Arial" panose="020B0604020202020204" pitchFamily="34" charset="0"/>
                <a:cs typeface="Arial" panose="020B0604020202020204" pitchFamily="34" charset="0"/>
              </a:rPr>
              <a:t>It encourages exploration and discovery on the part of the decision</a:t>
            </a:r>
            <a:r>
              <a:rPr lang="en-US" sz="1600" dirty="0" smtClean="0">
                <a:solidFill>
                  <a:schemeClr val="accent1">
                    <a:lumMod val="75000"/>
                  </a:schemeClr>
                </a:solidFill>
                <a:latin typeface="Arial" panose="020B0604020202020204" pitchFamily="34" charset="0"/>
                <a:cs typeface="Arial" panose="020B0604020202020204" pitchFamily="34" charset="0"/>
              </a:rPr>
              <a:t>-</a:t>
            </a:r>
            <a:r>
              <a:rPr lang="tr-TR" sz="1600" dirty="0" smtClean="0">
                <a:solidFill>
                  <a:schemeClr val="accent1">
                    <a:lumMod val="75000"/>
                  </a:schemeClr>
                </a:solidFill>
                <a:latin typeface="Arial" panose="020B0604020202020204" pitchFamily="34" charset="0"/>
                <a:cs typeface="Arial" panose="020B0604020202020204" pitchFamily="34" charset="0"/>
              </a:rPr>
              <a:t>maker. </a:t>
            </a:r>
            <a:endParaRPr lang="en-US" sz="1600" dirty="0" smtClean="0">
              <a:solidFill>
                <a:schemeClr val="accent1">
                  <a:lumMod val="75000"/>
                </a:schemeClr>
              </a:solidFill>
              <a:latin typeface="Arial" panose="020B0604020202020204" pitchFamily="34" charset="0"/>
              <a:cs typeface="Arial" panose="020B0604020202020204"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tr-TR" sz="1600" dirty="0" smtClean="0">
                <a:solidFill>
                  <a:schemeClr val="accent1">
                    <a:lumMod val="75000"/>
                  </a:schemeClr>
                </a:solidFill>
                <a:latin typeface="Arial" panose="020B0604020202020204" pitchFamily="34" charset="0"/>
                <a:cs typeface="Arial" panose="020B0604020202020204" pitchFamily="34" charset="0"/>
              </a:rPr>
              <a:t>It reveals new approaches to thinking about the problem space.</a:t>
            </a:r>
            <a:endParaRPr lang="en-US" sz="1600" dirty="0" smtClean="0">
              <a:solidFill>
                <a:schemeClr val="accent1">
                  <a:lumMod val="75000"/>
                </a:schemeClr>
              </a:solidFill>
              <a:latin typeface="Arial" panose="020B0604020202020204" pitchFamily="34" charset="0"/>
              <a:cs typeface="Arial" panose="020B0604020202020204" pitchFamily="34" charset="0"/>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tr-TR" sz="1600" dirty="0" smtClean="0">
                <a:solidFill>
                  <a:schemeClr val="accent1">
                    <a:lumMod val="75000"/>
                  </a:schemeClr>
                </a:solidFill>
                <a:latin typeface="Arial" panose="020B0604020202020204" pitchFamily="34" charset="0"/>
                <a:cs typeface="Arial" panose="020B0604020202020204" pitchFamily="34" charset="0"/>
              </a:rPr>
              <a:t>It helps automate the </a:t>
            </a:r>
            <a:r>
              <a:rPr lang="en-US" sz="1600" dirty="0" smtClean="0">
                <a:solidFill>
                  <a:schemeClr val="accent1">
                    <a:lumMod val="75000"/>
                  </a:schemeClr>
                </a:solidFill>
                <a:latin typeface="Arial" panose="020B0604020202020204" pitchFamily="34" charset="0"/>
                <a:cs typeface="Arial" panose="020B0604020202020204" pitchFamily="34" charset="0"/>
              </a:rPr>
              <a:t>m</a:t>
            </a:r>
            <a:r>
              <a:rPr lang="tr-TR" sz="1600" dirty="0" smtClean="0">
                <a:solidFill>
                  <a:schemeClr val="accent1">
                    <a:lumMod val="75000"/>
                  </a:schemeClr>
                </a:solidFill>
                <a:latin typeface="Arial" panose="020B0604020202020204" pitchFamily="34" charset="0"/>
                <a:cs typeface="Arial" panose="020B0604020202020204" pitchFamily="34" charset="0"/>
              </a:rPr>
              <a:t>anagerial processes.</a:t>
            </a:r>
            <a:endParaRPr kumimoji="0" lang="tr-TR" sz="1600" b="0" i="0" u="none" strike="noStrike" kern="1200" cap="none" spc="0" normalizeH="0" baseline="0" noProof="0" dirty="0" smtClean="0">
              <a:ln>
                <a:noFill/>
              </a:ln>
              <a:solidFill>
                <a:schemeClr val="accent1">
                  <a:lumMod val="75000"/>
                </a:schemeClr>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64870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399032"/>
          </a:xfrm>
        </p:spPr>
        <p:txBody>
          <a:bodyPr/>
          <a:lstStyle/>
          <a:p>
            <a:r>
              <a:rPr lang="en-US" sz="1800" dirty="0" smtClean="0">
                <a:latin typeface="Comic Sans MS" panose="030F0702030302020204" pitchFamily="66" charset="0"/>
              </a:rPr>
              <a:t>Role of MIS in Business</a:t>
            </a:r>
            <a:endParaRPr lang="en-US" sz="1800" dirty="0">
              <a:latin typeface="Comic Sans MS" panose="030F0702030302020204" pitchFamily="66" charset="0"/>
            </a:endParaRPr>
          </a:p>
        </p:txBody>
      </p:sp>
      <p:sp>
        <p:nvSpPr>
          <p:cNvPr id="3" name="Content Placeholder 2"/>
          <p:cNvSpPr>
            <a:spLocks noGrp="1"/>
          </p:cNvSpPr>
          <p:nvPr>
            <p:ph idx="1"/>
          </p:nvPr>
        </p:nvSpPr>
        <p:spPr>
          <a:xfrm>
            <a:off x="457200" y="1905000"/>
            <a:ext cx="8229600" cy="4572000"/>
          </a:xfrm>
        </p:spPr>
        <p:txBody>
          <a:bodyPr>
            <a:normAutofit/>
          </a:bodyPr>
          <a:lstStyle/>
          <a:p>
            <a:pPr marL="0" indent="0" algn="just">
              <a:buNone/>
            </a:pPr>
            <a:r>
              <a:rPr lang="en-US" b="1" dirty="0" smtClean="0">
                <a:solidFill>
                  <a:srgbClr val="C00000"/>
                </a:solidFill>
              </a:rPr>
              <a:t>To </a:t>
            </a:r>
            <a:r>
              <a:rPr lang="en-US" b="1" dirty="0">
                <a:solidFill>
                  <a:srgbClr val="C00000"/>
                </a:solidFill>
              </a:rPr>
              <a:t>report on business operations with the purpose of supporting decision making</a:t>
            </a:r>
            <a:r>
              <a:rPr lang="en-US" b="1" dirty="0" smtClean="0">
                <a:solidFill>
                  <a:srgbClr val="C00000"/>
                </a:solidFill>
              </a:rPr>
              <a:t>.</a:t>
            </a:r>
          </a:p>
          <a:p>
            <a:pPr marL="0" indent="0" algn="just">
              <a:buNone/>
            </a:pPr>
            <a:r>
              <a:rPr lang="en-US" dirty="0" smtClean="0">
                <a:solidFill>
                  <a:schemeClr val="accent1">
                    <a:lumMod val="75000"/>
                  </a:schemeClr>
                </a:solidFill>
              </a:rPr>
              <a:t>This </a:t>
            </a:r>
            <a:r>
              <a:rPr lang="en-US" dirty="0">
                <a:solidFill>
                  <a:schemeClr val="accent1">
                    <a:lumMod val="75000"/>
                  </a:schemeClr>
                </a:solidFill>
              </a:rPr>
              <a:t>is to ensure that the organization is managed in a better and more efficient way so that it can be able to achieve full potential thus gain competitive advantage</a:t>
            </a:r>
            <a:r>
              <a:rPr lang="en-US" dirty="0" smtClean="0">
                <a:solidFill>
                  <a:schemeClr val="accent1">
                    <a:lumMod val="75000"/>
                  </a:schemeClr>
                </a:solidFill>
              </a:rPr>
              <a:t>.</a:t>
            </a:r>
          </a:p>
          <a:p>
            <a:pPr marL="0" indent="0" algn="just">
              <a:buNone/>
            </a:pPr>
            <a:endParaRPr lang="en-US" dirty="0">
              <a:solidFill>
                <a:srgbClr val="C00000"/>
              </a:solidFill>
            </a:endParaRPr>
          </a:p>
          <a:p>
            <a:pPr marL="0" lvl="0" indent="0" algn="just">
              <a:buNone/>
            </a:pPr>
            <a:r>
              <a:rPr lang="en-US" b="1" dirty="0">
                <a:solidFill>
                  <a:srgbClr val="C00000"/>
                </a:solidFill>
              </a:rPr>
              <a:t>To provide information readily to company decision makers.</a:t>
            </a:r>
            <a:r>
              <a:rPr lang="en-US" dirty="0">
                <a:solidFill>
                  <a:srgbClr val="C00000"/>
                </a:solidFill>
              </a:rPr>
              <a:t> </a:t>
            </a:r>
            <a:endParaRPr lang="en-US" dirty="0" smtClean="0">
              <a:solidFill>
                <a:srgbClr val="C00000"/>
              </a:solidFill>
            </a:endParaRPr>
          </a:p>
          <a:p>
            <a:pPr marL="0" lvl="0" indent="0" algn="just">
              <a:buNone/>
            </a:pPr>
            <a:r>
              <a:rPr lang="en-US" dirty="0">
                <a:solidFill>
                  <a:schemeClr val="accent1">
                    <a:lumMod val="75000"/>
                  </a:schemeClr>
                </a:solidFill>
              </a:rPr>
              <a:t>Regardless of whether it is a marketing, financial, or operational issue, managers need quick access to information so that they can make good decisions that will have a positive impact on the company’s performance. MIS enhances this by strategically storing vast amounts of information about the company in a central location that can be easily accessed by managers over a network. This means that managers from different departments have access to the same information hence they will be able to make decisions that collectively help solve the company’s problems most quickly.</a:t>
            </a:r>
          </a:p>
        </p:txBody>
      </p:sp>
    </p:spTree>
    <p:extLst>
      <p:ext uri="{BB962C8B-B14F-4D97-AF65-F5344CB8AC3E}">
        <p14:creationId xmlns:p14="http://schemas.microsoft.com/office/powerpoint/2010/main" val="28676528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latin typeface="Comic Sans MS" panose="030F0702030302020204" pitchFamily="66" charset="0"/>
              </a:rPr>
              <a:t>How MIS contributes to decision making process (1)</a:t>
            </a:r>
            <a:endParaRPr lang="en-US" sz="1800" dirty="0">
              <a:latin typeface="Comic Sans MS" panose="030F0702030302020204" pitchFamily="66" charset="0"/>
            </a:endParaRPr>
          </a:p>
        </p:txBody>
      </p:sp>
      <p:sp>
        <p:nvSpPr>
          <p:cNvPr id="3" name="Content Placeholder 2"/>
          <p:cNvSpPr>
            <a:spLocks noGrp="1"/>
          </p:cNvSpPr>
          <p:nvPr>
            <p:ph idx="1"/>
          </p:nvPr>
        </p:nvSpPr>
        <p:spPr>
          <a:xfrm>
            <a:off x="381000" y="1524000"/>
            <a:ext cx="8229600" cy="4572000"/>
          </a:xfrm>
        </p:spPr>
        <p:txBody>
          <a:bodyPr>
            <a:normAutofit/>
          </a:bodyPr>
          <a:lstStyle/>
          <a:p>
            <a:pPr marL="0" indent="0" algn="just">
              <a:buNone/>
            </a:pPr>
            <a:r>
              <a:rPr lang="en-US" b="1" dirty="0"/>
              <a:t>Data Collection and </a:t>
            </a:r>
            <a:r>
              <a:rPr lang="en-US" b="1" dirty="0" smtClean="0"/>
              <a:t>Storage</a:t>
            </a:r>
            <a:endParaRPr lang="en-US" b="1" dirty="0"/>
          </a:p>
          <a:p>
            <a:pPr algn="just"/>
            <a:r>
              <a:rPr lang="en-US" b="1" dirty="0"/>
              <a:t>Role:</a:t>
            </a:r>
            <a:r>
              <a:rPr lang="en-US" dirty="0"/>
              <a:t> MIS collects data from various sources, both internal (e.g., sales, inventory, financial records) and external (e.g., market trends, customer feedback). It stores this data in a structured format, making it easily accessible for analysis.</a:t>
            </a:r>
          </a:p>
          <a:p>
            <a:pPr algn="just"/>
            <a:r>
              <a:rPr lang="en-US" b="1" dirty="0"/>
              <a:t>Impact on Decision-Making:</a:t>
            </a:r>
            <a:r>
              <a:rPr lang="en-US" dirty="0"/>
              <a:t> Managers can rely on accurate, up-to-date information to make decisions, rather than on guesswork or outdated data</a:t>
            </a:r>
            <a:r>
              <a:rPr lang="en-US" dirty="0" smtClean="0"/>
              <a:t>.</a:t>
            </a:r>
          </a:p>
          <a:p>
            <a:pPr algn="just"/>
            <a:endParaRPr lang="en-US" dirty="0"/>
          </a:p>
          <a:p>
            <a:pPr marL="0" indent="0" algn="just">
              <a:buNone/>
            </a:pPr>
            <a:r>
              <a:rPr lang="en-US" b="1" dirty="0"/>
              <a:t>Data Processing and </a:t>
            </a:r>
            <a:r>
              <a:rPr lang="en-US" b="1" dirty="0" smtClean="0"/>
              <a:t>Analysis</a:t>
            </a:r>
            <a:endParaRPr lang="en-US" b="1" dirty="0"/>
          </a:p>
          <a:p>
            <a:pPr algn="just"/>
            <a:r>
              <a:rPr lang="en-US" b="1" dirty="0"/>
              <a:t>Role:</a:t>
            </a:r>
            <a:r>
              <a:rPr lang="en-US" dirty="0"/>
              <a:t> MIS processes the collected data to transform raw information into meaningful insights. This can include summarizing data, generating reports, and identifying trends.</a:t>
            </a:r>
          </a:p>
          <a:p>
            <a:pPr algn="just"/>
            <a:r>
              <a:rPr lang="en-US" b="1" dirty="0"/>
              <a:t>Impact on Decision-Making:</a:t>
            </a:r>
            <a:r>
              <a:rPr lang="en-US" dirty="0"/>
              <a:t> By providing analyzed data, MIS helps managers understand patterns, forecast future trends, and identify potential issues before they become critical, leading to more proactive decision-making.</a:t>
            </a:r>
          </a:p>
          <a:p>
            <a:endParaRPr lang="en-US" dirty="0"/>
          </a:p>
        </p:txBody>
      </p:sp>
    </p:spTree>
    <p:extLst>
      <p:ext uri="{BB962C8B-B14F-4D97-AF65-F5344CB8AC3E}">
        <p14:creationId xmlns:p14="http://schemas.microsoft.com/office/powerpoint/2010/main" val="14159081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latin typeface="Comic Sans MS" panose="030F0702030302020204" pitchFamily="66" charset="0"/>
              </a:rPr>
              <a:t>How MIS contributes to decision making process (2)</a:t>
            </a:r>
            <a:endParaRPr lang="en-US" sz="1800" dirty="0">
              <a:latin typeface="Comic Sans MS" panose="030F0702030302020204" pitchFamily="66" charset="0"/>
            </a:endParaRPr>
          </a:p>
        </p:txBody>
      </p:sp>
      <p:sp>
        <p:nvSpPr>
          <p:cNvPr id="3" name="Content Placeholder 2"/>
          <p:cNvSpPr>
            <a:spLocks noGrp="1"/>
          </p:cNvSpPr>
          <p:nvPr>
            <p:ph idx="1"/>
          </p:nvPr>
        </p:nvSpPr>
        <p:spPr>
          <a:xfrm>
            <a:off x="381000" y="1524000"/>
            <a:ext cx="8229600" cy="4572000"/>
          </a:xfrm>
        </p:spPr>
        <p:txBody>
          <a:bodyPr>
            <a:normAutofit/>
          </a:bodyPr>
          <a:lstStyle/>
          <a:p>
            <a:pPr marL="0" indent="0">
              <a:buNone/>
            </a:pPr>
            <a:r>
              <a:rPr lang="en-US" b="1" dirty="0"/>
              <a:t>Support for Strategic </a:t>
            </a:r>
            <a:r>
              <a:rPr lang="en-US" b="1" dirty="0" smtClean="0"/>
              <a:t>Planning</a:t>
            </a:r>
            <a:endParaRPr lang="en-US" b="1" dirty="0"/>
          </a:p>
          <a:p>
            <a:pPr algn="just"/>
            <a:r>
              <a:rPr lang="en-US" b="1" dirty="0"/>
              <a:t>Role:</a:t>
            </a:r>
            <a:r>
              <a:rPr lang="en-US" dirty="0"/>
              <a:t> MIS provides tools and reports that help in long-term strategic planning, such as financial projections, market analysis, and competitor analysis.</a:t>
            </a:r>
          </a:p>
          <a:p>
            <a:pPr algn="just"/>
            <a:r>
              <a:rPr lang="en-US" b="1" dirty="0"/>
              <a:t>Impact on Decision-Making:</a:t>
            </a:r>
            <a:r>
              <a:rPr lang="en-US" dirty="0"/>
              <a:t> Strategic decisions, such as entering new markets, launching products, or investing in technology, are supported by solid data and insights from MIS, reducing the risk of failure</a:t>
            </a:r>
            <a:r>
              <a:rPr lang="en-US" dirty="0" smtClean="0"/>
              <a:t>.</a:t>
            </a:r>
          </a:p>
          <a:p>
            <a:pPr algn="just"/>
            <a:endParaRPr lang="en-US" dirty="0"/>
          </a:p>
          <a:p>
            <a:pPr marL="0" indent="0" algn="just">
              <a:buNone/>
            </a:pPr>
            <a:r>
              <a:rPr lang="en-US" b="1" dirty="0" smtClean="0"/>
              <a:t>Operational </a:t>
            </a:r>
            <a:r>
              <a:rPr lang="en-US" b="1" dirty="0"/>
              <a:t>Decision </a:t>
            </a:r>
            <a:r>
              <a:rPr lang="en-US" b="1" dirty="0" smtClean="0"/>
              <a:t>Support</a:t>
            </a:r>
            <a:endParaRPr lang="en-US" b="1" dirty="0"/>
          </a:p>
          <a:p>
            <a:pPr algn="just"/>
            <a:r>
              <a:rPr lang="en-US" b="1" dirty="0"/>
              <a:t>Role:</a:t>
            </a:r>
            <a:r>
              <a:rPr lang="en-US" dirty="0"/>
              <a:t> On a day-to-day basis, MIS supports operational decisions, such as inventory management, scheduling, and resource allocation. It offers real-time data that helps managers optimize operations.</a:t>
            </a:r>
          </a:p>
          <a:p>
            <a:pPr algn="just"/>
            <a:r>
              <a:rPr lang="en-US" b="1" dirty="0"/>
              <a:t>Impact on Decision-Making:</a:t>
            </a:r>
            <a:r>
              <a:rPr lang="en-US" dirty="0"/>
              <a:t> Managers can make quick, informed decisions that improve efficiency and productivity, ensuring smooth operations.</a:t>
            </a:r>
          </a:p>
        </p:txBody>
      </p:sp>
    </p:spTree>
    <p:extLst>
      <p:ext uri="{BB962C8B-B14F-4D97-AF65-F5344CB8AC3E}">
        <p14:creationId xmlns:p14="http://schemas.microsoft.com/office/powerpoint/2010/main" val="31996849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latin typeface="Comic Sans MS" panose="030F0702030302020204" pitchFamily="66" charset="0"/>
              </a:rPr>
              <a:t>How MIS contributes to decision making process (3)</a:t>
            </a:r>
            <a:endParaRPr lang="en-US" sz="1800" dirty="0">
              <a:latin typeface="Comic Sans MS" panose="030F0702030302020204" pitchFamily="66" charset="0"/>
            </a:endParaRPr>
          </a:p>
        </p:txBody>
      </p:sp>
      <p:sp>
        <p:nvSpPr>
          <p:cNvPr id="3" name="Content Placeholder 2"/>
          <p:cNvSpPr>
            <a:spLocks noGrp="1"/>
          </p:cNvSpPr>
          <p:nvPr>
            <p:ph idx="1"/>
          </p:nvPr>
        </p:nvSpPr>
        <p:spPr>
          <a:xfrm>
            <a:off x="381000" y="1524000"/>
            <a:ext cx="8229600" cy="4572000"/>
          </a:xfrm>
        </p:spPr>
        <p:txBody>
          <a:bodyPr>
            <a:normAutofit/>
          </a:bodyPr>
          <a:lstStyle/>
          <a:p>
            <a:pPr marL="0" indent="0" algn="just">
              <a:buNone/>
            </a:pPr>
            <a:r>
              <a:rPr lang="en-US" b="1" dirty="0"/>
              <a:t>Problem Identification and </a:t>
            </a:r>
            <a:r>
              <a:rPr lang="en-US" b="1" dirty="0" smtClean="0"/>
              <a:t>Resolution</a:t>
            </a:r>
            <a:endParaRPr lang="en-US" b="1" dirty="0"/>
          </a:p>
          <a:p>
            <a:pPr algn="just"/>
            <a:r>
              <a:rPr lang="en-US" b="1" dirty="0"/>
              <a:t>Role:</a:t>
            </a:r>
            <a:r>
              <a:rPr lang="en-US" dirty="0"/>
              <a:t> MIS can help identify problems by highlighting deviations from expected performance, such as declining sales or increasing costs. It provides diagnostic tools to analyze the root causes.</a:t>
            </a:r>
          </a:p>
          <a:p>
            <a:pPr algn="just"/>
            <a:r>
              <a:rPr lang="en-US" b="1" dirty="0"/>
              <a:t>Impact on Decision-Making:</a:t>
            </a:r>
            <a:r>
              <a:rPr lang="en-US" dirty="0"/>
              <a:t> Early identification and understanding of problems enable managers to take corrective actions promptly, minimizing negative impacts on the organization.</a:t>
            </a:r>
          </a:p>
          <a:p>
            <a:pPr marL="0" indent="0" algn="just">
              <a:buNone/>
            </a:pPr>
            <a:endParaRPr lang="en-US" b="1" dirty="0"/>
          </a:p>
          <a:p>
            <a:pPr marL="0" indent="0" algn="just">
              <a:buNone/>
            </a:pPr>
            <a:r>
              <a:rPr lang="en-US" b="1" dirty="0" smtClean="0"/>
              <a:t>Facilitating </a:t>
            </a:r>
            <a:r>
              <a:rPr lang="en-US" b="1" dirty="0"/>
              <a:t>Communication and </a:t>
            </a:r>
            <a:r>
              <a:rPr lang="en-US" b="1" dirty="0" smtClean="0"/>
              <a:t>Collaboration</a:t>
            </a:r>
            <a:endParaRPr lang="en-US" b="1" dirty="0"/>
          </a:p>
          <a:p>
            <a:pPr algn="just"/>
            <a:r>
              <a:rPr lang="en-US" b="1" dirty="0"/>
              <a:t>Role:</a:t>
            </a:r>
            <a:r>
              <a:rPr lang="en-US" dirty="0"/>
              <a:t> MIS facilitates the flow of information within the organization, enabling better communication and collaboration among departments. It often includes tools for sharing reports, dashboards, and analytics.</a:t>
            </a:r>
          </a:p>
          <a:p>
            <a:pPr algn="just"/>
            <a:r>
              <a:rPr lang="en-US" b="1" dirty="0"/>
              <a:t>Impact on Decision-Making:</a:t>
            </a:r>
            <a:r>
              <a:rPr lang="en-US" dirty="0"/>
              <a:t> Improved communication ensures that all relevant stakeholders are informed and can contribute to decision-making processes, leading to more comprehensive and well-rounded decisions.</a:t>
            </a:r>
          </a:p>
        </p:txBody>
      </p:sp>
    </p:spTree>
    <p:extLst>
      <p:ext uri="{BB962C8B-B14F-4D97-AF65-F5344CB8AC3E}">
        <p14:creationId xmlns:p14="http://schemas.microsoft.com/office/powerpoint/2010/main" val="16451433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latin typeface="Comic Sans MS" panose="030F0702030302020204" pitchFamily="66" charset="0"/>
              </a:rPr>
              <a:t>How MIS contributes to decision making process (4)</a:t>
            </a:r>
            <a:endParaRPr lang="en-US" sz="1800" dirty="0">
              <a:latin typeface="Comic Sans MS" panose="030F0702030302020204" pitchFamily="66" charset="0"/>
            </a:endParaRPr>
          </a:p>
        </p:txBody>
      </p:sp>
      <p:sp>
        <p:nvSpPr>
          <p:cNvPr id="3" name="Content Placeholder 2"/>
          <p:cNvSpPr>
            <a:spLocks noGrp="1"/>
          </p:cNvSpPr>
          <p:nvPr>
            <p:ph idx="1"/>
          </p:nvPr>
        </p:nvSpPr>
        <p:spPr>
          <a:xfrm>
            <a:off x="381000" y="1524000"/>
            <a:ext cx="8229600" cy="4572000"/>
          </a:xfrm>
        </p:spPr>
        <p:txBody>
          <a:bodyPr>
            <a:normAutofit/>
          </a:bodyPr>
          <a:lstStyle/>
          <a:p>
            <a:pPr marL="0" indent="0" algn="just">
              <a:buNone/>
            </a:pPr>
            <a:r>
              <a:rPr lang="en-US" b="1" dirty="0"/>
              <a:t>Risk </a:t>
            </a:r>
            <a:r>
              <a:rPr lang="en-US" b="1" dirty="0" smtClean="0"/>
              <a:t>Management </a:t>
            </a:r>
            <a:endParaRPr lang="en-US" b="1" dirty="0"/>
          </a:p>
          <a:p>
            <a:pPr algn="just"/>
            <a:r>
              <a:rPr lang="en-US" b="1" dirty="0"/>
              <a:t>Role:</a:t>
            </a:r>
            <a:r>
              <a:rPr lang="en-US" dirty="0"/>
              <a:t> MIS provides data and analytical tools that help in assessing risks, such as financial risks, market risks, or operational risks. It can simulate various scenarios and predict outcomes.</a:t>
            </a:r>
          </a:p>
          <a:p>
            <a:pPr algn="just"/>
            <a:r>
              <a:rPr lang="en-US" b="1" dirty="0"/>
              <a:t>Impact on Decision-Making:</a:t>
            </a:r>
            <a:r>
              <a:rPr lang="en-US" dirty="0"/>
              <a:t> Managers can make informed decisions that balance potential risks with rewards, leading to more resilient and sustainable strategies</a:t>
            </a:r>
            <a:r>
              <a:rPr lang="en-US" dirty="0" smtClean="0"/>
              <a:t>.  </a:t>
            </a:r>
          </a:p>
          <a:p>
            <a:pPr algn="just"/>
            <a:endParaRPr lang="en-US" dirty="0"/>
          </a:p>
          <a:p>
            <a:pPr marL="0" indent="0" algn="just">
              <a:buNone/>
            </a:pPr>
            <a:r>
              <a:rPr lang="en-US" b="1" dirty="0" smtClean="0"/>
              <a:t>Performance </a:t>
            </a:r>
            <a:r>
              <a:rPr lang="en-US" b="1" dirty="0"/>
              <a:t>Monitoring and </a:t>
            </a:r>
            <a:r>
              <a:rPr lang="en-US" b="1" dirty="0" smtClean="0"/>
              <a:t>Control</a:t>
            </a:r>
            <a:endParaRPr lang="en-US" b="1" dirty="0"/>
          </a:p>
          <a:p>
            <a:pPr algn="just"/>
            <a:r>
              <a:rPr lang="en-US" b="1" dirty="0"/>
              <a:t>Role:</a:t>
            </a:r>
            <a:r>
              <a:rPr lang="en-US" dirty="0"/>
              <a:t> MIS enables continuous monitoring of organizational performance against set goals and benchmarks. It generates reports that help managers track progress and make necessary adjustments.</a:t>
            </a:r>
          </a:p>
          <a:p>
            <a:pPr algn="just"/>
            <a:r>
              <a:rPr lang="en-US" b="1" dirty="0"/>
              <a:t>Impact on Decision-Making:</a:t>
            </a:r>
            <a:r>
              <a:rPr lang="en-US" dirty="0"/>
              <a:t> Continuous performance monitoring allows for timely decision-making, ensuring that the organization stays on track to achieve its objectives.</a:t>
            </a:r>
          </a:p>
        </p:txBody>
      </p:sp>
    </p:spTree>
    <p:extLst>
      <p:ext uri="{BB962C8B-B14F-4D97-AF65-F5344CB8AC3E}">
        <p14:creationId xmlns:p14="http://schemas.microsoft.com/office/powerpoint/2010/main" val="39859457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77" y="322006"/>
            <a:ext cx="8229600" cy="1399032"/>
          </a:xfrm>
        </p:spPr>
        <p:txBody>
          <a:bodyPr/>
          <a:lstStyle/>
          <a:p>
            <a:r>
              <a:rPr lang="en-US" sz="1800" dirty="0">
                <a:latin typeface="Comic Sans MS" panose="030F0702030302020204" pitchFamily="66" charset="0"/>
              </a:rPr>
              <a:t>Role of MIS in </a:t>
            </a:r>
            <a:r>
              <a:rPr lang="en-US" sz="1800" dirty="0" smtClean="0">
                <a:latin typeface="Comic Sans MS" panose="030F0702030302020204" pitchFamily="66" charset="0"/>
              </a:rPr>
              <a:t>Business </a:t>
            </a:r>
            <a:r>
              <a:rPr lang="en-US" sz="1400" b="0" i="1" dirty="0" smtClean="0">
                <a:latin typeface="Comic Sans MS" panose="030F0702030302020204" pitchFamily="66" charset="0"/>
              </a:rPr>
              <a:t>(cont.)</a:t>
            </a:r>
            <a:endParaRPr lang="en-US" sz="1400" b="0" i="1" dirty="0"/>
          </a:p>
        </p:txBody>
      </p:sp>
      <p:sp>
        <p:nvSpPr>
          <p:cNvPr id="3" name="Content Placeholder 2"/>
          <p:cNvSpPr>
            <a:spLocks noGrp="1"/>
          </p:cNvSpPr>
          <p:nvPr>
            <p:ph idx="1"/>
          </p:nvPr>
        </p:nvSpPr>
        <p:spPr>
          <a:xfrm>
            <a:off x="358877" y="1143000"/>
            <a:ext cx="8229600" cy="4800600"/>
          </a:xfrm>
        </p:spPr>
        <p:txBody>
          <a:bodyPr>
            <a:normAutofit fontScale="25000" lnSpcReduction="20000"/>
          </a:bodyPr>
          <a:lstStyle/>
          <a:p>
            <a:pPr marL="0" lvl="0" indent="0" algn="just">
              <a:lnSpc>
                <a:spcPct val="120000"/>
              </a:lnSpc>
              <a:buNone/>
            </a:pPr>
            <a:r>
              <a:rPr lang="en-US" sz="6400" b="1" dirty="0" smtClean="0">
                <a:solidFill>
                  <a:srgbClr val="C00000"/>
                </a:solidFill>
              </a:rPr>
              <a:t>To collect data.</a:t>
            </a:r>
            <a:r>
              <a:rPr lang="en-US" sz="6400" dirty="0">
                <a:solidFill>
                  <a:srgbClr val="C00000"/>
                </a:solidFill>
              </a:rPr>
              <a:t> </a:t>
            </a:r>
            <a:endParaRPr lang="en-US" sz="6400" dirty="0" smtClean="0">
              <a:solidFill>
                <a:srgbClr val="C00000"/>
              </a:solidFill>
            </a:endParaRPr>
          </a:p>
          <a:p>
            <a:pPr marL="0" lvl="0" indent="0" algn="just">
              <a:lnSpc>
                <a:spcPct val="120000"/>
              </a:lnSpc>
              <a:buNone/>
            </a:pPr>
            <a:r>
              <a:rPr lang="en-US" sz="6400" dirty="0" smtClean="0"/>
              <a:t>Data </a:t>
            </a:r>
            <a:r>
              <a:rPr lang="en-US" sz="6400" dirty="0"/>
              <a:t>from everyday operations in the company is collected and brought together with data from sources outside the organization. </a:t>
            </a:r>
            <a:r>
              <a:rPr lang="en-US" sz="6400" dirty="0" smtClean="0"/>
              <a:t>This </a:t>
            </a:r>
            <a:r>
              <a:rPr lang="en-US" sz="6400" dirty="0"/>
              <a:t>enables a healthy and functional relationship between distributors, retail outlets and any other members of the supply chain. </a:t>
            </a:r>
            <a:r>
              <a:rPr lang="en-US" sz="6400" dirty="0" smtClean="0"/>
              <a:t>It </a:t>
            </a:r>
            <a:r>
              <a:rPr lang="en-US" sz="6400" dirty="0"/>
              <a:t>also helps keep good track of performance since production and sales numbers will be recorded and stored in a central database that can be accessed by all members of the MIS. Access to this information also helps ensure that problems are detected early and decisions are made quickly using the latest information</a:t>
            </a:r>
            <a:r>
              <a:rPr lang="en-US" sz="6400" dirty="0" smtClean="0"/>
              <a:t>.</a:t>
            </a:r>
          </a:p>
          <a:p>
            <a:pPr marL="0" lvl="0" indent="0" algn="just">
              <a:lnSpc>
                <a:spcPct val="120000"/>
              </a:lnSpc>
              <a:buNone/>
            </a:pPr>
            <a:endParaRPr lang="en-US" sz="6400" dirty="0" smtClean="0">
              <a:solidFill>
                <a:srgbClr val="C00000"/>
              </a:solidFill>
            </a:endParaRPr>
          </a:p>
          <a:p>
            <a:pPr marL="0" indent="0" algn="just">
              <a:lnSpc>
                <a:spcPct val="120000"/>
              </a:lnSpc>
              <a:buNone/>
            </a:pPr>
            <a:r>
              <a:rPr lang="en-US" sz="6400" b="1" dirty="0">
                <a:solidFill>
                  <a:srgbClr val="C00000"/>
                </a:solidFill>
              </a:rPr>
              <a:t>To promote collaboration in the workplace.</a:t>
            </a:r>
            <a:r>
              <a:rPr lang="en-US" sz="6400" dirty="0">
                <a:solidFill>
                  <a:srgbClr val="C00000"/>
                </a:solidFill>
              </a:rPr>
              <a:t> </a:t>
            </a:r>
            <a:endParaRPr lang="en-US" sz="6400" dirty="0" smtClean="0">
              <a:solidFill>
                <a:srgbClr val="C00000"/>
              </a:solidFill>
            </a:endParaRPr>
          </a:p>
          <a:p>
            <a:pPr marL="0" indent="0" algn="just">
              <a:lnSpc>
                <a:spcPct val="120000"/>
              </a:lnSpc>
              <a:buNone/>
            </a:pPr>
            <a:r>
              <a:rPr lang="en-US" sz="6400" dirty="0"/>
              <a:t>In any large company, many situations call for input from several individuals or departments before decisions can be made. Without an efficient communication channel, these decisions can take a very long time</a:t>
            </a:r>
            <a:r>
              <a:rPr lang="en-US" sz="6400" dirty="0" smtClean="0"/>
              <a:t>.</a:t>
            </a:r>
          </a:p>
          <a:p>
            <a:pPr marL="0" indent="0" algn="just">
              <a:lnSpc>
                <a:spcPct val="120000"/>
              </a:lnSpc>
              <a:buNone/>
            </a:pPr>
            <a:endParaRPr lang="en-US" sz="6400" dirty="0"/>
          </a:p>
          <a:p>
            <a:pPr marL="0" indent="0" algn="just">
              <a:lnSpc>
                <a:spcPct val="120000"/>
              </a:lnSpc>
              <a:buNone/>
            </a:pPr>
            <a:r>
              <a:rPr lang="en-US" sz="6400" b="1" dirty="0">
                <a:solidFill>
                  <a:srgbClr val="C00000"/>
                </a:solidFill>
              </a:rPr>
              <a:t>To run possible scenarios in different business environments.</a:t>
            </a:r>
            <a:r>
              <a:rPr lang="en-US" sz="6400" dirty="0">
                <a:solidFill>
                  <a:srgbClr val="C00000"/>
                </a:solidFill>
              </a:rPr>
              <a:t> </a:t>
            </a:r>
            <a:endParaRPr lang="en-US" sz="6400" dirty="0" smtClean="0">
              <a:solidFill>
                <a:srgbClr val="C00000"/>
              </a:solidFill>
            </a:endParaRPr>
          </a:p>
          <a:p>
            <a:pPr marL="0" indent="0" algn="just">
              <a:lnSpc>
                <a:spcPct val="120000"/>
              </a:lnSpc>
              <a:buNone/>
            </a:pPr>
            <a:r>
              <a:rPr lang="en-US" sz="6400" dirty="0" smtClean="0"/>
              <a:t>Before </a:t>
            </a:r>
            <a:r>
              <a:rPr lang="en-US" sz="6400" dirty="0"/>
              <a:t>making a decision that will affect the overall standing of the business, a lot of </a:t>
            </a:r>
            <a:r>
              <a:rPr lang="en-US" sz="6400" dirty="0" smtClean="0"/>
              <a:t>precautions </a:t>
            </a:r>
            <a:r>
              <a:rPr lang="en-US" sz="6400" dirty="0"/>
              <a:t>must be taken. There is a need to check and verify that the company will not suffer after making a decision. Management Information Systems enable executives to run what-if scenarios so that they can see how some of the important metrics in the business will be affected by a given decision. </a:t>
            </a:r>
          </a:p>
          <a:p>
            <a:pPr marL="0" lvl="0" indent="0" algn="just">
              <a:buNone/>
            </a:pPr>
            <a:endParaRPr lang="en-US" dirty="0"/>
          </a:p>
          <a:p>
            <a:pPr algn="just"/>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endParaRPr lang="en-US" dirty="0"/>
          </a:p>
        </p:txBody>
      </p:sp>
    </p:spTree>
    <p:extLst>
      <p:ext uri="{BB962C8B-B14F-4D97-AF65-F5344CB8AC3E}">
        <p14:creationId xmlns:p14="http://schemas.microsoft.com/office/powerpoint/2010/main" val="16017574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latin typeface="Comic Sans MS" panose="030F0702030302020204" pitchFamily="66" charset="0"/>
              </a:rPr>
              <a:t>Advantage of MIS</a:t>
            </a:r>
            <a:endParaRPr lang="en-US" sz="1800" dirty="0">
              <a:latin typeface="Comic Sans MS" panose="030F0702030302020204" pitchFamily="66" charset="0"/>
            </a:endParaRPr>
          </a:p>
        </p:txBody>
      </p:sp>
      <p:sp>
        <p:nvSpPr>
          <p:cNvPr id="3" name="Content Placeholder 2"/>
          <p:cNvSpPr>
            <a:spLocks noGrp="1"/>
          </p:cNvSpPr>
          <p:nvPr>
            <p:ph idx="1"/>
          </p:nvPr>
        </p:nvSpPr>
        <p:spPr/>
        <p:txBody>
          <a:bodyPr>
            <a:normAutofit/>
          </a:bodyPr>
          <a:lstStyle/>
          <a:p>
            <a:pPr algn="just"/>
            <a:r>
              <a:rPr lang="en-US" dirty="0" smtClean="0"/>
              <a:t>All </a:t>
            </a:r>
            <a:r>
              <a:rPr lang="en-US" dirty="0"/>
              <a:t>stakeholders in the company have access to one single database that holds all the data that will be needed in day-to-day operations. </a:t>
            </a:r>
            <a:endParaRPr lang="en-US" dirty="0" smtClean="0"/>
          </a:p>
          <a:p>
            <a:pPr algn="just"/>
            <a:r>
              <a:rPr lang="en-US" dirty="0" smtClean="0"/>
              <a:t>Employees </a:t>
            </a:r>
            <a:r>
              <a:rPr lang="en-US" dirty="0"/>
              <a:t>and other stakeholders in the organization will be able to spend more time doing productive </a:t>
            </a:r>
            <a:r>
              <a:rPr lang="en-US" dirty="0" smtClean="0"/>
              <a:t>tasks.</a:t>
            </a:r>
          </a:p>
          <a:p>
            <a:pPr algn="just"/>
            <a:r>
              <a:rPr lang="en-US" dirty="0" smtClean="0"/>
              <a:t>MIS </a:t>
            </a:r>
            <a:r>
              <a:rPr lang="en-US" dirty="0"/>
              <a:t>brings the power of data processing tools that help significantly improve the quality of decisions made in the company. </a:t>
            </a:r>
            <a:endParaRPr lang="en-US" dirty="0" smtClean="0"/>
          </a:p>
          <a:p>
            <a:pPr algn="just"/>
            <a:r>
              <a:rPr lang="en-US" dirty="0" smtClean="0"/>
              <a:t>MIS </a:t>
            </a:r>
            <a:r>
              <a:rPr lang="en-US" dirty="0"/>
              <a:t>ensures that employees have easier and closer interaction with information about the progress of any process within the organization using mobile </a:t>
            </a:r>
            <a:r>
              <a:rPr lang="en-US" dirty="0" smtClean="0"/>
              <a:t>devices.</a:t>
            </a:r>
          </a:p>
          <a:p>
            <a:pPr algn="just"/>
            <a:r>
              <a:rPr lang="en-US" dirty="0" smtClean="0"/>
              <a:t>Management </a:t>
            </a:r>
            <a:r>
              <a:rPr lang="en-US" dirty="0"/>
              <a:t>Information Systems help reduce the amount of </a:t>
            </a:r>
            <a:r>
              <a:rPr lang="en-US" dirty="0" smtClean="0"/>
              <a:t>paperwork.</a:t>
            </a:r>
          </a:p>
          <a:p>
            <a:pPr algn="just"/>
            <a:r>
              <a:rPr lang="en-US" dirty="0" smtClean="0"/>
              <a:t>Reports </a:t>
            </a:r>
            <a:r>
              <a:rPr lang="en-US" dirty="0"/>
              <a:t>make it easy for companies to easily identify their strengths and weaknesses in carrying out various </a:t>
            </a:r>
            <a:r>
              <a:rPr lang="en-US" dirty="0" smtClean="0"/>
              <a:t>tasks.</a:t>
            </a:r>
          </a:p>
          <a:p>
            <a:pPr algn="just"/>
            <a:r>
              <a:rPr lang="en-US" dirty="0" smtClean="0"/>
              <a:t>From </a:t>
            </a:r>
            <a:r>
              <a:rPr lang="en-US" dirty="0"/>
              <a:t>a top executive perspective, MIS helps give an overall impression of where the company stands financially. </a:t>
            </a:r>
            <a:endParaRPr lang="en-US" dirty="0" smtClean="0"/>
          </a:p>
          <a:p>
            <a:pPr algn="just"/>
            <a:r>
              <a:rPr lang="en-US" dirty="0" smtClean="0"/>
              <a:t>MIS </a:t>
            </a:r>
            <a:r>
              <a:rPr lang="en-US" dirty="0"/>
              <a:t>helps eliminate redundant roles.</a:t>
            </a:r>
          </a:p>
        </p:txBody>
      </p:sp>
    </p:spTree>
    <p:extLst>
      <p:ext uri="{BB962C8B-B14F-4D97-AF65-F5344CB8AC3E}">
        <p14:creationId xmlns:p14="http://schemas.microsoft.com/office/powerpoint/2010/main" val="30724163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457200" y="381000"/>
            <a:ext cx="8229600" cy="4572000"/>
          </a:xfrm>
        </p:spPr>
        <p:txBody>
          <a:bodyPr/>
          <a:lstStyle/>
          <a:p>
            <a:pPr eaLnBrk="1" hangingPunct="1"/>
            <a:endParaRPr lang="en-GB" altLang="en-US" dirty="0" smtClean="0"/>
          </a:p>
          <a:p>
            <a:pPr eaLnBrk="1" hangingPunct="1"/>
            <a:endParaRPr lang="en-GB" altLang="en-US" dirty="0" smtClean="0"/>
          </a:p>
          <a:p>
            <a:pPr marL="0" indent="0" algn="ctr" eaLnBrk="1" hangingPunct="1">
              <a:buNone/>
            </a:pPr>
            <a:r>
              <a:rPr lang="en-GB" altLang="en-US" sz="3600" dirty="0" smtClean="0">
                <a:solidFill>
                  <a:srgbClr val="C00000"/>
                </a:solidFill>
                <a:effectLst>
                  <a:outerShdw blurRad="38100" dist="38100" dir="2700000" algn="tl">
                    <a:srgbClr val="000000">
                      <a:alpha val="43137"/>
                    </a:srgbClr>
                  </a:outerShdw>
                </a:effectLst>
                <a:latin typeface="Comic Sans MS" panose="030F0702030302020204" pitchFamily="66" charset="0"/>
              </a:rPr>
              <a:t>Computer Systems</a:t>
            </a:r>
            <a:endParaRPr lang="en-US" altLang="en-US" sz="3600" dirty="0" smtClean="0">
              <a:solidFill>
                <a:srgbClr val="C00000"/>
              </a:solidFill>
              <a:effectLst>
                <a:outerShdw blurRad="38100" dist="38100" dir="2700000" algn="tl">
                  <a:srgbClr val="000000">
                    <a:alpha val="43137"/>
                  </a:srgbClr>
                </a:outerShdw>
              </a:effectLst>
              <a:latin typeface="Comic Sans MS" panose="030F0702030302020204" pitchFamily="66" charset="0"/>
            </a:endParaRPr>
          </a:p>
        </p:txBody>
      </p:sp>
      <p:pic>
        <p:nvPicPr>
          <p:cNvPr id="3" name="Picture 2" descr="The three main Components of a computer system - the ict boo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689123"/>
            <a:ext cx="4191000" cy="3430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860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8600" y="262399"/>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Hardware &amp; Software</a:t>
            </a:r>
            <a:endParaRPr lang="en-US" altLang="en-US" sz="1800" b="1" dirty="0" smtClean="0">
              <a:solidFill>
                <a:schemeClr val="accent1">
                  <a:lumMod val="75000"/>
                </a:schemeClr>
              </a:solidFill>
              <a:latin typeface="Comic Sans MS" panose="030F0702030302020204" pitchFamily="66" charset="0"/>
            </a:endParaRPr>
          </a:p>
        </p:txBody>
      </p:sp>
      <p:sp>
        <p:nvSpPr>
          <p:cNvPr id="5124" name="TextBox 16"/>
          <p:cNvSpPr txBox="1">
            <a:spLocks noChangeArrowheads="1"/>
          </p:cNvSpPr>
          <p:nvPr/>
        </p:nvSpPr>
        <p:spPr bwMode="auto">
          <a:xfrm>
            <a:off x="685800" y="2133600"/>
            <a:ext cx="769620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All of the </a:t>
            </a:r>
            <a:r>
              <a:rPr lang="en-IE" altLang="en-US" sz="1600" b="1" dirty="0">
                <a:solidFill>
                  <a:schemeClr val="accent1">
                    <a:lumMod val="75000"/>
                  </a:schemeClr>
                </a:solidFill>
              </a:rPr>
              <a:t>electronic and mechanical equipment </a:t>
            </a:r>
            <a:r>
              <a:rPr lang="en-IE" altLang="en-US" sz="1600" dirty="0">
                <a:solidFill>
                  <a:schemeClr val="accent1">
                    <a:lumMod val="75000"/>
                  </a:schemeClr>
                </a:solidFill>
              </a:rPr>
              <a:t>in a computer is called the hardware. Examples include:</a:t>
            </a:r>
          </a:p>
          <a:p>
            <a:pPr algn="just" eaLnBrk="1" hangingPunct="1"/>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Motherboard</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Hard disk</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RAM</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Power supply</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Processor </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Case</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Monitor</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Keyboard</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Mouse</a:t>
            </a:r>
          </a:p>
        </p:txBody>
      </p:sp>
      <p:sp>
        <p:nvSpPr>
          <p:cNvPr id="12" name="TextBox 11"/>
          <p:cNvSpPr txBox="1">
            <a:spLocks noChangeArrowheads="1"/>
          </p:cNvSpPr>
          <p:nvPr/>
        </p:nvSpPr>
        <p:spPr bwMode="auto">
          <a:xfrm>
            <a:off x="653257" y="1265746"/>
            <a:ext cx="30718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b="1" dirty="0">
                <a:solidFill>
                  <a:srgbClr val="C00000"/>
                </a:solidFill>
                <a:latin typeface="Comic Sans MS" panose="030F0702030302020204" pitchFamily="66" charset="0"/>
              </a:rPr>
              <a:t>Hardware</a:t>
            </a:r>
          </a:p>
        </p:txBody>
      </p:sp>
      <p:grpSp>
        <p:nvGrpSpPr>
          <p:cNvPr id="2" name="Group 2"/>
          <p:cNvGrpSpPr>
            <a:grpSpLocks/>
          </p:cNvGrpSpPr>
          <p:nvPr/>
        </p:nvGrpSpPr>
        <p:grpSpPr bwMode="auto">
          <a:xfrm>
            <a:off x="4724400" y="3200400"/>
            <a:ext cx="2324100" cy="2730500"/>
            <a:chOff x="110511000" y="107519700"/>
            <a:chExt cx="2031375" cy="2269050"/>
          </a:xfrm>
        </p:grpSpPr>
        <p:pic>
          <p:nvPicPr>
            <p:cNvPr id="24582" name="Picture 3" descr="Liteon_dvdrom"/>
            <p:cNvPicPr>
              <a:picLocks noChangeAspect="1" noChangeArrowheads="1"/>
            </p:cNvPicPr>
            <p:nvPr/>
          </p:nvPicPr>
          <p:blipFill>
            <a:blip r:embed="rId3">
              <a:extLst>
                <a:ext uri="{28A0092B-C50C-407E-A947-70E740481C1C}">
                  <a14:useLocalDpi xmlns:a14="http://schemas.microsoft.com/office/drawing/2010/main" val="0"/>
                </a:ext>
              </a:extLst>
            </a:blip>
            <a:srcRect t="21266" b="23796"/>
            <a:stretch>
              <a:fillRect/>
            </a:stretch>
          </p:blipFill>
          <p:spPr bwMode="auto">
            <a:xfrm>
              <a:off x="110511000" y="107519700"/>
              <a:ext cx="2031375" cy="11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24583" name="Picture 4" descr="Core2-Extreme-Quadx500"/>
            <p:cNvPicPr>
              <a:picLocks noChangeAspect="1" noChangeArrowheads="1"/>
            </p:cNvPicPr>
            <p:nvPr/>
          </p:nvPicPr>
          <p:blipFill>
            <a:blip r:embed="rId4">
              <a:extLst>
                <a:ext uri="{28A0092B-C50C-407E-A947-70E740481C1C}">
                  <a14:useLocalDpi xmlns:a14="http://schemas.microsoft.com/office/drawing/2010/main" val="0"/>
                </a:ext>
              </a:extLst>
            </a:blip>
            <a:srcRect l="5428" t="4227" r="9537" b="4886"/>
            <a:stretch>
              <a:fillRect/>
            </a:stretch>
          </p:blipFill>
          <p:spPr bwMode="auto">
            <a:xfrm>
              <a:off x="110934375" y="108641611"/>
              <a:ext cx="1253850" cy="1147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Tree>
    <p:extLst>
      <p:ext uri="{BB962C8B-B14F-4D97-AF65-F5344CB8AC3E}">
        <p14:creationId xmlns:p14="http://schemas.microsoft.com/office/powerpoint/2010/main" val="2844472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15605" y="347203"/>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Hardware &amp; Software</a:t>
            </a:r>
            <a:endParaRPr lang="en-US" altLang="en-US" sz="1800" b="1" dirty="0" smtClean="0">
              <a:solidFill>
                <a:schemeClr val="accent1">
                  <a:lumMod val="75000"/>
                </a:schemeClr>
              </a:solidFill>
              <a:latin typeface="Comic Sans MS" panose="030F0702030302020204" pitchFamily="66" charset="0"/>
            </a:endParaRPr>
          </a:p>
        </p:txBody>
      </p:sp>
      <p:sp>
        <p:nvSpPr>
          <p:cNvPr id="5124" name="TextBox 16"/>
          <p:cNvSpPr txBox="1">
            <a:spLocks noChangeArrowheads="1"/>
          </p:cNvSpPr>
          <p:nvPr/>
        </p:nvSpPr>
        <p:spPr bwMode="auto">
          <a:xfrm>
            <a:off x="785813" y="1928813"/>
            <a:ext cx="7643812"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The term software is used to describe </a:t>
            </a:r>
            <a:r>
              <a:rPr lang="en-IE" altLang="en-US" sz="1600" b="1" dirty="0">
                <a:solidFill>
                  <a:schemeClr val="accent1">
                    <a:lumMod val="75000"/>
                  </a:schemeClr>
                </a:solidFill>
              </a:rPr>
              <a:t>computer programs </a:t>
            </a:r>
            <a:r>
              <a:rPr lang="en-IE" altLang="en-US" sz="1600" dirty="0">
                <a:solidFill>
                  <a:schemeClr val="accent1">
                    <a:lumMod val="75000"/>
                  </a:schemeClr>
                </a:solidFill>
              </a:rPr>
              <a:t>that perform a task or tasks on a computer system.  Software can be grouped as follows:</a:t>
            </a:r>
          </a:p>
          <a:p>
            <a:pPr algn="just" eaLnBrk="1" hangingPunct="1"/>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System software  -  Operating System etc.</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Utility programs  -  Antivirus etc.</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Applications Software  -  Word, SolidWorks etc.</a:t>
            </a:r>
          </a:p>
          <a:p>
            <a:pPr algn="just" eaLnBrk="1" hangingPunct="1"/>
            <a:endParaRPr lang="en-IE" altLang="en-US" sz="1600" dirty="0">
              <a:solidFill>
                <a:schemeClr val="accent1">
                  <a:lumMod val="75000"/>
                </a:schemeClr>
              </a:solidFill>
            </a:endParaRPr>
          </a:p>
        </p:txBody>
      </p:sp>
      <p:sp>
        <p:nvSpPr>
          <p:cNvPr id="12" name="TextBox 11"/>
          <p:cNvSpPr txBox="1">
            <a:spLocks noChangeArrowheads="1"/>
          </p:cNvSpPr>
          <p:nvPr/>
        </p:nvSpPr>
        <p:spPr bwMode="auto">
          <a:xfrm>
            <a:off x="785813" y="1214438"/>
            <a:ext cx="30718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b="1" dirty="0">
                <a:solidFill>
                  <a:srgbClr val="C00000"/>
                </a:solidFill>
                <a:latin typeface="Comic Sans MS" panose="030F0702030302020204" pitchFamily="66" charset="0"/>
              </a:rPr>
              <a:t>Software</a:t>
            </a:r>
          </a:p>
        </p:txBody>
      </p:sp>
      <p:pic>
        <p:nvPicPr>
          <p:cNvPr id="2050" name="Picture 2" descr="SW-box"/>
          <p:cNvPicPr>
            <a:picLocks noChangeAspect="1" noChangeArrowheads="1"/>
          </p:cNvPicPr>
          <p:nvPr/>
        </p:nvPicPr>
        <p:blipFill>
          <a:blip r:embed="rId3">
            <a:extLst>
              <a:ext uri="{28A0092B-C50C-407E-A947-70E740481C1C}">
                <a14:useLocalDpi xmlns:a14="http://schemas.microsoft.com/office/drawing/2010/main" val="0"/>
              </a:ext>
            </a:extLst>
          </a:blip>
          <a:srcRect l="7559" t="4666" r="6772" b="6679"/>
          <a:stretch>
            <a:fillRect/>
          </a:stretch>
        </p:blipFill>
        <p:spPr bwMode="auto">
          <a:xfrm>
            <a:off x="5786438" y="4857750"/>
            <a:ext cx="1531937"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2051" name="Picture 3" descr="vista-box"/>
          <p:cNvPicPr>
            <a:picLocks noChangeAspect="1" noChangeArrowheads="1"/>
          </p:cNvPicPr>
          <p:nvPr/>
        </p:nvPicPr>
        <p:blipFill>
          <a:blip r:embed="rId4">
            <a:extLst>
              <a:ext uri="{28A0092B-C50C-407E-A947-70E740481C1C}">
                <a14:useLocalDpi xmlns:a14="http://schemas.microsoft.com/office/drawing/2010/main" val="0"/>
              </a:ext>
            </a:extLst>
          </a:blip>
          <a:srcRect l="16740" t="3798" r="20090" b="1013"/>
          <a:stretch>
            <a:fillRect/>
          </a:stretch>
        </p:blipFill>
        <p:spPr bwMode="auto">
          <a:xfrm>
            <a:off x="2000250" y="4857750"/>
            <a:ext cx="13557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2052" name="Picture 4" descr="AVG-Anti-Virus-Detail"/>
          <p:cNvPicPr>
            <a:picLocks noChangeAspect="1" noChangeArrowheads="1"/>
          </p:cNvPicPr>
          <p:nvPr/>
        </p:nvPicPr>
        <p:blipFill>
          <a:blip r:embed="rId5" cstate="print">
            <a:extLst>
              <a:ext uri="{28A0092B-C50C-407E-A947-70E740481C1C}">
                <a14:useLocalDpi xmlns:a14="http://schemas.microsoft.com/office/drawing/2010/main" val="0"/>
              </a:ext>
            </a:extLst>
          </a:blip>
          <a:srcRect l="4620" r="28418" b="2130"/>
          <a:stretch>
            <a:fillRect/>
          </a:stretch>
        </p:blipFill>
        <p:spPr bwMode="auto">
          <a:xfrm>
            <a:off x="3857625" y="4857750"/>
            <a:ext cx="1292225"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Tree>
    <p:extLst>
      <p:ext uri="{BB962C8B-B14F-4D97-AF65-F5344CB8AC3E}">
        <p14:creationId xmlns:p14="http://schemas.microsoft.com/office/powerpoint/2010/main" val="30430081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395288" y="294743"/>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PC Components</a:t>
            </a:r>
            <a:endParaRPr lang="en-US" altLang="en-US" sz="1800" b="1" dirty="0" smtClean="0">
              <a:solidFill>
                <a:schemeClr val="accent1">
                  <a:lumMod val="75000"/>
                </a:schemeClr>
              </a:solidFill>
              <a:latin typeface="Comic Sans MS" panose="030F0702030302020204" pitchFamily="66" charset="0"/>
            </a:endParaRPr>
          </a:p>
        </p:txBody>
      </p:sp>
      <p:sp>
        <p:nvSpPr>
          <p:cNvPr id="29" name="TextBox 28"/>
          <p:cNvSpPr txBox="1">
            <a:spLocks noChangeArrowheads="1"/>
          </p:cNvSpPr>
          <p:nvPr/>
        </p:nvSpPr>
        <p:spPr bwMode="auto">
          <a:xfrm>
            <a:off x="710710" y="1241258"/>
            <a:ext cx="7899890"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chemeClr val="accent1">
                    <a:lumMod val="75000"/>
                  </a:schemeClr>
                </a:solidFill>
              </a:rPr>
              <a:t>Computer system </a:t>
            </a:r>
            <a:r>
              <a:rPr lang="en-IE" altLang="en-US" sz="1600" dirty="0">
                <a:solidFill>
                  <a:schemeClr val="accent1">
                    <a:lumMod val="75000"/>
                  </a:schemeClr>
                </a:solidFill>
              </a:rPr>
              <a:t> -  collection of electronic and mechanical devices operating as a unit. The main parts are:</a:t>
            </a:r>
          </a:p>
          <a:p>
            <a:pPr eaLnBrk="1" hangingPunct="1"/>
            <a:endParaRPr lang="en-IE" altLang="en-US" sz="1600" dirty="0">
              <a:solidFill>
                <a:schemeClr val="accent1">
                  <a:lumMod val="75000"/>
                </a:schemeClr>
              </a:solidFill>
            </a:endParaRPr>
          </a:p>
          <a:p>
            <a:pPr lvl="1" eaLnBrk="1" hangingPunct="1">
              <a:lnSpc>
                <a:spcPct val="150000"/>
              </a:lnSpc>
              <a:buFont typeface="Arial" panose="020B0604020202020204" pitchFamily="34" charset="0"/>
              <a:buAutoNum type="arabicPeriod"/>
            </a:pPr>
            <a:r>
              <a:rPr lang="en-IE" altLang="en-US" sz="1600" dirty="0">
                <a:solidFill>
                  <a:schemeClr val="accent1">
                    <a:lumMod val="75000"/>
                  </a:schemeClr>
                </a:solidFill>
              </a:rPr>
              <a:t>System unit</a:t>
            </a:r>
          </a:p>
          <a:p>
            <a:pPr lvl="1" eaLnBrk="1" hangingPunct="1">
              <a:lnSpc>
                <a:spcPct val="150000"/>
              </a:lnSpc>
              <a:buFont typeface="Arial" panose="020B0604020202020204" pitchFamily="34" charset="0"/>
              <a:buAutoNum type="arabicPeriod"/>
            </a:pPr>
            <a:r>
              <a:rPr lang="en-IE" altLang="en-US" sz="1600" dirty="0">
                <a:solidFill>
                  <a:schemeClr val="accent1">
                    <a:lumMod val="75000"/>
                  </a:schemeClr>
                </a:solidFill>
              </a:rPr>
              <a:t>Monitor</a:t>
            </a:r>
          </a:p>
          <a:p>
            <a:pPr lvl="1" eaLnBrk="1" hangingPunct="1">
              <a:lnSpc>
                <a:spcPct val="150000"/>
              </a:lnSpc>
              <a:buFont typeface="Arial" panose="020B0604020202020204" pitchFamily="34" charset="0"/>
              <a:buAutoNum type="arabicPeriod"/>
            </a:pPr>
            <a:r>
              <a:rPr lang="en-IE" altLang="en-US" sz="1600" dirty="0">
                <a:solidFill>
                  <a:schemeClr val="accent1">
                    <a:lumMod val="75000"/>
                  </a:schemeClr>
                </a:solidFill>
              </a:rPr>
              <a:t>Keyboard</a:t>
            </a:r>
          </a:p>
          <a:p>
            <a:pPr lvl="1" eaLnBrk="1" hangingPunct="1">
              <a:lnSpc>
                <a:spcPct val="150000"/>
              </a:lnSpc>
              <a:buFont typeface="Arial" panose="020B0604020202020204" pitchFamily="34" charset="0"/>
              <a:buAutoNum type="arabicPeriod"/>
            </a:pPr>
            <a:r>
              <a:rPr lang="en-IE" altLang="en-US" sz="1600" dirty="0">
                <a:solidFill>
                  <a:schemeClr val="accent1">
                    <a:lumMod val="75000"/>
                  </a:schemeClr>
                </a:solidFill>
              </a:rPr>
              <a:t>Mouse</a:t>
            </a:r>
          </a:p>
          <a:p>
            <a:pPr lvl="1" eaLnBrk="1" hangingPunct="1">
              <a:lnSpc>
                <a:spcPct val="150000"/>
              </a:lnSpc>
              <a:buFont typeface="Arial" panose="020B0604020202020204" pitchFamily="34" charset="0"/>
              <a:buAutoNum type="arabicPeriod"/>
            </a:pPr>
            <a:r>
              <a:rPr lang="en-IE" altLang="en-US" sz="1600" dirty="0">
                <a:solidFill>
                  <a:schemeClr val="accent1">
                    <a:lumMod val="75000"/>
                  </a:schemeClr>
                </a:solidFill>
              </a:rPr>
              <a:t>Speakers</a:t>
            </a:r>
          </a:p>
          <a:p>
            <a:pPr eaLnBrk="1" hangingPunct="1"/>
            <a:endParaRPr lang="en-IE" altLang="en-US" sz="1600" dirty="0">
              <a:solidFill>
                <a:schemeClr val="accent1">
                  <a:lumMod val="75000"/>
                </a:schemeClr>
              </a:solidFill>
            </a:endParaRPr>
          </a:p>
          <a:p>
            <a:pPr eaLnBrk="1" hangingPunct="1"/>
            <a:endParaRPr lang="en-IE" altLang="en-US" sz="2400" dirty="0"/>
          </a:p>
        </p:txBody>
      </p:sp>
      <p:grpSp>
        <p:nvGrpSpPr>
          <p:cNvPr id="2" name="Group 2"/>
          <p:cNvGrpSpPr>
            <a:grpSpLocks/>
          </p:cNvGrpSpPr>
          <p:nvPr/>
        </p:nvGrpSpPr>
        <p:grpSpPr bwMode="auto">
          <a:xfrm>
            <a:off x="2514600" y="3393281"/>
            <a:ext cx="6010275" cy="3133725"/>
            <a:chOff x="107483775" y="109795800"/>
            <a:chExt cx="5400000" cy="2393457"/>
          </a:xfrm>
        </p:grpSpPr>
        <p:pic>
          <p:nvPicPr>
            <p:cNvPr id="1030" name="Picture 3" descr="hcldesk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775679" y="109799955"/>
              <a:ext cx="5108096" cy="238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nvGrpSpPr>
            <p:cNvPr id="1031" name="Group 4"/>
            <p:cNvGrpSpPr>
              <a:grpSpLocks/>
            </p:cNvGrpSpPr>
            <p:nvPr/>
          </p:nvGrpSpPr>
          <p:grpSpPr bwMode="auto">
            <a:xfrm>
              <a:off x="108155162" y="109795800"/>
              <a:ext cx="291904" cy="269298"/>
              <a:chOff x="112163775" y="109548150"/>
              <a:chExt cx="360000" cy="360000"/>
            </a:xfrm>
          </p:grpSpPr>
          <p:sp>
            <p:nvSpPr>
              <p:cNvPr id="1050" name="Oval 5"/>
              <p:cNvSpPr>
                <a:spLocks noChangeArrowheads="1"/>
              </p:cNvSpPr>
              <p:nvPr/>
            </p:nvSpPr>
            <p:spPr bwMode="auto">
              <a:xfrm>
                <a:off x="112163775" y="109548150"/>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051" name="Text Box 6"/>
              <p:cNvSpPr txBox="1">
                <a:spLocks noChangeArrowheads="1"/>
              </p:cNvSpPr>
              <p:nvPr/>
            </p:nvSpPr>
            <p:spPr bwMode="auto">
              <a:xfrm>
                <a:off x="112265425" y="109624400"/>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200" b="1">
                    <a:solidFill>
                      <a:srgbClr val="000000"/>
                    </a:solidFill>
                    <a:latin typeface="Times New Roman" panose="02020603050405020304" pitchFamily="18" charset="0"/>
                  </a:rPr>
                  <a:t>2</a:t>
                </a:r>
                <a:endParaRPr lang="en-US" altLang="en-US" sz="1200"/>
              </a:p>
            </p:txBody>
          </p:sp>
        </p:grpSp>
        <p:grpSp>
          <p:nvGrpSpPr>
            <p:cNvPr id="1032" name="Group 7"/>
            <p:cNvGrpSpPr>
              <a:grpSpLocks/>
            </p:cNvGrpSpPr>
            <p:nvPr/>
          </p:nvGrpSpPr>
          <p:grpSpPr bwMode="auto">
            <a:xfrm>
              <a:off x="107566809" y="111828641"/>
              <a:ext cx="291904" cy="269298"/>
              <a:chOff x="111771530" y="110872485"/>
              <a:chExt cx="360000" cy="360000"/>
            </a:xfrm>
          </p:grpSpPr>
          <p:sp>
            <p:nvSpPr>
              <p:cNvPr id="1048" name="Oval 8"/>
              <p:cNvSpPr>
                <a:spLocks noChangeArrowheads="1"/>
              </p:cNvSpPr>
              <p:nvPr/>
            </p:nvSpPr>
            <p:spPr bwMode="auto">
              <a:xfrm>
                <a:off x="111771530" y="110872485"/>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049" name="Text Box 9"/>
              <p:cNvSpPr txBox="1">
                <a:spLocks noChangeArrowheads="1"/>
              </p:cNvSpPr>
              <p:nvPr/>
            </p:nvSpPr>
            <p:spPr bwMode="auto">
              <a:xfrm>
                <a:off x="111873180" y="110948735"/>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200" b="1">
                    <a:solidFill>
                      <a:srgbClr val="000000"/>
                    </a:solidFill>
                    <a:latin typeface="Times New Roman" panose="02020603050405020304" pitchFamily="18" charset="0"/>
                  </a:rPr>
                  <a:t>3</a:t>
                </a:r>
                <a:endParaRPr lang="en-US" altLang="en-US" sz="1200"/>
              </a:p>
            </p:txBody>
          </p:sp>
        </p:grpSp>
        <p:grpSp>
          <p:nvGrpSpPr>
            <p:cNvPr id="1033" name="Group 10"/>
            <p:cNvGrpSpPr>
              <a:grpSpLocks/>
            </p:cNvGrpSpPr>
            <p:nvPr/>
          </p:nvGrpSpPr>
          <p:grpSpPr bwMode="auto">
            <a:xfrm>
              <a:off x="112339048" y="111891924"/>
              <a:ext cx="291904" cy="269298"/>
              <a:chOff x="111456544" y="112161781"/>
              <a:chExt cx="360000" cy="360000"/>
            </a:xfrm>
          </p:grpSpPr>
          <p:sp>
            <p:nvSpPr>
              <p:cNvPr id="1046" name="Oval 11"/>
              <p:cNvSpPr>
                <a:spLocks noChangeArrowheads="1"/>
              </p:cNvSpPr>
              <p:nvPr/>
            </p:nvSpPr>
            <p:spPr bwMode="auto">
              <a:xfrm>
                <a:off x="111456544" y="112161781"/>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047" name="Text Box 12"/>
              <p:cNvSpPr txBox="1">
                <a:spLocks noChangeArrowheads="1"/>
              </p:cNvSpPr>
              <p:nvPr/>
            </p:nvSpPr>
            <p:spPr bwMode="auto">
              <a:xfrm>
                <a:off x="111558194" y="112238031"/>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4</a:t>
                </a:r>
                <a:endParaRPr lang="en-US" altLang="en-US"/>
              </a:p>
            </p:txBody>
          </p:sp>
        </p:grpSp>
        <p:grpSp>
          <p:nvGrpSpPr>
            <p:cNvPr id="1034" name="Group 13"/>
            <p:cNvGrpSpPr>
              <a:grpSpLocks/>
            </p:cNvGrpSpPr>
            <p:nvPr/>
          </p:nvGrpSpPr>
          <p:grpSpPr bwMode="auto">
            <a:xfrm>
              <a:off x="107483775" y="110208518"/>
              <a:ext cx="291904" cy="269298"/>
              <a:chOff x="112537996" y="111894629"/>
              <a:chExt cx="360000" cy="360000"/>
            </a:xfrm>
          </p:grpSpPr>
          <p:sp>
            <p:nvSpPr>
              <p:cNvPr id="1044" name="Oval 14"/>
              <p:cNvSpPr>
                <a:spLocks noChangeArrowheads="1"/>
              </p:cNvSpPr>
              <p:nvPr/>
            </p:nvSpPr>
            <p:spPr bwMode="auto">
              <a:xfrm>
                <a:off x="112537996" y="111894629"/>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045" name="Text Box 15"/>
              <p:cNvSpPr txBox="1">
                <a:spLocks noChangeArrowheads="1"/>
              </p:cNvSpPr>
              <p:nvPr/>
            </p:nvSpPr>
            <p:spPr bwMode="auto">
              <a:xfrm>
                <a:off x="112639646" y="111970879"/>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5</a:t>
                </a:r>
                <a:endParaRPr lang="en-US" altLang="en-US"/>
              </a:p>
            </p:txBody>
          </p:sp>
        </p:grpSp>
        <p:grpSp>
          <p:nvGrpSpPr>
            <p:cNvPr id="1035" name="Group 16"/>
            <p:cNvGrpSpPr>
              <a:grpSpLocks/>
            </p:cNvGrpSpPr>
            <p:nvPr/>
          </p:nvGrpSpPr>
          <p:grpSpPr bwMode="auto">
            <a:xfrm>
              <a:off x="111525850" y="109828214"/>
              <a:ext cx="1120946" cy="477498"/>
              <a:chOff x="111525850" y="109828214"/>
              <a:chExt cx="1120946" cy="477498"/>
            </a:xfrm>
          </p:grpSpPr>
          <p:sp>
            <p:nvSpPr>
              <p:cNvPr id="1040" name="Line 17"/>
              <p:cNvSpPr>
                <a:spLocks noChangeShapeType="1"/>
              </p:cNvSpPr>
              <p:nvPr/>
            </p:nvSpPr>
            <p:spPr bwMode="auto">
              <a:xfrm flipH="1">
                <a:off x="111525850" y="109998978"/>
                <a:ext cx="833189" cy="306734"/>
              </a:xfrm>
              <a:prstGeom prst="line">
                <a:avLst/>
              </a:prstGeom>
              <a:noFill/>
              <a:ln w="12700">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nvGrpSpPr>
              <p:cNvPr id="1041" name="Group 18"/>
              <p:cNvGrpSpPr>
                <a:grpSpLocks/>
              </p:cNvGrpSpPr>
              <p:nvPr/>
            </p:nvGrpSpPr>
            <p:grpSpPr bwMode="auto">
              <a:xfrm>
                <a:off x="112354891" y="109828214"/>
                <a:ext cx="291905" cy="269298"/>
                <a:chOff x="112328005" y="108317124"/>
                <a:chExt cx="360000" cy="360000"/>
              </a:xfrm>
            </p:grpSpPr>
            <p:sp>
              <p:nvSpPr>
                <p:cNvPr id="1042" name="Oval 19"/>
                <p:cNvSpPr>
                  <a:spLocks noChangeArrowheads="1"/>
                </p:cNvSpPr>
                <p:nvPr/>
              </p:nvSpPr>
              <p:spPr bwMode="auto">
                <a:xfrm>
                  <a:off x="112328005" y="108317124"/>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043" name="Text Box 20"/>
                <p:cNvSpPr txBox="1">
                  <a:spLocks noChangeArrowheads="1"/>
                </p:cNvSpPr>
                <p:nvPr/>
              </p:nvSpPr>
              <p:spPr bwMode="auto">
                <a:xfrm>
                  <a:off x="112429655" y="108393374"/>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1</a:t>
                  </a:r>
                  <a:endParaRPr lang="en-US" altLang="en-US"/>
                </a:p>
              </p:txBody>
            </p:sp>
          </p:grpSp>
        </p:grpSp>
        <p:sp>
          <p:nvSpPr>
            <p:cNvPr id="1036" name="Line 21"/>
            <p:cNvSpPr>
              <a:spLocks noChangeShapeType="1"/>
            </p:cNvSpPr>
            <p:nvPr/>
          </p:nvSpPr>
          <p:spPr bwMode="auto">
            <a:xfrm flipH="1" flipV="1">
              <a:off x="111982363" y="111826058"/>
              <a:ext cx="364663" cy="146918"/>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037" name="Line 22"/>
            <p:cNvSpPr>
              <a:spLocks noChangeShapeType="1"/>
            </p:cNvSpPr>
            <p:nvPr/>
          </p:nvSpPr>
          <p:spPr bwMode="auto">
            <a:xfrm>
              <a:off x="107853982" y="111985237"/>
              <a:ext cx="956821" cy="49256"/>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038" name="Line 23"/>
            <p:cNvSpPr>
              <a:spLocks noChangeShapeType="1"/>
            </p:cNvSpPr>
            <p:nvPr/>
          </p:nvSpPr>
          <p:spPr bwMode="auto">
            <a:xfrm>
              <a:off x="107731658" y="110423511"/>
              <a:ext cx="586592" cy="470722"/>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039" name="Line 24"/>
            <p:cNvSpPr>
              <a:spLocks noChangeShapeType="1"/>
            </p:cNvSpPr>
            <p:nvPr/>
          </p:nvSpPr>
          <p:spPr bwMode="auto">
            <a:xfrm>
              <a:off x="108436636" y="109974456"/>
              <a:ext cx="884740" cy="331256"/>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sp>
        <p:nvSpPr>
          <p:cNvPr id="1026" name="Control 1"/>
          <p:cNvSpPr>
            <a:spLocks noChangeArrowheads="1" noChangeShapeType="1"/>
          </p:cNvSpPr>
          <p:nvPr/>
        </p:nvSpPr>
        <p:spPr bwMode="auto">
          <a:xfrm>
            <a:off x="395288" y="2133600"/>
            <a:ext cx="5400675" cy="2519363"/>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Tree>
    <p:extLst>
      <p:ext uri="{BB962C8B-B14F-4D97-AF65-F5344CB8AC3E}">
        <p14:creationId xmlns:p14="http://schemas.microsoft.com/office/powerpoint/2010/main" val="237621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60362" y="304800"/>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Unit</a:t>
            </a:r>
            <a:endParaRPr lang="en-US" altLang="en-US" sz="1800" b="1" dirty="0" smtClean="0">
              <a:solidFill>
                <a:schemeClr val="accent1">
                  <a:lumMod val="75000"/>
                </a:schemeClr>
              </a:solidFill>
              <a:latin typeface="Comic Sans MS" panose="030F0702030302020204" pitchFamily="66" charset="0"/>
            </a:endParaRPr>
          </a:p>
        </p:txBody>
      </p:sp>
      <p:sp>
        <p:nvSpPr>
          <p:cNvPr id="29" name="TextBox 28"/>
          <p:cNvSpPr txBox="1">
            <a:spLocks noChangeArrowheads="1"/>
          </p:cNvSpPr>
          <p:nvPr/>
        </p:nvSpPr>
        <p:spPr bwMode="auto">
          <a:xfrm>
            <a:off x="609600" y="1828800"/>
            <a:ext cx="7924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The </a:t>
            </a:r>
            <a:r>
              <a:rPr lang="en-IE" altLang="en-US" sz="1600" b="1" dirty="0">
                <a:solidFill>
                  <a:schemeClr val="accent1">
                    <a:lumMod val="75000"/>
                  </a:schemeClr>
                </a:solidFill>
              </a:rPr>
              <a:t>system unit </a:t>
            </a:r>
            <a:r>
              <a:rPr lang="en-IE" altLang="en-US" sz="1600" dirty="0">
                <a:solidFill>
                  <a:schemeClr val="accent1">
                    <a:lumMod val="75000"/>
                  </a:schemeClr>
                </a:solidFill>
              </a:rPr>
              <a:t>is the main container for system devices. It protects the delicate electronic and mechanical devices from damage. Typical system unit devices include</a:t>
            </a:r>
            <a:r>
              <a:rPr lang="en-IE" altLang="en-US" sz="1600" dirty="0" smtClean="0">
                <a:solidFill>
                  <a:schemeClr val="accent1">
                    <a:lumMod val="75000"/>
                  </a:schemeClr>
                </a:solidFill>
              </a:rPr>
              <a:t>:</a:t>
            </a:r>
            <a:endParaRPr lang="en-IE" altLang="en-US" sz="1600" dirty="0">
              <a:solidFill>
                <a:schemeClr val="accent1">
                  <a:lumMod val="75000"/>
                </a:schemeClr>
              </a:solidFill>
            </a:endParaRPr>
          </a:p>
        </p:txBody>
      </p:sp>
      <p:pic>
        <p:nvPicPr>
          <p:cNvPr id="64513" name="Picture 1" descr="02_Case_Open_Sleev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895600"/>
            <a:ext cx="2795587" cy="2720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 name="TextBox 4"/>
          <p:cNvSpPr txBox="1">
            <a:spLocks noChangeArrowheads="1"/>
          </p:cNvSpPr>
          <p:nvPr/>
        </p:nvSpPr>
        <p:spPr bwMode="auto">
          <a:xfrm>
            <a:off x="533400" y="2819400"/>
            <a:ext cx="46482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lgn="just" eaLnBrk="1" hangingPunct="1">
              <a:lnSpc>
                <a:spcPct val="150000"/>
              </a:lnSpc>
              <a:buFont typeface="Arial" panose="020B0604020202020204" pitchFamily="34" charset="0"/>
              <a:buChar char="•"/>
            </a:pPr>
            <a:r>
              <a:rPr lang="en-IE" altLang="en-US" sz="1600" dirty="0" smtClean="0">
                <a:solidFill>
                  <a:schemeClr val="accent1">
                    <a:lumMod val="75000"/>
                  </a:schemeClr>
                </a:solidFill>
              </a:rPr>
              <a:t>Motherboard</a:t>
            </a:r>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CPU (Processor)</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Memory</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Disk drives</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Ports  -  USB etc.</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Power supply </a:t>
            </a:r>
          </a:p>
          <a:p>
            <a:pPr lvl="1" algn="just" eaLnBrk="1" hangingPunct="1">
              <a:buFont typeface="Arial" panose="020B0604020202020204" pitchFamily="34" charset="0"/>
              <a:buChar char="•"/>
            </a:pPr>
            <a:r>
              <a:rPr lang="en-IE" altLang="en-US" sz="1600" dirty="0">
                <a:solidFill>
                  <a:schemeClr val="accent1">
                    <a:lumMod val="75000"/>
                  </a:schemeClr>
                </a:solidFill>
              </a:rPr>
              <a:t>Expansion cards </a:t>
            </a:r>
            <a:r>
              <a:rPr lang="en-IE" altLang="en-US" sz="1600" dirty="0" smtClean="0">
                <a:solidFill>
                  <a:schemeClr val="accent1">
                    <a:lumMod val="75000"/>
                  </a:schemeClr>
                </a:solidFill>
              </a:rPr>
              <a:t>(sound </a:t>
            </a:r>
            <a:r>
              <a:rPr lang="en-IE" altLang="en-US" sz="1600" dirty="0">
                <a:solidFill>
                  <a:schemeClr val="accent1">
                    <a:lumMod val="75000"/>
                  </a:schemeClr>
                </a:solidFill>
              </a:rPr>
              <a:t>card, network card, graphics card etc</a:t>
            </a:r>
            <a:r>
              <a:rPr lang="en-IE" altLang="en-US" sz="1600" dirty="0" smtClean="0">
                <a:solidFill>
                  <a:schemeClr val="accent1">
                    <a:lumMod val="75000"/>
                  </a:schemeClr>
                </a:solidFill>
              </a:rPr>
              <a:t>.)</a:t>
            </a:r>
            <a:endParaRPr lang="en-IE" altLang="en-US" sz="1600" dirty="0">
              <a:solidFill>
                <a:schemeClr val="accent1">
                  <a:lumMod val="75000"/>
                </a:schemeClr>
              </a:solidFill>
            </a:endParaRPr>
          </a:p>
          <a:p>
            <a:pPr lvl="1" algn="just" eaLnBrk="1" hangingPunct="1">
              <a:buFont typeface="Arial" panose="020B0604020202020204" pitchFamily="34" charset="0"/>
              <a:buChar char="•"/>
            </a:pPr>
            <a:endParaRPr lang="en-IE" altLang="en-US" sz="1600" dirty="0">
              <a:solidFill>
                <a:schemeClr val="accent1">
                  <a:lumMod val="75000"/>
                </a:schemeClr>
              </a:solidFill>
            </a:endParaRPr>
          </a:p>
        </p:txBody>
      </p:sp>
    </p:spTree>
    <p:extLst>
      <p:ext uri="{BB962C8B-B14F-4D97-AF65-F5344CB8AC3E}">
        <p14:creationId xmlns:p14="http://schemas.microsoft.com/office/powerpoint/2010/main" val="227644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15488" y="337984"/>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
        <p:nvSpPr>
          <p:cNvPr id="29" name="TextBox 28"/>
          <p:cNvSpPr txBox="1">
            <a:spLocks noChangeArrowheads="1"/>
          </p:cNvSpPr>
          <p:nvPr/>
        </p:nvSpPr>
        <p:spPr bwMode="auto">
          <a:xfrm>
            <a:off x="500062" y="1958975"/>
            <a:ext cx="8034338"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Peripherals are devices that connect to the system unit using cables or wireless technologies. Typical peripherals include:</a:t>
            </a:r>
          </a:p>
          <a:p>
            <a:pPr algn="just" eaLnBrk="1" hangingPunct="1"/>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Monitor</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Keyboard</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Printer</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Plotter</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Scanner</a:t>
            </a:r>
          </a:p>
          <a:p>
            <a:pPr lvl="1" algn="just" eaLnBrk="1" hangingPunct="1">
              <a:lnSpc>
                <a:spcPct val="150000"/>
              </a:lnSpc>
              <a:buFont typeface="Arial" panose="020B0604020202020204" pitchFamily="34" charset="0"/>
              <a:buChar char="•"/>
            </a:pPr>
            <a:r>
              <a:rPr lang="en-IE" altLang="en-US" sz="1600" dirty="0">
                <a:solidFill>
                  <a:schemeClr val="accent1">
                    <a:lumMod val="75000"/>
                  </a:schemeClr>
                </a:solidFill>
              </a:rPr>
              <a:t>Speakers</a:t>
            </a:r>
          </a:p>
          <a:p>
            <a:pPr algn="just" eaLnBrk="1" hangingPunct="1"/>
            <a:r>
              <a:rPr lang="en-IE" altLang="en-US" sz="1600" dirty="0">
                <a:solidFill>
                  <a:schemeClr val="accent1">
                    <a:lumMod val="75000"/>
                  </a:schemeClr>
                </a:solidFill>
              </a:rPr>
              <a:t> </a:t>
            </a:r>
          </a:p>
        </p:txBody>
      </p:sp>
    </p:spTree>
    <p:extLst>
      <p:ext uri="{BB962C8B-B14F-4D97-AF65-F5344CB8AC3E}">
        <p14:creationId xmlns:p14="http://schemas.microsoft.com/office/powerpoint/2010/main" val="1456190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28600" y="211932"/>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4" name="TextBox 3"/>
          <p:cNvSpPr txBox="1">
            <a:spLocks noChangeArrowheads="1"/>
          </p:cNvSpPr>
          <p:nvPr/>
        </p:nvSpPr>
        <p:spPr bwMode="auto">
          <a:xfrm>
            <a:off x="533400" y="1785938"/>
            <a:ext cx="807719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An </a:t>
            </a:r>
            <a:r>
              <a:rPr lang="en-IE" altLang="en-US" sz="1600" b="1" dirty="0">
                <a:solidFill>
                  <a:schemeClr val="accent1">
                    <a:lumMod val="75000"/>
                  </a:schemeClr>
                </a:solidFill>
              </a:rPr>
              <a:t>integrated circuit </a:t>
            </a:r>
            <a:r>
              <a:rPr lang="en-IE" altLang="en-US" sz="1600" dirty="0">
                <a:solidFill>
                  <a:schemeClr val="accent1">
                    <a:lumMod val="75000"/>
                  </a:schemeClr>
                </a:solidFill>
              </a:rPr>
              <a:t>(IC) supplied on a single silicon chip. It’s </a:t>
            </a:r>
            <a:r>
              <a:rPr lang="en-IE" altLang="en-US" sz="1600" dirty="0" smtClean="0">
                <a:solidFill>
                  <a:schemeClr val="accent1">
                    <a:lumMod val="75000"/>
                  </a:schemeClr>
                </a:solidFill>
              </a:rPr>
              <a:t>role </a:t>
            </a:r>
            <a:r>
              <a:rPr lang="en-IE" altLang="en-US" sz="1600" dirty="0">
                <a:solidFill>
                  <a:schemeClr val="accent1">
                    <a:lumMod val="75000"/>
                  </a:schemeClr>
                </a:solidFill>
              </a:rPr>
              <a:t>is to </a:t>
            </a:r>
            <a:r>
              <a:rPr lang="en-IE" altLang="en-US" sz="1600" dirty="0" smtClean="0">
                <a:solidFill>
                  <a:schemeClr val="accent1">
                    <a:lumMod val="75000"/>
                  </a:schemeClr>
                </a:solidFill>
              </a:rPr>
              <a:t>control </a:t>
            </a:r>
            <a:r>
              <a:rPr lang="en-IE" altLang="en-US" sz="1600" dirty="0">
                <a:solidFill>
                  <a:schemeClr val="accent1">
                    <a:lumMod val="75000"/>
                  </a:schemeClr>
                </a:solidFill>
              </a:rPr>
              <a:t>all the computers functions</a:t>
            </a:r>
            <a:r>
              <a:rPr lang="en-IE" altLang="en-US" sz="1600" dirty="0" smtClean="0">
                <a:solidFill>
                  <a:schemeClr val="accent1">
                    <a:lumMod val="75000"/>
                  </a:schemeClr>
                </a:solidFill>
              </a:rPr>
              <a:t>. </a:t>
            </a:r>
            <a:r>
              <a:rPr lang="en-IE" altLang="en-US" sz="1600" dirty="0">
                <a:solidFill>
                  <a:schemeClr val="accent1">
                    <a:lumMod val="75000"/>
                  </a:schemeClr>
                </a:solidFill>
              </a:rPr>
              <a:t>The </a:t>
            </a:r>
            <a:r>
              <a:rPr lang="en-US" sz="1600" dirty="0" smtClean="0">
                <a:solidFill>
                  <a:schemeClr val="accent1">
                    <a:lumMod val="75000"/>
                  </a:schemeClr>
                </a:solidFill>
              </a:rPr>
              <a:t>most </a:t>
            </a:r>
            <a:r>
              <a:rPr lang="en-US" sz="1600" dirty="0">
                <a:solidFill>
                  <a:schemeClr val="accent1">
                    <a:lumMod val="75000"/>
                  </a:schemeClr>
                </a:solidFill>
              </a:rPr>
              <a:t>well-known and widely used </a:t>
            </a:r>
            <a:r>
              <a:rPr lang="en-US" sz="1600" dirty="0" smtClean="0">
                <a:solidFill>
                  <a:schemeClr val="accent1">
                    <a:lumMod val="75000"/>
                  </a:schemeClr>
                </a:solidFill>
              </a:rPr>
              <a:t>computer</a:t>
            </a:r>
            <a:r>
              <a:rPr lang="en-IE" altLang="en-US" sz="1600" dirty="0" smtClean="0">
                <a:solidFill>
                  <a:schemeClr val="accent1">
                    <a:lumMod val="75000"/>
                  </a:schemeClr>
                </a:solidFill>
              </a:rPr>
              <a:t> processor unit’s (CPU) </a:t>
            </a:r>
            <a:r>
              <a:rPr lang="en-IE" altLang="en-US" sz="1600" dirty="0">
                <a:solidFill>
                  <a:schemeClr val="accent1">
                    <a:lumMod val="75000"/>
                  </a:schemeClr>
                </a:solidFill>
              </a:rPr>
              <a:t>manufacturers are:</a:t>
            </a:r>
          </a:p>
          <a:p>
            <a:pPr algn="just" eaLnBrk="1" hangingPunct="1"/>
            <a:endParaRPr lang="en-IE" altLang="en-US" sz="1600" dirty="0">
              <a:solidFill>
                <a:schemeClr val="accent1">
                  <a:lumMod val="75000"/>
                </a:schemeClr>
              </a:solidFill>
            </a:endParaRPr>
          </a:p>
          <a:p>
            <a:pPr lvl="1" eaLnBrk="1" hangingPunct="1">
              <a:buFont typeface="Arial" panose="020B0604020202020204" pitchFamily="34" charset="0"/>
              <a:buChar char="•"/>
            </a:pPr>
            <a:r>
              <a:rPr lang="en-IE" altLang="en-US" sz="1600" b="1" dirty="0">
                <a:solidFill>
                  <a:schemeClr val="accent1">
                    <a:lumMod val="75000"/>
                  </a:schemeClr>
                </a:solidFill>
              </a:rPr>
              <a:t>AMD</a:t>
            </a:r>
            <a:r>
              <a:rPr lang="en-IE" altLang="en-US" sz="1600" dirty="0">
                <a:solidFill>
                  <a:schemeClr val="accent1">
                    <a:lumMod val="75000"/>
                  </a:schemeClr>
                </a:solidFill>
              </a:rPr>
              <a:t> </a:t>
            </a:r>
            <a:r>
              <a:rPr lang="en-IE" altLang="en-US" sz="1600" dirty="0" smtClean="0">
                <a:solidFill>
                  <a:schemeClr val="accent1">
                    <a:lumMod val="75000"/>
                  </a:schemeClr>
                </a:solidFill>
              </a:rPr>
              <a:t>- Athlon </a:t>
            </a:r>
            <a:r>
              <a:rPr lang="en-IE" altLang="en-US" sz="1600" dirty="0">
                <a:solidFill>
                  <a:schemeClr val="accent1">
                    <a:lumMod val="75000"/>
                  </a:schemeClr>
                </a:solidFill>
              </a:rPr>
              <a:t>and </a:t>
            </a:r>
            <a:r>
              <a:rPr lang="en-IE" altLang="en-US" sz="1600" dirty="0" err="1">
                <a:solidFill>
                  <a:schemeClr val="accent1">
                    <a:lumMod val="75000"/>
                  </a:schemeClr>
                </a:solidFill>
              </a:rPr>
              <a:t>Turion</a:t>
            </a:r>
            <a:r>
              <a:rPr lang="en-IE" altLang="en-US" sz="1600" dirty="0">
                <a:solidFill>
                  <a:schemeClr val="accent1">
                    <a:lumMod val="75000"/>
                  </a:schemeClr>
                </a:solidFill>
              </a:rPr>
              <a:t> (mobile)</a:t>
            </a:r>
          </a:p>
          <a:p>
            <a:pPr lvl="1" eaLnBrk="1" hangingPunct="1">
              <a:buFont typeface="Arial" panose="020B0604020202020204" pitchFamily="34" charset="0"/>
              <a:buChar char="•"/>
            </a:pPr>
            <a:r>
              <a:rPr lang="en-IE" altLang="en-US" sz="1600" b="1" dirty="0">
                <a:solidFill>
                  <a:schemeClr val="accent1">
                    <a:lumMod val="75000"/>
                  </a:schemeClr>
                </a:solidFill>
              </a:rPr>
              <a:t>Intel</a:t>
            </a:r>
            <a:r>
              <a:rPr lang="en-IE" altLang="en-US" sz="1600" dirty="0">
                <a:solidFill>
                  <a:schemeClr val="accent1">
                    <a:lumMod val="75000"/>
                  </a:schemeClr>
                </a:solidFill>
              </a:rPr>
              <a:t> </a:t>
            </a:r>
            <a:r>
              <a:rPr lang="en-IE" altLang="en-US" sz="1600" dirty="0" smtClean="0">
                <a:solidFill>
                  <a:schemeClr val="accent1">
                    <a:lumMod val="75000"/>
                  </a:schemeClr>
                </a:solidFill>
              </a:rPr>
              <a:t>- Pentium </a:t>
            </a:r>
            <a:r>
              <a:rPr lang="en-IE" altLang="en-US" sz="1600" dirty="0">
                <a:solidFill>
                  <a:schemeClr val="accent1">
                    <a:lumMod val="75000"/>
                  </a:schemeClr>
                </a:solidFill>
              </a:rPr>
              <a:t>and Centrino (mobile)</a:t>
            </a:r>
          </a:p>
          <a:p>
            <a:pPr eaLnBrk="1" hangingPunct="1"/>
            <a:r>
              <a:rPr lang="en-IE" altLang="en-US" sz="1600" dirty="0">
                <a:solidFill>
                  <a:schemeClr val="accent1">
                    <a:lumMod val="75000"/>
                  </a:schemeClr>
                </a:solidFill>
              </a:rPr>
              <a:t> </a:t>
            </a:r>
          </a:p>
        </p:txBody>
      </p:sp>
      <p:sp>
        <p:nvSpPr>
          <p:cNvPr id="5" name="TextBox 4"/>
          <p:cNvSpPr txBox="1">
            <a:spLocks noChangeArrowheads="1"/>
          </p:cNvSpPr>
          <p:nvPr/>
        </p:nvSpPr>
        <p:spPr bwMode="auto">
          <a:xfrm>
            <a:off x="535858" y="1191625"/>
            <a:ext cx="30718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b="1" dirty="0">
                <a:solidFill>
                  <a:srgbClr val="C00000"/>
                </a:solidFill>
                <a:latin typeface="Comic Sans MS" panose="030F0702030302020204" pitchFamily="66" charset="0"/>
              </a:rPr>
              <a:t>Processor</a:t>
            </a:r>
          </a:p>
        </p:txBody>
      </p:sp>
      <p:grpSp>
        <p:nvGrpSpPr>
          <p:cNvPr id="2" name="Group 7"/>
          <p:cNvGrpSpPr>
            <a:grpSpLocks/>
          </p:cNvGrpSpPr>
          <p:nvPr/>
        </p:nvGrpSpPr>
        <p:grpSpPr bwMode="auto">
          <a:xfrm>
            <a:off x="2209800" y="3886200"/>
            <a:ext cx="5553075" cy="2466975"/>
            <a:chOff x="108049938" y="107153952"/>
            <a:chExt cx="4459362" cy="2386898"/>
          </a:xfrm>
        </p:grpSpPr>
        <p:sp>
          <p:nvSpPr>
            <p:cNvPr id="28678" name="Text Box 8"/>
            <p:cNvSpPr txBox="1">
              <a:spLocks noChangeArrowheads="1"/>
            </p:cNvSpPr>
            <p:nvPr/>
          </p:nvSpPr>
          <p:spPr bwMode="auto">
            <a:xfrm>
              <a:off x="111709200" y="108108750"/>
              <a:ext cx="8001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latin typeface="+mn-lt"/>
                </a:rPr>
                <a:t>AMD</a:t>
              </a:r>
            </a:p>
            <a:p>
              <a:pPr algn="ctr" eaLnBrk="1" hangingPunct="1"/>
              <a:r>
                <a:rPr lang="en-IE" altLang="en-US" sz="1600" dirty="0">
                  <a:solidFill>
                    <a:schemeClr val="accent1">
                      <a:lumMod val="75000"/>
                    </a:schemeClr>
                  </a:solidFill>
                  <a:latin typeface="+mn-lt"/>
                </a:rPr>
                <a:t>Processor</a:t>
              </a:r>
              <a:endParaRPr lang="en-US" altLang="en-US" sz="1600" dirty="0">
                <a:solidFill>
                  <a:schemeClr val="accent1">
                    <a:lumMod val="75000"/>
                  </a:schemeClr>
                </a:solidFill>
                <a:latin typeface="+mn-lt"/>
              </a:endParaRPr>
            </a:p>
          </p:txBody>
        </p:sp>
        <p:pic>
          <p:nvPicPr>
            <p:cNvPr id="28679" name="Picture 9" descr="AMD_Turion64_lid_logo"/>
            <p:cNvPicPr>
              <a:picLocks noChangeAspect="1" noChangeArrowheads="1"/>
            </p:cNvPicPr>
            <p:nvPr/>
          </p:nvPicPr>
          <p:blipFill>
            <a:blip r:embed="rId3">
              <a:extLst>
                <a:ext uri="{28A0092B-C50C-407E-A947-70E740481C1C}">
                  <a14:useLocalDpi xmlns:a14="http://schemas.microsoft.com/office/drawing/2010/main" val="0"/>
                </a:ext>
              </a:extLst>
            </a:blip>
            <a:srcRect l="15692" t="14650" r="13710" b="13365"/>
            <a:stretch>
              <a:fillRect/>
            </a:stretch>
          </p:blipFill>
          <p:spPr bwMode="auto">
            <a:xfrm>
              <a:off x="108049938" y="107153952"/>
              <a:ext cx="3642462" cy="2386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Tree>
    <p:extLst>
      <p:ext uri="{BB962C8B-B14F-4D97-AF65-F5344CB8AC3E}">
        <p14:creationId xmlns:p14="http://schemas.microsoft.com/office/powerpoint/2010/main" val="8090652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61168" y="304800"/>
            <a:ext cx="8150225"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4" name="TextBox 3"/>
          <p:cNvSpPr txBox="1">
            <a:spLocks noChangeArrowheads="1"/>
          </p:cNvSpPr>
          <p:nvPr/>
        </p:nvSpPr>
        <p:spPr bwMode="auto">
          <a:xfrm>
            <a:off x="672433" y="1354961"/>
            <a:ext cx="7968457"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chemeClr val="accent1">
                    <a:lumMod val="75000"/>
                  </a:schemeClr>
                </a:solidFill>
              </a:rPr>
              <a:t>Computer program </a:t>
            </a:r>
            <a:r>
              <a:rPr lang="en-IE" altLang="en-US" sz="1600" dirty="0">
                <a:solidFill>
                  <a:schemeClr val="accent1">
                    <a:lumMod val="75000"/>
                  </a:schemeClr>
                </a:solidFill>
              </a:rPr>
              <a:t> - a series of instructions. When a program is run, the processor carries out these instructions in an orderly fashion. </a:t>
            </a:r>
            <a:r>
              <a:rPr lang="en-IE" altLang="en-US" sz="1600" dirty="0" smtClean="0">
                <a:solidFill>
                  <a:schemeClr val="accent1">
                    <a:lumMod val="75000"/>
                  </a:schemeClr>
                </a:solidFill>
              </a:rPr>
              <a:t>Typical </a:t>
            </a:r>
            <a:r>
              <a:rPr lang="en-IE" altLang="en-US" sz="1600" dirty="0">
                <a:solidFill>
                  <a:schemeClr val="accent1">
                    <a:lumMod val="75000"/>
                  </a:schemeClr>
                </a:solidFill>
              </a:rPr>
              <a:t>instructions include:</a:t>
            </a:r>
          </a:p>
          <a:p>
            <a:pPr algn="just" eaLnBrk="1" hangingPunct="1"/>
            <a:endParaRPr lang="en-IE" altLang="en-US" sz="1600" dirty="0">
              <a:solidFill>
                <a:schemeClr val="accent1">
                  <a:lumMod val="75000"/>
                </a:schemeClr>
              </a:solidFill>
            </a:endParaRPr>
          </a:p>
          <a:p>
            <a:pPr marL="285750" indent="-285750"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Arithmetic</a:t>
            </a:r>
            <a:r>
              <a:rPr lang="en-IE" altLang="en-US" sz="1600" dirty="0">
                <a:solidFill>
                  <a:schemeClr val="accent1">
                    <a:lumMod val="75000"/>
                  </a:schemeClr>
                </a:solidFill>
              </a:rPr>
              <a:t> -  addition, subtraction </a:t>
            </a:r>
            <a:r>
              <a:rPr lang="en-IE" altLang="en-US" sz="1600" dirty="0" smtClean="0">
                <a:solidFill>
                  <a:schemeClr val="accent1">
                    <a:lumMod val="75000"/>
                  </a:schemeClr>
                </a:solidFill>
              </a:rPr>
              <a:t>etc.</a:t>
            </a:r>
            <a:endParaRPr lang="en-IE" altLang="en-US" sz="1600" dirty="0">
              <a:solidFill>
                <a:schemeClr val="accent1">
                  <a:lumMod val="75000"/>
                </a:schemeClr>
              </a:solidFill>
            </a:endParaRPr>
          </a:p>
          <a:p>
            <a:pPr marL="285750" indent="-285750"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Logical</a:t>
            </a:r>
            <a:r>
              <a:rPr lang="en-IE" altLang="en-US" sz="1600" dirty="0">
                <a:solidFill>
                  <a:schemeClr val="accent1">
                    <a:lumMod val="75000"/>
                  </a:schemeClr>
                </a:solidFill>
              </a:rPr>
              <a:t>  -  comparing data and acting according to the </a:t>
            </a:r>
            <a:r>
              <a:rPr lang="en-IE" altLang="en-US" sz="1600" dirty="0" smtClean="0">
                <a:solidFill>
                  <a:schemeClr val="accent1">
                    <a:lumMod val="75000"/>
                  </a:schemeClr>
                </a:solidFill>
              </a:rPr>
              <a:t>result.</a:t>
            </a:r>
            <a:endParaRPr lang="en-IE" altLang="en-US" sz="1600" dirty="0">
              <a:solidFill>
                <a:schemeClr val="accent1">
                  <a:lumMod val="75000"/>
                </a:schemeClr>
              </a:solidFill>
            </a:endParaRPr>
          </a:p>
          <a:p>
            <a:pPr marL="285750" indent="-285750" algn="just" eaLnBrk="1" hangingPunct="1">
              <a:buFont typeface="Arial" panose="020B0604020202020204" pitchFamily="34" charset="0"/>
              <a:buChar char="•"/>
            </a:pPr>
            <a:r>
              <a:rPr lang="en-IE" altLang="en-US" sz="1600" b="1" dirty="0">
                <a:solidFill>
                  <a:schemeClr val="accent1">
                    <a:lumMod val="75000"/>
                  </a:schemeClr>
                </a:solidFill>
              </a:rPr>
              <a:t>Move</a:t>
            </a:r>
            <a:r>
              <a:rPr lang="en-IE" altLang="en-US" sz="1600" dirty="0">
                <a:solidFill>
                  <a:schemeClr val="accent1">
                    <a:lumMod val="75000"/>
                  </a:schemeClr>
                </a:solidFill>
              </a:rPr>
              <a:t>  - move data from place to place within the computer system  -  memory to the processor for  addition  -  memory to a printer or disk drive etc.</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3886200"/>
            <a:ext cx="4017170" cy="2649003"/>
          </a:xfrm>
          <a:prstGeom prst="rect">
            <a:avLst/>
          </a:prstGeom>
        </p:spPr>
      </p:pic>
    </p:spTree>
    <p:extLst>
      <p:ext uri="{BB962C8B-B14F-4D97-AF65-F5344CB8AC3E}">
        <p14:creationId xmlns:p14="http://schemas.microsoft.com/office/powerpoint/2010/main" val="32102971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04800" y="304800"/>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7" name="TextBox 6"/>
          <p:cNvSpPr txBox="1"/>
          <p:nvPr/>
        </p:nvSpPr>
        <p:spPr>
          <a:xfrm>
            <a:off x="533400" y="1524000"/>
            <a:ext cx="7977187" cy="4031873"/>
          </a:xfrm>
          <a:prstGeom prst="rect">
            <a:avLst/>
          </a:prstGeom>
          <a:noFill/>
        </p:spPr>
        <p:txBody>
          <a:bodyPr wrap="square">
            <a:spAutoFit/>
          </a:bodyPr>
          <a:lstStyle/>
          <a:p>
            <a:pPr algn="just">
              <a:defRPr/>
            </a:pPr>
            <a:r>
              <a:rPr lang="en-IE" sz="1600" b="1" dirty="0">
                <a:solidFill>
                  <a:schemeClr val="accent1">
                    <a:lumMod val="75000"/>
                  </a:schemeClr>
                </a:solidFill>
                <a:latin typeface="Arial" charset="0"/>
              </a:rPr>
              <a:t>Processor speed  </a:t>
            </a:r>
            <a:r>
              <a:rPr lang="en-IE" sz="1600" dirty="0">
                <a:solidFill>
                  <a:schemeClr val="accent1">
                    <a:lumMod val="75000"/>
                  </a:schemeClr>
                </a:solidFill>
                <a:latin typeface="Arial" charset="0"/>
              </a:rPr>
              <a:t>-  measured in megahertz (</a:t>
            </a:r>
            <a:r>
              <a:rPr lang="en-IE" sz="1600" b="1" dirty="0">
                <a:solidFill>
                  <a:schemeClr val="accent1">
                    <a:lumMod val="75000"/>
                  </a:schemeClr>
                </a:solidFill>
                <a:latin typeface="Arial" charset="0"/>
              </a:rPr>
              <a:t>MHz</a:t>
            </a:r>
            <a:r>
              <a:rPr lang="en-IE" sz="1600" dirty="0">
                <a:solidFill>
                  <a:schemeClr val="accent1">
                    <a:lumMod val="75000"/>
                  </a:schemeClr>
                </a:solidFill>
                <a:latin typeface="Arial" charset="0"/>
              </a:rPr>
              <a:t>) or Gigahertz (</a:t>
            </a:r>
            <a:r>
              <a:rPr lang="en-IE" sz="1600" b="1" dirty="0">
                <a:solidFill>
                  <a:schemeClr val="accent1">
                    <a:lumMod val="75000"/>
                  </a:schemeClr>
                </a:solidFill>
                <a:latin typeface="Arial" charset="0"/>
              </a:rPr>
              <a:t>GHz</a:t>
            </a:r>
            <a:r>
              <a:rPr lang="en-IE" sz="1600" dirty="0">
                <a:solidFill>
                  <a:schemeClr val="accent1">
                    <a:lumMod val="75000"/>
                  </a:schemeClr>
                </a:solidFill>
                <a:latin typeface="Arial" charset="0"/>
              </a:rPr>
              <a:t>)  -  the speed of the system clock (</a:t>
            </a:r>
            <a:r>
              <a:rPr lang="en-IE" sz="1600" b="1" dirty="0">
                <a:solidFill>
                  <a:schemeClr val="accent1">
                    <a:lumMod val="75000"/>
                  </a:schemeClr>
                </a:solidFill>
                <a:latin typeface="Arial" charset="0"/>
              </a:rPr>
              <a:t>clock speed</a:t>
            </a:r>
            <a:r>
              <a:rPr lang="en-IE" sz="1600" dirty="0">
                <a:solidFill>
                  <a:schemeClr val="accent1">
                    <a:lumMod val="75000"/>
                  </a:schemeClr>
                </a:solidFill>
                <a:latin typeface="Arial" charset="0"/>
              </a:rPr>
              <a:t>) within the processor and it controls how fast instructions are executed:</a:t>
            </a:r>
          </a:p>
          <a:p>
            <a:pPr algn="just">
              <a:defRPr/>
            </a:pPr>
            <a:endParaRPr lang="en-IE" sz="1600" dirty="0">
              <a:solidFill>
                <a:schemeClr val="accent1">
                  <a:lumMod val="75000"/>
                </a:schemeClr>
              </a:solidFill>
              <a:latin typeface="Arial" charset="0"/>
            </a:endParaRPr>
          </a:p>
          <a:p>
            <a:pPr marL="285750" indent="-285750" algn="just">
              <a:lnSpc>
                <a:spcPct val="150000"/>
              </a:lnSpc>
              <a:buFont typeface="Arial" panose="020B0604020202020204" pitchFamily="34" charset="0"/>
              <a:buChar char="•"/>
              <a:defRPr/>
            </a:pPr>
            <a:r>
              <a:rPr lang="en-IE" sz="1600" dirty="0">
                <a:solidFill>
                  <a:schemeClr val="accent1">
                    <a:lumMod val="75000"/>
                  </a:schemeClr>
                </a:solidFill>
                <a:latin typeface="Arial" charset="0"/>
              </a:rPr>
              <a:t>1 MHz  -  1 </a:t>
            </a:r>
            <a:r>
              <a:rPr lang="en-IE" sz="1600" b="1" dirty="0">
                <a:solidFill>
                  <a:schemeClr val="accent1">
                    <a:lumMod val="75000"/>
                  </a:schemeClr>
                </a:solidFill>
                <a:latin typeface="Arial" charset="0"/>
              </a:rPr>
              <a:t>million </a:t>
            </a:r>
            <a:r>
              <a:rPr lang="en-IE" sz="1600" dirty="0">
                <a:solidFill>
                  <a:schemeClr val="accent1">
                    <a:lumMod val="75000"/>
                  </a:schemeClr>
                </a:solidFill>
                <a:latin typeface="Arial" charset="0"/>
              </a:rPr>
              <a:t>clock ticks every second</a:t>
            </a:r>
          </a:p>
          <a:p>
            <a:pPr marL="285750" indent="-285750" algn="just">
              <a:lnSpc>
                <a:spcPct val="150000"/>
              </a:lnSpc>
              <a:buFont typeface="Arial" panose="020B0604020202020204" pitchFamily="34" charset="0"/>
              <a:buChar char="•"/>
              <a:defRPr/>
            </a:pPr>
            <a:r>
              <a:rPr lang="en-IE" sz="1600" dirty="0">
                <a:solidFill>
                  <a:schemeClr val="accent1">
                    <a:lumMod val="75000"/>
                  </a:schemeClr>
                </a:solidFill>
                <a:latin typeface="Arial" charset="0"/>
              </a:rPr>
              <a:t>1 GHz  -  1 </a:t>
            </a:r>
            <a:r>
              <a:rPr lang="en-IE" sz="1600" b="1" dirty="0">
                <a:solidFill>
                  <a:schemeClr val="accent1">
                    <a:lumMod val="75000"/>
                  </a:schemeClr>
                </a:solidFill>
                <a:latin typeface="Arial" charset="0"/>
              </a:rPr>
              <a:t>billion </a:t>
            </a:r>
            <a:r>
              <a:rPr lang="en-IE" sz="1600" dirty="0">
                <a:solidFill>
                  <a:schemeClr val="accent1">
                    <a:lumMod val="75000"/>
                  </a:schemeClr>
                </a:solidFill>
                <a:latin typeface="Arial" charset="0"/>
              </a:rPr>
              <a:t>clock ticks every second</a:t>
            </a:r>
          </a:p>
          <a:p>
            <a:pPr marL="914400" lvl="1" indent="-457200" algn="just">
              <a:buFont typeface="Arial" pitchFamily="34" charset="0"/>
              <a:buChar char="•"/>
              <a:defRPr/>
            </a:pPr>
            <a:endParaRPr lang="en-IE" sz="1600" dirty="0">
              <a:solidFill>
                <a:schemeClr val="accent1">
                  <a:lumMod val="75000"/>
                </a:schemeClr>
              </a:solidFill>
              <a:latin typeface="Arial" charset="0"/>
            </a:endParaRPr>
          </a:p>
          <a:p>
            <a:pPr algn="just">
              <a:defRPr/>
            </a:pPr>
            <a:r>
              <a:rPr lang="en-IE" sz="1600" b="1" dirty="0">
                <a:solidFill>
                  <a:schemeClr val="accent1">
                    <a:lumMod val="75000"/>
                  </a:schemeClr>
                </a:solidFill>
                <a:latin typeface="Arial" charset="0"/>
              </a:rPr>
              <a:t>M</a:t>
            </a:r>
            <a:r>
              <a:rPr lang="en-IE" sz="1600" b="1" dirty="0" smtClean="0">
                <a:solidFill>
                  <a:schemeClr val="accent1">
                    <a:lumMod val="75000"/>
                  </a:schemeClr>
                </a:solidFill>
                <a:latin typeface="Arial" charset="0"/>
              </a:rPr>
              <a:t>ulti-core </a:t>
            </a:r>
            <a:r>
              <a:rPr lang="en-IE" sz="1600" dirty="0">
                <a:solidFill>
                  <a:schemeClr val="accent1">
                    <a:lumMod val="75000"/>
                  </a:schemeClr>
                </a:solidFill>
                <a:latin typeface="Arial" charset="0"/>
              </a:rPr>
              <a:t>processors can have two, three or four processor cores on a single chip.  </a:t>
            </a:r>
          </a:p>
          <a:p>
            <a:pPr algn="just">
              <a:defRPr/>
            </a:pPr>
            <a:endParaRPr lang="en-IE" sz="1600" dirty="0">
              <a:solidFill>
                <a:schemeClr val="accent1">
                  <a:lumMod val="75000"/>
                </a:schemeClr>
              </a:solidFill>
              <a:latin typeface="Arial" charset="0"/>
            </a:endParaRPr>
          </a:p>
          <a:p>
            <a:pPr marL="457200" indent="-457200">
              <a:defRPr/>
            </a:pPr>
            <a:endParaRPr lang="en-IE" sz="2400" dirty="0">
              <a:latin typeface="Arial" charset="0"/>
            </a:endParaRPr>
          </a:p>
          <a:p>
            <a:pPr>
              <a:defRPr/>
            </a:pPr>
            <a:r>
              <a:rPr lang="en-IE" sz="2400" dirty="0">
                <a:latin typeface="Arial" charset="0"/>
              </a:rPr>
              <a:t> </a:t>
            </a:r>
          </a:p>
          <a:p>
            <a:pPr>
              <a:defRPr/>
            </a:pPr>
            <a:endParaRPr lang="en-IE" sz="2400" dirty="0">
              <a:latin typeface="Arial" charset="0"/>
            </a:endParaRPr>
          </a:p>
          <a:p>
            <a:pPr>
              <a:defRPr/>
            </a:pPr>
            <a:r>
              <a:rPr lang="en-IE" sz="2400" dirty="0">
                <a:latin typeface="Arial" charset="0"/>
              </a:rPr>
              <a:t> </a:t>
            </a:r>
          </a:p>
        </p:txBody>
      </p:sp>
      <p:grpSp>
        <p:nvGrpSpPr>
          <p:cNvPr id="2" name="Group 5"/>
          <p:cNvGrpSpPr>
            <a:grpSpLocks/>
          </p:cNvGrpSpPr>
          <p:nvPr/>
        </p:nvGrpSpPr>
        <p:grpSpPr bwMode="auto">
          <a:xfrm>
            <a:off x="2286000" y="4382869"/>
            <a:ext cx="4800600" cy="1981200"/>
            <a:chOff x="2428860" y="5214950"/>
            <a:chExt cx="3918997" cy="1394582"/>
          </a:xfrm>
        </p:grpSpPr>
        <p:pic>
          <p:nvPicPr>
            <p:cNvPr id="30725" name="Picture 6" descr="amd_athlon_64_x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28" y="5214950"/>
              <a:ext cx="1347229" cy="1357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30726" name="Picture 5" descr="processo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28860" y="5214950"/>
              <a:ext cx="1540956" cy="139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Tree>
    <p:extLst>
      <p:ext uri="{BB962C8B-B14F-4D97-AF65-F5344CB8AC3E}">
        <p14:creationId xmlns:p14="http://schemas.microsoft.com/office/powerpoint/2010/main" val="172729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04800" y="262938"/>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7" name="TextBox 6"/>
          <p:cNvSpPr txBox="1">
            <a:spLocks noChangeArrowheads="1"/>
          </p:cNvSpPr>
          <p:nvPr/>
        </p:nvSpPr>
        <p:spPr bwMode="auto">
          <a:xfrm>
            <a:off x="685800" y="1272267"/>
            <a:ext cx="79248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363538" eaLnBrk="0" hangingPunct="0">
              <a:tabLst>
                <a:tab pos="363538" algn="l"/>
              </a:tabLst>
              <a:defRPr>
                <a:solidFill>
                  <a:schemeClr val="tx1"/>
                </a:solidFill>
                <a:latin typeface="Arial" panose="020B0604020202020204" pitchFamily="34" charset="0"/>
              </a:defRPr>
            </a:lvl1pPr>
            <a:lvl2pPr marL="742950" indent="-285750" eaLnBrk="0" hangingPunct="0">
              <a:tabLst>
                <a:tab pos="363538" algn="l"/>
              </a:tabLst>
              <a:defRPr>
                <a:solidFill>
                  <a:schemeClr val="tx1"/>
                </a:solidFill>
                <a:latin typeface="Arial" panose="020B0604020202020204" pitchFamily="34" charset="0"/>
              </a:defRPr>
            </a:lvl2pPr>
            <a:lvl3pPr marL="1143000" indent="-228600" eaLnBrk="0" hangingPunct="0">
              <a:tabLst>
                <a:tab pos="363538" algn="l"/>
              </a:tabLst>
              <a:defRPr>
                <a:solidFill>
                  <a:schemeClr val="tx1"/>
                </a:solidFill>
                <a:latin typeface="Arial" panose="020B0604020202020204" pitchFamily="34" charset="0"/>
              </a:defRPr>
            </a:lvl3pPr>
            <a:lvl4pPr marL="1600200" indent="-228600" eaLnBrk="0" hangingPunct="0">
              <a:tabLst>
                <a:tab pos="363538" algn="l"/>
              </a:tabLst>
              <a:defRPr>
                <a:solidFill>
                  <a:schemeClr val="tx1"/>
                </a:solidFill>
                <a:latin typeface="Arial" panose="020B0604020202020204" pitchFamily="34" charset="0"/>
              </a:defRPr>
            </a:lvl4pPr>
            <a:lvl5pPr marL="2057400" indent="-228600" eaLnBrk="0" hangingPunct="0">
              <a:tabLst>
                <a:tab pos="36353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6353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6353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6353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63538" algn="l"/>
              </a:tabLst>
              <a:defRPr>
                <a:solidFill>
                  <a:schemeClr val="tx1"/>
                </a:solidFill>
                <a:latin typeface="Arial" panose="020B0604020202020204" pitchFamily="34" charset="0"/>
              </a:defRPr>
            </a:lvl9pPr>
          </a:lstStyle>
          <a:p>
            <a:pPr indent="0" eaLnBrk="1" hangingPunct="1">
              <a:lnSpc>
                <a:spcPct val="150000"/>
              </a:lnSpc>
            </a:pPr>
            <a:r>
              <a:rPr lang="en-IE" altLang="en-US" sz="1600" b="1" dirty="0">
                <a:solidFill>
                  <a:srgbClr val="C00000"/>
                </a:solidFill>
                <a:latin typeface="Comic Sans MS" panose="030F0702030302020204" pitchFamily="66" charset="0"/>
              </a:rPr>
              <a:t>Random Access Memory (RAM</a:t>
            </a:r>
            <a:r>
              <a:rPr lang="en-IE" altLang="en-US" sz="1600" b="1" dirty="0" smtClean="0">
                <a:solidFill>
                  <a:srgbClr val="C00000"/>
                </a:solidFill>
                <a:latin typeface="Comic Sans MS" panose="030F0702030302020204" pitchFamily="66" charset="0"/>
              </a:rPr>
              <a:t>)</a:t>
            </a:r>
          </a:p>
          <a:p>
            <a:pPr indent="0" eaLnBrk="1" hangingPunct="1">
              <a:lnSpc>
                <a:spcPct val="150000"/>
              </a:lnSpc>
            </a:pPr>
            <a:endParaRPr lang="en-IE" altLang="en-US" sz="1600" dirty="0">
              <a:solidFill>
                <a:schemeClr val="accent1">
                  <a:lumMod val="75000"/>
                </a:schemeClr>
              </a:solidFill>
            </a:endParaRPr>
          </a:p>
          <a:p>
            <a:pPr marL="285750" indent="-285750" algn="just" eaLnBrk="1" hangingPunct="1">
              <a:buFont typeface="Arial" panose="020B0604020202020204" pitchFamily="34" charset="0"/>
              <a:buChar char="•"/>
            </a:pPr>
            <a:r>
              <a:rPr lang="en-IE" altLang="en-US" sz="1600" b="1" dirty="0" smtClean="0">
                <a:solidFill>
                  <a:schemeClr val="accent1">
                    <a:lumMod val="75000"/>
                  </a:schemeClr>
                </a:solidFill>
              </a:rPr>
              <a:t>Primary </a:t>
            </a:r>
            <a:r>
              <a:rPr lang="en-IE" altLang="en-US" sz="1600" b="1" dirty="0">
                <a:solidFill>
                  <a:schemeClr val="accent1">
                    <a:lumMod val="75000"/>
                  </a:schemeClr>
                </a:solidFill>
              </a:rPr>
              <a:t>storage  -  </a:t>
            </a:r>
            <a:r>
              <a:rPr lang="en-IE" altLang="en-US" sz="1600" dirty="0">
                <a:solidFill>
                  <a:schemeClr val="accent1">
                    <a:lumMod val="75000"/>
                  </a:schemeClr>
                </a:solidFill>
              </a:rPr>
              <a:t>main computer memory. Data, </a:t>
            </a:r>
            <a:r>
              <a:rPr lang="en-IE" altLang="en-US" sz="1600" dirty="0" smtClean="0">
                <a:solidFill>
                  <a:schemeClr val="accent1">
                    <a:lumMod val="75000"/>
                  </a:schemeClr>
                </a:solidFill>
              </a:rPr>
              <a:t>programs </a:t>
            </a:r>
            <a:r>
              <a:rPr lang="en-IE" altLang="en-US" sz="1600" dirty="0">
                <a:solidFill>
                  <a:schemeClr val="accent1">
                    <a:lumMod val="75000"/>
                  </a:schemeClr>
                </a:solidFill>
              </a:rPr>
              <a:t>currently in </a:t>
            </a:r>
            <a:r>
              <a:rPr lang="en-IE" altLang="en-US" sz="1600" dirty="0" smtClean="0">
                <a:solidFill>
                  <a:schemeClr val="accent1">
                    <a:lumMod val="75000"/>
                  </a:schemeClr>
                </a:solidFill>
              </a:rPr>
              <a:t>use </a:t>
            </a:r>
            <a:r>
              <a:rPr lang="en-IE" altLang="en-US" sz="1600" dirty="0">
                <a:solidFill>
                  <a:schemeClr val="accent1">
                    <a:lumMod val="75000"/>
                  </a:schemeClr>
                </a:solidFill>
              </a:rPr>
              <a:t>are held in </a:t>
            </a:r>
            <a:r>
              <a:rPr lang="en-IE" altLang="en-US" sz="1600" dirty="0" smtClean="0">
                <a:solidFill>
                  <a:schemeClr val="accent1">
                    <a:lumMod val="75000"/>
                  </a:schemeClr>
                </a:solidFill>
              </a:rPr>
              <a:t>RAM;</a:t>
            </a:r>
            <a:endParaRPr lang="en-IE" altLang="en-US" sz="1600" dirty="0">
              <a:solidFill>
                <a:schemeClr val="accent1">
                  <a:lumMod val="75000"/>
                </a:schemeClr>
              </a:solidFill>
            </a:endParaRPr>
          </a:p>
          <a:p>
            <a:pPr marL="285750" indent="-285750"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Volatile</a:t>
            </a:r>
            <a:r>
              <a:rPr lang="en-IE" altLang="en-US" sz="1600" dirty="0">
                <a:solidFill>
                  <a:schemeClr val="accent1">
                    <a:lumMod val="75000"/>
                  </a:schemeClr>
                </a:solidFill>
              </a:rPr>
              <a:t>  -   contents of memory are lost if </a:t>
            </a:r>
            <a:r>
              <a:rPr lang="en-IE" altLang="en-US" sz="1600" dirty="0" smtClean="0">
                <a:solidFill>
                  <a:schemeClr val="accent1">
                    <a:lumMod val="75000"/>
                  </a:schemeClr>
                </a:solidFill>
              </a:rPr>
              <a:t>the computer </a:t>
            </a:r>
            <a:r>
              <a:rPr lang="en-IE" altLang="en-US" sz="1600" dirty="0">
                <a:solidFill>
                  <a:schemeClr val="accent1">
                    <a:lumMod val="75000"/>
                  </a:schemeClr>
                </a:solidFill>
              </a:rPr>
              <a:t>is turned </a:t>
            </a:r>
            <a:r>
              <a:rPr lang="en-IE" altLang="en-US" sz="1600" dirty="0" smtClean="0">
                <a:solidFill>
                  <a:schemeClr val="accent1">
                    <a:lumMod val="75000"/>
                  </a:schemeClr>
                </a:solidFill>
              </a:rPr>
              <a:t>off;</a:t>
            </a:r>
            <a:endParaRPr lang="en-IE" altLang="en-US" sz="1600" dirty="0">
              <a:solidFill>
                <a:schemeClr val="accent1">
                  <a:lumMod val="75000"/>
                </a:schemeClr>
              </a:solidFill>
            </a:endParaRPr>
          </a:p>
          <a:p>
            <a:pPr marL="285750" indent="-285750"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Module</a:t>
            </a:r>
            <a:r>
              <a:rPr lang="en-IE" altLang="en-US" sz="1600" dirty="0">
                <a:solidFill>
                  <a:schemeClr val="accent1">
                    <a:lumMod val="75000"/>
                  </a:schemeClr>
                </a:solidFill>
              </a:rPr>
              <a:t>  -  memory i</a:t>
            </a:r>
            <a:r>
              <a:rPr lang="en-IE" altLang="en-US" sz="1600" dirty="0" smtClean="0">
                <a:solidFill>
                  <a:schemeClr val="accent1">
                    <a:lumMod val="75000"/>
                  </a:schemeClr>
                </a:solidFill>
              </a:rPr>
              <a:t>ntegral circuit’s (IC) </a:t>
            </a:r>
            <a:r>
              <a:rPr lang="en-IE" altLang="en-US" sz="1600" dirty="0">
                <a:solidFill>
                  <a:schemeClr val="accent1">
                    <a:lumMod val="75000"/>
                  </a:schemeClr>
                </a:solidFill>
              </a:rPr>
              <a:t>on a circuit </a:t>
            </a:r>
            <a:r>
              <a:rPr lang="en-IE" altLang="en-US" sz="1600" dirty="0" smtClean="0">
                <a:solidFill>
                  <a:schemeClr val="accent1">
                    <a:lumMod val="75000"/>
                  </a:schemeClr>
                </a:solidFill>
              </a:rPr>
              <a:t>board;</a:t>
            </a:r>
            <a:endParaRPr lang="en-IE" altLang="en-US" sz="1600" dirty="0">
              <a:solidFill>
                <a:schemeClr val="accent1">
                  <a:lumMod val="75000"/>
                </a:schemeClr>
              </a:solidFill>
            </a:endParaRPr>
          </a:p>
        </p:txBody>
      </p:sp>
      <p:grpSp>
        <p:nvGrpSpPr>
          <p:cNvPr id="2" name="Group 1"/>
          <p:cNvGrpSpPr>
            <a:grpSpLocks/>
          </p:cNvGrpSpPr>
          <p:nvPr/>
        </p:nvGrpSpPr>
        <p:grpSpPr bwMode="auto">
          <a:xfrm>
            <a:off x="1447800" y="3733800"/>
            <a:ext cx="6013450" cy="2819400"/>
            <a:chOff x="107689650" y="108826011"/>
            <a:chExt cx="4486275" cy="1738789"/>
          </a:xfrm>
        </p:grpSpPr>
        <p:pic>
          <p:nvPicPr>
            <p:cNvPr id="31750" name="Picture 2" descr="sams_60nm_1gb_1"/>
            <p:cNvPicPr>
              <a:picLocks noChangeAspect="1" noChangeArrowheads="1"/>
            </p:cNvPicPr>
            <p:nvPr/>
          </p:nvPicPr>
          <p:blipFill>
            <a:blip r:embed="rId3">
              <a:extLst>
                <a:ext uri="{28A0092B-C50C-407E-A947-70E740481C1C}">
                  <a14:useLocalDpi xmlns:a14="http://schemas.microsoft.com/office/drawing/2010/main" val="0"/>
                </a:ext>
              </a:extLst>
            </a:blip>
            <a:srcRect t="3618" b="3377"/>
            <a:stretch>
              <a:fillRect/>
            </a:stretch>
          </p:blipFill>
          <p:spPr bwMode="auto">
            <a:xfrm>
              <a:off x="108802709" y="108826011"/>
              <a:ext cx="2705116" cy="1738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31751" name="Line 3"/>
            <p:cNvSpPr>
              <a:spLocks noChangeShapeType="1"/>
            </p:cNvSpPr>
            <p:nvPr/>
          </p:nvSpPr>
          <p:spPr bwMode="auto">
            <a:xfrm flipH="1">
              <a:off x="110801950" y="109779903"/>
              <a:ext cx="833189" cy="306734"/>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1752" name="Line 4"/>
            <p:cNvSpPr>
              <a:spLocks noChangeShapeType="1"/>
            </p:cNvSpPr>
            <p:nvPr/>
          </p:nvSpPr>
          <p:spPr bwMode="auto">
            <a:xfrm rot="12856712" flipH="1">
              <a:off x="108483881" y="109905028"/>
              <a:ext cx="833189" cy="306734"/>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1753" name="Text Box 5"/>
            <p:cNvSpPr txBox="1">
              <a:spLocks noChangeArrowheads="1"/>
            </p:cNvSpPr>
            <p:nvPr/>
          </p:nvSpPr>
          <p:spPr bwMode="auto">
            <a:xfrm>
              <a:off x="111623475" y="109651800"/>
              <a:ext cx="552450" cy="247650"/>
            </a:xfrm>
            <a:prstGeom prst="rect">
              <a:avLst/>
            </a:prstGeom>
            <a:noFill/>
            <a:ln w="12700" algn="in">
              <a:no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latin typeface="+mn-lt"/>
                </a:rPr>
                <a:t>IC’s</a:t>
              </a:r>
              <a:endParaRPr lang="en-US" altLang="en-US" sz="1600" dirty="0">
                <a:solidFill>
                  <a:schemeClr val="accent1">
                    <a:lumMod val="75000"/>
                  </a:schemeClr>
                </a:solidFill>
                <a:latin typeface="+mn-lt"/>
              </a:endParaRPr>
            </a:p>
          </p:txBody>
        </p:sp>
        <p:sp>
          <p:nvSpPr>
            <p:cNvPr id="31754" name="Text Box 6"/>
            <p:cNvSpPr txBox="1">
              <a:spLocks noChangeArrowheads="1"/>
            </p:cNvSpPr>
            <p:nvPr/>
          </p:nvSpPr>
          <p:spPr bwMode="auto">
            <a:xfrm>
              <a:off x="107689650" y="109737704"/>
              <a:ext cx="781050" cy="451142"/>
            </a:xfrm>
            <a:prstGeom prst="rect">
              <a:avLst/>
            </a:prstGeom>
            <a:noFill/>
            <a:ln w="12700" algn="in">
              <a:no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latin typeface="+mn-lt"/>
                </a:rPr>
                <a:t>Memory</a:t>
              </a:r>
            </a:p>
            <a:p>
              <a:pPr algn="ctr" eaLnBrk="1" hangingPunct="1"/>
              <a:r>
                <a:rPr lang="en-IE" altLang="en-US" sz="1600" dirty="0">
                  <a:solidFill>
                    <a:schemeClr val="accent1">
                      <a:lumMod val="75000"/>
                    </a:schemeClr>
                  </a:solidFill>
                  <a:latin typeface="+mn-lt"/>
                </a:rPr>
                <a:t>Module</a:t>
              </a:r>
              <a:endParaRPr lang="en-US" altLang="en-US" sz="1600" dirty="0">
                <a:solidFill>
                  <a:schemeClr val="accent1">
                    <a:lumMod val="75000"/>
                  </a:schemeClr>
                </a:solidFill>
                <a:latin typeface="+mn-lt"/>
              </a:endParaRPr>
            </a:p>
          </p:txBody>
        </p:sp>
        <p:sp>
          <p:nvSpPr>
            <p:cNvPr id="31755" name="Line 7"/>
            <p:cNvSpPr>
              <a:spLocks noChangeShapeType="1"/>
            </p:cNvSpPr>
            <p:nvPr/>
          </p:nvSpPr>
          <p:spPr bwMode="auto">
            <a:xfrm flipH="1">
              <a:off x="110144725" y="109789428"/>
              <a:ext cx="1490414" cy="611534"/>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spTree>
    <p:extLst>
      <p:ext uri="{BB962C8B-B14F-4D97-AF65-F5344CB8AC3E}">
        <p14:creationId xmlns:p14="http://schemas.microsoft.com/office/powerpoint/2010/main" val="8307821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04800" y="357690"/>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29" name="TextBox 28"/>
          <p:cNvSpPr txBox="1">
            <a:spLocks noChangeArrowheads="1"/>
          </p:cNvSpPr>
          <p:nvPr/>
        </p:nvSpPr>
        <p:spPr bwMode="auto">
          <a:xfrm>
            <a:off x="609600" y="1618461"/>
            <a:ext cx="8150225"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rPr>
              <a:t>Memory is sold in modules:</a:t>
            </a:r>
          </a:p>
          <a:p>
            <a:pPr eaLnBrk="1" hangingPunct="1"/>
            <a:endParaRPr lang="en-IE" altLang="en-US" sz="1600" b="1" dirty="0">
              <a:solidFill>
                <a:schemeClr val="accent1">
                  <a:lumMod val="75000"/>
                </a:schemeClr>
              </a:solidFill>
            </a:endParaRPr>
          </a:p>
          <a:p>
            <a:pPr marL="285750" indent="-285750" eaLnBrk="1" hangingPunct="1">
              <a:buFont typeface="Arial" panose="020B0604020202020204" pitchFamily="34" charset="0"/>
              <a:buChar char="•"/>
            </a:pPr>
            <a:r>
              <a:rPr lang="en-IE" altLang="en-US" sz="1600" dirty="0">
                <a:solidFill>
                  <a:schemeClr val="accent1">
                    <a:lumMod val="75000"/>
                  </a:schemeClr>
                </a:solidFill>
              </a:rPr>
              <a:t>DIMM’s (dual inline memory module) for </a:t>
            </a:r>
            <a:r>
              <a:rPr lang="en-IE" altLang="en-US" sz="1600" b="1" dirty="0">
                <a:solidFill>
                  <a:schemeClr val="accent1">
                    <a:lumMod val="75000"/>
                  </a:schemeClr>
                </a:solidFill>
              </a:rPr>
              <a:t>desktop </a:t>
            </a:r>
            <a:r>
              <a:rPr lang="en-IE" altLang="en-US" sz="1600" b="1" dirty="0" smtClean="0">
                <a:solidFill>
                  <a:schemeClr val="accent1">
                    <a:lumMod val="75000"/>
                  </a:schemeClr>
                </a:solidFill>
              </a:rPr>
              <a:t>computers</a:t>
            </a:r>
            <a:r>
              <a:rPr lang="en-IE" altLang="en-US" sz="1600" dirty="0" smtClean="0">
                <a:solidFill>
                  <a:schemeClr val="accent1">
                    <a:lumMod val="75000"/>
                  </a:schemeClr>
                </a:solidFill>
              </a:rPr>
              <a:t>.</a:t>
            </a:r>
            <a:endParaRPr lang="en-IE" altLang="en-US" sz="1600" dirty="0">
              <a:solidFill>
                <a:schemeClr val="accent1">
                  <a:lumMod val="75000"/>
                </a:schemeClr>
              </a:solidFill>
            </a:endParaRPr>
          </a:p>
          <a:p>
            <a:pPr marL="285750" indent="-285750" eaLnBrk="1" hangingPunct="1">
              <a:buFont typeface="Arial" panose="020B0604020202020204" pitchFamily="34" charset="0"/>
              <a:buChar char="•"/>
            </a:pPr>
            <a:endParaRPr lang="en-IE" altLang="en-US" sz="1600" dirty="0">
              <a:solidFill>
                <a:schemeClr val="accent1">
                  <a:lumMod val="75000"/>
                </a:schemeClr>
              </a:solidFill>
            </a:endParaRPr>
          </a:p>
          <a:p>
            <a:pPr marL="285750" indent="-285750" eaLnBrk="1" hangingPunct="1">
              <a:buFont typeface="Arial" panose="020B0604020202020204" pitchFamily="34" charset="0"/>
              <a:buChar char="•"/>
            </a:pPr>
            <a:r>
              <a:rPr lang="en-IE" altLang="en-US" sz="1600" dirty="0">
                <a:solidFill>
                  <a:schemeClr val="accent1">
                    <a:lumMod val="75000"/>
                  </a:schemeClr>
                </a:solidFill>
              </a:rPr>
              <a:t>SODIMM’s (small outline dual inline memory module) for </a:t>
            </a:r>
            <a:r>
              <a:rPr lang="en-IE" altLang="en-US" sz="1600" b="1" dirty="0">
                <a:solidFill>
                  <a:schemeClr val="accent1">
                    <a:lumMod val="75000"/>
                  </a:schemeClr>
                </a:solidFill>
              </a:rPr>
              <a:t>notebook computers</a:t>
            </a:r>
            <a:r>
              <a:rPr lang="en-IE" altLang="en-US" sz="1600" dirty="0">
                <a:solidFill>
                  <a:schemeClr val="accent1">
                    <a:lumMod val="75000"/>
                  </a:schemeClr>
                </a:solidFill>
              </a:rPr>
              <a:t>.  </a:t>
            </a:r>
          </a:p>
          <a:p>
            <a:pPr eaLnBrk="1" hangingPunct="1"/>
            <a:r>
              <a:rPr lang="en-IE" altLang="en-US" sz="2400" dirty="0">
                <a:solidFill>
                  <a:schemeClr val="accent1">
                    <a:lumMod val="75000"/>
                  </a:schemeClr>
                </a:solidFill>
              </a:rPr>
              <a:t> </a:t>
            </a:r>
          </a:p>
        </p:txBody>
      </p:sp>
      <p:grpSp>
        <p:nvGrpSpPr>
          <p:cNvPr id="2" name="Group 1"/>
          <p:cNvGrpSpPr>
            <a:grpSpLocks/>
          </p:cNvGrpSpPr>
          <p:nvPr/>
        </p:nvGrpSpPr>
        <p:grpSpPr bwMode="auto">
          <a:xfrm>
            <a:off x="1490659" y="3657600"/>
            <a:ext cx="3016244" cy="2214563"/>
            <a:chOff x="107285186" y="106270327"/>
            <a:chExt cx="3322707" cy="2278007"/>
          </a:xfrm>
        </p:grpSpPr>
        <p:pic>
          <p:nvPicPr>
            <p:cNvPr id="32776" name="Picture 2" descr="owc2700ddr512"/>
            <p:cNvPicPr>
              <a:picLocks noChangeAspect="1" noChangeArrowheads="1"/>
            </p:cNvPicPr>
            <p:nvPr/>
          </p:nvPicPr>
          <p:blipFill>
            <a:blip r:embed="rId3">
              <a:extLst>
                <a:ext uri="{28A0092B-C50C-407E-A947-70E740481C1C}">
                  <a14:useLocalDpi xmlns:a14="http://schemas.microsoft.com/office/drawing/2010/main" val="0"/>
                </a:ext>
              </a:extLst>
            </a:blip>
            <a:srcRect t="1878" b="1878"/>
            <a:stretch>
              <a:fillRect/>
            </a:stretch>
          </p:blipFill>
          <p:spPr bwMode="auto">
            <a:xfrm>
              <a:off x="107510775" y="106270327"/>
              <a:ext cx="3097118" cy="2278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32777" name="Text Box 3"/>
            <p:cNvSpPr txBox="1">
              <a:spLocks noChangeArrowheads="1"/>
            </p:cNvSpPr>
            <p:nvPr/>
          </p:nvSpPr>
          <p:spPr bwMode="auto">
            <a:xfrm>
              <a:off x="107285186" y="106466285"/>
              <a:ext cx="1642766" cy="434682"/>
            </a:xfrm>
            <a:prstGeom prst="rect">
              <a:avLst/>
            </a:prstGeom>
            <a:noFill/>
            <a:ln w="19050" algn="in">
              <a:no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latin typeface="+mn-lt"/>
                </a:rPr>
                <a:t>DIMM</a:t>
              </a:r>
            </a:p>
            <a:p>
              <a:pPr algn="ctr" eaLnBrk="1" hangingPunct="1"/>
              <a:r>
                <a:rPr lang="en-IE" altLang="en-US" sz="1600" dirty="0">
                  <a:solidFill>
                    <a:schemeClr val="accent1">
                      <a:lumMod val="75000"/>
                    </a:schemeClr>
                  </a:solidFill>
                  <a:latin typeface="+mn-lt"/>
                </a:rPr>
                <a:t>Module</a:t>
              </a:r>
              <a:endParaRPr lang="en-US" altLang="en-US" sz="1600" dirty="0">
                <a:solidFill>
                  <a:schemeClr val="accent1">
                    <a:lumMod val="75000"/>
                  </a:schemeClr>
                </a:solidFill>
                <a:latin typeface="+mn-lt"/>
              </a:endParaRPr>
            </a:p>
          </p:txBody>
        </p:sp>
      </p:grpSp>
      <p:grpSp>
        <p:nvGrpSpPr>
          <p:cNvPr id="3" name="Group 4"/>
          <p:cNvGrpSpPr>
            <a:grpSpLocks/>
          </p:cNvGrpSpPr>
          <p:nvPr/>
        </p:nvGrpSpPr>
        <p:grpSpPr bwMode="auto">
          <a:xfrm>
            <a:off x="4919662" y="3657600"/>
            <a:ext cx="2776538" cy="2266950"/>
            <a:chOff x="110107237" y="106268500"/>
            <a:chExt cx="2776538" cy="2266950"/>
          </a:xfrm>
        </p:grpSpPr>
        <p:pic>
          <p:nvPicPr>
            <p:cNvPr id="32774" name="Picture 5" descr="rambo-sodim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97775" y="106268500"/>
              <a:ext cx="228600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32775" name="Text Box 6"/>
            <p:cNvSpPr txBox="1">
              <a:spLocks noChangeArrowheads="1"/>
            </p:cNvSpPr>
            <p:nvPr/>
          </p:nvSpPr>
          <p:spPr bwMode="auto">
            <a:xfrm>
              <a:off x="110107237" y="107754400"/>
              <a:ext cx="1335263" cy="434682"/>
            </a:xfrm>
            <a:prstGeom prst="rect">
              <a:avLst/>
            </a:prstGeom>
            <a:noFill/>
            <a:ln w="19050" algn="in">
              <a:no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latin typeface="+mn-lt"/>
                </a:rPr>
                <a:t>SODIMM</a:t>
              </a:r>
            </a:p>
            <a:p>
              <a:pPr algn="ctr" eaLnBrk="1" hangingPunct="1"/>
              <a:r>
                <a:rPr lang="en-IE" altLang="en-US" sz="1600" dirty="0">
                  <a:solidFill>
                    <a:schemeClr val="accent1">
                      <a:lumMod val="75000"/>
                    </a:schemeClr>
                  </a:solidFill>
                  <a:latin typeface="+mn-lt"/>
                </a:rPr>
                <a:t>Module</a:t>
              </a:r>
              <a:endParaRPr lang="en-US" altLang="en-US" sz="1600" dirty="0">
                <a:solidFill>
                  <a:schemeClr val="accent1">
                    <a:lumMod val="75000"/>
                  </a:schemeClr>
                </a:solidFill>
                <a:latin typeface="+mn-lt"/>
              </a:endParaRPr>
            </a:p>
          </p:txBody>
        </p:sp>
      </p:grpSp>
    </p:spTree>
    <p:extLst>
      <p:ext uri="{BB962C8B-B14F-4D97-AF65-F5344CB8AC3E}">
        <p14:creationId xmlns:p14="http://schemas.microsoft.com/office/powerpoint/2010/main" val="3343400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04800" y="282922"/>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35" name="TextBox 34"/>
          <p:cNvSpPr txBox="1">
            <a:spLocks noChangeArrowheads="1"/>
          </p:cNvSpPr>
          <p:nvPr/>
        </p:nvSpPr>
        <p:spPr bwMode="auto">
          <a:xfrm>
            <a:off x="680532" y="1564195"/>
            <a:ext cx="773271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DIMM’s and SODIMM’s are available in modules of 256MB, 512MB, 1GB, </a:t>
            </a:r>
            <a:r>
              <a:rPr lang="en-IE" altLang="en-US" sz="1600" dirty="0" smtClean="0">
                <a:solidFill>
                  <a:schemeClr val="accent1">
                    <a:lumMod val="75000"/>
                  </a:schemeClr>
                </a:solidFill>
              </a:rPr>
              <a:t>2GB.</a:t>
            </a:r>
            <a:endParaRPr lang="en-IE" altLang="en-US" sz="1600" dirty="0">
              <a:solidFill>
                <a:schemeClr val="accent1">
                  <a:lumMod val="75000"/>
                </a:schemeClr>
              </a:solidFill>
            </a:endParaRPr>
          </a:p>
          <a:p>
            <a:pPr algn="just" eaLnBrk="1" hangingPunct="1"/>
            <a:endParaRPr lang="en-IE" altLang="en-US" sz="1600" dirty="0">
              <a:solidFill>
                <a:schemeClr val="accent1">
                  <a:lumMod val="75000"/>
                </a:schemeClr>
              </a:solidFill>
            </a:endParaRPr>
          </a:p>
          <a:p>
            <a:pPr algn="just" eaLnBrk="1" hangingPunct="1"/>
            <a:r>
              <a:rPr lang="en-IE" altLang="en-US" sz="1600" dirty="0">
                <a:solidFill>
                  <a:schemeClr val="accent1">
                    <a:lumMod val="75000"/>
                  </a:schemeClr>
                </a:solidFill>
              </a:rPr>
              <a:t>The current technology is called </a:t>
            </a:r>
            <a:r>
              <a:rPr lang="en-IE" altLang="en-US" sz="1600" b="1" dirty="0">
                <a:solidFill>
                  <a:srgbClr val="C00000"/>
                </a:solidFill>
              </a:rPr>
              <a:t>DDR (double data ram)</a:t>
            </a:r>
            <a:r>
              <a:rPr lang="en-IE" altLang="en-US" sz="1600" dirty="0">
                <a:solidFill>
                  <a:schemeClr val="accent1">
                    <a:lumMod val="75000"/>
                  </a:schemeClr>
                </a:solidFill>
              </a:rPr>
              <a:t> and there are three types: DDR1, DDR2, </a:t>
            </a:r>
            <a:r>
              <a:rPr lang="en-IE" altLang="en-US" sz="1600" dirty="0" smtClean="0">
                <a:solidFill>
                  <a:schemeClr val="accent1">
                    <a:lumMod val="75000"/>
                  </a:schemeClr>
                </a:solidFill>
              </a:rPr>
              <a:t>DDR3.</a:t>
            </a:r>
            <a:endParaRPr lang="en-IE" altLang="en-US" sz="1600" dirty="0">
              <a:solidFill>
                <a:schemeClr val="accent1">
                  <a:lumMod val="75000"/>
                </a:schemeClr>
              </a:solidFill>
            </a:endParaRPr>
          </a:p>
          <a:p>
            <a:pPr algn="just" eaLnBrk="1" hangingPunct="1"/>
            <a:endParaRPr lang="en-IE" altLang="en-US" sz="1600" dirty="0">
              <a:solidFill>
                <a:schemeClr val="accent1">
                  <a:lumMod val="75000"/>
                </a:schemeClr>
              </a:solidFill>
            </a:endParaRPr>
          </a:p>
          <a:p>
            <a:pPr algn="just" eaLnBrk="1" hangingPunct="1"/>
            <a:r>
              <a:rPr lang="en-IE" altLang="en-US" sz="1600" dirty="0">
                <a:solidFill>
                  <a:schemeClr val="accent1">
                    <a:lumMod val="75000"/>
                  </a:schemeClr>
                </a:solidFill>
              </a:rPr>
              <a:t>Any particular computer system is only compatible with one type.   </a:t>
            </a:r>
          </a:p>
        </p:txBody>
      </p:sp>
      <p:grpSp>
        <p:nvGrpSpPr>
          <p:cNvPr id="2" name="Group 21"/>
          <p:cNvGrpSpPr>
            <a:grpSpLocks/>
          </p:cNvGrpSpPr>
          <p:nvPr/>
        </p:nvGrpSpPr>
        <p:grpSpPr bwMode="auto">
          <a:xfrm>
            <a:off x="800100" y="3733800"/>
            <a:ext cx="7734300" cy="2416128"/>
            <a:chOff x="571472" y="4279952"/>
            <a:chExt cx="7734354" cy="2416326"/>
          </a:xfrm>
        </p:grpSpPr>
        <p:pic>
          <p:nvPicPr>
            <p:cNvPr id="3379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050" y="5429264"/>
              <a:ext cx="2857520" cy="126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Line 7"/>
            <p:cNvSpPr>
              <a:spLocks noChangeShapeType="1"/>
            </p:cNvSpPr>
            <p:nvPr/>
          </p:nvSpPr>
          <p:spPr bwMode="auto">
            <a:xfrm flipV="1">
              <a:off x="2071670" y="6000767"/>
              <a:ext cx="2143140" cy="45719"/>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sz="1600" b="1"/>
            </a:p>
          </p:txBody>
        </p:sp>
        <p:sp>
          <p:nvSpPr>
            <p:cNvPr id="33799" name="Line 7"/>
            <p:cNvSpPr>
              <a:spLocks noChangeShapeType="1"/>
            </p:cNvSpPr>
            <p:nvPr/>
          </p:nvSpPr>
          <p:spPr bwMode="auto">
            <a:xfrm>
              <a:off x="3500430" y="4643446"/>
              <a:ext cx="817856" cy="1143008"/>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sz="1600" b="1"/>
            </a:p>
          </p:txBody>
        </p:sp>
        <p:sp>
          <p:nvSpPr>
            <p:cNvPr id="33800" name="Line 7"/>
            <p:cNvSpPr>
              <a:spLocks noChangeShapeType="1"/>
            </p:cNvSpPr>
            <p:nvPr/>
          </p:nvSpPr>
          <p:spPr bwMode="auto">
            <a:xfrm flipH="1">
              <a:off x="4746914" y="4786322"/>
              <a:ext cx="1182408" cy="1000132"/>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sz="1600" b="1"/>
            </a:p>
          </p:txBody>
        </p:sp>
        <p:sp>
          <p:nvSpPr>
            <p:cNvPr id="33801" name="TextBox 16"/>
            <p:cNvSpPr txBox="1">
              <a:spLocks noChangeArrowheads="1"/>
            </p:cNvSpPr>
            <p:nvPr/>
          </p:nvSpPr>
          <p:spPr bwMode="auto">
            <a:xfrm>
              <a:off x="5076981" y="4363847"/>
              <a:ext cx="1928826" cy="3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latin typeface="+mn-lt"/>
                </a:rPr>
                <a:t>Module name</a:t>
              </a:r>
            </a:p>
          </p:txBody>
        </p:sp>
        <p:sp>
          <p:nvSpPr>
            <p:cNvPr id="33802" name="TextBox 17"/>
            <p:cNvSpPr txBox="1">
              <a:spLocks noChangeArrowheads="1"/>
            </p:cNvSpPr>
            <p:nvPr/>
          </p:nvSpPr>
          <p:spPr bwMode="auto">
            <a:xfrm>
              <a:off x="2318022" y="4279952"/>
              <a:ext cx="2428892" cy="3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latin typeface="+mn-lt"/>
                </a:rPr>
                <a:t>Module capacity</a:t>
              </a:r>
            </a:p>
          </p:txBody>
        </p:sp>
        <p:sp>
          <p:nvSpPr>
            <p:cNvPr id="33803" name="TextBox 18"/>
            <p:cNvSpPr txBox="1">
              <a:spLocks noChangeArrowheads="1"/>
            </p:cNvSpPr>
            <p:nvPr/>
          </p:nvSpPr>
          <p:spPr bwMode="auto">
            <a:xfrm>
              <a:off x="571472" y="5857892"/>
              <a:ext cx="1571636" cy="3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latin typeface="+mn-lt"/>
                </a:rPr>
                <a:t>Module type</a:t>
              </a:r>
            </a:p>
          </p:txBody>
        </p:sp>
        <p:sp>
          <p:nvSpPr>
            <p:cNvPr id="33804" name="TextBox 19"/>
            <p:cNvSpPr txBox="1">
              <a:spLocks noChangeArrowheads="1"/>
            </p:cNvSpPr>
            <p:nvPr/>
          </p:nvSpPr>
          <p:spPr bwMode="auto">
            <a:xfrm>
              <a:off x="5876934" y="5857892"/>
              <a:ext cx="2428892" cy="3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latin typeface="+mn-lt"/>
                </a:rPr>
                <a:t>Module speed</a:t>
              </a:r>
            </a:p>
          </p:txBody>
        </p:sp>
        <p:sp>
          <p:nvSpPr>
            <p:cNvPr id="33805" name="Line 7"/>
            <p:cNvSpPr>
              <a:spLocks noChangeShapeType="1"/>
            </p:cNvSpPr>
            <p:nvPr/>
          </p:nvSpPr>
          <p:spPr bwMode="auto">
            <a:xfrm flipH="1" flipV="1">
              <a:off x="4714876" y="6000765"/>
              <a:ext cx="1071570" cy="45719"/>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sz="1600" b="1"/>
            </a:p>
          </p:txBody>
        </p:sp>
      </p:grpSp>
    </p:spTree>
    <p:extLst>
      <p:ext uri="{BB962C8B-B14F-4D97-AF65-F5344CB8AC3E}">
        <p14:creationId xmlns:p14="http://schemas.microsoft.com/office/powerpoint/2010/main" val="33899973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66649" y="250021"/>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8" name="TextBox 7"/>
          <p:cNvSpPr txBox="1">
            <a:spLocks noChangeArrowheads="1"/>
          </p:cNvSpPr>
          <p:nvPr/>
        </p:nvSpPr>
        <p:spPr bwMode="auto">
          <a:xfrm>
            <a:off x="381000" y="1397708"/>
            <a:ext cx="8305799"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rgbClr val="C00000"/>
                </a:solidFill>
                <a:latin typeface="Comic Sans MS" panose="030F0702030302020204" pitchFamily="66" charset="0"/>
              </a:rPr>
              <a:t>Motherboard</a:t>
            </a:r>
          </a:p>
          <a:p>
            <a:pPr algn="just" eaLnBrk="1" hangingPunct="1"/>
            <a:endParaRPr lang="en-IE" altLang="en-US" sz="1600" b="1" dirty="0" smtClean="0">
              <a:solidFill>
                <a:schemeClr val="accent1">
                  <a:lumMod val="75000"/>
                </a:schemeClr>
              </a:solidFill>
            </a:endParaRPr>
          </a:p>
          <a:p>
            <a:pPr algn="just" eaLnBrk="1" hangingPunct="1"/>
            <a:r>
              <a:rPr lang="en-IE" altLang="en-US" sz="1600" b="1" dirty="0" smtClean="0">
                <a:solidFill>
                  <a:schemeClr val="accent1">
                    <a:lumMod val="75000"/>
                  </a:schemeClr>
                </a:solidFill>
              </a:rPr>
              <a:t>Mainboard </a:t>
            </a:r>
            <a:r>
              <a:rPr lang="en-IE" altLang="en-US" sz="1600" dirty="0">
                <a:solidFill>
                  <a:schemeClr val="accent1">
                    <a:lumMod val="75000"/>
                  </a:schemeClr>
                </a:solidFill>
              </a:rPr>
              <a:t>or </a:t>
            </a:r>
            <a:r>
              <a:rPr lang="en-IE" altLang="en-US" sz="1600" b="1" dirty="0">
                <a:solidFill>
                  <a:schemeClr val="accent1">
                    <a:lumMod val="75000"/>
                  </a:schemeClr>
                </a:solidFill>
              </a:rPr>
              <a:t>system board</a:t>
            </a:r>
            <a:r>
              <a:rPr lang="en-IE" altLang="en-US" sz="1600" dirty="0">
                <a:solidFill>
                  <a:schemeClr val="accent1">
                    <a:lumMod val="75000"/>
                  </a:schemeClr>
                </a:solidFill>
              </a:rPr>
              <a:t>  -  the main circuit board for the computer system.   </a:t>
            </a:r>
            <a:endParaRPr lang="en-IE" altLang="en-US" sz="1600" dirty="0" smtClean="0">
              <a:solidFill>
                <a:schemeClr val="accent1">
                  <a:lumMod val="75000"/>
                </a:schemeClr>
              </a:solidFill>
            </a:endParaRPr>
          </a:p>
          <a:p>
            <a:pPr algn="just" eaLnBrk="1" hangingPunct="1"/>
            <a:r>
              <a:rPr lang="en-IE" altLang="en-US" sz="1600" dirty="0" smtClean="0">
                <a:solidFill>
                  <a:schemeClr val="accent1">
                    <a:lumMod val="75000"/>
                  </a:schemeClr>
                </a:solidFill>
              </a:rPr>
              <a:t>All </a:t>
            </a:r>
            <a:r>
              <a:rPr lang="en-IE" altLang="en-US" sz="1600" dirty="0">
                <a:solidFill>
                  <a:schemeClr val="accent1">
                    <a:lumMod val="75000"/>
                  </a:schemeClr>
                </a:solidFill>
              </a:rPr>
              <a:t>device in the computer system will either be part of the motherboard or connected to it.</a:t>
            </a:r>
          </a:p>
          <a:p>
            <a:pPr eaLnBrk="1" hangingPunct="1"/>
            <a:r>
              <a:rPr lang="en-IE" altLang="en-US" dirty="0"/>
              <a:t> </a:t>
            </a:r>
          </a:p>
        </p:txBody>
      </p:sp>
      <p:grpSp>
        <p:nvGrpSpPr>
          <p:cNvPr id="2" name="Group 21"/>
          <p:cNvGrpSpPr>
            <a:grpSpLocks/>
          </p:cNvGrpSpPr>
          <p:nvPr/>
        </p:nvGrpSpPr>
        <p:grpSpPr bwMode="auto">
          <a:xfrm>
            <a:off x="548072" y="3286136"/>
            <a:ext cx="7859376" cy="3397238"/>
            <a:chOff x="548043" y="3286124"/>
            <a:chExt cx="7859432" cy="3396739"/>
          </a:xfrm>
        </p:grpSpPr>
        <p:pic>
          <p:nvPicPr>
            <p:cNvPr id="34822" name="Picture 1" descr="a8v-v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08" y="3286124"/>
              <a:ext cx="4984747" cy="3396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34823" name="Line 7"/>
            <p:cNvSpPr>
              <a:spLocks noChangeShapeType="1"/>
            </p:cNvSpPr>
            <p:nvPr/>
          </p:nvSpPr>
          <p:spPr bwMode="auto">
            <a:xfrm>
              <a:off x="1857356" y="4286256"/>
              <a:ext cx="2032302" cy="357190"/>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4824" name="TextBox 8"/>
            <p:cNvSpPr txBox="1">
              <a:spLocks noChangeArrowheads="1"/>
            </p:cNvSpPr>
            <p:nvPr/>
          </p:nvSpPr>
          <p:spPr bwMode="auto">
            <a:xfrm>
              <a:off x="548043" y="3856782"/>
              <a:ext cx="1643075" cy="584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rPr>
                <a:t>Processor Socket</a:t>
              </a:r>
            </a:p>
          </p:txBody>
        </p:sp>
        <p:sp>
          <p:nvSpPr>
            <p:cNvPr id="34825" name="Line 7"/>
            <p:cNvSpPr>
              <a:spLocks noChangeShapeType="1"/>
            </p:cNvSpPr>
            <p:nvPr/>
          </p:nvSpPr>
          <p:spPr bwMode="auto">
            <a:xfrm flipV="1">
              <a:off x="1928794" y="5572140"/>
              <a:ext cx="960732" cy="214314"/>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4826" name="Line 7"/>
            <p:cNvSpPr>
              <a:spLocks noChangeShapeType="1"/>
            </p:cNvSpPr>
            <p:nvPr/>
          </p:nvSpPr>
          <p:spPr bwMode="auto">
            <a:xfrm flipH="1">
              <a:off x="4643438" y="3714752"/>
              <a:ext cx="1857388" cy="214314"/>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4827" name="TextBox 11"/>
            <p:cNvSpPr txBox="1">
              <a:spLocks noChangeArrowheads="1"/>
            </p:cNvSpPr>
            <p:nvPr/>
          </p:nvSpPr>
          <p:spPr bwMode="auto">
            <a:xfrm>
              <a:off x="6157177" y="3337482"/>
              <a:ext cx="1643075" cy="584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rPr>
                <a:t>Memory  Sockets</a:t>
              </a:r>
            </a:p>
          </p:txBody>
        </p:sp>
        <p:sp>
          <p:nvSpPr>
            <p:cNvPr id="34828" name="TextBox 12"/>
            <p:cNvSpPr txBox="1">
              <a:spLocks noChangeArrowheads="1"/>
            </p:cNvSpPr>
            <p:nvPr/>
          </p:nvSpPr>
          <p:spPr bwMode="auto">
            <a:xfrm>
              <a:off x="1005662" y="5655331"/>
              <a:ext cx="1071571" cy="33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rPr>
                <a:t>Ports</a:t>
              </a:r>
            </a:p>
          </p:txBody>
        </p:sp>
        <p:sp>
          <p:nvSpPr>
            <p:cNvPr id="34829" name="Line 7"/>
            <p:cNvSpPr>
              <a:spLocks noChangeShapeType="1"/>
            </p:cNvSpPr>
            <p:nvPr/>
          </p:nvSpPr>
          <p:spPr bwMode="auto">
            <a:xfrm flipH="1">
              <a:off x="5857884" y="5429264"/>
              <a:ext cx="1071570" cy="142876"/>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4830" name="TextBox 14"/>
            <p:cNvSpPr txBox="1">
              <a:spLocks noChangeArrowheads="1"/>
            </p:cNvSpPr>
            <p:nvPr/>
          </p:nvSpPr>
          <p:spPr bwMode="auto">
            <a:xfrm>
              <a:off x="6929454" y="5214950"/>
              <a:ext cx="1214447" cy="33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a:solidFill>
                    <a:schemeClr val="accent1">
                      <a:lumMod val="75000"/>
                    </a:schemeClr>
                  </a:solidFill>
                </a:rPr>
                <a:t>PCI Slots</a:t>
              </a:r>
            </a:p>
          </p:txBody>
        </p:sp>
        <p:sp>
          <p:nvSpPr>
            <p:cNvPr id="34831" name="Line 7"/>
            <p:cNvSpPr>
              <a:spLocks noChangeShapeType="1"/>
            </p:cNvSpPr>
            <p:nvPr/>
          </p:nvSpPr>
          <p:spPr bwMode="auto">
            <a:xfrm flipV="1">
              <a:off x="3786182" y="5786454"/>
              <a:ext cx="1214446" cy="500066"/>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4832" name="TextBox 16"/>
            <p:cNvSpPr txBox="1">
              <a:spLocks noChangeArrowheads="1"/>
            </p:cNvSpPr>
            <p:nvPr/>
          </p:nvSpPr>
          <p:spPr bwMode="auto">
            <a:xfrm>
              <a:off x="2011358" y="6117267"/>
              <a:ext cx="2000264" cy="33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rPr>
                <a:t>Graphics Slot</a:t>
              </a:r>
            </a:p>
          </p:txBody>
        </p:sp>
        <p:sp>
          <p:nvSpPr>
            <p:cNvPr id="34833" name="TextBox 18"/>
            <p:cNvSpPr txBox="1">
              <a:spLocks noChangeArrowheads="1"/>
            </p:cNvSpPr>
            <p:nvPr/>
          </p:nvSpPr>
          <p:spPr bwMode="auto">
            <a:xfrm>
              <a:off x="7193028" y="4416052"/>
              <a:ext cx="1214447" cy="33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600" dirty="0">
                  <a:solidFill>
                    <a:schemeClr val="accent1">
                      <a:lumMod val="75000"/>
                    </a:schemeClr>
                  </a:solidFill>
                </a:rPr>
                <a:t>Chipset</a:t>
              </a:r>
            </a:p>
          </p:txBody>
        </p:sp>
        <p:sp>
          <p:nvSpPr>
            <p:cNvPr id="34834" name="Line 7"/>
            <p:cNvSpPr>
              <a:spLocks noChangeShapeType="1"/>
            </p:cNvSpPr>
            <p:nvPr/>
          </p:nvSpPr>
          <p:spPr bwMode="auto">
            <a:xfrm flipH="1">
              <a:off x="4929190" y="4643446"/>
              <a:ext cx="2286016" cy="428628"/>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4835" name="Line 7"/>
            <p:cNvSpPr>
              <a:spLocks noChangeShapeType="1"/>
            </p:cNvSpPr>
            <p:nvPr/>
          </p:nvSpPr>
          <p:spPr bwMode="auto">
            <a:xfrm flipH="1">
              <a:off x="6000760" y="4643446"/>
              <a:ext cx="1214446" cy="71438"/>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spTree>
    <p:extLst>
      <p:ext uri="{BB962C8B-B14F-4D97-AF65-F5344CB8AC3E}">
        <p14:creationId xmlns:p14="http://schemas.microsoft.com/office/powerpoint/2010/main" val="27700235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04800" y="246370"/>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20" name="TextBox 19"/>
          <p:cNvSpPr txBox="1">
            <a:spLocks noChangeArrowheads="1"/>
          </p:cNvSpPr>
          <p:nvPr/>
        </p:nvSpPr>
        <p:spPr bwMode="auto">
          <a:xfrm>
            <a:off x="457200" y="1465644"/>
            <a:ext cx="811053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chemeClr val="accent1">
                    <a:lumMod val="75000"/>
                  </a:schemeClr>
                </a:solidFill>
              </a:rPr>
              <a:t>Processor socket  </a:t>
            </a:r>
            <a:r>
              <a:rPr lang="en-IE" altLang="en-US" sz="1600" dirty="0">
                <a:solidFill>
                  <a:schemeClr val="accent1">
                    <a:lumMod val="75000"/>
                  </a:schemeClr>
                </a:solidFill>
              </a:rPr>
              <a:t>-  different processors require different sockets and a motherboard must be chosen to suit the processor intended for use:</a:t>
            </a:r>
          </a:p>
          <a:p>
            <a:pPr eaLnBrk="1" hangingPunct="1"/>
            <a:endParaRPr lang="en-IE" altLang="en-US" sz="1600" dirty="0">
              <a:solidFill>
                <a:schemeClr val="accent1">
                  <a:lumMod val="75000"/>
                </a:schemeClr>
              </a:solidFill>
            </a:endParaRPr>
          </a:p>
          <a:p>
            <a:pPr marL="285750" indent="-285750" eaLnBrk="1" hangingPunct="1">
              <a:lnSpc>
                <a:spcPct val="150000"/>
              </a:lnSpc>
              <a:buFont typeface="Arial" panose="020B0604020202020204" pitchFamily="34" charset="0"/>
              <a:buChar char="•"/>
            </a:pPr>
            <a:r>
              <a:rPr lang="en-IE" altLang="en-US" sz="1600" b="1" dirty="0">
                <a:solidFill>
                  <a:schemeClr val="accent1">
                    <a:lumMod val="75000"/>
                  </a:schemeClr>
                </a:solidFill>
              </a:rPr>
              <a:t>Socket 478</a:t>
            </a:r>
            <a:r>
              <a:rPr lang="en-IE" altLang="en-US" sz="1600" dirty="0">
                <a:solidFill>
                  <a:schemeClr val="accent1">
                    <a:lumMod val="75000"/>
                  </a:schemeClr>
                </a:solidFill>
              </a:rPr>
              <a:t>  -  Intel Pentium IV</a:t>
            </a:r>
          </a:p>
          <a:p>
            <a:pPr marL="285750" indent="-285750" eaLnBrk="1" hangingPunct="1">
              <a:lnSpc>
                <a:spcPct val="150000"/>
              </a:lnSpc>
              <a:buFont typeface="Arial" panose="020B0604020202020204" pitchFamily="34" charset="0"/>
              <a:buChar char="•"/>
            </a:pPr>
            <a:r>
              <a:rPr lang="en-IE" altLang="en-US" sz="1600" b="1" dirty="0">
                <a:solidFill>
                  <a:schemeClr val="accent1">
                    <a:lumMod val="75000"/>
                  </a:schemeClr>
                </a:solidFill>
              </a:rPr>
              <a:t>Socket 775</a:t>
            </a:r>
            <a:r>
              <a:rPr lang="en-IE" altLang="en-US" sz="1600" dirty="0">
                <a:solidFill>
                  <a:schemeClr val="accent1">
                    <a:lumMod val="75000"/>
                  </a:schemeClr>
                </a:solidFill>
              </a:rPr>
              <a:t>  -  Intel Dual Core and Core Duo</a:t>
            </a:r>
          </a:p>
          <a:p>
            <a:pPr marL="285750" indent="-285750" eaLnBrk="1" hangingPunct="1">
              <a:lnSpc>
                <a:spcPct val="150000"/>
              </a:lnSpc>
              <a:buFont typeface="Arial" panose="020B0604020202020204" pitchFamily="34" charset="0"/>
              <a:buChar char="•"/>
            </a:pPr>
            <a:r>
              <a:rPr lang="en-IE" altLang="en-US" sz="1600" b="1" dirty="0">
                <a:solidFill>
                  <a:schemeClr val="accent1">
                    <a:lumMod val="75000"/>
                  </a:schemeClr>
                </a:solidFill>
              </a:rPr>
              <a:t>Socket 754</a:t>
            </a:r>
            <a:r>
              <a:rPr lang="en-IE" altLang="en-US" sz="1600" dirty="0">
                <a:solidFill>
                  <a:schemeClr val="accent1">
                    <a:lumMod val="75000"/>
                  </a:schemeClr>
                </a:solidFill>
              </a:rPr>
              <a:t>  -  AMD Athlon</a:t>
            </a:r>
          </a:p>
          <a:p>
            <a:pPr marL="285750" indent="-285750" eaLnBrk="1" hangingPunct="1">
              <a:lnSpc>
                <a:spcPct val="150000"/>
              </a:lnSpc>
              <a:buFont typeface="Arial" panose="020B0604020202020204" pitchFamily="34" charset="0"/>
              <a:buChar char="•"/>
            </a:pPr>
            <a:r>
              <a:rPr lang="en-IE" altLang="en-US" sz="1600" b="1" dirty="0">
                <a:solidFill>
                  <a:schemeClr val="accent1">
                    <a:lumMod val="75000"/>
                  </a:schemeClr>
                </a:solidFill>
              </a:rPr>
              <a:t>Socket 939</a:t>
            </a:r>
            <a:r>
              <a:rPr lang="en-IE" altLang="en-US" sz="1600" dirty="0">
                <a:solidFill>
                  <a:schemeClr val="accent1">
                    <a:lumMod val="75000"/>
                  </a:schemeClr>
                </a:solidFill>
              </a:rPr>
              <a:t>  -  AMD Athlon 64</a:t>
            </a:r>
          </a:p>
          <a:p>
            <a:pPr marL="285750" indent="-285750" eaLnBrk="1" hangingPunct="1">
              <a:lnSpc>
                <a:spcPct val="150000"/>
              </a:lnSpc>
              <a:buFont typeface="Arial" panose="020B0604020202020204" pitchFamily="34" charset="0"/>
              <a:buChar char="•"/>
            </a:pPr>
            <a:r>
              <a:rPr lang="en-IE" altLang="en-US" sz="1600" b="1" dirty="0">
                <a:solidFill>
                  <a:schemeClr val="accent1">
                    <a:lumMod val="75000"/>
                  </a:schemeClr>
                </a:solidFill>
              </a:rPr>
              <a:t>Socket AM2</a:t>
            </a:r>
            <a:r>
              <a:rPr lang="en-IE" altLang="en-US" sz="1600" dirty="0">
                <a:solidFill>
                  <a:schemeClr val="accent1">
                    <a:lumMod val="75000"/>
                  </a:schemeClr>
                </a:solidFill>
              </a:rPr>
              <a:t>  -  AMD Athlon X2</a:t>
            </a:r>
          </a:p>
        </p:txBody>
      </p:sp>
      <p:pic>
        <p:nvPicPr>
          <p:cNvPr id="46082" name="Picture 2" descr="a8v-vm"/>
          <p:cNvPicPr>
            <a:picLocks noChangeAspect="1" noChangeArrowheads="1"/>
          </p:cNvPicPr>
          <p:nvPr/>
        </p:nvPicPr>
        <p:blipFill>
          <a:blip r:embed="rId3">
            <a:extLst>
              <a:ext uri="{28A0092B-C50C-407E-A947-70E740481C1C}">
                <a14:useLocalDpi xmlns:a14="http://schemas.microsoft.com/office/drawing/2010/main" val="0"/>
              </a:ext>
            </a:extLst>
          </a:blip>
          <a:srcRect l="19612" t="22243" r="46710" b="43700"/>
          <a:stretch>
            <a:fillRect/>
          </a:stretch>
        </p:blipFill>
        <p:spPr bwMode="auto">
          <a:xfrm>
            <a:off x="4648200" y="4143300"/>
            <a:ext cx="3400425" cy="2344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Tree>
    <p:extLst>
      <p:ext uri="{BB962C8B-B14F-4D97-AF65-F5344CB8AC3E}">
        <p14:creationId xmlns:p14="http://schemas.microsoft.com/office/powerpoint/2010/main" val="1384049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04800" y="210344"/>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20" name="TextBox 19"/>
          <p:cNvSpPr txBox="1">
            <a:spLocks noChangeArrowheads="1"/>
          </p:cNvSpPr>
          <p:nvPr/>
        </p:nvSpPr>
        <p:spPr bwMode="auto">
          <a:xfrm>
            <a:off x="609600" y="1262466"/>
            <a:ext cx="797242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rgbClr val="C00000"/>
                </a:solidFill>
                <a:latin typeface="Comic Sans MS" panose="030F0702030302020204" pitchFamily="66" charset="0"/>
              </a:rPr>
              <a:t>Chipset</a:t>
            </a:r>
            <a:r>
              <a:rPr lang="en-IE" altLang="en-US" sz="1600" dirty="0">
                <a:solidFill>
                  <a:srgbClr val="C00000"/>
                </a:solidFill>
                <a:latin typeface="Comic Sans MS" panose="030F0702030302020204" pitchFamily="66" charset="0"/>
              </a:rPr>
              <a:t> </a:t>
            </a:r>
            <a:r>
              <a:rPr lang="en-IE" altLang="en-US" sz="1600" dirty="0">
                <a:solidFill>
                  <a:schemeClr val="accent1">
                    <a:lumMod val="75000"/>
                  </a:schemeClr>
                </a:solidFill>
              </a:rPr>
              <a:t> -  controls data flow around the computer. </a:t>
            </a:r>
            <a:r>
              <a:rPr lang="en-IE" altLang="en-US" sz="1600" dirty="0" smtClean="0">
                <a:solidFill>
                  <a:schemeClr val="accent1">
                    <a:lumMod val="75000"/>
                  </a:schemeClr>
                </a:solidFill>
              </a:rPr>
              <a:t>It </a:t>
            </a:r>
            <a:r>
              <a:rPr lang="en-IE" altLang="en-US" sz="1600" dirty="0">
                <a:solidFill>
                  <a:schemeClr val="accent1">
                    <a:lumMod val="75000"/>
                  </a:schemeClr>
                </a:solidFill>
              </a:rPr>
              <a:t>consists of two </a:t>
            </a:r>
            <a:r>
              <a:rPr lang="en-IE" altLang="en-US" sz="1600" dirty="0" smtClean="0">
                <a:solidFill>
                  <a:schemeClr val="accent1">
                    <a:lumMod val="75000"/>
                  </a:schemeClr>
                </a:solidFill>
              </a:rPr>
              <a:t>chips:</a:t>
            </a:r>
          </a:p>
          <a:p>
            <a:pPr algn="just" eaLnBrk="1" hangingPunct="1"/>
            <a:endParaRPr lang="en-IE" altLang="en-US" sz="1600" b="1" dirty="0">
              <a:solidFill>
                <a:schemeClr val="accent1">
                  <a:lumMod val="75000"/>
                </a:schemeClr>
              </a:solidFill>
            </a:endParaRPr>
          </a:p>
          <a:p>
            <a:pPr marL="285750" indent="-285750" algn="just" eaLnBrk="1" hangingPunct="1">
              <a:buFont typeface="Arial" panose="020B0604020202020204" pitchFamily="34" charset="0"/>
              <a:buChar char="•"/>
            </a:pPr>
            <a:r>
              <a:rPr lang="en-IE" altLang="en-US" sz="1600" b="1" dirty="0" smtClean="0">
                <a:solidFill>
                  <a:schemeClr val="accent1">
                    <a:lumMod val="75000"/>
                  </a:schemeClr>
                </a:solidFill>
              </a:rPr>
              <a:t>Northbridge</a:t>
            </a:r>
            <a:r>
              <a:rPr lang="en-IE" altLang="en-US" sz="1600" dirty="0" smtClean="0">
                <a:solidFill>
                  <a:schemeClr val="accent1">
                    <a:lumMod val="75000"/>
                  </a:schemeClr>
                </a:solidFill>
              </a:rPr>
              <a:t>  </a:t>
            </a:r>
            <a:r>
              <a:rPr lang="en-IE" altLang="en-US" sz="1600" dirty="0">
                <a:solidFill>
                  <a:schemeClr val="accent1">
                    <a:lumMod val="75000"/>
                  </a:schemeClr>
                </a:solidFill>
              </a:rPr>
              <a:t>-  data flow between memory and processor  -  data flow between the processor and the graphic's </a:t>
            </a:r>
            <a:r>
              <a:rPr lang="en-IE" altLang="en-US" sz="1600" dirty="0" smtClean="0">
                <a:solidFill>
                  <a:schemeClr val="accent1">
                    <a:lumMod val="75000"/>
                  </a:schemeClr>
                </a:solidFill>
              </a:rPr>
              <a:t>card.</a:t>
            </a:r>
          </a:p>
          <a:p>
            <a:pPr marL="285750" indent="-285750" algn="just" eaLnBrk="1" hangingPunct="1">
              <a:buFont typeface="Arial" panose="020B0604020202020204" pitchFamily="34" charset="0"/>
              <a:buChar char="•"/>
            </a:pPr>
            <a:endParaRPr lang="en-IE" altLang="en-US" sz="1600" b="1" dirty="0">
              <a:solidFill>
                <a:schemeClr val="accent1">
                  <a:lumMod val="75000"/>
                </a:schemeClr>
              </a:solidFill>
            </a:endParaRPr>
          </a:p>
          <a:p>
            <a:pPr marL="285750" indent="-285750" algn="just" eaLnBrk="1" hangingPunct="1">
              <a:buFont typeface="Arial" panose="020B0604020202020204" pitchFamily="34" charset="0"/>
              <a:buChar char="•"/>
            </a:pPr>
            <a:r>
              <a:rPr lang="en-IE" altLang="en-US" sz="1600" b="1" dirty="0" smtClean="0">
                <a:solidFill>
                  <a:schemeClr val="accent1">
                    <a:lumMod val="75000"/>
                  </a:schemeClr>
                </a:solidFill>
              </a:rPr>
              <a:t>Southbridge</a:t>
            </a:r>
            <a:r>
              <a:rPr lang="en-IE" altLang="en-US" sz="1600" dirty="0" smtClean="0">
                <a:solidFill>
                  <a:schemeClr val="accent1">
                    <a:lumMod val="75000"/>
                  </a:schemeClr>
                </a:solidFill>
              </a:rPr>
              <a:t>  </a:t>
            </a:r>
            <a:r>
              <a:rPr lang="en-IE" altLang="en-US" sz="1600" dirty="0">
                <a:solidFill>
                  <a:schemeClr val="accent1">
                    <a:lumMod val="75000"/>
                  </a:schemeClr>
                </a:solidFill>
              </a:rPr>
              <a:t>-  controls data flow to the devices - USB, IDE, SATA, LAN and Audio  - controls PCI slots and </a:t>
            </a:r>
            <a:r>
              <a:rPr lang="en-IE" altLang="en-US" sz="1600" dirty="0" err="1">
                <a:solidFill>
                  <a:schemeClr val="accent1">
                    <a:lumMod val="75000"/>
                  </a:schemeClr>
                </a:solidFill>
              </a:rPr>
              <a:t>onboard</a:t>
            </a:r>
            <a:r>
              <a:rPr lang="en-IE" altLang="en-US" sz="1600" dirty="0">
                <a:solidFill>
                  <a:schemeClr val="accent1">
                    <a:lumMod val="75000"/>
                  </a:schemeClr>
                </a:solidFill>
              </a:rPr>
              <a:t> </a:t>
            </a:r>
            <a:r>
              <a:rPr lang="en-IE" altLang="en-US" sz="1600" dirty="0" smtClean="0">
                <a:solidFill>
                  <a:schemeClr val="accent1">
                    <a:lumMod val="75000"/>
                  </a:schemeClr>
                </a:solidFill>
              </a:rPr>
              <a:t>graphics.</a:t>
            </a:r>
            <a:endParaRPr lang="en-IE" altLang="en-US" sz="1600" dirty="0">
              <a:solidFill>
                <a:schemeClr val="accent1">
                  <a:lumMod val="75000"/>
                </a:schemeClr>
              </a:solidFill>
            </a:endParaRPr>
          </a:p>
        </p:txBody>
      </p:sp>
      <p:pic>
        <p:nvPicPr>
          <p:cNvPr id="44034" name="Picture 2" descr="a8v-vm"/>
          <p:cNvPicPr>
            <a:picLocks noChangeAspect="1" noChangeArrowheads="1"/>
          </p:cNvPicPr>
          <p:nvPr/>
        </p:nvPicPr>
        <p:blipFill>
          <a:blip r:embed="rId3">
            <a:extLst>
              <a:ext uri="{28A0092B-C50C-407E-A947-70E740481C1C}">
                <a14:useLocalDpi xmlns:a14="http://schemas.microsoft.com/office/drawing/2010/main" val="0"/>
              </a:ext>
            </a:extLst>
          </a:blip>
          <a:srcRect l="45105" t="34804" r="16759" b="38727"/>
          <a:stretch>
            <a:fillRect/>
          </a:stretch>
        </p:blipFill>
        <p:spPr bwMode="auto">
          <a:xfrm>
            <a:off x="2360343" y="3625645"/>
            <a:ext cx="4937395"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Tree>
    <p:extLst>
      <p:ext uri="{BB962C8B-B14F-4D97-AF65-F5344CB8AC3E}">
        <p14:creationId xmlns:p14="http://schemas.microsoft.com/office/powerpoint/2010/main" val="17462176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30733" y="305145"/>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17" name="TextBox 16"/>
          <p:cNvSpPr txBox="1">
            <a:spLocks noChangeArrowheads="1"/>
          </p:cNvSpPr>
          <p:nvPr/>
        </p:nvSpPr>
        <p:spPr bwMode="auto">
          <a:xfrm>
            <a:off x="642938" y="1214438"/>
            <a:ext cx="81200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b="1" dirty="0">
                <a:solidFill>
                  <a:schemeClr val="accent1">
                    <a:lumMod val="75000"/>
                  </a:schemeClr>
                </a:solidFill>
              </a:rPr>
              <a:t>Buses  </a:t>
            </a:r>
            <a:r>
              <a:rPr lang="en-IE" altLang="en-US" sz="1600" dirty="0">
                <a:solidFill>
                  <a:schemeClr val="accent1">
                    <a:lumMod val="75000"/>
                  </a:schemeClr>
                </a:solidFill>
              </a:rPr>
              <a:t>-  a path through which data can be sent to the different parts of the computer system. </a:t>
            </a:r>
            <a:r>
              <a:rPr lang="en-IE" altLang="en-US" sz="1600" dirty="0" smtClean="0">
                <a:solidFill>
                  <a:schemeClr val="accent1">
                    <a:lumMod val="75000"/>
                  </a:schemeClr>
                </a:solidFill>
              </a:rPr>
              <a:t>Main </a:t>
            </a:r>
            <a:r>
              <a:rPr lang="en-IE" altLang="en-US" sz="1600" dirty="0">
                <a:solidFill>
                  <a:schemeClr val="accent1">
                    <a:lumMod val="75000"/>
                  </a:schemeClr>
                </a:solidFill>
              </a:rPr>
              <a:t>buses:</a:t>
            </a:r>
          </a:p>
        </p:txBody>
      </p:sp>
      <p:grpSp>
        <p:nvGrpSpPr>
          <p:cNvPr id="2" name="Group 2"/>
          <p:cNvGrpSpPr>
            <a:grpSpLocks/>
          </p:cNvGrpSpPr>
          <p:nvPr/>
        </p:nvGrpSpPr>
        <p:grpSpPr bwMode="auto">
          <a:xfrm>
            <a:off x="1355725" y="2195512"/>
            <a:ext cx="6264275" cy="4357688"/>
            <a:chOff x="107123775" y="108913800"/>
            <a:chExt cx="5566500" cy="3871050"/>
          </a:xfrm>
        </p:grpSpPr>
        <p:sp>
          <p:nvSpPr>
            <p:cNvPr id="37893" name="Text Box 3"/>
            <p:cNvSpPr txBox="1">
              <a:spLocks noChangeArrowheads="1"/>
            </p:cNvSpPr>
            <p:nvPr/>
          </p:nvSpPr>
          <p:spPr bwMode="auto">
            <a:xfrm>
              <a:off x="109527975" y="108913800"/>
              <a:ext cx="1438275" cy="628650"/>
            </a:xfrm>
            <a:prstGeom prst="rect">
              <a:avLst/>
            </a:prstGeom>
            <a:noFill/>
            <a:ln w="19050" algn="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Processor</a:t>
              </a:r>
              <a:endParaRPr lang="en-US" altLang="en-US" sz="1400" dirty="0">
                <a:latin typeface="+mn-lt"/>
              </a:endParaRPr>
            </a:p>
          </p:txBody>
        </p:sp>
        <p:sp>
          <p:nvSpPr>
            <p:cNvPr id="37894" name="Text Box 4"/>
            <p:cNvSpPr txBox="1">
              <a:spLocks noChangeArrowheads="1"/>
            </p:cNvSpPr>
            <p:nvPr/>
          </p:nvSpPr>
          <p:spPr bwMode="auto">
            <a:xfrm>
              <a:off x="111947325" y="109794000"/>
              <a:ext cx="695325" cy="1171575"/>
            </a:xfrm>
            <a:prstGeom prst="rect">
              <a:avLst/>
            </a:prstGeom>
            <a:noFill/>
            <a:ln w="19050" algn="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RAM</a:t>
              </a:r>
              <a:endParaRPr lang="en-US" altLang="en-US" sz="1400" dirty="0">
                <a:latin typeface="+mn-lt"/>
              </a:endParaRPr>
            </a:p>
          </p:txBody>
        </p:sp>
        <p:sp>
          <p:nvSpPr>
            <p:cNvPr id="37895" name="Text Box 5"/>
            <p:cNvSpPr txBox="1">
              <a:spLocks noChangeArrowheads="1"/>
            </p:cNvSpPr>
            <p:nvPr/>
          </p:nvSpPr>
          <p:spPr bwMode="auto">
            <a:xfrm>
              <a:off x="109670850" y="110089275"/>
              <a:ext cx="1123950" cy="828675"/>
            </a:xfrm>
            <a:prstGeom prst="rect">
              <a:avLst/>
            </a:prstGeom>
            <a:noFill/>
            <a:ln w="19050" algn="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Northbridge</a:t>
              </a:r>
            </a:p>
            <a:p>
              <a:pPr algn="ctr" eaLnBrk="1" hangingPunct="1"/>
              <a:endParaRPr lang="en-IE" altLang="en-US" sz="1400" dirty="0">
                <a:solidFill>
                  <a:srgbClr val="000000"/>
                </a:solidFill>
                <a:latin typeface="+mn-lt"/>
              </a:endParaRPr>
            </a:p>
            <a:p>
              <a:pPr algn="ctr" eaLnBrk="1" hangingPunct="1"/>
              <a:r>
                <a:rPr lang="en-IE" altLang="en-US" sz="1400" dirty="0">
                  <a:solidFill>
                    <a:srgbClr val="000000"/>
                  </a:solidFill>
                  <a:latin typeface="+mn-lt"/>
                </a:rPr>
                <a:t>All Memory</a:t>
              </a:r>
              <a:endParaRPr lang="en-US" altLang="en-US" sz="1400" dirty="0">
                <a:latin typeface="+mn-lt"/>
              </a:endParaRPr>
            </a:p>
          </p:txBody>
        </p:sp>
        <p:sp>
          <p:nvSpPr>
            <p:cNvPr id="37896" name="Text Box 6"/>
            <p:cNvSpPr txBox="1">
              <a:spLocks noChangeArrowheads="1"/>
            </p:cNvSpPr>
            <p:nvPr/>
          </p:nvSpPr>
          <p:spPr bwMode="auto">
            <a:xfrm>
              <a:off x="109699425" y="111441825"/>
              <a:ext cx="1104900" cy="1343025"/>
            </a:xfrm>
            <a:prstGeom prst="rect">
              <a:avLst/>
            </a:prstGeom>
            <a:noFill/>
            <a:ln w="19050" algn="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Southbridge</a:t>
              </a:r>
            </a:p>
            <a:p>
              <a:pPr algn="ctr" eaLnBrk="1" hangingPunct="1"/>
              <a:r>
                <a:rPr lang="en-IE" altLang="en-US" sz="1400" dirty="0" smtClean="0">
                  <a:solidFill>
                    <a:srgbClr val="000000"/>
                  </a:solidFill>
                  <a:latin typeface="+mn-lt"/>
                </a:rPr>
                <a:t>IDE</a:t>
              </a:r>
              <a:endParaRPr lang="en-IE" altLang="en-US" sz="1400" dirty="0">
                <a:solidFill>
                  <a:srgbClr val="000000"/>
                </a:solidFill>
                <a:latin typeface="+mn-lt"/>
              </a:endParaRPr>
            </a:p>
            <a:p>
              <a:pPr algn="ctr" eaLnBrk="1" hangingPunct="1"/>
              <a:r>
                <a:rPr lang="en-IE" altLang="en-US" sz="1400" dirty="0">
                  <a:solidFill>
                    <a:srgbClr val="000000"/>
                  </a:solidFill>
                  <a:latin typeface="+mn-lt"/>
                </a:rPr>
                <a:t>SATA</a:t>
              </a:r>
            </a:p>
            <a:p>
              <a:pPr algn="ctr" eaLnBrk="1" hangingPunct="1"/>
              <a:r>
                <a:rPr lang="en-IE" altLang="en-US" sz="1400" dirty="0">
                  <a:solidFill>
                    <a:srgbClr val="000000"/>
                  </a:solidFill>
                  <a:latin typeface="+mn-lt"/>
                </a:rPr>
                <a:t>USB</a:t>
              </a:r>
            </a:p>
            <a:p>
              <a:pPr algn="ctr" eaLnBrk="1" hangingPunct="1"/>
              <a:r>
                <a:rPr lang="en-IE" altLang="en-US" sz="1400" dirty="0">
                  <a:solidFill>
                    <a:srgbClr val="000000"/>
                  </a:solidFill>
                  <a:latin typeface="+mn-lt"/>
                </a:rPr>
                <a:t>LAN</a:t>
              </a:r>
            </a:p>
            <a:p>
              <a:pPr algn="ctr" eaLnBrk="1" hangingPunct="1"/>
              <a:r>
                <a:rPr lang="en-IE" altLang="en-US" sz="1400" dirty="0">
                  <a:solidFill>
                    <a:srgbClr val="000000"/>
                  </a:solidFill>
                  <a:latin typeface="+mn-lt"/>
                </a:rPr>
                <a:t>Audio</a:t>
              </a:r>
              <a:endParaRPr lang="en-US" altLang="en-US" sz="1400" dirty="0">
                <a:latin typeface="+mn-lt"/>
              </a:endParaRPr>
            </a:p>
          </p:txBody>
        </p:sp>
        <p:sp>
          <p:nvSpPr>
            <p:cNvPr id="37897" name="Text Box 7"/>
            <p:cNvSpPr txBox="1">
              <a:spLocks noChangeArrowheads="1"/>
            </p:cNvSpPr>
            <p:nvPr/>
          </p:nvSpPr>
          <p:spPr bwMode="auto">
            <a:xfrm>
              <a:off x="107123775" y="110247750"/>
              <a:ext cx="1514475" cy="542925"/>
            </a:xfrm>
            <a:prstGeom prst="rect">
              <a:avLst/>
            </a:prstGeom>
            <a:noFill/>
            <a:ln w="19050" algn="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Graphics Slot</a:t>
              </a:r>
            </a:p>
            <a:p>
              <a:pPr algn="ctr" eaLnBrk="1" hangingPunct="1"/>
              <a:r>
                <a:rPr lang="en-IE" altLang="en-US" sz="1400" dirty="0">
                  <a:solidFill>
                    <a:srgbClr val="000000"/>
                  </a:solidFill>
                  <a:latin typeface="+mn-lt"/>
                </a:rPr>
                <a:t>PC-Express or AGP</a:t>
              </a:r>
              <a:endParaRPr lang="en-US" altLang="en-US" sz="1400" dirty="0">
                <a:latin typeface="+mn-lt"/>
              </a:endParaRPr>
            </a:p>
          </p:txBody>
        </p:sp>
        <p:sp>
          <p:nvSpPr>
            <p:cNvPr id="37898" name="Text Box 8"/>
            <p:cNvSpPr txBox="1">
              <a:spLocks noChangeArrowheads="1"/>
            </p:cNvSpPr>
            <p:nvPr/>
          </p:nvSpPr>
          <p:spPr bwMode="auto">
            <a:xfrm>
              <a:off x="107400000" y="111613275"/>
              <a:ext cx="1295400" cy="542925"/>
            </a:xfrm>
            <a:prstGeom prst="rect">
              <a:avLst/>
            </a:prstGeom>
            <a:noFill/>
            <a:ln w="19050" algn="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PCI Slots</a:t>
              </a:r>
              <a:endParaRPr lang="en-US" altLang="en-US" sz="1400" dirty="0">
                <a:latin typeface="+mn-lt"/>
              </a:endParaRPr>
            </a:p>
          </p:txBody>
        </p:sp>
        <p:sp>
          <p:nvSpPr>
            <p:cNvPr id="37899" name="Text Box 9"/>
            <p:cNvSpPr txBox="1">
              <a:spLocks noChangeArrowheads="1"/>
            </p:cNvSpPr>
            <p:nvPr/>
          </p:nvSpPr>
          <p:spPr bwMode="auto">
            <a:xfrm>
              <a:off x="111794925" y="111556125"/>
              <a:ext cx="895350" cy="590550"/>
            </a:xfrm>
            <a:prstGeom prst="rect">
              <a:avLst/>
            </a:prstGeom>
            <a:noFill/>
            <a:ln w="19050" algn="i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err="1">
                  <a:solidFill>
                    <a:srgbClr val="000000"/>
                  </a:solidFill>
                  <a:latin typeface="+mn-lt"/>
                </a:rPr>
                <a:t>Onboard</a:t>
              </a:r>
              <a:endParaRPr lang="en-IE" altLang="en-US" sz="1400" dirty="0">
                <a:solidFill>
                  <a:srgbClr val="000000"/>
                </a:solidFill>
                <a:latin typeface="+mn-lt"/>
              </a:endParaRPr>
            </a:p>
            <a:p>
              <a:pPr algn="ctr" eaLnBrk="1" hangingPunct="1"/>
              <a:r>
                <a:rPr lang="en-IE" altLang="en-US" sz="1400" dirty="0">
                  <a:solidFill>
                    <a:srgbClr val="000000"/>
                  </a:solidFill>
                  <a:latin typeface="+mn-lt"/>
                </a:rPr>
                <a:t>Graphics</a:t>
              </a:r>
              <a:endParaRPr lang="en-US" altLang="en-US" sz="1400" dirty="0">
                <a:latin typeface="+mn-lt"/>
              </a:endParaRPr>
            </a:p>
          </p:txBody>
        </p:sp>
        <p:sp>
          <p:nvSpPr>
            <p:cNvPr id="37900" name="Line 10"/>
            <p:cNvSpPr>
              <a:spLocks noChangeShapeType="1"/>
            </p:cNvSpPr>
            <p:nvPr/>
          </p:nvSpPr>
          <p:spPr bwMode="auto">
            <a:xfrm>
              <a:off x="110194725" y="109542900"/>
              <a:ext cx="0" cy="542925"/>
            </a:xfrm>
            <a:prstGeom prst="line">
              <a:avLst/>
            </a:prstGeom>
            <a:noFill/>
            <a:ln w="76200" algn="ctr">
              <a:solidFill>
                <a:srgbClr val="CC0000"/>
              </a:solidFill>
              <a:round/>
              <a:headEnd/>
              <a:tailEn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7901" name="Line 11"/>
            <p:cNvSpPr>
              <a:spLocks noChangeShapeType="1"/>
            </p:cNvSpPr>
            <p:nvPr/>
          </p:nvSpPr>
          <p:spPr bwMode="auto">
            <a:xfrm>
              <a:off x="110232825" y="110924025"/>
              <a:ext cx="0" cy="533400"/>
            </a:xfrm>
            <a:prstGeom prst="line">
              <a:avLst/>
            </a:prstGeom>
            <a:noFill/>
            <a:ln w="76200" algn="ctr">
              <a:solidFill>
                <a:srgbClr val="CC0000"/>
              </a:solidFill>
              <a:round/>
              <a:headEnd/>
              <a:tailEn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7902" name="Line 12"/>
            <p:cNvSpPr>
              <a:spLocks noChangeShapeType="1"/>
            </p:cNvSpPr>
            <p:nvPr/>
          </p:nvSpPr>
          <p:spPr bwMode="auto">
            <a:xfrm>
              <a:off x="108632625" y="110517900"/>
              <a:ext cx="1047750" cy="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7903" name="Line 13"/>
            <p:cNvSpPr>
              <a:spLocks noChangeShapeType="1"/>
            </p:cNvSpPr>
            <p:nvPr/>
          </p:nvSpPr>
          <p:spPr bwMode="auto">
            <a:xfrm>
              <a:off x="110785275" y="110517900"/>
              <a:ext cx="1171575" cy="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7904" name="Line 14"/>
            <p:cNvSpPr>
              <a:spLocks noChangeShapeType="1"/>
            </p:cNvSpPr>
            <p:nvPr/>
          </p:nvSpPr>
          <p:spPr bwMode="auto">
            <a:xfrm>
              <a:off x="108689775" y="111860925"/>
              <a:ext cx="1009650" cy="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7905" name="Line 15"/>
            <p:cNvSpPr>
              <a:spLocks noChangeShapeType="1"/>
            </p:cNvSpPr>
            <p:nvPr/>
          </p:nvSpPr>
          <p:spPr bwMode="auto">
            <a:xfrm>
              <a:off x="110794800" y="111860925"/>
              <a:ext cx="1009650" cy="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7906" name="Line 16"/>
            <p:cNvSpPr>
              <a:spLocks noChangeShapeType="1"/>
            </p:cNvSpPr>
            <p:nvPr/>
          </p:nvSpPr>
          <p:spPr bwMode="auto">
            <a:xfrm flipH="1">
              <a:off x="112223550" y="112137150"/>
              <a:ext cx="9525" cy="314325"/>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7907" name="Text Box 17"/>
            <p:cNvSpPr txBox="1">
              <a:spLocks noChangeArrowheads="1"/>
            </p:cNvSpPr>
            <p:nvPr/>
          </p:nvSpPr>
          <p:spPr bwMode="auto">
            <a:xfrm>
              <a:off x="110242350" y="109584450"/>
              <a:ext cx="7715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rgbClr val="000000"/>
                  </a:solidFill>
                  <a:latin typeface="+mn-lt"/>
                </a:rPr>
                <a:t>Front Side Bus</a:t>
              </a:r>
              <a:endParaRPr lang="en-US" altLang="en-US" sz="1400" dirty="0">
                <a:latin typeface="+mn-lt"/>
              </a:endParaRPr>
            </a:p>
          </p:txBody>
        </p:sp>
        <p:sp>
          <p:nvSpPr>
            <p:cNvPr id="37908" name="Text Box 18"/>
            <p:cNvSpPr txBox="1">
              <a:spLocks noChangeArrowheads="1"/>
            </p:cNvSpPr>
            <p:nvPr/>
          </p:nvSpPr>
          <p:spPr bwMode="auto">
            <a:xfrm>
              <a:off x="110893236" y="110564051"/>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rgbClr val="000000"/>
                  </a:solidFill>
                  <a:cs typeface="Arial" panose="020B0604020202020204" pitchFamily="34" charset="0"/>
                </a:rPr>
                <a:t>Memory Bus</a:t>
              </a:r>
              <a:endParaRPr lang="en-US" altLang="en-US" sz="1400" dirty="0">
                <a:cs typeface="Arial" panose="020B0604020202020204" pitchFamily="34" charset="0"/>
              </a:endParaRPr>
            </a:p>
          </p:txBody>
        </p:sp>
        <p:sp>
          <p:nvSpPr>
            <p:cNvPr id="37909" name="Text Box 19"/>
            <p:cNvSpPr txBox="1">
              <a:spLocks noChangeArrowheads="1"/>
            </p:cNvSpPr>
            <p:nvPr/>
          </p:nvSpPr>
          <p:spPr bwMode="auto">
            <a:xfrm>
              <a:off x="108642150" y="110556000"/>
              <a:ext cx="990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Graphics Bus</a:t>
              </a:r>
              <a:endParaRPr lang="en-US" altLang="en-US" sz="1400" dirty="0">
                <a:latin typeface="+mn-lt"/>
              </a:endParaRPr>
            </a:p>
          </p:txBody>
        </p:sp>
        <p:sp>
          <p:nvSpPr>
            <p:cNvPr id="37910" name="Text Box 20"/>
            <p:cNvSpPr txBox="1">
              <a:spLocks noChangeArrowheads="1"/>
            </p:cNvSpPr>
            <p:nvPr/>
          </p:nvSpPr>
          <p:spPr bwMode="auto">
            <a:xfrm>
              <a:off x="110280370" y="111041776"/>
              <a:ext cx="101925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rgbClr val="000000"/>
                  </a:solidFill>
                  <a:latin typeface="+mn-lt"/>
                </a:rPr>
                <a:t>Internal Bus</a:t>
              </a:r>
              <a:endParaRPr lang="en-US" altLang="en-US" sz="1400" dirty="0">
                <a:latin typeface="+mn-lt"/>
              </a:endParaRPr>
            </a:p>
          </p:txBody>
        </p:sp>
        <p:sp>
          <p:nvSpPr>
            <p:cNvPr id="37911" name="Text Box 21"/>
            <p:cNvSpPr txBox="1">
              <a:spLocks noChangeArrowheads="1"/>
            </p:cNvSpPr>
            <p:nvPr/>
          </p:nvSpPr>
          <p:spPr bwMode="auto">
            <a:xfrm>
              <a:off x="108718350" y="111889500"/>
              <a:ext cx="904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PCI Bus</a:t>
              </a:r>
              <a:endParaRPr lang="en-US" altLang="en-US" sz="1400" dirty="0">
                <a:latin typeface="+mn-lt"/>
              </a:endParaRPr>
            </a:p>
          </p:txBody>
        </p:sp>
      </p:grpSp>
      <p:sp>
        <p:nvSpPr>
          <p:cNvPr id="25" name="Text Box 21"/>
          <p:cNvSpPr txBox="1">
            <a:spLocks noChangeArrowheads="1"/>
          </p:cNvSpPr>
          <p:nvPr/>
        </p:nvSpPr>
        <p:spPr bwMode="auto">
          <a:xfrm>
            <a:off x="5532437" y="5548312"/>
            <a:ext cx="1018303" cy="2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latin typeface="+mn-lt"/>
              </a:rPr>
              <a:t>PCI Bus</a:t>
            </a:r>
            <a:endParaRPr lang="en-US" altLang="en-US" sz="1400" dirty="0">
              <a:latin typeface="+mn-lt"/>
            </a:endParaRPr>
          </a:p>
        </p:txBody>
      </p:sp>
    </p:spTree>
    <p:extLst>
      <p:ext uri="{BB962C8B-B14F-4D97-AF65-F5344CB8AC3E}">
        <p14:creationId xmlns:p14="http://schemas.microsoft.com/office/powerpoint/2010/main" val="584150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77006" y="211137"/>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14" name="TextBox 13"/>
          <p:cNvSpPr txBox="1">
            <a:spLocks noChangeArrowheads="1"/>
          </p:cNvSpPr>
          <p:nvPr/>
        </p:nvSpPr>
        <p:spPr bwMode="auto">
          <a:xfrm>
            <a:off x="685800" y="1371600"/>
            <a:ext cx="792956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rgbClr val="C00000"/>
                </a:solidFill>
                <a:latin typeface="Comic Sans MS" panose="030F0702030302020204" pitchFamily="66" charset="0"/>
              </a:rPr>
              <a:t>Power </a:t>
            </a:r>
            <a:r>
              <a:rPr lang="en-IE" altLang="en-US" sz="1600" b="1" dirty="0" smtClean="0">
                <a:solidFill>
                  <a:srgbClr val="C00000"/>
                </a:solidFill>
                <a:latin typeface="Comic Sans MS" panose="030F0702030302020204" pitchFamily="66" charset="0"/>
              </a:rPr>
              <a:t>Supply</a:t>
            </a:r>
          </a:p>
          <a:p>
            <a:pPr algn="just" eaLnBrk="1" hangingPunct="1"/>
            <a:endParaRPr lang="en-IE" altLang="en-US" sz="1600" dirty="0">
              <a:solidFill>
                <a:schemeClr val="accent1">
                  <a:lumMod val="75000"/>
                </a:schemeClr>
              </a:solidFill>
            </a:endParaRPr>
          </a:p>
          <a:p>
            <a:pPr algn="just" eaLnBrk="1" hangingPunct="1"/>
            <a:r>
              <a:rPr lang="en-IE" altLang="en-US" sz="1600" dirty="0" smtClean="0">
                <a:solidFill>
                  <a:schemeClr val="accent1">
                    <a:lumMod val="75000"/>
                  </a:schemeClr>
                </a:solidFill>
              </a:rPr>
              <a:t>A </a:t>
            </a:r>
            <a:r>
              <a:rPr lang="en-IE" altLang="en-US" sz="1600" dirty="0">
                <a:solidFill>
                  <a:schemeClr val="accent1">
                    <a:lumMod val="75000"/>
                  </a:schemeClr>
                </a:solidFill>
              </a:rPr>
              <a:t>computer power supply has a number of functions:</a:t>
            </a:r>
          </a:p>
          <a:p>
            <a:pPr algn="just" eaLnBrk="1" hangingPunct="1"/>
            <a:endParaRPr lang="en-IE" altLang="en-US" sz="1600" dirty="0">
              <a:solidFill>
                <a:schemeClr val="accent1">
                  <a:lumMod val="75000"/>
                </a:schemeClr>
              </a:solidFill>
            </a:endParaRPr>
          </a:p>
          <a:p>
            <a:pPr marL="285750" indent="-285750" algn="just" eaLnBrk="1" hangingPunct="1">
              <a:buFont typeface="Arial" panose="020B0604020202020204" pitchFamily="34" charset="0"/>
              <a:buChar char="•"/>
            </a:pPr>
            <a:r>
              <a:rPr lang="en-IE" altLang="en-US" sz="1600" dirty="0">
                <a:solidFill>
                  <a:schemeClr val="accent1">
                    <a:lumMod val="75000"/>
                  </a:schemeClr>
                </a:solidFill>
              </a:rPr>
              <a:t>Converts </a:t>
            </a:r>
            <a:r>
              <a:rPr lang="en-IE" altLang="en-US" sz="1600" b="1" dirty="0">
                <a:solidFill>
                  <a:schemeClr val="accent1">
                    <a:lumMod val="75000"/>
                  </a:schemeClr>
                </a:solidFill>
              </a:rPr>
              <a:t>Alternating current </a:t>
            </a:r>
            <a:r>
              <a:rPr lang="en-IE" altLang="en-US" sz="1600" dirty="0">
                <a:solidFill>
                  <a:schemeClr val="accent1">
                    <a:lumMod val="75000"/>
                  </a:schemeClr>
                </a:solidFill>
              </a:rPr>
              <a:t>(AC) </a:t>
            </a:r>
            <a:r>
              <a:rPr lang="en-IE" altLang="en-US" sz="1600" b="1" dirty="0">
                <a:solidFill>
                  <a:schemeClr val="accent1">
                    <a:lumMod val="75000"/>
                  </a:schemeClr>
                </a:solidFill>
              </a:rPr>
              <a:t>Direct current </a:t>
            </a:r>
            <a:r>
              <a:rPr lang="en-IE" altLang="en-US" sz="1600" dirty="0">
                <a:solidFill>
                  <a:schemeClr val="accent1">
                    <a:lumMod val="75000"/>
                  </a:schemeClr>
                </a:solidFill>
              </a:rPr>
              <a:t>(DC) </a:t>
            </a:r>
          </a:p>
          <a:p>
            <a:pPr marL="285750" indent="-285750" algn="just" eaLnBrk="1" hangingPunct="1">
              <a:buFont typeface="Arial" panose="020B0604020202020204" pitchFamily="34" charset="0"/>
              <a:buChar char="•"/>
            </a:pPr>
            <a:r>
              <a:rPr lang="en-IE" altLang="en-US" sz="1600" dirty="0">
                <a:solidFill>
                  <a:schemeClr val="accent1">
                    <a:lumMod val="75000"/>
                  </a:schemeClr>
                </a:solidFill>
              </a:rPr>
              <a:t>Transforms mains voltage (240 Volts) to the voltages required by the computer. </a:t>
            </a:r>
            <a:r>
              <a:rPr lang="en-IE" altLang="en-US" sz="1600" dirty="0" smtClean="0">
                <a:solidFill>
                  <a:schemeClr val="accent1">
                    <a:lumMod val="75000"/>
                  </a:schemeClr>
                </a:solidFill>
              </a:rPr>
              <a:t>The </a:t>
            </a:r>
            <a:r>
              <a:rPr lang="en-IE" altLang="en-US" sz="1600" dirty="0">
                <a:solidFill>
                  <a:schemeClr val="accent1">
                    <a:lumMod val="75000"/>
                  </a:schemeClr>
                </a:solidFill>
              </a:rPr>
              <a:t>main voltages </a:t>
            </a:r>
            <a:r>
              <a:rPr lang="en-IE" altLang="en-US" sz="1600" dirty="0" smtClean="0">
                <a:solidFill>
                  <a:schemeClr val="accent1">
                    <a:lumMod val="75000"/>
                  </a:schemeClr>
                </a:solidFill>
              </a:rPr>
              <a:t>are:</a:t>
            </a:r>
          </a:p>
          <a:p>
            <a:pPr marL="1200150" lvl="1" indent="-285750" algn="just" eaLnBrk="1" hangingPunct="1">
              <a:buFont typeface="Arial" panose="020B0604020202020204" pitchFamily="34" charset="0"/>
              <a:buChar char="•"/>
            </a:pPr>
            <a:r>
              <a:rPr lang="en-IE" altLang="en-US" sz="1600" b="1" dirty="0" smtClean="0">
                <a:solidFill>
                  <a:schemeClr val="accent1">
                    <a:lumMod val="75000"/>
                  </a:schemeClr>
                </a:solidFill>
              </a:rPr>
              <a:t>12 </a:t>
            </a:r>
            <a:r>
              <a:rPr lang="en-IE" altLang="en-US" sz="1600" b="1" dirty="0">
                <a:solidFill>
                  <a:schemeClr val="accent1">
                    <a:lumMod val="75000"/>
                  </a:schemeClr>
                </a:solidFill>
              </a:rPr>
              <a:t>volts </a:t>
            </a:r>
            <a:r>
              <a:rPr lang="en-IE" altLang="en-US" sz="1600" dirty="0">
                <a:solidFill>
                  <a:schemeClr val="accent1">
                    <a:lumMod val="75000"/>
                  </a:schemeClr>
                </a:solidFill>
              </a:rPr>
              <a:t>for the disk drives as they have </a:t>
            </a:r>
            <a:r>
              <a:rPr lang="en-IE" altLang="en-US" sz="1600" dirty="0" smtClean="0">
                <a:solidFill>
                  <a:schemeClr val="accent1">
                    <a:lumMod val="75000"/>
                  </a:schemeClr>
                </a:solidFill>
              </a:rPr>
              <a:t>motors</a:t>
            </a:r>
          </a:p>
          <a:p>
            <a:pPr marL="1200150" lvl="1" indent="-285750" algn="just" eaLnBrk="1" hangingPunct="1">
              <a:buFont typeface="Arial" panose="020B0604020202020204" pitchFamily="34" charset="0"/>
              <a:buChar char="•"/>
            </a:pPr>
            <a:r>
              <a:rPr lang="en-IE" altLang="en-US" sz="1600" b="1" dirty="0" smtClean="0">
                <a:solidFill>
                  <a:schemeClr val="accent1">
                    <a:lumMod val="75000"/>
                  </a:schemeClr>
                </a:solidFill>
              </a:rPr>
              <a:t>3.3 </a:t>
            </a:r>
            <a:r>
              <a:rPr lang="en-IE" altLang="en-US" sz="1600" dirty="0">
                <a:solidFill>
                  <a:schemeClr val="accent1">
                    <a:lumMod val="75000"/>
                  </a:schemeClr>
                </a:solidFill>
              </a:rPr>
              <a:t>and </a:t>
            </a:r>
            <a:r>
              <a:rPr lang="en-IE" altLang="en-US" sz="1600" b="1" dirty="0">
                <a:solidFill>
                  <a:schemeClr val="accent1">
                    <a:lumMod val="75000"/>
                  </a:schemeClr>
                </a:solidFill>
              </a:rPr>
              <a:t>5 volts </a:t>
            </a:r>
            <a:r>
              <a:rPr lang="en-IE" altLang="en-US" sz="1600" dirty="0">
                <a:solidFill>
                  <a:schemeClr val="accent1">
                    <a:lumMod val="75000"/>
                  </a:schemeClr>
                </a:solidFill>
              </a:rPr>
              <a:t>for the circuit boards in the computer</a:t>
            </a:r>
          </a:p>
        </p:txBody>
      </p:sp>
      <p:pic>
        <p:nvPicPr>
          <p:cNvPr id="39953" name="Picture 17" descr="PC_Power_Supply"/>
          <p:cNvPicPr>
            <a:picLocks noChangeAspect="1" noChangeArrowheads="1"/>
          </p:cNvPicPr>
          <p:nvPr/>
        </p:nvPicPr>
        <p:blipFill>
          <a:blip r:embed="rId3">
            <a:extLst>
              <a:ext uri="{28A0092B-C50C-407E-A947-70E740481C1C}">
                <a14:useLocalDpi xmlns:a14="http://schemas.microsoft.com/office/drawing/2010/main" val="0"/>
              </a:ext>
            </a:extLst>
          </a:blip>
          <a:srcRect t="20555" b="20277"/>
          <a:stretch>
            <a:fillRect/>
          </a:stretch>
        </p:blipFill>
        <p:spPr bwMode="auto">
          <a:xfrm>
            <a:off x="2630442" y="4191000"/>
            <a:ext cx="4264429" cy="25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Tree>
    <p:extLst>
      <p:ext uri="{BB962C8B-B14F-4D97-AF65-F5344CB8AC3E}">
        <p14:creationId xmlns:p14="http://schemas.microsoft.com/office/powerpoint/2010/main" val="4784554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228600" y="240538"/>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14" name="TextBox 13"/>
          <p:cNvSpPr txBox="1">
            <a:spLocks noChangeArrowheads="1"/>
          </p:cNvSpPr>
          <p:nvPr/>
        </p:nvSpPr>
        <p:spPr bwMode="auto">
          <a:xfrm>
            <a:off x="513856" y="1291833"/>
            <a:ext cx="804862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Aft>
                <a:spcPts val="600"/>
              </a:spcAft>
              <a:buFont typeface="Arial" panose="020B0604020202020204" pitchFamily="34" charset="0"/>
              <a:buChar char="•"/>
            </a:pPr>
            <a:r>
              <a:rPr lang="en-IE" altLang="en-US" sz="1600" dirty="0">
                <a:solidFill>
                  <a:schemeClr val="accent1">
                    <a:lumMod val="75000"/>
                  </a:schemeClr>
                </a:solidFill>
              </a:rPr>
              <a:t>Uses advances power management (</a:t>
            </a:r>
            <a:r>
              <a:rPr lang="en-IE" altLang="en-US" sz="1600" b="1" dirty="0">
                <a:solidFill>
                  <a:schemeClr val="accent1">
                    <a:lumMod val="75000"/>
                  </a:schemeClr>
                </a:solidFill>
              </a:rPr>
              <a:t>APM</a:t>
            </a:r>
            <a:r>
              <a:rPr lang="en-IE" altLang="en-US" sz="1600" dirty="0">
                <a:solidFill>
                  <a:schemeClr val="accent1">
                    <a:lumMod val="75000"/>
                  </a:schemeClr>
                </a:solidFill>
              </a:rPr>
              <a:t>) to allow the computer go into a standby </a:t>
            </a:r>
            <a:r>
              <a:rPr lang="en-IE" altLang="en-US" sz="1600" dirty="0" smtClean="0">
                <a:solidFill>
                  <a:schemeClr val="accent1">
                    <a:lumMod val="75000"/>
                  </a:schemeClr>
                </a:solidFill>
              </a:rPr>
              <a:t>mode.</a:t>
            </a:r>
            <a:endParaRPr lang="en-IE" altLang="en-US" sz="1600" dirty="0">
              <a:solidFill>
                <a:schemeClr val="accent1">
                  <a:lumMod val="75000"/>
                </a:schemeClr>
              </a:solidFill>
            </a:endParaRPr>
          </a:p>
          <a:p>
            <a:pPr algn="just" eaLnBrk="1" hangingPunct="1">
              <a:spcAft>
                <a:spcPts val="600"/>
              </a:spcAft>
              <a:buFont typeface="Arial" panose="020B0604020202020204" pitchFamily="34" charset="0"/>
              <a:buChar char="•"/>
            </a:pPr>
            <a:r>
              <a:rPr lang="en-IE" altLang="en-US" sz="1600" dirty="0">
                <a:solidFill>
                  <a:schemeClr val="accent1">
                    <a:lumMod val="75000"/>
                  </a:schemeClr>
                </a:solidFill>
              </a:rPr>
              <a:t>Some have a switch to toggle between 240 volt supplies and 110 volt supplies. </a:t>
            </a:r>
          </a:p>
          <a:p>
            <a:pPr algn="just" eaLnBrk="1" hangingPunct="1">
              <a:buFont typeface="Arial" panose="020B0604020202020204" pitchFamily="34" charset="0"/>
              <a:buChar char="•"/>
            </a:pPr>
            <a:r>
              <a:rPr lang="en-IE" altLang="en-US" sz="1600" dirty="0">
                <a:solidFill>
                  <a:schemeClr val="accent1">
                    <a:lumMod val="75000"/>
                  </a:schemeClr>
                </a:solidFill>
              </a:rPr>
              <a:t>The main connections are:</a:t>
            </a:r>
          </a:p>
        </p:txBody>
      </p:sp>
      <p:grpSp>
        <p:nvGrpSpPr>
          <p:cNvPr id="2" name="Group 39"/>
          <p:cNvGrpSpPr>
            <a:grpSpLocks/>
          </p:cNvGrpSpPr>
          <p:nvPr/>
        </p:nvGrpSpPr>
        <p:grpSpPr bwMode="auto">
          <a:xfrm>
            <a:off x="1653075" y="2896817"/>
            <a:ext cx="5814525" cy="1421584"/>
            <a:chOff x="1785918" y="3429000"/>
            <a:chExt cx="5072062" cy="1095375"/>
          </a:xfrm>
        </p:grpSpPr>
        <p:pic>
          <p:nvPicPr>
            <p:cNvPr id="2076" name="Picture 2" descr="15"/>
            <p:cNvPicPr>
              <a:picLocks noChangeAspect="1" noChangeArrowheads="1"/>
            </p:cNvPicPr>
            <p:nvPr/>
          </p:nvPicPr>
          <p:blipFill>
            <a:blip r:embed="rId3">
              <a:extLst>
                <a:ext uri="{28A0092B-C50C-407E-A947-70E740481C1C}">
                  <a14:useLocalDpi xmlns:a14="http://schemas.microsoft.com/office/drawing/2010/main" val="0"/>
                </a:ext>
              </a:extLst>
            </a:blip>
            <a:srcRect l="4312" t="35883" r="5496" b="3400"/>
            <a:stretch>
              <a:fillRect/>
            </a:stretch>
          </p:blipFill>
          <p:spPr bwMode="auto">
            <a:xfrm>
              <a:off x="1785918" y="3429000"/>
              <a:ext cx="1729212" cy="109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2077" name="Picture 3" descr="_PSCONN"/>
            <p:cNvPicPr>
              <a:picLocks noChangeAspect="1" noChangeArrowheads="1"/>
            </p:cNvPicPr>
            <p:nvPr/>
          </p:nvPicPr>
          <p:blipFill>
            <a:blip r:embed="rId4">
              <a:extLst>
                <a:ext uri="{28A0092B-C50C-407E-A947-70E740481C1C}">
                  <a14:useLocalDpi xmlns:a14="http://schemas.microsoft.com/office/drawing/2010/main" val="0"/>
                </a:ext>
              </a:extLst>
            </a:blip>
            <a:srcRect l="1714" t="24796" r="4715" b="4591"/>
            <a:stretch>
              <a:fillRect/>
            </a:stretch>
          </p:blipFill>
          <p:spPr bwMode="auto">
            <a:xfrm>
              <a:off x="4787891" y="3431448"/>
              <a:ext cx="2070089" cy="1092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2078" name="Picture 4" descr="sata-connector-174x200"/>
            <p:cNvPicPr>
              <a:picLocks noChangeAspect="1" noChangeArrowheads="1"/>
            </p:cNvPicPr>
            <p:nvPr/>
          </p:nvPicPr>
          <p:blipFill>
            <a:blip r:embed="rId5">
              <a:extLst>
                <a:ext uri="{28A0092B-C50C-407E-A947-70E740481C1C}">
                  <a14:useLocalDpi xmlns:a14="http://schemas.microsoft.com/office/drawing/2010/main" val="0"/>
                </a:ext>
              </a:extLst>
            </a:blip>
            <a:srcRect b="13499"/>
            <a:stretch>
              <a:fillRect/>
            </a:stretch>
          </p:blipFill>
          <p:spPr bwMode="auto">
            <a:xfrm>
              <a:off x="3601772" y="3434621"/>
              <a:ext cx="1084703" cy="1077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2079" name="Oval 5"/>
            <p:cNvSpPr>
              <a:spLocks noChangeArrowheads="1"/>
            </p:cNvSpPr>
            <p:nvPr/>
          </p:nvSpPr>
          <p:spPr bwMode="auto">
            <a:xfrm>
              <a:off x="1786335" y="4245948"/>
              <a:ext cx="288297" cy="259106"/>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2080" name="Text Box 6"/>
            <p:cNvSpPr txBox="1">
              <a:spLocks noChangeArrowheads="1"/>
            </p:cNvSpPr>
            <p:nvPr/>
          </p:nvSpPr>
          <p:spPr bwMode="auto">
            <a:xfrm>
              <a:off x="1836380" y="4300829"/>
              <a:ext cx="184306" cy="12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1</a:t>
              </a:r>
              <a:endParaRPr lang="en-US" altLang="en-US"/>
            </a:p>
          </p:txBody>
        </p:sp>
        <p:sp>
          <p:nvSpPr>
            <p:cNvPr id="2081" name="Oval 7"/>
            <p:cNvSpPr>
              <a:spLocks noChangeArrowheads="1"/>
            </p:cNvSpPr>
            <p:nvPr/>
          </p:nvSpPr>
          <p:spPr bwMode="auto">
            <a:xfrm>
              <a:off x="6196014" y="3827112"/>
              <a:ext cx="288297" cy="259105"/>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2082" name="Text Box 8"/>
            <p:cNvSpPr txBox="1">
              <a:spLocks noChangeArrowheads="1"/>
            </p:cNvSpPr>
            <p:nvPr/>
          </p:nvSpPr>
          <p:spPr bwMode="auto">
            <a:xfrm>
              <a:off x="6246060" y="3881991"/>
              <a:ext cx="184306" cy="12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4</a:t>
              </a:r>
              <a:endParaRPr lang="en-US" altLang="en-US"/>
            </a:p>
          </p:txBody>
        </p:sp>
        <p:sp>
          <p:nvSpPr>
            <p:cNvPr id="2083" name="Oval 9"/>
            <p:cNvSpPr>
              <a:spLocks noChangeArrowheads="1"/>
            </p:cNvSpPr>
            <p:nvPr/>
          </p:nvSpPr>
          <p:spPr bwMode="auto">
            <a:xfrm>
              <a:off x="4976924" y="3874706"/>
              <a:ext cx="288297" cy="259106"/>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2084" name="Text Box 10"/>
            <p:cNvSpPr txBox="1">
              <a:spLocks noChangeArrowheads="1"/>
            </p:cNvSpPr>
            <p:nvPr/>
          </p:nvSpPr>
          <p:spPr bwMode="auto">
            <a:xfrm>
              <a:off x="5026969" y="3929586"/>
              <a:ext cx="184306" cy="12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3</a:t>
              </a:r>
              <a:endParaRPr lang="en-US" altLang="en-US"/>
            </a:p>
          </p:txBody>
        </p:sp>
        <p:sp>
          <p:nvSpPr>
            <p:cNvPr id="2085" name="Oval 11"/>
            <p:cNvSpPr>
              <a:spLocks noChangeArrowheads="1"/>
            </p:cNvSpPr>
            <p:nvPr/>
          </p:nvSpPr>
          <p:spPr bwMode="auto">
            <a:xfrm>
              <a:off x="4395951" y="4255467"/>
              <a:ext cx="288297" cy="259106"/>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2086" name="Text Box 12"/>
            <p:cNvSpPr txBox="1">
              <a:spLocks noChangeArrowheads="1"/>
            </p:cNvSpPr>
            <p:nvPr/>
          </p:nvSpPr>
          <p:spPr bwMode="auto">
            <a:xfrm>
              <a:off x="4445996" y="4310348"/>
              <a:ext cx="184306" cy="12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2</a:t>
              </a:r>
              <a:endParaRPr lang="en-US" altLang="en-US"/>
            </a:p>
          </p:txBody>
        </p:sp>
      </p:grpSp>
      <p:graphicFrame>
        <p:nvGraphicFramePr>
          <p:cNvPr id="39" name="Table 38"/>
          <p:cNvGraphicFramePr>
            <a:graphicFrameLocks noGrp="1"/>
          </p:cNvGraphicFramePr>
          <p:nvPr>
            <p:extLst>
              <p:ext uri="{D42A27DB-BD31-4B8C-83A1-F6EECF244321}">
                <p14:modId xmlns:p14="http://schemas.microsoft.com/office/powerpoint/2010/main" val="2311243583"/>
              </p:ext>
            </p:extLst>
          </p:nvPr>
        </p:nvGraphicFramePr>
        <p:xfrm>
          <a:off x="1128224" y="4732341"/>
          <a:ext cx="6880225" cy="1947862"/>
        </p:xfrm>
        <a:graphic>
          <a:graphicData uri="http://schemas.openxmlformats.org/drawingml/2006/table">
            <a:tbl>
              <a:tblPr>
                <a:effectLst>
                  <a:outerShdw blurRad="50800" dist="38100" dir="16200000" rotWithShape="0">
                    <a:prstClr val="black">
                      <a:alpha val="40000"/>
                    </a:prstClr>
                  </a:outerShdw>
                </a:effectLst>
              </a:tblPr>
              <a:tblGrid>
                <a:gridCol w="342568">
                  <a:extLst>
                    <a:ext uri="{9D8B030D-6E8A-4147-A177-3AD203B41FA5}">
                      <a16:colId xmlns:a16="http://schemas.microsoft.com/office/drawing/2014/main" val="20000"/>
                    </a:ext>
                  </a:extLst>
                </a:gridCol>
                <a:gridCol w="1686419">
                  <a:extLst>
                    <a:ext uri="{9D8B030D-6E8A-4147-A177-3AD203B41FA5}">
                      <a16:colId xmlns:a16="http://schemas.microsoft.com/office/drawing/2014/main" val="20001"/>
                    </a:ext>
                  </a:extLst>
                </a:gridCol>
                <a:gridCol w="4851238">
                  <a:extLst>
                    <a:ext uri="{9D8B030D-6E8A-4147-A177-3AD203B41FA5}">
                      <a16:colId xmlns:a16="http://schemas.microsoft.com/office/drawing/2014/main" val="20002"/>
                    </a:ext>
                  </a:extLst>
                </a:gridCol>
              </a:tblGrid>
              <a:tr h="546988">
                <a:tc>
                  <a:txBody>
                    <a:bodyPr/>
                    <a:lstStyle/>
                    <a:p>
                      <a:pPr marR="0" indent="0" algn="ctr" rtl="0">
                        <a:spcBef>
                          <a:spcPts val="0"/>
                        </a:spcBef>
                        <a:spcAft>
                          <a:spcPts val="0"/>
                        </a:spcAft>
                      </a:pPr>
                      <a:r>
                        <a:rPr lang="en-IE" sz="1400" b="0" kern="1400" dirty="0">
                          <a:solidFill>
                            <a:schemeClr val="accent1">
                              <a:lumMod val="75000"/>
                            </a:schemeClr>
                          </a:solidFill>
                          <a:latin typeface="+mn-lt"/>
                        </a:rPr>
                        <a:t>1</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Main connector</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Connects to the motherboard and supplies the 3.3 and 5 volt supply for the board.</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6958">
                <a:tc>
                  <a:txBody>
                    <a:bodyPr/>
                    <a:lstStyle/>
                    <a:p>
                      <a:pPr marR="0" indent="0" algn="ctr" rtl="0">
                        <a:spcBef>
                          <a:spcPts val="0"/>
                        </a:spcBef>
                        <a:spcAft>
                          <a:spcPts val="0"/>
                        </a:spcAft>
                      </a:pPr>
                      <a:r>
                        <a:rPr lang="en-IE" sz="1400" b="0" kern="1400" dirty="0">
                          <a:solidFill>
                            <a:schemeClr val="accent1">
                              <a:lumMod val="75000"/>
                            </a:schemeClr>
                          </a:solidFill>
                          <a:latin typeface="+mn-lt"/>
                        </a:rPr>
                        <a:t>2</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Molex connector</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Connects IDE hard drives and optical drives.</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6958">
                <a:tc>
                  <a:txBody>
                    <a:bodyPr/>
                    <a:lstStyle/>
                    <a:p>
                      <a:pPr marR="0" indent="0" algn="ctr" rtl="0">
                        <a:spcBef>
                          <a:spcPts val="0"/>
                        </a:spcBef>
                        <a:spcAft>
                          <a:spcPts val="0"/>
                        </a:spcAft>
                      </a:pPr>
                      <a:r>
                        <a:rPr lang="en-IE" sz="1400" b="0" kern="1400" dirty="0">
                          <a:solidFill>
                            <a:schemeClr val="accent1">
                              <a:lumMod val="75000"/>
                            </a:schemeClr>
                          </a:solidFill>
                          <a:latin typeface="+mn-lt"/>
                        </a:rPr>
                        <a:t>3</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a:solidFill>
                            <a:schemeClr val="accent1">
                              <a:lumMod val="75000"/>
                            </a:schemeClr>
                          </a:solidFill>
                          <a:latin typeface="+mn-lt"/>
                        </a:rPr>
                        <a:t>Berg connector</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Connects floppy disk </a:t>
                      </a:r>
                      <a:r>
                        <a:rPr lang="en-IE" sz="1400" b="0" kern="1400" dirty="0" smtClean="0">
                          <a:solidFill>
                            <a:schemeClr val="accent1">
                              <a:lumMod val="75000"/>
                            </a:schemeClr>
                          </a:solidFill>
                          <a:latin typeface="+mn-lt"/>
                        </a:rPr>
                        <a:t>drives.</a:t>
                      </a:r>
                      <a:endParaRPr lang="en-IE" sz="1400" b="0" kern="1400" dirty="0">
                        <a:solidFill>
                          <a:schemeClr val="accent1">
                            <a:lumMod val="75000"/>
                          </a:schemeClr>
                        </a:solidFill>
                        <a:latin typeface="+mn-lt"/>
                      </a:endParaRP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6958">
                <a:tc>
                  <a:txBody>
                    <a:bodyPr/>
                    <a:lstStyle/>
                    <a:p>
                      <a:pPr marR="0" indent="0" algn="ctr" rtl="0">
                        <a:spcBef>
                          <a:spcPts val="0"/>
                        </a:spcBef>
                        <a:spcAft>
                          <a:spcPts val="0"/>
                        </a:spcAft>
                      </a:pPr>
                      <a:r>
                        <a:rPr lang="en-IE" sz="1400" b="0" kern="1400" dirty="0">
                          <a:solidFill>
                            <a:schemeClr val="accent1">
                              <a:lumMod val="75000"/>
                            </a:schemeClr>
                          </a:solidFill>
                          <a:latin typeface="+mn-lt"/>
                        </a:rPr>
                        <a:t>4</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a:solidFill>
                            <a:schemeClr val="accent1">
                              <a:lumMod val="75000"/>
                            </a:schemeClr>
                          </a:solidFill>
                          <a:latin typeface="+mn-lt"/>
                        </a:rPr>
                        <a:t>SATA connector</a:t>
                      </a: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Connects SATA </a:t>
                      </a:r>
                      <a:r>
                        <a:rPr lang="en-IE" sz="1400" b="0" kern="1400" dirty="0" smtClean="0">
                          <a:solidFill>
                            <a:schemeClr val="accent1">
                              <a:lumMod val="75000"/>
                            </a:schemeClr>
                          </a:solidFill>
                          <a:latin typeface="+mn-lt"/>
                        </a:rPr>
                        <a:t>drives.</a:t>
                      </a:r>
                      <a:endParaRPr lang="en-IE" sz="1400" b="0" kern="1400" dirty="0">
                        <a:solidFill>
                          <a:schemeClr val="accent1">
                            <a:lumMod val="75000"/>
                          </a:schemeClr>
                        </a:solidFill>
                        <a:latin typeface="+mn-lt"/>
                      </a:endParaRPr>
                    </a:p>
                  </a:txBody>
                  <a:tcPr marL="44814" marR="44814" marT="44828" marB="448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50" name="Control 25"/>
          <p:cNvSpPr>
            <a:spLocks noChangeArrowheads="1" noChangeShapeType="1"/>
          </p:cNvSpPr>
          <p:nvPr/>
        </p:nvSpPr>
        <p:spPr bwMode="auto">
          <a:xfrm>
            <a:off x="1079500" y="1333500"/>
            <a:ext cx="5614988" cy="1585913"/>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Tree>
    <p:extLst>
      <p:ext uri="{BB962C8B-B14F-4D97-AF65-F5344CB8AC3E}">
        <p14:creationId xmlns:p14="http://schemas.microsoft.com/office/powerpoint/2010/main" val="3744127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8600" y="232457"/>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14" name="TextBox 13"/>
          <p:cNvSpPr txBox="1">
            <a:spLocks noChangeArrowheads="1"/>
          </p:cNvSpPr>
          <p:nvPr/>
        </p:nvSpPr>
        <p:spPr bwMode="auto">
          <a:xfrm>
            <a:off x="457200" y="1132536"/>
            <a:ext cx="8153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smtClean="0">
                <a:solidFill>
                  <a:srgbClr val="C00000"/>
                </a:solidFill>
                <a:latin typeface="Comic Sans MS" panose="030F0702030302020204" pitchFamily="66" charset="0"/>
              </a:rPr>
              <a:t>Ports</a:t>
            </a:r>
          </a:p>
          <a:p>
            <a:pPr algn="just" eaLnBrk="1" hangingPunct="1"/>
            <a:endParaRPr lang="en-IE" altLang="en-US" sz="1600" b="1" dirty="0">
              <a:solidFill>
                <a:schemeClr val="accent1">
                  <a:lumMod val="75000"/>
                </a:schemeClr>
              </a:solidFill>
            </a:endParaRPr>
          </a:p>
          <a:p>
            <a:pPr algn="just" eaLnBrk="1" hangingPunct="1"/>
            <a:r>
              <a:rPr lang="en-IE" altLang="en-US" sz="1600" dirty="0" smtClean="0">
                <a:solidFill>
                  <a:schemeClr val="accent1">
                    <a:lumMod val="75000"/>
                  </a:schemeClr>
                </a:solidFill>
              </a:rPr>
              <a:t>Computer </a:t>
            </a:r>
            <a:r>
              <a:rPr lang="en-IE" altLang="en-US" sz="1600" dirty="0">
                <a:solidFill>
                  <a:schemeClr val="accent1">
                    <a:lumMod val="75000"/>
                  </a:schemeClr>
                </a:solidFill>
              </a:rPr>
              <a:t>ports are interfaces between peripheral devices and the computer. </a:t>
            </a:r>
            <a:r>
              <a:rPr lang="en-IE" altLang="en-US" sz="1600" dirty="0" smtClean="0">
                <a:solidFill>
                  <a:schemeClr val="accent1">
                    <a:lumMod val="75000"/>
                  </a:schemeClr>
                </a:solidFill>
              </a:rPr>
              <a:t>They </a:t>
            </a:r>
            <a:r>
              <a:rPr lang="en-IE" altLang="en-US" sz="1600" dirty="0">
                <a:solidFill>
                  <a:schemeClr val="accent1">
                    <a:lumMod val="75000"/>
                  </a:schemeClr>
                </a:solidFill>
              </a:rPr>
              <a:t>are mainly found at the back of the computer but are often also built into the front of the computer chassis for easy access.</a:t>
            </a:r>
          </a:p>
        </p:txBody>
      </p:sp>
      <p:grpSp>
        <p:nvGrpSpPr>
          <p:cNvPr id="2" name="Group 15"/>
          <p:cNvGrpSpPr>
            <a:grpSpLocks/>
          </p:cNvGrpSpPr>
          <p:nvPr/>
        </p:nvGrpSpPr>
        <p:grpSpPr bwMode="auto">
          <a:xfrm>
            <a:off x="2438400" y="2667000"/>
            <a:ext cx="4343400" cy="4044570"/>
            <a:chOff x="108014100" y="106389293"/>
            <a:chExt cx="4186387" cy="3717427"/>
          </a:xfrm>
        </p:grpSpPr>
        <p:pic>
          <p:nvPicPr>
            <p:cNvPr id="39942" name="Picture 16" descr="ASUS_A8R-MVP6"/>
            <p:cNvPicPr>
              <a:picLocks noChangeAspect="1" noChangeArrowheads="1"/>
            </p:cNvPicPr>
            <p:nvPr/>
          </p:nvPicPr>
          <p:blipFill>
            <a:blip r:embed="rId3">
              <a:extLst>
                <a:ext uri="{28A0092B-C50C-407E-A947-70E740481C1C}">
                  <a14:useLocalDpi xmlns:a14="http://schemas.microsoft.com/office/drawing/2010/main" val="0"/>
                </a:ext>
              </a:extLst>
            </a:blip>
            <a:srcRect t="29778" b="12000"/>
            <a:stretch>
              <a:fillRect/>
            </a:stretch>
          </p:blipFill>
          <p:spPr bwMode="auto">
            <a:xfrm>
              <a:off x="108037912" y="106774340"/>
              <a:ext cx="4162575" cy="1520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39943" name="Text Box 17"/>
            <p:cNvSpPr txBox="1">
              <a:spLocks noChangeArrowheads="1"/>
            </p:cNvSpPr>
            <p:nvPr/>
          </p:nvSpPr>
          <p:spPr bwMode="auto">
            <a:xfrm>
              <a:off x="108680829" y="106389293"/>
              <a:ext cx="2876743" cy="457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chemeClr val="accent1">
                      <a:lumMod val="75000"/>
                    </a:schemeClr>
                  </a:solidFill>
                  <a:latin typeface="+mn-lt"/>
                </a:rPr>
                <a:t>Ports at the rear of the computer</a:t>
              </a:r>
              <a:endParaRPr lang="en-US" altLang="en-US" sz="1400" dirty="0">
                <a:solidFill>
                  <a:schemeClr val="accent1">
                    <a:lumMod val="75000"/>
                  </a:schemeClr>
                </a:solidFill>
                <a:latin typeface="+mn-lt"/>
              </a:endParaRPr>
            </a:p>
          </p:txBody>
        </p:sp>
        <p:pic>
          <p:nvPicPr>
            <p:cNvPr id="39944" name="Picture 18" descr="mpc-51pv-front"/>
            <p:cNvPicPr>
              <a:picLocks noChangeAspect="1" noChangeArrowheads="1"/>
            </p:cNvPicPr>
            <p:nvPr/>
          </p:nvPicPr>
          <p:blipFill>
            <a:blip r:embed="rId4">
              <a:extLst>
                <a:ext uri="{28A0092B-C50C-407E-A947-70E740481C1C}">
                  <a14:useLocalDpi xmlns:a14="http://schemas.microsoft.com/office/drawing/2010/main" val="0"/>
                </a:ext>
              </a:extLst>
            </a:blip>
            <a:srcRect l="11992" t="50716" r="31815" b="14880"/>
            <a:stretch>
              <a:fillRect/>
            </a:stretch>
          </p:blipFill>
          <p:spPr bwMode="auto">
            <a:xfrm>
              <a:off x="108014100" y="108887721"/>
              <a:ext cx="4162575" cy="121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39945" name="Text Box 19"/>
            <p:cNvSpPr txBox="1">
              <a:spLocks noChangeArrowheads="1"/>
            </p:cNvSpPr>
            <p:nvPr/>
          </p:nvSpPr>
          <p:spPr bwMode="auto">
            <a:xfrm>
              <a:off x="108213291" y="108537213"/>
              <a:ext cx="3764191" cy="28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rgbClr val="000000"/>
                  </a:solidFill>
                  <a:cs typeface="Arial" panose="020B0604020202020204" pitchFamily="34" charset="0"/>
                </a:rPr>
                <a:t>Ports at the front of the computer</a:t>
              </a:r>
              <a:endParaRPr lang="en-US" altLang="en-US" sz="1400" dirty="0">
                <a:cs typeface="Arial" panose="020B0604020202020204" pitchFamily="34" charset="0"/>
              </a:endParaRPr>
            </a:p>
          </p:txBody>
        </p:sp>
      </p:grpSp>
    </p:spTree>
    <p:extLst>
      <p:ext uri="{BB962C8B-B14F-4D97-AF65-F5344CB8AC3E}">
        <p14:creationId xmlns:p14="http://schemas.microsoft.com/office/powerpoint/2010/main" val="4238980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03957" y="313532"/>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14" name="TextBox 13"/>
          <p:cNvSpPr txBox="1">
            <a:spLocks noChangeArrowheads="1"/>
          </p:cNvSpPr>
          <p:nvPr/>
        </p:nvSpPr>
        <p:spPr bwMode="auto">
          <a:xfrm>
            <a:off x="381000" y="1361455"/>
            <a:ext cx="822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algn="just" eaLnBrk="1" hangingPunct="1"/>
            <a:r>
              <a:rPr lang="en-IE" altLang="en-US" sz="1600" b="1" dirty="0">
                <a:solidFill>
                  <a:schemeClr val="accent1">
                    <a:lumMod val="75000"/>
                  </a:schemeClr>
                </a:solidFill>
              </a:rPr>
              <a:t>Serial port</a:t>
            </a:r>
            <a:r>
              <a:rPr lang="en-IE" altLang="en-US" sz="1600" dirty="0">
                <a:solidFill>
                  <a:schemeClr val="accent1">
                    <a:lumMod val="75000"/>
                  </a:schemeClr>
                </a:solidFill>
              </a:rPr>
              <a:t>  -  a 9-pin port. Often called Com ports  -  Com1, Com2 etc.  Mice and external modems were connected to these ports. They are </a:t>
            </a:r>
            <a:r>
              <a:rPr lang="en-IE" altLang="en-US" sz="1600" b="1" dirty="0">
                <a:solidFill>
                  <a:schemeClr val="accent1">
                    <a:lumMod val="75000"/>
                  </a:schemeClr>
                </a:solidFill>
              </a:rPr>
              <a:t>turquoise </a:t>
            </a:r>
            <a:r>
              <a:rPr lang="en-IE" altLang="en-US" sz="1600" dirty="0">
                <a:solidFill>
                  <a:schemeClr val="accent1">
                    <a:lumMod val="75000"/>
                  </a:schemeClr>
                </a:solidFill>
              </a:rPr>
              <a:t>in colour. </a:t>
            </a:r>
          </a:p>
        </p:txBody>
      </p:sp>
      <p:grpSp>
        <p:nvGrpSpPr>
          <p:cNvPr id="2" name="Group 2"/>
          <p:cNvGrpSpPr>
            <a:grpSpLocks/>
          </p:cNvGrpSpPr>
          <p:nvPr/>
        </p:nvGrpSpPr>
        <p:grpSpPr bwMode="auto">
          <a:xfrm>
            <a:off x="2712172" y="2358915"/>
            <a:ext cx="3662362" cy="1174750"/>
            <a:chOff x="108921925" y="113096841"/>
            <a:chExt cx="2601425" cy="678558"/>
          </a:xfrm>
        </p:grpSpPr>
        <p:pic>
          <p:nvPicPr>
            <p:cNvPr id="40969" name="Picture 3" descr="serial_po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37478" y="113114028"/>
              <a:ext cx="1285872" cy="66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0970" name="Picture 4" descr="10000068_2_image[1]"/>
            <p:cNvPicPr>
              <a:picLocks noChangeAspect="1" noChangeArrowheads="1"/>
            </p:cNvPicPr>
            <p:nvPr/>
          </p:nvPicPr>
          <p:blipFill>
            <a:blip r:embed="rId4" cstate="print">
              <a:extLst>
                <a:ext uri="{28A0092B-C50C-407E-A947-70E740481C1C}">
                  <a14:useLocalDpi xmlns:a14="http://schemas.microsoft.com/office/drawing/2010/main" val="0"/>
                </a:ext>
              </a:extLst>
            </a:blip>
            <a:srcRect l="13312" t="22510" r="14250" b="23438"/>
            <a:stretch>
              <a:fillRect/>
            </a:stretch>
          </p:blipFill>
          <p:spPr bwMode="auto">
            <a:xfrm>
              <a:off x="108921925" y="113096841"/>
              <a:ext cx="898525" cy="67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
        <p:nvSpPr>
          <p:cNvPr id="16" name="TextBox 15"/>
          <p:cNvSpPr txBox="1">
            <a:spLocks noChangeArrowheads="1"/>
          </p:cNvSpPr>
          <p:nvPr/>
        </p:nvSpPr>
        <p:spPr bwMode="auto">
          <a:xfrm>
            <a:off x="533400" y="4150036"/>
            <a:ext cx="824872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indent="-342900" eaLnBrk="1" hangingPunct="1"/>
            <a:r>
              <a:rPr lang="en-IE" altLang="en-US" sz="1600" b="1" dirty="0">
                <a:solidFill>
                  <a:schemeClr val="accent1">
                    <a:lumMod val="75000"/>
                  </a:schemeClr>
                </a:solidFill>
              </a:rPr>
              <a:t>Parallel port</a:t>
            </a:r>
            <a:r>
              <a:rPr lang="en-IE" altLang="en-US" sz="1600" dirty="0">
                <a:solidFill>
                  <a:schemeClr val="accent1">
                    <a:lumMod val="75000"/>
                  </a:schemeClr>
                </a:solidFill>
              </a:rPr>
              <a:t>  -  a 25-pin port used to connect printers, scanners, external hard disks, zip drives etc. to the computer.  </a:t>
            </a:r>
            <a:r>
              <a:rPr lang="en-IE" altLang="en-US" sz="1600" b="1" dirty="0">
                <a:solidFill>
                  <a:schemeClr val="accent1">
                    <a:lumMod val="75000"/>
                  </a:schemeClr>
                </a:solidFill>
              </a:rPr>
              <a:t>Burgundy </a:t>
            </a:r>
            <a:r>
              <a:rPr lang="en-IE" altLang="en-US" sz="1600" dirty="0">
                <a:solidFill>
                  <a:schemeClr val="accent1">
                    <a:lumMod val="75000"/>
                  </a:schemeClr>
                </a:solidFill>
              </a:rPr>
              <a:t>in colour, they are often called LPT ports  -  LPT1, LPT2 etc.  </a:t>
            </a:r>
          </a:p>
          <a:p>
            <a:pPr eaLnBrk="1" hangingPunct="1"/>
            <a:r>
              <a:rPr lang="en-IE" altLang="en-US" dirty="0"/>
              <a:t> </a:t>
            </a:r>
          </a:p>
        </p:txBody>
      </p:sp>
      <p:grpSp>
        <p:nvGrpSpPr>
          <p:cNvPr id="3" name="Group 5"/>
          <p:cNvGrpSpPr>
            <a:grpSpLocks/>
          </p:cNvGrpSpPr>
          <p:nvPr/>
        </p:nvGrpSpPr>
        <p:grpSpPr bwMode="auto">
          <a:xfrm>
            <a:off x="2525896" y="5486400"/>
            <a:ext cx="4076700" cy="854301"/>
            <a:chOff x="109486795" y="112656000"/>
            <a:chExt cx="3733960" cy="876300"/>
          </a:xfrm>
        </p:grpSpPr>
        <p:pic>
          <p:nvPicPr>
            <p:cNvPr id="40967" name="Picture 6" descr="untitled"/>
            <p:cNvPicPr>
              <a:picLocks noChangeAspect="1" noChangeArrowheads="1"/>
            </p:cNvPicPr>
            <p:nvPr/>
          </p:nvPicPr>
          <p:blipFill>
            <a:blip r:embed="rId5">
              <a:extLst>
                <a:ext uri="{28A0092B-C50C-407E-A947-70E740481C1C}">
                  <a14:useLocalDpi xmlns:a14="http://schemas.microsoft.com/office/drawing/2010/main" val="0"/>
                </a:ext>
              </a:extLst>
            </a:blip>
            <a:srcRect l="4907" t="10570" r="5215" b="32350"/>
            <a:stretch>
              <a:fillRect/>
            </a:stretch>
          </p:blipFill>
          <p:spPr bwMode="auto">
            <a:xfrm>
              <a:off x="109486795" y="112921993"/>
              <a:ext cx="1685925" cy="403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0968" name="Picture 7" descr="productos5_263[1]"/>
            <p:cNvPicPr>
              <a:picLocks noChangeAspect="1" noChangeArrowheads="1"/>
            </p:cNvPicPr>
            <p:nvPr/>
          </p:nvPicPr>
          <p:blipFill>
            <a:blip r:embed="rId6">
              <a:extLst>
                <a:ext uri="{28A0092B-C50C-407E-A947-70E740481C1C}">
                  <a14:useLocalDpi xmlns:a14="http://schemas.microsoft.com/office/drawing/2010/main" val="0"/>
                </a:ext>
              </a:extLst>
            </a:blip>
            <a:srcRect l="14737" t="56796"/>
            <a:stretch>
              <a:fillRect/>
            </a:stretch>
          </p:blipFill>
          <p:spPr bwMode="auto">
            <a:xfrm>
              <a:off x="111577795" y="112656000"/>
              <a:ext cx="164296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Tree>
    <p:extLst>
      <p:ext uri="{BB962C8B-B14F-4D97-AF65-F5344CB8AC3E}">
        <p14:creationId xmlns:p14="http://schemas.microsoft.com/office/powerpoint/2010/main" val="6827588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04800" y="341953"/>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14" name="TextBox 13"/>
          <p:cNvSpPr txBox="1">
            <a:spLocks noChangeArrowheads="1"/>
          </p:cNvSpPr>
          <p:nvPr/>
        </p:nvSpPr>
        <p:spPr bwMode="auto">
          <a:xfrm>
            <a:off x="714375" y="1143000"/>
            <a:ext cx="7643813"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371600" indent="-4572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indent="-457200" algn="just" eaLnBrk="1" hangingPunct="1"/>
            <a:r>
              <a:rPr lang="en-IE" altLang="en-US" sz="1600" b="1" dirty="0">
                <a:solidFill>
                  <a:schemeClr val="accent1">
                    <a:lumMod val="75000"/>
                  </a:schemeClr>
                </a:solidFill>
              </a:rPr>
              <a:t>Video port  -  </a:t>
            </a:r>
            <a:r>
              <a:rPr lang="en-IE" altLang="en-US" sz="1600" dirty="0">
                <a:solidFill>
                  <a:schemeClr val="accent1">
                    <a:lumMod val="75000"/>
                  </a:schemeClr>
                </a:solidFill>
              </a:rPr>
              <a:t>used to connect a monitor to the computer system.  There are two types</a:t>
            </a:r>
            <a:r>
              <a:rPr lang="en-IE" altLang="en-US" sz="1600" dirty="0" smtClean="0">
                <a:solidFill>
                  <a:schemeClr val="accent1">
                    <a:lumMod val="75000"/>
                  </a:schemeClr>
                </a:solidFill>
              </a:rPr>
              <a:t>:</a:t>
            </a:r>
          </a:p>
          <a:p>
            <a:pPr indent="-457200" algn="just" eaLnBrk="1" hangingPunct="1"/>
            <a:endParaRPr lang="en-IE" altLang="en-US" sz="1600" dirty="0">
              <a:solidFill>
                <a:schemeClr val="accent1">
                  <a:lumMod val="75000"/>
                </a:schemeClr>
              </a:solidFill>
            </a:endParaRPr>
          </a:p>
          <a:p>
            <a:pPr algn="just" eaLnBrk="1" hangingPunct="1"/>
            <a:r>
              <a:rPr lang="en-IE" altLang="en-US" sz="1600" b="1" dirty="0" smtClean="0">
                <a:solidFill>
                  <a:schemeClr val="accent1">
                    <a:lumMod val="75000"/>
                  </a:schemeClr>
                </a:solidFill>
              </a:rPr>
              <a:t>VGA </a:t>
            </a:r>
            <a:r>
              <a:rPr lang="en-IE" altLang="en-US" sz="1600" b="1" dirty="0">
                <a:solidFill>
                  <a:schemeClr val="accent1">
                    <a:lumMod val="75000"/>
                  </a:schemeClr>
                </a:solidFill>
              </a:rPr>
              <a:t>port</a:t>
            </a:r>
            <a:r>
              <a:rPr lang="en-IE" altLang="en-US" sz="1600" dirty="0">
                <a:solidFill>
                  <a:schemeClr val="accent1">
                    <a:lumMod val="75000"/>
                  </a:schemeClr>
                </a:solidFill>
              </a:rPr>
              <a:t>  -  This is a 15-pin port and is </a:t>
            </a:r>
            <a:r>
              <a:rPr lang="en-IE" altLang="en-US" sz="1600" b="1" dirty="0">
                <a:solidFill>
                  <a:schemeClr val="accent1">
                    <a:lumMod val="75000"/>
                  </a:schemeClr>
                </a:solidFill>
              </a:rPr>
              <a:t>blue </a:t>
            </a:r>
            <a:r>
              <a:rPr lang="en-IE" altLang="en-US" sz="1600" dirty="0">
                <a:solidFill>
                  <a:schemeClr val="accent1">
                    <a:lumMod val="75000"/>
                  </a:schemeClr>
                </a:solidFill>
              </a:rPr>
              <a:t>in colour.  It is an analogue port and is being replaced by the DVI </a:t>
            </a:r>
            <a:r>
              <a:rPr lang="en-IE" altLang="en-US" sz="1600" dirty="0" smtClean="0">
                <a:solidFill>
                  <a:schemeClr val="accent1">
                    <a:lumMod val="75000"/>
                  </a:schemeClr>
                </a:solidFill>
              </a:rPr>
              <a:t>port.</a:t>
            </a:r>
          </a:p>
          <a:p>
            <a:pPr algn="just" eaLnBrk="1" hangingPunct="1"/>
            <a:endParaRPr lang="en-IE" altLang="en-US" sz="1600" b="1" dirty="0">
              <a:solidFill>
                <a:schemeClr val="accent1">
                  <a:lumMod val="75000"/>
                </a:schemeClr>
              </a:solidFill>
            </a:endParaRPr>
          </a:p>
          <a:p>
            <a:pPr algn="just" eaLnBrk="1" hangingPunct="1"/>
            <a:endParaRPr lang="en-IE" altLang="en-US" sz="1600" b="1" dirty="0" smtClean="0">
              <a:solidFill>
                <a:schemeClr val="accent1">
                  <a:lumMod val="75000"/>
                </a:schemeClr>
              </a:solidFill>
            </a:endParaRPr>
          </a:p>
          <a:p>
            <a:pPr algn="just" eaLnBrk="1" hangingPunct="1"/>
            <a:endParaRPr lang="en-IE" altLang="en-US" sz="1600" b="1" dirty="0">
              <a:solidFill>
                <a:schemeClr val="accent1">
                  <a:lumMod val="75000"/>
                </a:schemeClr>
              </a:solidFill>
            </a:endParaRPr>
          </a:p>
          <a:p>
            <a:pPr algn="just" eaLnBrk="1" hangingPunct="1"/>
            <a:endParaRPr lang="en-IE" altLang="en-US" sz="1600" b="1" dirty="0" smtClean="0">
              <a:solidFill>
                <a:schemeClr val="accent1">
                  <a:lumMod val="75000"/>
                </a:schemeClr>
              </a:solidFill>
            </a:endParaRPr>
          </a:p>
          <a:p>
            <a:pPr algn="just" eaLnBrk="1" hangingPunct="1"/>
            <a:endParaRPr lang="en-IE" altLang="en-US" sz="1600" b="1" dirty="0">
              <a:solidFill>
                <a:schemeClr val="accent1">
                  <a:lumMod val="75000"/>
                </a:schemeClr>
              </a:solidFill>
            </a:endParaRPr>
          </a:p>
          <a:p>
            <a:pPr algn="just" eaLnBrk="1" hangingPunct="1"/>
            <a:endParaRPr lang="en-IE" altLang="en-US" sz="1600" b="1" dirty="0" smtClean="0">
              <a:solidFill>
                <a:schemeClr val="accent1">
                  <a:lumMod val="75000"/>
                </a:schemeClr>
              </a:solidFill>
            </a:endParaRPr>
          </a:p>
          <a:p>
            <a:pPr algn="just" eaLnBrk="1" hangingPunct="1"/>
            <a:endParaRPr lang="en-IE" altLang="en-US" sz="1600" b="1" dirty="0" smtClean="0">
              <a:solidFill>
                <a:schemeClr val="accent1">
                  <a:lumMod val="75000"/>
                </a:schemeClr>
              </a:solidFill>
            </a:endParaRPr>
          </a:p>
          <a:p>
            <a:pPr algn="just" eaLnBrk="1" hangingPunct="1"/>
            <a:endParaRPr lang="en-IE" altLang="en-US" sz="1600" b="1" dirty="0" smtClean="0">
              <a:solidFill>
                <a:schemeClr val="accent1">
                  <a:lumMod val="75000"/>
                </a:schemeClr>
              </a:solidFill>
            </a:endParaRPr>
          </a:p>
          <a:p>
            <a:pPr algn="just" eaLnBrk="1" hangingPunct="1"/>
            <a:r>
              <a:rPr lang="en-IE" altLang="en-US" sz="1600" b="1" dirty="0" smtClean="0">
                <a:solidFill>
                  <a:schemeClr val="accent1">
                    <a:lumMod val="75000"/>
                  </a:schemeClr>
                </a:solidFill>
              </a:rPr>
              <a:t>DVI </a:t>
            </a:r>
            <a:r>
              <a:rPr lang="en-IE" altLang="en-US" sz="1600" b="1" dirty="0">
                <a:solidFill>
                  <a:schemeClr val="accent1">
                    <a:lumMod val="75000"/>
                  </a:schemeClr>
                </a:solidFill>
              </a:rPr>
              <a:t>port</a:t>
            </a:r>
            <a:r>
              <a:rPr lang="en-IE" altLang="en-US" sz="1600" dirty="0">
                <a:solidFill>
                  <a:schemeClr val="accent1">
                    <a:lumMod val="75000"/>
                  </a:schemeClr>
                </a:solidFill>
              </a:rPr>
              <a:t>  -  </a:t>
            </a:r>
            <a:r>
              <a:rPr lang="en-IE" altLang="en-US" sz="1600" b="1" dirty="0">
                <a:solidFill>
                  <a:schemeClr val="accent1">
                    <a:lumMod val="75000"/>
                  </a:schemeClr>
                </a:solidFill>
              </a:rPr>
              <a:t>white </a:t>
            </a:r>
            <a:r>
              <a:rPr lang="en-IE" altLang="en-US" sz="1600" dirty="0">
                <a:solidFill>
                  <a:schemeClr val="accent1">
                    <a:lumMod val="75000"/>
                  </a:schemeClr>
                </a:solidFill>
              </a:rPr>
              <a:t>in colour,  it is a digital port.  This means that no conversion is necessary between the computer and the monitor and that means that images can be produced more quickly on the monitor</a:t>
            </a:r>
          </a:p>
        </p:txBody>
      </p:sp>
      <p:grpSp>
        <p:nvGrpSpPr>
          <p:cNvPr id="2" name="Group 16"/>
          <p:cNvGrpSpPr>
            <a:grpSpLocks/>
          </p:cNvGrpSpPr>
          <p:nvPr/>
        </p:nvGrpSpPr>
        <p:grpSpPr bwMode="auto">
          <a:xfrm>
            <a:off x="2971800" y="5421840"/>
            <a:ext cx="4086225" cy="1212850"/>
            <a:chOff x="3000364" y="5715016"/>
            <a:chExt cx="3519501" cy="831850"/>
          </a:xfrm>
        </p:grpSpPr>
        <p:pic>
          <p:nvPicPr>
            <p:cNvPr id="41992" name="Picture 2" descr="dvi"/>
            <p:cNvPicPr>
              <a:picLocks noChangeAspect="1" noChangeArrowheads="1"/>
            </p:cNvPicPr>
            <p:nvPr/>
          </p:nvPicPr>
          <p:blipFill>
            <a:blip r:embed="rId3">
              <a:extLst>
                <a:ext uri="{28A0092B-C50C-407E-A947-70E740481C1C}">
                  <a14:useLocalDpi xmlns:a14="http://schemas.microsoft.com/office/drawing/2010/main" val="0"/>
                </a:ext>
              </a:extLst>
            </a:blip>
            <a:srcRect l="3009" t="14516" r="5556" b="22043"/>
            <a:stretch>
              <a:fillRect/>
            </a:stretch>
          </p:blipFill>
          <p:spPr bwMode="auto">
            <a:xfrm>
              <a:off x="4929190" y="5857892"/>
              <a:ext cx="15906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1993" name="Picture 3" descr="DVI%20cable[1]"/>
            <p:cNvPicPr>
              <a:picLocks noChangeAspect="1" noChangeArrowheads="1"/>
            </p:cNvPicPr>
            <p:nvPr/>
          </p:nvPicPr>
          <p:blipFill>
            <a:blip r:embed="rId4">
              <a:extLst>
                <a:ext uri="{28A0092B-C50C-407E-A947-70E740481C1C}">
                  <a14:useLocalDpi xmlns:a14="http://schemas.microsoft.com/office/drawing/2010/main" val="0"/>
                </a:ext>
              </a:extLst>
            </a:blip>
            <a:srcRect l="9599" t="48199" r="32001" b="18001"/>
            <a:stretch>
              <a:fillRect/>
            </a:stretch>
          </p:blipFill>
          <p:spPr bwMode="auto">
            <a:xfrm>
              <a:off x="3000364" y="5715016"/>
              <a:ext cx="14382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grpSp>
        <p:nvGrpSpPr>
          <p:cNvPr id="3" name="Group 15"/>
          <p:cNvGrpSpPr>
            <a:grpSpLocks/>
          </p:cNvGrpSpPr>
          <p:nvPr/>
        </p:nvGrpSpPr>
        <p:grpSpPr bwMode="auto">
          <a:xfrm>
            <a:off x="2819400" y="2895600"/>
            <a:ext cx="4108449" cy="1185055"/>
            <a:chOff x="3214678" y="3286124"/>
            <a:chExt cx="3694112" cy="877888"/>
          </a:xfrm>
        </p:grpSpPr>
        <p:pic>
          <p:nvPicPr>
            <p:cNvPr id="41990" name="Picture 4" descr="vga_port"/>
            <p:cNvPicPr>
              <a:picLocks noChangeAspect="1" noChangeArrowheads="1"/>
            </p:cNvPicPr>
            <p:nvPr/>
          </p:nvPicPr>
          <p:blipFill>
            <a:blip r:embed="rId5">
              <a:extLst>
                <a:ext uri="{28A0092B-C50C-407E-A947-70E740481C1C}">
                  <a14:useLocalDpi xmlns:a14="http://schemas.microsoft.com/office/drawing/2010/main" val="0"/>
                </a:ext>
              </a:extLst>
            </a:blip>
            <a:srcRect l="14500" t="39333" r="13000" b="27000"/>
            <a:stretch>
              <a:fillRect/>
            </a:stretch>
          </p:blipFill>
          <p:spPr bwMode="auto">
            <a:xfrm>
              <a:off x="5480040" y="3430587"/>
              <a:ext cx="142875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1991" name="Picture 5" descr="VGA%20CABLE[1]"/>
            <p:cNvPicPr>
              <a:picLocks noChangeAspect="1" noChangeArrowheads="1"/>
            </p:cNvPicPr>
            <p:nvPr/>
          </p:nvPicPr>
          <p:blipFill>
            <a:blip r:embed="rId6">
              <a:extLst>
                <a:ext uri="{28A0092B-C50C-407E-A947-70E740481C1C}">
                  <a14:useLocalDpi xmlns:a14="http://schemas.microsoft.com/office/drawing/2010/main" val="0"/>
                </a:ext>
              </a:extLst>
            </a:blip>
            <a:srcRect l="42334" t="63000" r="8667" b="5833"/>
            <a:stretch>
              <a:fillRect/>
            </a:stretch>
          </p:blipFill>
          <p:spPr bwMode="auto">
            <a:xfrm>
              <a:off x="3214678" y="3286124"/>
              <a:ext cx="1381125"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Tree>
    <p:extLst>
      <p:ext uri="{BB962C8B-B14F-4D97-AF65-F5344CB8AC3E}">
        <p14:creationId xmlns:p14="http://schemas.microsoft.com/office/powerpoint/2010/main" val="4153047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28600" y="304800"/>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13" name="TextBox 12"/>
          <p:cNvSpPr txBox="1">
            <a:spLocks noChangeArrowheads="1"/>
          </p:cNvSpPr>
          <p:nvPr/>
        </p:nvSpPr>
        <p:spPr bwMode="auto">
          <a:xfrm>
            <a:off x="685800" y="1828800"/>
            <a:ext cx="7786688"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114300" algn="just" eaLnBrk="1" hangingPunct="1"/>
            <a:r>
              <a:rPr lang="en-IE" altLang="en-US" sz="1600" b="1" dirty="0">
                <a:solidFill>
                  <a:schemeClr val="accent1">
                    <a:lumMod val="75000"/>
                  </a:schemeClr>
                </a:solidFill>
              </a:rPr>
              <a:t>PS/2 port</a:t>
            </a:r>
            <a:r>
              <a:rPr lang="en-IE" altLang="en-US" sz="1600" dirty="0">
                <a:solidFill>
                  <a:schemeClr val="accent1">
                    <a:lumMod val="75000"/>
                  </a:schemeClr>
                </a:solidFill>
              </a:rPr>
              <a:t>  -  used to connect keyboards and mice to the computer.  The keyboard port is </a:t>
            </a:r>
            <a:r>
              <a:rPr lang="en-IE" altLang="en-US" sz="1600" b="1" dirty="0">
                <a:solidFill>
                  <a:schemeClr val="accent1">
                    <a:lumMod val="75000"/>
                  </a:schemeClr>
                </a:solidFill>
              </a:rPr>
              <a:t>purple </a:t>
            </a:r>
            <a:r>
              <a:rPr lang="en-IE" altLang="en-US" sz="1600" dirty="0">
                <a:solidFill>
                  <a:schemeClr val="accent1">
                    <a:lumMod val="75000"/>
                  </a:schemeClr>
                </a:solidFill>
              </a:rPr>
              <a:t>and the mouse port is </a:t>
            </a:r>
            <a:r>
              <a:rPr lang="en-IE" altLang="en-US" sz="1600" b="1" dirty="0" smtClean="0">
                <a:solidFill>
                  <a:schemeClr val="accent1">
                    <a:lumMod val="75000"/>
                  </a:schemeClr>
                </a:solidFill>
              </a:rPr>
              <a:t>green.</a:t>
            </a:r>
            <a:endParaRPr lang="en-IE" altLang="en-US" sz="1600" b="1" dirty="0">
              <a:solidFill>
                <a:schemeClr val="accent1">
                  <a:lumMod val="75000"/>
                </a:schemeClr>
              </a:solidFill>
            </a:endParaRPr>
          </a:p>
          <a:p>
            <a:pPr lvl="1" algn="just" eaLnBrk="1" hangingPunct="1">
              <a:buFont typeface="Arial" panose="020B0604020202020204" pitchFamily="34" charset="0"/>
              <a:buChar char="•"/>
            </a:pPr>
            <a:endParaRPr lang="en-IE" altLang="en-US" sz="1600" b="1" dirty="0">
              <a:solidFill>
                <a:schemeClr val="accent1">
                  <a:lumMod val="75000"/>
                </a:schemeClr>
              </a:solidFill>
            </a:endParaRPr>
          </a:p>
          <a:p>
            <a:pPr marL="457200" lvl="1" indent="0" algn="just" eaLnBrk="1" hangingPunct="1"/>
            <a:endParaRPr lang="en-IE" altLang="en-US" sz="1600" b="1" dirty="0" smtClean="0">
              <a:solidFill>
                <a:schemeClr val="accent1">
                  <a:lumMod val="75000"/>
                </a:schemeClr>
              </a:solidFill>
            </a:endParaRPr>
          </a:p>
          <a:p>
            <a:pPr marL="457200" lvl="1" indent="0" algn="just" eaLnBrk="1" hangingPunct="1"/>
            <a:endParaRPr lang="en-IE" altLang="en-US" sz="1600" b="1" dirty="0">
              <a:solidFill>
                <a:schemeClr val="accent1">
                  <a:lumMod val="75000"/>
                </a:schemeClr>
              </a:solidFill>
            </a:endParaRPr>
          </a:p>
          <a:p>
            <a:pPr marL="457200" lvl="1" indent="0" algn="just" eaLnBrk="1" hangingPunct="1"/>
            <a:endParaRPr lang="en-IE" altLang="en-US" sz="1600" b="1" dirty="0" smtClean="0">
              <a:solidFill>
                <a:schemeClr val="accent1">
                  <a:lumMod val="75000"/>
                </a:schemeClr>
              </a:solidFill>
            </a:endParaRPr>
          </a:p>
          <a:p>
            <a:pPr marL="457200" lvl="1" indent="0" algn="just" eaLnBrk="1" hangingPunct="1"/>
            <a:endParaRPr lang="en-IE" altLang="en-US" sz="1600" b="1" dirty="0">
              <a:solidFill>
                <a:schemeClr val="accent1">
                  <a:lumMod val="75000"/>
                </a:schemeClr>
              </a:solidFill>
            </a:endParaRPr>
          </a:p>
          <a:p>
            <a:pPr marL="457200" lvl="1" indent="0" algn="just" eaLnBrk="1" hangingPunct="1"/>
            <a:endParaRPr lang="en-IE" altLang="en-US" sz="1600" b="1" dirty="0" smtClean="0">
              <a:solidFill>
                <a:schemeClr val="accent1">
                  <a:lumMod val="75000"/>
                </a:schemeClr>
              </a:solidFill>
            </a:endParaRPr>
          </a:p>
          <a:p>
            <a:pPr marL="457200" lvl="1" indent="0" algn="just" eaLnBrk="1" hangingPunct="1"/>
            <a:endParaRPr lang="en-IE" altLang="en-US" sz="1600" b="1" dirty="0" smtClean="0">
              <a:solidFill>
                <a:schemeClr val="accent1">
                  <a:lumMod val="75000"/>
                </a:schemeClr>
              </a:solidFill>
            </a:endParaRPr>
          </a:p>
          <a:p>
            <a:pPr marL="457200" lvl="1" indent="0" algn="just" eaLnBrk="1" hangingPunct="1"/>
            <a:endParaRPr lang="en-IE" altLang="en-US" sz="1600" b="1" dirty="0">
              <a:solidFill>
                <a:schemeClr val="accent1">
                  <a:lumMod val="75000"/>
                </a:schemeClr>
              </a:solidFill>
            </a:endParaRPr>
          </a:p>
          <a:p>
            <a:pPr marL="0" indent="-114300" algn="just" eaLnBrk="1" hangingPunct="1"/>
            <a:endParaRPr lang="en-IE" altLang="en-US" sz="1600" b="1" dirty="0">
              <a:solidFill>
                <a:schemeClr val="accent1">
                  <a:lumMod val="75000"/>
                </a:schemeClr>
              </a:solidFill>
            </a:endParaRPr>
          </a:p>
          <a:p>
            <a:pPr marL="0" indent="-114300" algn="just" eaLnBrk="1" hangingPunct="1"/>
            <a:r>
              <a:rPr lang="en-IE" altLang="en-US" sz="1600" b="1" dirty="0" smtClean="0">
                <a:solidFill>
                  <a:schemeClr val="accent1">
                    <a:lumMod val="75000"/>
                  </a:schemeClr>
                </a:solidFill>
              </a:rPr>
              <a:t>Modem </a:t>
            </a:r>
            <a:r>
              <a:rPr lang="en-IE" altLang="en-US" sz="1600" b="1" dirty="0">
                <a:solidFill>
                  <a:schemeClr val="accent1">
                    <a:lumMod val="75000"/>
                  </a:schemeClr>
                </a:solidFill>
              </a:rPr>
              <a:t>port</a:t>
            </a:r>
            <a:r>
              <a:rPr lang="en-IE" altLang="en-US" sz="1600" dirty="0">
                <a:solidFill>
                  <a:schemeClr val="accent1">
                    <a:lumMod val="75000"/>
                  </a:schemeClr>
                </a:solidFill>
              </a:rPr>
              <a:t>  -  used to connect a modem to a telephone line.  </a:t>
            </a:r>
            <a:r>
              <a:rPr lang="en-IE" altLang="en-US" sz="1600" b="1" dirty="0">
                <a:solidFill>
                  <a:schemeClr val="accent1">
                    <a:lumMod val="75000"/>
                  </a:schemeClr>
                </a:solidFill>
              </a:rPr>
              <a:t>RJ11</a:t>
            </a:r>
            <a:r>
              <a:rPr lang="en-IE" altLang="en-US" sz="1600" dirty="0">
                <a:solidFill>
                  <a:schemeClr val="accent1">
                    <a:lumMod val="75000"/>
                  </a:schemeClr>
                </a:solidFill>
              </a:rPr>
              <a:t> is the technical term for the port.  </a:t>
            </a:r>
            <a:endParaRPr lang="en-IE" altLang="en-US" sz="1600" b="1" dirty="0">
              <a:solidFill>
                <a:schemeClr val="accent1">
                  <a:lumMod val="75000"/>
                </a:schemeClr>
              </a:solidFill>
            </a:endParaRPr>
          </a:p>
        </p:txBody>
      </p:sp>
      <p:grpSp>
        <p:nvGrpSpPr>
          <p:cNvPr id="2" name="Group 6"/>
          <p:cNvGrpSpPr>
            <a:grpSpLocks/>
          </p:cNvGrpSpPr>
          <p:nvPr/>
        </p:nvGrpSpPr>
        <p:grpSpPr bwMode="auto">
          <a:xfrm>
            <a:off x="2545556" y="2971800"/>
            <a:ext cx="4067175" cy="957262"/>
            <a:chOff x="2714612" y="2643182"/>
            <a:chExt cx="3706827" cy="763587"/>
          </a:xfrm>
        </p:grpSpPr>
        <p:pic>
          <p:nvPicPr>
            <p:cNvPr id="43016" name="Picture 2" descr="med_cg104s3068[1]"/>
            <p:cNvPicPr>
              <a:picLocks noChangeAspect="1" noChangeArrowheads="1"/>
            </p:cNvPicPr>
            <p:nvPr/>
          </p:nvPicPr>
          <p:blipFill>
            <a:blip r:embed="rId3">
              <a:extLst>
                <a:ext uri="{28A0092B-C50C-407E-A947-70E740481C1C}">
                  <a14:useLocalDpi xmlns:a14="http://schemas.microsoft.com/office/drawing/2010/main" val="0"/>
                </a:ext>
              </a:extLst>
            </a:blip>
            <a:srcRect l="25000" t="34000" r="26027" b="35001"/>
            <a:stretch>
              <a:fillRect/>
            </a:stretch>
          </p:blipFill>
          <p:spPr bwMode="auto">
            <a:xfrm>
              <a:off x="2714612" y="2643182"/>
              <a:ext cx="1579562"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3017" name="Picture 3" descr="back[1]"/>
            <p:cNvPicPr>
              <a:picLocks noChangeAspect="1" noChangeArrowheads="1"/>
            </p:cNvPicPr>
            <p:nvPr/>
          </p:nvPicPr>
          <p:blipFill>
            <a:blip r:embed="rId4">
              <a:extLst>
                <a:ext uri="{28A0092B-C50C-407E-A947-70E740481C1C}">
                  <a14:useLocalDpi xmlns:a14="http://schemas.microsoft.com/office/drawing/2010/main" val="0"/>
                </a:ext>
              </a:extLst>
            </a:blip>
            <a:srcRect l="429" t="24046" r="90329" b="3435"/>
            <a:stretch>
              <a:fillRect/>
            </a:stretch>
          </p:blipFill>
          <p:spPr bwMode="auto">
            <a:xfrm rot="-5400000">
              <a:off x="5222083" y="2207413"/>
              <a:ext cx="763587"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grpSp>
        <p:nvGrpSpPr>
          <p:cNvPr id="3" name="Group 11"/>
          <p:cNvGrpSpPr>
            <a:grpSpLocks/>
          </p:cNvGrpSpPr>
          <p:nvPr/>
        </p:nvGrpSpPr>
        <p:grpSpPr bwMode="auto">
          <a:xfrm>
            <a:off x="2743200" y="5257800"/>
            <a:ext cx="3869531" cy="1295400"/>
            <a:chOff x="3143240" y="6256357"/>
            <a:chExt cx="2387600" cy="814388"/>
          </a:xfrm>
        </p:grpSpPr>
        <p:pic>
          <p:nvPicPr>
            <p:cNvPr id="43014" name="Picture 2" descr="connect01-4"/>
            <p:cNvPicPr>
              <a:picLocks noChangeAspect="1" noChangeArrowheads="1"/>
            </p:cNvPicPr>
            <p:nvPr/>
          </p:nvPicPr>
          <p:blipFill>
            <a:blip r:embed="rId5">
              <a:extLst>
                <a:ext uri="{28A0092B-C50C-407E-A947-70E740481C1C}">
                  <a14:useLocalDpi xmlns:a14="http://schemas.microsoft.com/office/drawing/2010/main" val="0"/>
                </a:ext>
              </a:extLst>
            </a:blip>
            <a:srcRect l="7408" t="16327" r="59259" b="13878"/>
            <a:stretch>
              <a:fillRect/>
            </a:stretch>
          </p:blipFill>
          <p:spPr bwMode="auto">
            <a:xfrm>
              <a:off x="4673590" y="6256357"/>
              <a:ext cx="857250"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3015" name="Picture 3" descr="rj11[1]"/>
            <p:cNvPicPr>
              <a:picLocks noChangeAspect="1" noChangeArrowheads="1"/>
            </p:cNvPicPr>
            <p:nvPr/>
          </p:nvPicPr>
          <p:blipFill>
            <a:blip r:embed="rId6">
              <a:extLst>
                <a:ext uri="{28A0092B-C50C-407E-A947-70E740481C1C}">
                  <a14:useLocalDpi xmlns:a14="http://schemas.microsoft.com/office/drawing/2010/main" val="0"/>
                </a:ext>
              </a:extLst>
            </a:blip>
            <a:srcRect l="42177" t="37122" r="18735" b="4665"/>
            <a:stretch>
              <a:fillRect/>
            </a:stretch>
          </p:blipFill>
          <p:spPr bwMode="auto">
            <a:xfrm>
              <a:off x="3143240" y="6286520"/>
              <a:ext cx="717550"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Tree>
    <p:extLst>
      <p:ext uri="{BB962C8B-B14F-4D97-AF65-F5344CB8AC3E}">
        <p14:creationId xmlns:p14="http://schemas.microsoft.com/office/powerpoint/2010/main" val="32380219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608409" y="1676400"/>
            <a:ext cx="7831932" cy="1323439"/>
          </a:xfrm>
          <a:prstGeom prst="rect">
            <a:avLst/>
          </a:prstGeom>
          <a:noFill/>
          <a:ln w="9525">
            <a:noFill/>
            <a:miter lim="800000"/>
            <a:headEnd/>
            <a:tailEnd/>
          </a:ln>
        </p:spPr>
        <p:txBody>
          <a:bodyPr wrap="square">
            <a:spAutoFit/>
          </a:bodyPr>
          <a:lstStyle/>
          <a:p>
            <a:pPr algn="just">
              <a:defRPr/>
            </a:pPr>
            <a:r>
              <a:rPr lang="en-IE" sz="1600" b="1" dirty="0">
                <a:solidFill>
                  <a:schemeClr val="accent1">
                    <a:lumMod val="75000"/>
                  </a:schemeClr>
                </a:solidFill>
                <a:latin typeface="Arial" charset="0"/>
              </a:rPr>
              <a:t>USB port</a:t>
            </a:r>
            <a:r>
              <a:rPr lang="en-IE" sz="1600" dirty="0">
                <a:solidFill>
                  <a:schemeClr val="accent1">
                    <a:lumMod val="75000"/>
                  </a:schemeClr>
                </a:solidFill>
                <a:latin typeface="Arial" charset="0"/>
              </a:rPr>
              <a:t> </a:t>
            </a:r>
            <a:r>
              <a:rPr lang="en-IE" sz="1600" dirty="0" smtClean="0">
                <a:solidFill>
                  <a:schemeClr val="accent1">
                    <a:lumMod val="75000"/>
                  </a:schemeClr>
                </a:solidFill>
                <a:latin typeface="Arial" charset="0"/>
              </a:rPr>
              <a:t>- </a:t>
            </a:r>
            <a:r>
              <a:rPr lang="en-IE" sz="1600" dirty="0">
                <a:solidFill>
                  <a:schemeClr val="accent1">
                    <a:lumMod val="75000"/>
                  </a:schemeClr>
                </a:solidFill>
                <a:latin typeface="Arial" charset="0"/>
              </a:rPr>
              <a:t>intended to replace Serial, Parallel and PS/2 ports with a single standard.  127 devices can be connected to a single USB port.   </a:t>
            </a:r>
            <a:endParaRPr lang="en-IE" sz="1600" dirty="0" smtClean="0">
              <a:solidFill>
                <a:schemeClr val="accent1">
                  <a:lumMod val="75000"/>
                </a:schemeClr>
              </a:solidFill>
              <a:latin typeface="Arial" charset="0"/>
            </a:endParaRPr>
          </a:p>
          <a:p>
            <a:pPr algn="just">
              <a:defRPr/>
            </a:pPr>
            <a:endParaRPr lang="en-IE" sz="1600" dirty="0" smtClean="0">
              <a:solidFill>
                <a:schemeClr val="accent1">
                  <a:lumMod val="75000"/>
                </a:schemeClr>
              </a:solidFill>
              <a:latin typeface="Arial" charset="0"/>
            </a:endParaRPr>
          </a:p>
          <a:p>
            <a:pPr algn="just">
              <a:defRPr/>
            </a:pPr>
            <a:r>
              <a:rPr lang="en-IE" sz="1600" b="1" dirty="0" smtClean="0">
                <a:solidFill>
                  <a:schemeClr val="accent1">
                    <a:lumMod val="75000"/>
                  </a:schemeClr>
                </a:solidFill>
                <a:latin typeface="Arial" charset="0"/>
              </a:rPr>
              <a:t>Hot </a:t>
            </a:r>
            <a:r>
              <a:rPr lang="en-IE" sz="1600" b="1" dirty="0">
                <a:solidFill>
                  <a:schemeClr val="accent1">
                    <a:lumMod val="75000"/>
                  </a:schemeClr>
                </a:solidFill>
                <a:latin typeface="Arial" charset="0"/>
              </a:rPr>
              <a:t>swappable </a:t>
            </a:r>
            <a:r>
              <a:rPr lang="en-IE" sz="1600" b="1" dirty="0" smtClean="0">
                <a:solidFill>
                  <a:schemeClr val="accent1">
                    <a:lumMod val="75000"/>
                  </a:schemeClr>
                </a:solidFill>
                <a:latin typeface="Arial" charset="0"/>
              </a:rPr>
              <a:t>- </a:t>
            </a:r>
            <a:r>
              <a:rPr lang="en-IE" sz="1600" dirty="0" smtClean="0">
                <a:solidFill>
                  <a:schemeClr val="accent1">
                    <a:lumMod val="75000"/>
                  </a:schemeClr>
                </a:solidFill>
                <a:latin typeface="Arial" charset="0"/>
              </a:rPr>
              <a:t>devices </a:t>
            </a:r>
            <a:r>
              <a:rPr lang="en-IE" sz="1600" dirty="0">
                <a:solidFill>
                  <a:schemeClr val="accent1">
                    <a:lumMod val="75000"/>
                  </a:schemeClr>
                </a:solidFill>
                <a:latin typeface="Arial" charset="0"/>
              </a:rPr>
              <a:t>can be connected and disconnected while the computer is </a:t>
            </a:r>
            <a:r>
              <a:rPr lang="en-IE" sz="1600" dirty="0" smtClean="0">
                <a:solidFill>
                  <a:schemeClr val="accent1">
                    <a:lumMod val="75000"/>
                  </a:schemeClr>
                </a:solidFill>
                <a:latin typeface="Arial" charset="0"/>
              </a:rPr>
              <a:t>on</a:t>
            </a:r>
            <a:r>
              <a:rPr lang="en-IE" sz="1600" dirty="0">
                <a:solidFill>
                  <a:schemeClr val="accent1">
                    <a:lumMod val="75000"/>
                  </a:schemeClr>
                </a:solidFill>
                <a:latin typeface="Arial" charset="0"/>
              </a:rPr>
              <a:t>.</a:t>
            </a:r>
          </a:p>
        </p:txBody>
      </p:sp>
      <p:grpSp>
        <p:nvGrpSpPr>
          <p:cNvPr id="2" name="Group 11"/>
          <p:cNvGrpSpPr>
            <a:grpSpLocks/>
          </p:cNvGrpSpPr>
          <p:nvPr/>
        </p:nvGrpSpPr>
        <p:grpSpPr bwMode="auto">
          <a:xfrm>
            <a:off x="1828800" y="3733800"/>
            <a:ext cx="5253038" cy="1420813"/>
            <a:chOff x="2643174" y="5915043"/>
            <a:chExt cx="3976687" cy="730250"/>
          </a:xfrm>
        </p:grpSpPr>
        <p:pic>
          <p:nvPicPr>
            <p:cNvPr id="44037" name="Picture 4" descr="usb_200x175"/>
            <p:cNvPicPr>
              <a:picLocks noChangeAspect="1" noChangeArrowheads="1"/>
            </p:cNvPicPr>
            <p:nvPr/>
          </p:nvPicPr>
          <p:blipFill>
            <a:blip r:embed="rId3">
              <a:extLst>
                <a:ext uri="{28A0092B-C50C-407E-A947-70E740481C1C}">
                  <a14:useLocalDpi xmlns:a14="http://schemas.microsoft.com/office/drawing/2010/main" val="0"/>
                </a:ext>
              </a:extLst>
            </a:blip>
            <a:srcRect l="5501" r="57500"/>
            <a:stretch>
              <a:fillRect/>
            </a:stretch>
          </p:blipFill>
          <p:spPr bwMode="auto">
            <a:xfrm rot="-5400000">
              <a:off x="5433999" y="5434030"/>
              <a:ext cx="70485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4038" name="Picture 5" descr="usb_cable_type_ab_18m_abc_1665"/>
            <p:cNvPicPr>
              <a:picLocks noChangeAspect="1" noChangeArrowheads="1"/>
            </p:cNvPicPr>
            <p:nvPr/>
          </p:nvPicPr>
          <p:blipFill>
            <a:blip r:embed="rId4">
              <a:extLst>
                <a:ext uri="{28A0092B-C50C-407E-A947-70E740481C1C}">
                  <a14:useLocalDpi xmlns:a14="http://schemas.microsoft.com/office/drawing/2010/main" val="0"/>
                </a:ext>
              </a:extLst>
            </a:blip>
            <a:srcRect t="32333" b="31000"/>
            <a:stretch>
              <a:fillRect/>
            </a:stretch>
          </p:blipFill>
          <p:spPr bwMode="auto">
            <a:xfrm>
              <a:off x="2643174" y="5929330"/>
              <a:ext cx="195262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
        <p:nvSpPr>
          <p:cNvPr id="7" name="Rectangle 2"/>
          <p:cNvSpPr txBox="1">
            <a:spLocks noChangeArrowheads="1"/>
          </p:cNvSpPr>
          <p:nvPr/>
        </p:nvSpPr>
        <p:spPr>
          <a:xfrm>
            <a:off x="228600" y="319881"/>
            <a:ext cx="6992938" cy="504825"/>
          </a:xfr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GB" altLang="en-US" sz="1800" kern="0" dirty="0" smtClean="0">
                <a:solidFill>
                  <a:schemeClr val="accent1">
                    <a:lumMod val="75000"/>
                  </a:schemeClr>
                </a:solidFill>
                <a:latin typeface="Comic Sans MS" panose="030F0702030302020204" pitchFamily="66" charset="0"/>
              </a:rPr>
              <a:t>System Devices</a:t>
            </a:r>
            <a:endParaRPr lang="en-US" altLang="en-US" sz="1800" kern="0"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11934936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a:spLocks noChangeArrowheads="1"/>
          </p:cNvSpPr>
          <p:nvPr/>
        </p:nvSpPr>
        <p:spPr bwMode="auto">
          <a:xfrm>
            <a:off x="722312" y="1342292"/>
            <a:ext cx="757237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371600" indent="-4572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indent="-457200" algn="just" eaLnBrk="1" hangingPunct="1"/>
            <a:r>
              <a:rPr lang="en-IE" altLang="en-US" sz="1600" b="1" dirty="0">
                <a:solidFill>
                  <a:schemeClr val="accent1">
                    <a:lumMod val="75000"/>
                  </a:schemeClr>
                </a:solidFill>
              </a:rPr>
              <a:t>Ethernet port</a:t>
            </a:r>
            <a:r>
              <a:rPr lang="en-IE" altLang="en-US" sz="1600" dirty="0">
                <a:solidFill>
                  <a:schemeClr val="accent1">
                    <a:lumMod val="75000"/>
                  </a:schemeClr>
                </a:solidFill>
              </a:rPr>
              <a:t>  -  used to connect to a network. Known as </a:t>
            </a:r>
            <a:r>
              <a:rPr lang="en-IE" altLang="en-US" sz="1600" b="1" dirty="0">
                <a:solidFill>
                  <a:schemeClr val="accent1">
                    <a:lumMod val="75000"/>
                  </a:schemeClr>
                </a:solidFill>
              </a:rPr>
              <a:t>RJ45</a:t>
            </a:r>
            <a:r>
              <a:rPr lang="en-IE" altLang="en-US" sz="1600" dirty="0">
                <a:solidFill>
                  <a:schemeClr val="accent1">
                    <a:lumMod val="75000"/>
                  </a:schemeClr>
                </a:solidFill>
              </a:rPr>
              <a:t>, it is larger than a modem port.</a:t>
            </a:r>
          </a:p>
          <a:p>
            <a:pPr lvl="1" algn="just" eaLnBrk="1" hangingPunct="1">
              <a:buFont typeface="Arial" panose="020B0604020202020204" pitchFamily="34" charset="0"/>
              <a:buChar char="•"/>
            </a:pPr>
            <a:endParaRPr lang="en-IE" altLang="en-US" sz="1600" dirty="0">
              <a:solidFill>
                <a:schemeClr val="accent1">
                  <a:lumMod val="75000"/>
                </a:schemeClr>
              </a:solidFill>
            </a:endParaRPr>
          </a:p>
          <a:p>
            <a:pPr lvl="1" algn="just" eaLnBrk="1" hangingPunct="1">
              <a:buFont typeface="Arial" panose="020B0604020202020204" pitchFamily="34" charset="0"/>
              <a:buChar char="•"/>
            </a:pPr>
            <a:endParaRPr lang="en-IE" altLang="en-US" sz="1600" dirty="0">
              <a:solidFill>
                <a:schemeClr val="accent1">
                  <a:lumMod val="75000"/>
                </a:schemeClr>
              </a:solidFill>
            </a:endParaRPr>
          </a:p>
          <a:p>
            <a:pPr lvl="1" algn="just" eaLnBrk="1" hangingPunct="1">
              <a:buFont typeface="Arial" panose="020B0604020202020204" pitchFamily="34" charset="0"/>
              <a:buChar char="•"/>
            </a:pPr>
            <a:endParaRPr lang="en-IE" altLang="en-US" sz="1600" dirty="0">
              <a:solidFill>
                <a:schemeClr val="accent1">
                  <a:lumMod val="75000"/>
                </a:schemeClr>
              </a:solidFill>
            </a:endParaRPr>
          </a:p>
          <a:p>
            <a:pPr lvl="1" algn="just" eaLnBrk="1" hangingPunct="1"/>
            <a:endParaRPr lang="en-IE" altLang="en-US" sz="1600" dirty="0">
              <a:solidFill>
                <a:schemeClr val="accent1">
                  <a:lumMod val="75000"/>
                </a:schemeClr>
              </a:solidFill>
            </a:endParaRPr>
          </a:p>
          <a:p>
            <a:pPr lvl="1" algn="just" eaLnBrk="1" hangingPunct="1">
              <a:buFont typeface="Arial" panose="020B0604020202020204" pitchFamily="34" charset="0"/>
              <a:buChar char="•"/>
            </a:pPr>
            <a:endParaRPr lang="en-IE" altLang="en-US" sz="1600" b="1" dirty="0" smtClean="0">
              <a:solidFill>
                <a:schemeClr val="accent1">
                  <a:lumMod val="75000"/>
                </a:schemeClr>
              </a:solidFill>
            </a:endParaRPr>
          </a:p>
          <a:p>
            <a:pPr lvl="1" algn="just" eaLnBrk="1" hangingPunct="1">
              <a:buFont typeface="Arial" panose="020B0604020202020204" pitchFamily="34" charset="0"/>
              <a:buChar char="•"/>
            </a:pPr>
            <a:endParaRPr lang="en-IE" altLang="en-US" sz="1600" b="1" dirty="0">
              <a:solidFill>
                <a:schemeClr val="accent1">
                  <a:lumMod val="75000"/>
                </a:schemeClr>
              </a:solidFill>
            </a:endParaRPr>
          </a:p>
          <a:p>
            <a:pPr indent="-457200" algn="just" eaLnBrk="1" hangingPunct="1"/>
            <a:endParaRPr lang="en-IE" altLang="en-US" sz="1600" b="1" dirty="0">
              <a:solidFill>
                <a:schemeClr val="accent1">
                  <a:lumMod val="75000"/>
                </a:schemeClr>
              </a:solidFill>
            </a:endParaRPr>
          </a:p>
          <a:p>
            <a:pPr indent="-457200" algn="just" eaLnBrk="1" hangingPunct="1"/>
            <a:r>
              <a:rPr lang="en-IE" altLang="en-US" sz="1600" b="1" dirty="0" smtClean="0">
                <a:solidFill>
                  <a:schemeClr val="accent1">
                    <a:lumMod val="75000"/>
                  </a:schemeClr>
                </a:solidFill>
              </a:rPr>
              <a:t>Audio </a:t>
            </a:r>
            <a:r>
              <a:rPr lang="en-IE" altLang="en-US" sz="1600" b="1" dirty="0">
                <a:solidFill>
                  <a:schemeClr val="accent1">
                    <a:lumMod val="75000"/>
                  </a:schemeClr>
                </a:solidFill>
              </a:rPr>
              <a:t>ports</a:t>
            </a:r>
            <a:r>
              <a:rPr lang="en-IE" altLang="en-US" sz="1600" dirty="0">
                <a:solidFill>
                  <a:schemeClr val="accent1">
                    <a:lumMod val="75000"/>
                  </a:schemeClr>
                </a:solidFill>
              </a:rPr>
              <a:t>  -  used to input and output audio from the computer. </a:t>
            </a:r>
            <a:r>
              <a:rPr lang="en-IE" altLang="en-US" sz="1600" dirty="0" smtClean="0">
                <a:solidFill>
                  <a:schemeClr val="accent1">
                    <a:lumMod val="75000"/>
                  </a:schemeClr>
                </a:solidFill>
              </a:rPr>
              <a:t>Three </a:t>
            </a:r>
            <a:r>
              <a:rPr lang="en-IE" altLang="en-US" sz="1600" dirty="0">
                <a:solidFill>
                  <a:schemeClr val="accent1">
                    <a:lumMod val="75000"/>
                  </a:schemeClr>
                </a:solidFill>
              </a:rPr>
              <a:t>mini jack ports but there may be more:</a:t>
            </a:r>
          </a:p>
          <a:p>
            <a:pPr algn="just" eaLnBrk="1" hangingPunct="1"/>
            <a:r>
              <a:rPr lang="en-IE" altLang="en-US" sz="1600" dirty="0">
                <a:solidFill>
                  <a:schemeClr val="accent1">
                    <a:lumMod val="75000"/>
                  </a:schemeClr>
                </a:solidFill>
              </a:rPr>
              <a:t> </a:t>
            </a: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Light blue</a:t>
            </a:r>
            <a:r>
              <a:rPr lang="en-IE" altLang="en-US" sz="1600" dirty="0">
                <a:solidFill>
                  <a:schemeClr val="accent1">
                    <a:lumMod val="75000"/>
                  </a:schemeClr>
                </a:solidFill>
              </a:rPr>
              <a:t>  -  Line in  -  connect external devices</a:t>
            </a: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Lime</a:t>
            </a:r>
            <a:r>
              <a:rPr lang="en-IE" altLang="en-US" sz="1600" dirty="0">
                <a:solidFill>
                  <a:schemeClr val="accent1">
                    <a:lumMod val="75000"/>
                  </a:schemeClr>
                </a:solidFill>
              </a:rPr>
              <a:t>  -  Connect the speakers to this port.</a:t>
            </a: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Pink</a:t>
            </a:r>
            <a:r>
              <a:rPr lang="en-IE" altLang="en-US" sz="1600" dirty="0">
                <a:solidFill>
                  <a:schemeClr val="accent1">
                    <a:lumMod val="75000"/>
                  </a:schemeClr>
                </a:solidFill>
              </a:rPr>
              <a:t>  -  Connect a microphone to this port.</a:t>
            </a:r>
          </a:p>
        </p:txBody>
      </p:sp>
      <p:grpSp>
        <p:nvGrpSpPr>
          <p:cNvPr id="2" name="Group 7"/>
          <p:cNvGrpSpPr>
            <a:grpSpLocks/>
          </p:cNvGrpSpPr>
          <p:nvPr/>
        </p:nvGrpSpPr>
        <p:grpSpPr bwMode="auto">
          <a:xfrm>
            <a:off x="2814638" y="1981200"/>
            <a:ext cx="3090862" cy="1133475"/>
            <a:chOff x="6497638" y="5956300"/>
            <a:chExt cx="2646362" cy="909638"/>
          </a:xfrm>
        </p:grpSpPr>
        <p:pic>
          <p:nvPicPr>
            <p:cNvPr id="46088" name="Picture 2" descr="connect01-4"/>
            <p:cNvPicPr>
              <a:picLocks noChangeAspect="1" noChangeArrowheads="1"/>
            </p:cNvPicPr>
            <p:nvPr/>
          </p:nvPicPr>
          <p:blipFill>
            <a:blip r:embed="rId3">
              <a:extLst>
                <a:ext uri="{28A0092B-C50C-407E-A947-70E740481C1C}">
                  <a14:useLocalDpi xmlns:a14="http://schemas.microsoft.com/office/drawing/2010/main" val="0"/>
                </a:ext>
              </a:extLst>
            </a:blip>
            <a:srcRect l="50371" t="14694" r="10741" b="12245"/>
            <a:stretch>
              <a:fillRect/>
            </a:stretch>
          </p:blipFill>
          <p:spPr bwMode="auto">
            <a:xfrm>
              <a:off x="8077200" y="5956300"/>
              <a:ext cx="10668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6089" name="Picture 3" descr="rj45xover[1]"/>
            <p:cNvPicPr>
              <a:picLocks noChangeAspect="1" noChangeArrowheads="1"/>
            </p:cNvPicPr>
            <p:nvPr/>
          </p:nvPicPr>
          <p:blipFill>
            <a:blip r:embed="rId4">
              <a:extLst>
                <a:ext uri="{28A0092B-C50C-407E-A947-70E740481C1C}">
                  <a14:useLocalDpi xmlns:a14="http://schemas.microsoft.com/office/drawing/2010/main" val="0"/>
                </a:ext>
              </a:extLst>
            </a:blip>
            <a:srcRect l="1500" t="24667" r="21249" b="4666"/>
            <a:stretch>
              <a:fillRect/>
            </a:stretch>
          </p:blipFill>
          <p:spPr bwMode="auto">
            <a:xfrm>
              <a:off x="6497638" y="5964238"/>
              <a:ext cx="131445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grpSp>
        <p:nvGrpSpPr>
          <p:cNvPr id="3" name="Group 10"/>
          <p:cNvGrpSpPr>
            <a:grpSpLocks/>
          </p:cNvGrpSpPr>
          <p:nvPr/>
        </p:nvGrpSpPr>
        <p:grpSpPr bwMode="auto">
          <a:xfrm>
            <a:off x="2857500" y="5791200"/>
            <a:ext cx="3162300" cy="821176"/>
            <a:chOff x="6221413" y="6237288"/>
            <a:chExt cx="2922587" cy="628650"/>
          </a:xfrm>
        </p:grpSpPr>
        <p:pic>
          <p:nvPicPr>
            <p:cNvPr id="46086" name="Picture 4" descr="back[1]"/>
            <p:cNvPicPr>
              <a:picLocks noChangeAspect="1" noChangeArrowheads="1"/>
            </p:cNvPicPr>
            <p:nvPr/>
          </p:nvPicPr>
          <p:blipFill>
            <a:blip r:embed="rId5">
              <a:extLst>
                <a:ext uri="{28A0092B-C50C-407E-A947-70E740481C1C}">
                  <a14:useLocalDpi xmlns:a14="http://schemas.microsoft.com/office/drawing/2010/main" val="0"/>
                </a:ext>
              </a:extLst>
            </a:blip>
            <a:srcRect l="90533" r="1736" b="11450"/>
            <a:stretch>
              <a:fillRect/>
            </a:stretch>
          </p:blipFill>
          <p:spPr bwMode="auto">
            <a:xfrm rot="-5400000">
              <a:off x="7928769" y="5636419"/>
              <a:ext cx="588962"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46087" name="Picture 5" descr="cmp-mic8[1]"/>
            <p:cNvPicPr>
              <a:picLocks noChangeAspect="1" noChangeArrowheads="1"/>
            </p:cNvPicPr>
            <p:nvPr/>
          </p:nvPicPr>
          <p:blipFill>
            <a:blip r:embed="rId6">
              <a:extLst>
                <a:ext uri="{28A0092B-C50C-407E-A947-70E740481C1C}">
                  <a14:useLocalDpi xmlns:a14="http://schemas.microsoft.com/office/drawing/2010/main" val="0"/>
                </a:ext>
              </a:extLst>
            </a:blip>
            <a:srcRect l="47704" t="50122" r="20937"/>
            <a:stretch>
              <a:fillRect/>
            </a:stretch>
          </p:blipFill>
          <p:spPr bwMode="auto">
            <a:xfrm>
              <a:off x="6221413" y="6237288"/>
              <a:ext cx="5461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sp>
        <p:nvSpPr>
          <p:cNvPr id="11" name="Rectangle 2"/>
          <p:cNvSpPr>
            <a:spLocks noGrp="1" noChangeArrowheads="1"/>
          </p:cNvSpPr>
          <p:nvPr>
            <p:ph type="title"/>
          </p:nvPr>
        </p:nvSpPr>
        <p:spPr>
          <a:xfrm>
            <a:off x="228600" y="256919"/>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2595944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743200" y="1066800"/>
            <a:ext cx="4352925" cy="2902399"/>
            <a:chOff x="108163800" y="106628158"/>
            <a:chExt cx="4228329" cy="2992967"/>
          </a:xfrm>
        </p:grpSpPr>
        <p:pic>
          <p:nvPicPr>
            <p:cNvPr id="3104" name="Picture 3" descr="large"/>
            <p:cNvPicPr>
              <a:picLocks noChangeAspect="1" noChangeArrowheads="1"/>
            </p:cNvPicPr>
            <p:nvPr/>
          </p:nvPicPr>
          <p:blipFill>
            <a:blip r:embed="rId3">
              <a:extLst>
                <a:ext uri="{28A0092B-C50C-407E-A947-70E740481C1C}">
                  <a14:useLocalDpi xmlns:a14="http://schemas.microsoft.com/office/drawing/2010/main" val="0"/>
                </a:ext>
              </a:extLst>
            </a:blip>
            <a:srcRect t="1382" b="1843"/>
            <a:stretch>
              <a:fillRect/>
            </a:stretch>
          </p:blipFill>
          <p:spPr bwMode="auto">
            <a:xfrm>
              <a:off x="108163800" y="106628158"/>
              <a:ext cx="3848100" cy="2992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3105" name="Line 4"/>
            <p:cNvSpPr>
              <a:spLocks noChangeShapeType="1"/>
            </p:cNvSpPr>
            <p:nvPr/>
          </p:nvSpPr>
          <p:spPr bwMode="auto">
            <a:xfrm>
              <a:off x="109179458" y="106994511"/>
              <a:ext cx="586592" cy="470722"/>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nvGrpSpPr>
            <p:cNvPr id="3106" name="Group 5"/>
            <p:cNvGrpSpPr>
              <a:grpSpLocks/>
            </p:cNvGrpSpPr>
            <p:nvPr/>
          </p:nvGrpSpPr>
          <p:grpSpPr bwMode="auto">
            <a:xfrm>
              <a:off x="108931575" y="106769993"/>
              <a:ext cx="291904" cy="269298"/>
              <a:chOff x="112678960" y="112047426"/>
              <a:chExt cx="360000" cy="360000"/>
            </a:xfrm>
          </p:grpSpPr>
          <p:sp>
            <p:nvSpPr>
              <p:cNvPr id="3124" name="Oval 6"/>
              <p:cNvSpPr>
                <a:spLocks noChangeArrowheads="1"/>
              </p:cNvSpPr>
              <p:nvPr/>
            </p:nvSpPr>
            <p:spPr bwMode="auto">
              <a:xfrm>
                <a:off x="112678960" y="112047426"/>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3125" name="Text Box 7"/>
              <p:cNvSpPr txBox="1">
                <a:spLocks noChangeArrowheads="1"/>
              </p:cNvSpPr>
              <p:nvPr/>
            </p:nvSpPr>
            <p:spPr bwMode="auto">
              <a:xfrm>
                <a:off x="112780610" y="112123676"/>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3</a:t>
                </a:r>
                <a:endParaRPr lang="en-US" altLang="en-US"/>
              </a:p>
            </p:txBody>
          </p:sp>
        </p:grpSp>
        <p:sp>
          <p:nvSpPr>
            <p:cNvPr id="3107" name="Line 8"/>
            <p:cNvSpPr>
              <a:spLocks noChangeShapeType="1"/>
            </p:cNvSpPr>
            <p:nvPr/>
          </p:nvSpPr>
          <p:spPr bwMode="auto">
            <a:xfrm flipH="1">
              <a:off x="110902700" y="107464411"/>
              <a:ext cx="1216808" cy="477072"/>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nvGrpSpPr>
            <p:cNvPr id="3108" name="Group 9"/>
            <p:cNvGrpSpPr>
              <a:grpSpLocks/>
            </p:cNvGrpSpPr>
            <p:nvPr/>
          </p:nvGrpSpPr>
          <p:grpSpPr bwMode="auto">
            <a:xfrm>
              <a:off x="112100225" y="107284343"/>
              <a:ext cx="291904" cy="269298"/>
              <a:chOff x="112819924" y="112200223"/>
              <a:chExt cx="360000" cy="360000"/>
            </a:xfrm>
          </p:grpSpPr>
          <p:sp>
            <p:nvSpPr>
              <p:cNvPr id="3122" name="Oval 10"/>
              <p:cNvSpPr>
                <a:spLocks noChangeArrowheads="1"/>
              </p:cNvSpPr>
              <p:nvPr/>
            </p:nvSpPr>
            <p:spPr bwMode="auto">
              <a:xfrm>
                <a:off x="112819924" y="112200223"/>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3123" name="Text Box 11"/>
              <p:cNvSpPr txBox="1">
                <a:spLocks noChangeArrowheads="1"/>
              </p:cNvSpPr>
              <p:nvPr/>
            </p:nvSpPr>
            <p:spPr bwMode="auto">
              <a:xfrm>
                <a:off x="112921574" y="112276473"/>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1</a:t>
                </a:r>
                <a:endParaRPr lang="en-US" altLang="en-US"/>
              </a:p>
            </p:txBody>
          </p:sp>
        </p:grpSp>
        <p:sp>
          <p:nvSpPr>
            <p:cNvPr id="3109" name="Line 12"/>
            <p:cNvSpPr>
              <a:spLocks noChangeShapeType="1"/>
            </p:cNvSpPr>
            <p:nvPr/>
          </p:nvSpPr>
          <p:spPr bwMode="auto">
            <a:xfrm flipH="1" flipV="1">
              <a:off x="111271000" y="108487583"/>
              <a:ext cx="492908" cy="411928"/>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nvGrpSpPr>
            <p:cNvPr id="3110" name="Group 13"/>
            <p:cNvGrpSpPr>
              <a:grpSpLocks/>
            </p:cNvGrpSpPr>
            <p:nvPr/>
          </p:nvGrpSpPr>
          <p:grpSpPr bwMode="auto">
            <a:xfrm>
              <a:off x="111738275" y="108833743"/>
              <a:ext cx="291904" cy="269298"/>
              <a:chOff x="112960888" y="112353020"/>
              <a:chExt cx="360000" cy="360000"/>
            </a:xfrm>
          </p:grpSpPr>
          <p:sp>
            <p:nvSpPr>
              <p:cNvPr id="3120" name="Oval 14"/>
              <p:cNvSpPr>
                <a:spLocks noChangeArrowheads="1"/>
              </p:cNvSpPr>
              <p:nvPr/>
            </p:nvSpPr>
            <p:spPr bwMode="auto">
              <a:xfrm>
                <a:off x="112960888" y="112353020"/>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3121" name="Text Box 15"/>
              <p:cNvSpPr txBox="1">
                <a:spLocks noChangeArrowheads="1"/>
              </p:cNvSpPr>
              <p:nvPr/>
            </p:nvSpPr>
            <p:spPr bwMode="auto">
              <a:xfrm>
                <a:off x="113062538" y="112429270"/>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2</a:t>
                </a:r>
                <a:endParaRPr lang="en-US" altLang="en-US"/>
              </a:p>
            </p:txBody>
          </p:sp>
        </p:grpSp>
        <p:sp>
          <p:nvSpPr>
            <p:cNvPr id="3111" name="Line 16"/>
            <p:cNvSpPr>
              <a:spLocks noChangeShapeType="1"/>
            </p:cNvSpPr>
            <p:nvPr/>
          </p:nvSpPr>
          <p:spPr bwMode="auto">
            <a:xfrm>
              <a:off x="109173108" y="106994511"/>
              <a:ext cx="885042" cy="318322"/>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3112" name="Line 17"/>
            <p:cNvSpPr>
              <a:spLocks noChangeShapeType="1"/>
            </p:cNvSpPr>
            <p:nvPr/>
          </p:nvSpPr>
          <p:spPr bwMode="auto">
            <a:xfrm flipV="1">
              <a:off x="108588908" y="108252633"/>
              <a:ext cx="529442" cy="386528"/>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nvGrpSpPr>
            <p:cNvPr id="3113" name="Group 18"/>
            <p:cNvGrpSpPr>
              <a:grpSpLocks/>
            </p:cNvGrpSpPr>
            <p:nvPr/>
          </p:nvGrpSpPr>
          <p:grpSpPr bwMode="auto">
            <a:xfrm>
              <a:off x="108321975" y="108579743"/>
              <a:ext cx="291904" cy="269298"/>
              <a:chOff x="112819924" y="112200223"/>
              <a:chExt cx="360000" cy="360000"/>
            </a:xfrm>
          </p:grpSpPr>
          <p:sp>
            <p:nvSpPr>
              <p:cNvPr id="3118" name="Oval 19"/>
              <p:cNvSpPr>
                <a:spLocks noChangeArrowheads="1"/>
              </p:cNvSpPr>
              <p:nvPr/>
            </p:nvSpPr>
            <p:spPr bwMode="auto">
              <a:xfrm>
                <a:off x="112819924" y="112200223"/>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3119" name="Text Box 20"/>
              <p:cNvSpPr txBox="1">
                <a:spLocks noChangeArrowheads="1"/>
              </p:cNvSpPr>
              <p:nvPr/>
            </p:nvSpPr>
            <p:spPr bwMode="auto">
              <a:xfrm>
                <a:off x="112921574" y="112276473"/>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4</a:t>
                </a:r>
                <a:endParaRPr lang="en-US" altLang="en-US"/>
              </a:p>
            </p:txBody>
          </p:sp>
        </p:grpSp>
        <p:sp>
          <p:nvSpPr>
            <p:cNvPr id="3114" name="Line 21"/>
            <p:cNvSpPr>
              <a:spLocks noChangeShapeType="1"/>
            </p:cNvSpPr>
            <p:nvPr/>
          </p:nvSpPr>
          <p:spPr bwMode="auto">
            <a:xfrm flipV="1">
              <a:off x="109325508" y="108855883"/>
              <a:ext cx="529442" cy="386528"/>
            </a:xfrm>
            <a:prstGeom prst="line">
              <a:avLst/>
            </a:prstGeom>
            <a:noFill/>
            <a:ln w="1270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nvGrpSpPr>
            <p:cNvPr id="3115" name="Group 22"/>
            <p:cNvGrpSpPr>
              <a:grpSpLocks/>
            </p:cNvGrpSpPr>
            <p:nvPr/>
          </p:nvGrpSpPr>
          <p:grpSpPr bwMode="auto">
            <a:xfrm>
              <a:off x="109071275" y="109195693"/>
              <a:ext cx="291904" cy="269298"/>
              <a:chOff x="112960888" y="112353020"/>
              <a:chExt cx="360000" cy="360000"/>
            </a:xfrm>
          </p:grpSpPr>
          <p:sp>
            <p:nvSpPr>
              <p:cNvPr id="3116" name="Oval 23"/>
              <p:cNvSpPr>
                <a:spLocks noChangeArrowheads="1"/>
              </p:cNvSpPr>
              <p:nvPr/>
            </p:nvSpPr>
            <p:spPr bwMode="auto">
              <a:xfrm>
                <a:off x="112960888" y="112353020"/>
                <a:ext cx="360000" cy="360000"/>
              </a:xfrm>
              <a:prstGeom prst="ellipse">
                <a:avLst/>
              </a:prstGeom>
              <a:noFill/>
              <a:ln w="1270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3117" name="Text Box 24"/>
              <p:cNvSpPr txBox="1">
                <a:spLocks noChangeArrowheads="1"/>
              </p:cNvSpPr>
              <p:nvPr/>
            </p:nvSpPr>
            <p:spPr bwMode="auto">
              <a:xfrm>
                <a:off x="113062538" y="112429270"/>
                <a:ext cx="144000" cy="1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dirty="0">
                    <a:solidFill>
                      <a:srgbClr val="000000"/>
                    </a:solidFill>
                    <a:latin typeface="Times New Roman" panose="02020603050405020304" pitchFamily="18" charset="0"/>
                  </a:rPr>
                  <a:t>5</a:t>
                </a:r>
                <a:endParaRPr lang="en-US" altLang="en-US" dirty="0"/>
              </a:p>
            </p:txBody>
          </p:sp>
        </p:grpSp>
      </p:grpSp>
      <p:graphicFrame>
        <p:nvGraphicFramePr>
          <p:cNvPr id="28" name="Table 27"/>
          <p:cNvGraphicFramePr>
            <a:graphicFrameLocks noGrp="1"/>
          </p:cNvGraphicFramePr>
          <p:nvPr>
            <p:extLst>
              <p:ext uri="{D42A27DB-BD31-4B8C-83A1-F6EECF244321}">
                <p14:modId xmlns:p14="http://schemas.microsoft.com/office/powerpoint/2010/main" val="2510784680"/>
              </p:ext>
            </p:extLst>
          </p:nvPr>
        </p:nvGraphicFramePr>
        <p:xfrm>
          <a:off x="838200" y="3969199"/>
          <a:ext cx="7472363" cy="2714624"/>
        </p:xfrm>
        <a:graphic>
          <a:graphicData uri="http://schemas.openxmlformats.org/drawingml/2006/table">
            <a:tbl>
              <a:tblPr>
                <a:effectLst>
                  <a:outerShdw blurRad="50800" dist="38100" dir="16200000" rotWithShape="0">
                    <a:prstClr val="black">
                      <a:alpha val="40000"/>
                    </a:prstClr>
                  </a:outerShdw>
                </a:effectLst>
              </a:tblPr>
              <a:tblGrid>
                <a:gridCol w="457200">
                  <a:extLst>
                    <a:ext uri="{9D8B030D-6E8A-4147-A177-3AD203B41FA5}">
                      <a16:colId xmlns:a16="http://schemas.microsoft.com/office/drawing/2014/main" val="20000"/>
                    </a:ext>
                  </a:extLst>
                </a:gridCol>
                <a:gridCol w="1909762">
                  <a:extLst>
                    <a:ext uri="{9D8B030D-6E8A-4147-A177-3AD203B41FA5}">
                      <a16:colId xmlns:a16="http://schemas.microsoft.com/office/drawing/2014/main" val="20001"/>
                    </a:ext>
                  </a:extLst>
                </a:gridCol>
                <a:gridCol w="5105401">
                  <a:extLst>
                    <a:ext uri="{9D8B030D-6E8A-4147-A177-3AD203B41FA5}">
                      <a16:colId xmlns:a16="http://schemas.microsoft.com/office/drawing/2014/main" val="20002"/>
                    </a:ext>
                  </a:extLst>
                </a:gridCol>
              </a:tblGrid>
              <a:tr h="507352">
                <a:tc>
                  <a:txBody>
                    <a:bodyPr/>
                    <a:lstStyle/>
                    <a:p>
                      <a:pPr marR="0" indent="0" algn="ctr" rtl="0">
                        <a:spcBef>
                          <a:spcPts val="0"/>
                        </a:spcBef>
                        <a:spcAft>
                          <a:spcPts val="0"/>
                        </a:spcAft>
                      </a:pPr>
                      <a:r>
                        <a:rPr lang="en-IE" sz="1400" b="0" kern="1400" dirty="0">
                          <a:solidFill>
                            <a:schemeClr val="accent1">
                              <a:lumMod val="75000"/>
                            </a:schemeClr>
                          </a:solidFill>
                          <a:latin typeface="+mn-lt"/>
                        </a:rPr>
                        <a:t>1</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Processor and fan</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Graphics card handles it’s own processing making it almost independent of the processor. </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51818">
                <a:tc>
                  <a:txBody>
                    <a:bodyPr/>
                    <a:lstStyle/>
                    <a:p>
                      <a:pPr marR="0" indent="0" algn="ctr" rtl="0">
                        <a:spcBef>
                          <a:spcPts val="0"/>
                        </a:spcBef>
                        <a:spcAft>
                          <a:spcPts val="0"/>
                        </a:spcAft>
                      </a:pPr>
                      <a:r>
                        <a:rPr lang="en-IE" sz="1400" b="0" kern="1400" dirty="0">
                          <a:solidFill>
                            <a:schemeClr val="accent1">
                              <a:lumMod val="75000"/>
                            </a:schemeClr>
                          </a:solidFill>
                          <a:latin typeface="+mn-lt"/>
                        </a:rPr>
                        <a:t>2</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Board connector</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AGP or PCI-Express</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51818">
                <a:tc>
                  <a:txBody>
                    <a:bodyPr/>
                    <a:lstStyle/>
                    <a:p>
                      <a:pPr marR="0" indent="0" algn="ctr" rtl="0">
                        <a:spcBef>
                          <a:spcPts val="0"/>
                        </a:spcBef>
                        <a:spcAft>
                          <a:spcPts val="0"/>
                        </a:spcAft>
                      </a:pPr>
                      <a:r>
                        <a:rPr lang="en-IE" sz="1400" b="0" kern="1400" dirty="0">
                          <a:solidFill>
                            <a:schemeClr val="accent1">
                              <a:lumMod val="75000"/>
                            </a:schemeClr>
                          </a:solidFill>
                          <a:latin typeface="+mn-lt"/>
                        </a:rPr>
                        <a:t>3</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a:solidFill>
                            <a:schemeClr val="accent1">
                              <a:lumMod val="75000"/>
                            </a:schemeClr>
                          </a:solidFill>
                          <a:latin typeface="+mn-lt"/>
                        </a:rPr>
                        <a:t>Memory </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Graphics card has it’s own memory.  This makes it much faster. Most new cards use DDR3 memory.  </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1818">
                <a:tc>
                  <a:txBody>
                    <a:bodyPr/>
                    <a:lstStyle/>
                    <a:p>
                      <a:pPr marR="0" indent="0" algn="ctr" rtl="0">
                        <a:spcBef>
                          <a:spcPts val="0"/>
                        </a:spcBef>
                        <a:spcAft>
                          <a:spcPts val="0"/>
                        </a:spcAft>
                      </a:pPr>
                      <a:r>
                        <a:rPr lang="en-IE" sz="1400" b="0" kern="1400" dirty="0">
                          <a:solidFill>
                            <a:schemeClr val="accent1">
                              <a:lumMod val="75000"/>
                            </a:schemeClr>
                          </a:solidFill>
                          <a:latin typeface="+mn-lt"/>
                        </a:rPr>
                        <a:t>4</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lnSpc>
                          <a:spcPct val="125000"/>
                        </a:lnSpc>
                        <a:spcBef>
                          <a:spcPts val="0"/>
                        </a:spcBef>
                        <a:spcAft>
                          <a:spcPts val="0"/>
                        </a:spcAft>
                      </a:pPr>
                      <a:r>
                        <a:rPr lang="en-IE" sz="1400" b="0" kern="1400">
                          <a:solidFill>
                            <a:schemeClr val="accent1">
                              <a:lumMod val="75000"/>
                            </a:schemeClr>
                          </a:solidFill>
                          <a:latin typeface="+mn-lt"/>
                        </a:rPr>
                        <a:t>DVI connector</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Digital output is supplied through this port.  </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51818">
                <a:tc>
                  <a:txBody>
                    <a:bodyPr/>
                    <a:lstStyle/>
                    <a:p>
                      <a:pPr marR="0" indent="0" algn="ctr" rtl="0">
                        <a:spcBef>
                          <a:spcPts val="0"/>
                        </a:spcBef>
                        <a:spcAft>
                          <a:spcPts val="0"/>
                        </a:spcAft>
                      </a:pPr>
                      <a:r>
                        <a:rPr lang="en-IE" sz="1400" b="0" kern="1400" dirty="0">
                          <a:solidFill>
                            <a:schemeClr val="accent1">
                              <a:lumMod val="75000"/>
                            </a:schemeClr>
                          </a:solidFill>
                          <a:latin typeface="+mn-lt"/>
                        </a:rPr>
                        <a:t>5</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a:solidFill>
                            <a:schemeClr val="accent1">
                              <a:lumMod val="75000"/>
                            </a:schemeClr>
                          </a:solidFill>
                          <a:latin typeface="+mn-lt"/>
                        </a:rPr>
                        <a:t>VGA connector</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0" indent="0" algn="ctr" rtl="0">
                        <a:spcBef>
                          <a:spcPts val="0"/>
                        </a:spcBef>
                        <a:spcAft>
                          <a:spcPts val="0"/>
                        </a:spcAft>
                      </a:pPr>
                      <a:r>
                        <a:rPr lang="en-IE" sz="1400" b="0" kern="1400" dirty="0">
                          <a:solidFill>
                            <a:schemeClr val="accent1">
                              <a:lumMod val="75000"/>
                            </a:schemeClr>
                          </a:solidFill>
                          <a:latin typeface="+mn-lt"/>
                        </a:rPr>
                        <a:t>Analogue output is provided through this port.  </a:t>
                      </a:r>
                    </a:p>
                  </a:txBody>
                  <a:tcPr marL="36576" marR="36576"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074" name="Control 25"/>
          <p:cNvSpPr>
            <a:spLocks noChangeArrowheads="1" noChangeShapeType="1"/>
          </p:cNvSpPr>
          <p:nvPr/>
        </p:nvSpPr>
        <p:spPr bwMode="auto">
          <a:xfrm>
            <a:off x="8128000" y="5060950"/>
            <a:ext cx="5400675" cy="2387600"/>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30" name="Rectangle 2"/>
          <p:cNvSpPr>
            <a:spLocks noGrp="1" noChangeArrowheads="1"/>
          </p:cNvSpPr>
          <p:nvPr>
            <p:ph type="title"/>
          </p:nvPr>
        </p:nvSpPr>
        <p:spPr>
          <a:xfrm>
            <a:off x="286261" y="262643"/>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3" name="Rectangle 2"/>
          <p:cNvSpPr/>
          <p:nvPr/>
        </p:nvSpPr>
        <p:spPr>
          <a:xfrm>
            <a:off x="510829" y="1334917"/>
            <a:ext cx="2149948" cy="338554"/>
          </a:xfrm>
          <a:prstGeom prst="rect">
            <a:avLst/>
          </a:prstGeom>
        </p:spPr>
        <p:txBody>
          <a:bodyPr wrap="none">
            <a:spAutoFit/>
          </a:bodyPr>
          <a:lstStyle/>
          <a:p>
            <a:r>
              <a:rPr lang="en-GB" altLang="en-US" sz="1600" b="1" dirty="0" smtClean="0">
                <a:solidFill>
                  <a:srgbClr val="C00000"/>
                </a:solidFill>
                <a:latin typeface="Comic Sans MS" panose="030F0702030302020204" pitchFamily="66" charset="0"/>
              </a:rPr>
              <a:t>Motherboard layout</a:t>
            </a:r>
            <a:endParaRPr lang="en-US" sz="1600" dirty="0">
              <a:solidFill>
                <a:srgbClr val="C00000"/>
              </a:solidFill>
            </a:endParaRPr>
          </a:p>
        </p:txBody>
      </p:sp>
    </p:spTree>
    <p:extLst>
      <p:ext uri="{BB962C8B-B14F-4D97-AF65-F5344CB8AC3E}">
        <p14:creationId xmlns:p14="http://schemas.microsoft.com/office/powerpoint/2010/main" val="6475964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a:spLocks noChangeArrowheads="1"/>
          </p:cNvSpPr>
          <p:nvPr/>
        </p:nvSpPr>
        <p:spPr bwMode="auto">
          <a:xfrm>
            <a:off x="609600" y="1706701"/>
            <a:ext cx="8043862"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chemeClr val="accent1">
                    <a:lumMod val="75000"/>
                  </a:schemeClr>
                </a:solidFill>
              </a:rPr>
              <a:t>Graphic card</a:t>
            </a:r>
            <a:r>
              <a:rPr lang="en-IE" altLang="en-US" sz="1600" dirty="0">
                <a:solidFill>
                  <a:schemeClr val="accent1">
                    <a:lumMod val="75000"/>
                  </a:schemeClr>
                </a:solidFill>
              </a:rPr>
              <a:t>  -  screen images are made up of dots called </a:t>
            </a:r>
            <a:r>
              <a:rPr lang="en-IE" altLang="en-US" sz="1600" b="1" dirty="0">
                <a:solidFill>
                  <a:schemeClr val="accent1">
                    <a:lumMod val="75000"/>
                  </a:schemeClr>
                </a:solidFill>
              </a:rPr>
              <a:t>pixels </a:t>
            </a:r>
            <a:r>
              <a:rPr lang="en-IE" altLang="en-US" sz="1600" dirty="0">
                <a:solidFill>
                  <a:schemeClr val="accent1">
                    <a:lumMod val="75000"/>
                  </a:schemeClr>
                </a:solidFill>
              </a:rPr>
              <a:t>(picture elements).  The graphics card must process each of these pixels to create the image.  </a:t>
            </a:r>
          </a:p>
          <a:p>
            <a:pPr algn="just" eaLnBrk="1" hangingPunct="1"/>
            <a:r>
              <a:rPr lang="en-IE" altLang="en-US" sz="1600" dirty="0">
                <a:solidFill>
                  <a:schemeClr val="accent1">
                    <a:lumMod val="75000"/>
                  </a:schemeClr>
                </a:solidFill>
              </a:rPr>
              <a:t> </a:t>
            </a:r>
          </a:p>
          <a:p>
            <a:pPr algn="just" eaLnBrk="1" hangingPunct="1"/>
            <a:r>
              <a:rPr lang="en-IE" altLang="en-US" sz="1600" dirty="0">
                <a:solidFill>
                  <a:schemeClr val="accent1">
                    <a:lumMod val="75000"/>
                  </a:schemeClr>
                </a:solidFill>
              </a:rPr>
              <a:t>The resolution of a screen is the number of </a:t>
            </a:r>
            <a:r>
              <a:rPr lang="en-IE" altLang="en-US" sz="1600" dirty="0" smtClean="0">
                <a:solidFill>
                  <a:schemeClr val="accent1">
                    <a:lumMod val="75000"/>
                  </a:schemeClr>
                </a:solidFill>
              </a:rPr>
              <a:t>pixels </a:t>
            </a:r>
            <a:r>
              <a:rPr lang="en-IE" altLang="en-US" sz="1600" dirty="0">
                <a:solidFill>
                  <a:schemeClr val="accent1">
                    <a:lumMod val="75000"/>
                  </a:schemeClr>
                </a:solidFill>
              </a:rPr>
              <a:t>being displayed. </a:t>
            </a:r>
            <a:r>
              <a:rPr lang="en-IE" altLang="en-US" sz="1600" dirty="0" smtClean="0">
                <a:solidFill>
                  <a:schemeClr val="accent1">
                    <a:lumMod val="75000"/>
                  </a:schemeClr>
                </a:solidFill>
              </a:rPr>
              <a:t>Typical </a:t>
            </a:r>
            <a:r>
              <a:rPr lang="en-IE" altLang="en-US" sz="1600" dirty="0">
                <a:solidFill>
                  <a:schemeClr val="accent1">
                    <a:lumMod val="75000"/>
                  </a:schemeClr>
                </a:solidFill>
              </a:rPr>
              <a:t>resolutions include</a:t>
            </a:r>
            <a:r>
              <a:rPr lang="en-IE" altLang="en-US" sz="1600" dirty="0" smtClean="0">
                <a:solidFill>
                  <a:schemeClr val="accent1">
                    <a:lumMod val="75000"/>
                  </a:schemeClr>
                </a:solidFill>
              </a:rPr>
              <a:t>:</a:t>
            </a:r>
            <a:r>
              <a:rPr lang="en-IE" altLang="en-US" sz="1600" dirty="0">
                <a:solidFill>
                  <a:schemeClr val="accent1">
                    <a:lumMod val="75000"/>
                  </a:schemeClr>
                </a:solidFill>
              </a:rPr>
              <a:t> </a:t>
            </a:r>
          </a:p>
          <a:p>
            <a:pPr indent="-457200" algn="ctr" eaLnBrk="1" hangingPunct="1">
              <a:lnSpc>
                <a:spcPct val="150000"/>
              </a:lnSpc>
            </a:pPr>
            <a:r>
              <a:rPr lang="en-IE" altLang="en-US" sz="1600" b="1" dirty="0">
                <a:solidFill>
                  <a:schemeClr val="accent1">
                    <a:lumMod val="75000"/>
                  </a:schemeClr>
                </a:solidFill>
              </a:rPr>
              <a:t>800 x 600</a:t>
            </a:r>
            <a:r>
              <a:rPr lang="en-IE" altLang="en-US" sz="1600" dirty="0">
                <a:solidFill>
                  <a:schemeClr val="accent1">
                    <a:lumMod val="75000"/>
                  </a:schemeClr>
                </a:solidFill>
              </a:rPr>
              <a:t> 	</a:t>
            </a:r>
            <a:r>
              <a:rPr lang="en-IE" altLang="en-US" sz="1600" dirty="0" smtClean="0">
                <a:solidFill>
                  <a:schemeClr val="accent1">
                    <a:lumMod val="75000"/>
                  </a:schemeClr>
                </a:solidFill>
              </a:rPr>
              <a:t>480,000 </a:t>
            </a:r>
            <a:r>
              <a:rPr lang="en-IE" altLang="en-US" sz="1600" dirty="0">
                <a:solidFill>
                  <a:schemeClr val="accent1">
                    <a:lumMod val="75000"/>
                  </a:schemeClr>
                </a:solidFill>
              </a:rPr>
              <a:t>pixels</a:t>
            </a:r>
          </a:p>
          <a:p>
            <a:pPr indent="-457200" algn="ctr" eaLnBrk="1" hangingPunct="1">
              <a:lnSpc>
                <a:spcPct val="150000"/>
              </a:lnSpc>
            </a:pPr>
            <a:r>
              <a:rPr lang="en-IE" altLang="en-US" sz="1600" b="1" dirty="0">
                <a:solidFill>
                  <a:schemeClr val="accent1">
                    <a:lumMod val="75000"/>
                  </a:schemeClr>
                </a:solidFill>
              </a:rPr>
              <a:t>1024 x </a:t>
            </a:r>
            <a:r>
              <a:rPr lang="en-IE" altLang="en-US" sz="1600" b="1" dirty="0" smtClean="0">
                <a:solidFill>
                  <a:schemeClr val="accent1">
                    <a:lumMod val="75000"/>
                  </a:schemeClr>
                </a:solidFill>
              </a:rPr>
              <a:t>768</a:t>
            </a:r>
            <a:r>
              <a:rPr lang="en-IE" altLang="en-US" sz="1600" dirty="0" smtClean="0">
                <a:solidFill>
                  <a:schemeClr val="accent1">
                    <a:lumMod val="75000"/>
                  </a:schemeClr>
                </a:solidFill>
              </a:rPr>
              <a:t>  </a:t>
            </a:r>
            <a:r>
              <a:rPr lang="en-IE" altLang="en-US" sz="1600" dirty="0">
                <a:solidFill>
                  <a:schemeClr val="accent1">
                    <a:lumMod val="75000"/>
                  </a:schemeClr>
                </a:solidFill>
              </a:rPr>
              <a:t>	786,432 pixels</a:t>
            </a:r>
          </a:p>
          <a:p>
            <a:pPr indent="-457200" algn="ctr" eaLnBrk="1" hangingPunct="1">
              <a:lnSpc>
                <a:spcPct val="150000"/>
              </a:lnSpc>
            </a:pPr>
            <a:r>
              <a:rPr lang="en-IE" altLang="en-US" sz="1600" b="1" dirty="0">
                <a:solidFill>
                  <a:schemeClr val="accent1">
                    <a:lumMod val="75000"/>
                  </a:schemeClr>
                </a:solidFill>
              </a:rPr>
              <a:t>1280 x </a:t>
            </a:r>
            <a:r>
              <a:rPr lang="en-IE" altLang="en-US" sz="1600" b="1" dirty="0" smtClean="0">
                <a:solidFill>
                  <a:schemeClr val="accent1">
                    <a:lumMod val="75000"/>
                  </a:schemeClr>
                </a:solidFill>
              </a:rPr>
              <a:t>1024</a:t>
            </a:r>
            <a:r>
              <a:rPr lang="en-IE" altLang="en-US" sz="1600" dirty="0" smtClean="0">
                <a:solidFill>
                  <a:schemeClr val="accent1">
                    <a:lumMod val="75000"/>
                  </a:schemeClr>
                </a:solidFill>
              </a:rPr>
              <a:t>  </a:t>
            </a:r>
            <a:r>
              <a:rPr lang="en-IE" altLang="en-US" sz="1600" dirty="0">
                <a:solidFill>
                  <a:schemeClr val="accent1">
                    <a:lumMod val="75000"/>
                  </a:schemeClr>
                </a:solidFill>
              </a:rPr>
              <a:t>	1,310,720 pixels</a:t>
            </a:r>
          </a:p>
          <a:p>
            <a:pPr indent="-457200" algn="ctr" eaLnBrk="1" hangingPunct="1">
              <a:lnSpc>
                <a:spcPct val="150000"/>
              </a:lnSpc>
            </a:pPr>
            <a:r>
              <a:rPr lang="en-IE" altLang="en-US" sz="1600" b="1" dirty="0">
                <a:solidFill>
                  <a:schemeClr val="accent1">
                    <a:lumMod val="75000"/>
                  </a:schemeClr>
                </a:solidFill>
              </a:rPr>
              <a:t>1600 x </a:t>
            </a:r>
            <a:r>
              <a:rPr lang="en-IE" altLang="en-US" sz="1600" b="1" dirty="0" smtClean="0">
                <a:solidFill>
                  <a:schemeClr val="accent1">
                    <a:lumMod val="75000"/>
                  </a:schemeClr>
                </a:solidFill>
              </a:rPr>
              <a:t>1200</a:t>
            </a:r>
            <a:r>
              <a:rPr lang="en-IE" altLang="en-US" sz="1600" dirty="0" smtClean="0">
                <a:solidFill>
                  <a:schemeClr val="accent1">
                    <a:lumMod val="75000"/>
                  </a:schemeClr>
                </a:solidFill>
              </a:rPr>
              <a:t>  </a:t>
            </a:r>
            <a:r>
              <a:rPr lang="en-IE" altLang="en-US" sz="1600" dirty="0">
                <a:solidFill>
                  <a:schemeClr val="accent1">
                    <a:lumMod val="75000"/>
                  </a:schemeClr>
                </a:solidFill>
              </a:rPr>
              <a:t>	1,920,000 </a:t>
            </a:r>
            <a:r>
              <a:rPr lang="en-IE" altLang="en-US" sz="1600" dirty="0" smtClean="0">
                <a:solidFill>
                  <a:schemeClr val="accent1">
                    <a:lumMod val="75000"/>
                  </a:schemeClr>
                </a:solidFill>
              </a:rPr>
              <a:t>pixels</a:t>
            </a:r>
          </a:p>
          <a:p>
            <a:pPr indent="-457200" algn="ctr" eaLnBrk="1" hangingPunct="1">
              <a:lnSpc>
                <a:spcPct val="150000"/>
              </a:lnSpc>
            </a:pPr>
            <a:r>
              <a:rPr lang="en-IE" altLang="en-US" sz="1600" dirty="0" smtClean="0">
                <a:solidFill>
                  <a:schemeClr val="accent1">
                    <a:lumMod val="75000"/>
                  </a:schemeClr>
                </a:solidFill>
              </a:rPr>
              <a:t>………</a:t>
            </a:r>
            <a:endParaRPr lang="en-IE" altLang="en-US" sz="1600" dirty="0">
              <a:solidFill>
                <a:schemeClr val="accent1">
                  <a:lumMod val="75000"/>
                </a:schemeClr>
              </a:solidFill>
            </a:endParaRPr>
          </a:p>
        </p:txBody>
      </p:sp>
      <p:pic>
        <p:nvPicPr>
          <p:cNvPr id="14745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487" t="80214" r="3452"/>
          <a:stretch/>
        </p:blipFill>
        <p:spPr bwMode="auto">
          <a:xfrm>
            <a:off x="1295400" y="4876800"/>
            <a:ext cx="6934201"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6" name="Rectangle 2"/>
          <p:cNvSpPr>
            <a:spLocks noGrp="1" noChangeArrowheads="1"/>
          </p:cNvSpPr>
          <p:nvPr>
            <p:ph type="title"/>
          </p:nvPr>
        </p:nvSpPr>
        <p:spPr>
          <a:xfrm>
            <a:off x="304800" y="271463"/>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
        <p:nvSpPr>
          <p:cNvPr id="5" name="TextBox 4"/>
          <p:cNvSpPr txBox="1">
            <a:spLocks noChangeArrowheads="1"/>
          </p:cNvSpPr>
          <p:nvPr/>
        </p:nvSpPr>
        <p:spPr bwMode="auto">
          <a:xfrm>
            <a:off x="609600" y="1157815"/>
            <a:ext cx="25003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b="1" dirty="0">
                <a:solidFill>
                  <a:srgbClr val="C00000"/>
                </a:solidFill>
                <a:latin typeface="Comic Sans MS" panose="030F0702030302020204" pitchFamily="66" charset="0"/>
              </a:rPr>
              <a:t>Graphics card</a:t>
            </a:r>
          </a:p>
        </p:txBody>
      </p:sp>
    </p:spTree>
    <p:extLst>
      <p:ext uri="{BB962C8B-B14F-4D97-AF65-F5344CB8AC3E}">
        <p14:creationId xmlns:p14="http://schemas.microsoft.com/office/powerpoint/2010/main" val="1488941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71500" y="1500188"/>
            <a:ext cx="81153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algn="just" eaLnBrk="1" hangingPunct="1"/>
            <a:r>
              <a:rPr lang="en-IE" altLang="en-US" sz="1600" b="1" dirty="0">
                <a:solidFill>
                  <a:srgbClr val="C00000"/>
                </a:solidFill>
                <a:latin typeface="Comic Sans MS" panose="030F0702030302020204" pitchFamily="66" charset="0"/>
              </a:rPr>
              <a:t>Network </a:t>
            </a:r>
            <a:r>
              <a:rPr lang="en-IE" altLang="en-US" sz="1600" b="1" dirty="0" smtClean="0">
                <a:solidFill>
                  <a:srgbClr val="C00000"/>
                </a:solidFill>
                <a:latin typeface="Comic Sans MS" panose="030F0702030302020204" pitchFamily="66" charset="0"/>
              </a:rPr>
              <a:t>card</a:t>
            </a:r>
          </a:p>
          <a:p>
            <a:pPr marL="0" indent="0" algn="just" eaLnBrk="1" hangingPunct="1"/>
            <a:endParaRPr lang="en-IE" altLang="en-US" sz="1600" b="1" dirty="0">
              <a:solidFill>
                <a:srgbClr val="C00000"/>
              </a:solidFill>
              <a:latin typeface="Comic Sans MS" panose="030F0702030302020204" pitchFamily="66" charset="0"/>
            </a:endParaRPr>
          </a:p>
          <a:p>
            <a:pPr marL="0" indent="0" algn="just" eaLnBrk="1" hangingPunct="1"/>
            <a:r>
              <a:rPr lang="en-IE" altLang="en-US" sz="1600" dirty="0" smtClean="0">
                <a:solidFill>
                  <a:schemeClr val="accent1">
                    <a:lumMod val="75000"/>
                  </a:schemeClr>
                </a:solidFill>
              </a:rPr>
              <a:t>Allows </a:t>
            </a:r>
            <a:r>
              <a:rPr lang="en-IE" altLang="en-US" sz="1600" dirty="0">
                <a:solidFill>
                  <a:schemeClr val="accent1">
                    <a:lumMod val="75000"/>
                  </a:schemeClr>
                </a:solidFill>
              </a:rPr>
              <a:t>computers join a network. Can be wired or wireless. The standard used is called </a:t>
            </a:r>
            <a:r>
              <a:rPr lang="en-IE" altLang="en-US" sz="1600" b="1" dirty="0">
                <a:solidFill>
                  <a:schemeClr val="accent1">
                    <a:lumMod val="75000"/>
                  </a:schemeClr>
                </a:solidFill>
              </a:rPr>
              <a:t>Ethernet</a:t>
            </a:r>
            <a:r>
              <a:rPr lang="en-IE" altLang="en-US" sz="1600" dirty="0">
                <a:solidFill>
                  <a:schemeClr val="accent1">
                    <a:lumMod val="75000"/>
                  </a:schemeClr>
                </a:solidFill>
              </a:rPr>
              <a:t>  -  covers wired and wireless networks. </a:t>
            </a:r>
          </a:p>
          <a:p>
            <a:pPr algn="just" eaLnBrk="1" hangingPunct="1">
              <a:buFont typeface="Arial" panose="020B0604020202020204" pitchFamily="34" charset="0"/>
              <a:buChar char="•"/>
            </a:pPr>
            <a:endParaRPr lang="en-IE" altLang="en-US" sz="1600" dirty="0"/>
          </a:p>
          <a:p>
            <a:pPr eaLnBrk="1" hangingPunct="1"/>
            <a:r>
              <a:rPr lang="en-IE" altLang="en-US" sz="1600" dirty="0">
                <a:solidFill>
                  <a:schemeClr val="accent1">
                    <a:lumMod val="75000"/>
                  </a:schemeClr>
                </a:solidFill>
              </a:rPr>
              <a:t>The </a:t>
            </a:r>
            <a:r>
              <a:rPr lang="en-IE" altLang="en-US" sz="1600" b="1" dirty="0">
                <a:solidFill>
                  <a:schemeClr val="accent1">
                    <a:lumMod val="75000"/>
                  </a:schemeClr>
                </a:solidFill>
              </a:rPr>
              <a:t>wired </a:t>
            </a:r>
            <a:r>
              <a:rPr lang="en-IE" altLang="en-US" sz="1600" dirty="0">
                <a:solidFill>
                  <a:schemeClr val="accent1">
                    <a:lumMod val="75000"/>
                  </a:schemeClr>
                </a:solidFill>
              </a:rPr>
              <a:t>standards include:</a:t>
            </a:r>
          </a:p>
          <a:p>
            <a:pPr eaLnBrk="1" hangingPunct="1"/>
            <a:endParaRPr lang="en-IE" altLang="en-US" sz="1600" dirty="0">
              <a:solidFill>
                <a:schemeClr val="accent1">
                  <a:lumMod val="75000"/>
                </a:schemeClr>
              </a:solidFill>
            </a:endParaRPr>
          </a:p>
          <a:p>
            <a:pPr marL="285750" indent="-285750" eaLnBrk="1" hangingPunct="1">
              <a:lnSpc>
                <a:spcPct val="150000"/>
              </a:lnSpc>
              <a:buFont typeface="Arial" panose="020B0604020202020204" pitchFamily="34" charset="0"/>
              <a:buChar char="•"/>
            </a:pPr>
            <a:r>
              <a:rPr lang="en-IE" altLang="en-US" sz="1600" dirty="0">
                <a:solidFill>
                  <a:schemeClr val="accent1">
                    <a:lumMod val="75000"/>
                  </a:schemeClr>
                </a:solidFill>
              </a:rPr>
              <a:t>Fast Ethernet  -  transmission speed of </a:t>
            </a:r>
            <a:r>
              <a:rPr lang="en-IE" altLang="en-US" sz="1600" dirty="0" smtClean="0">
                <a:solidFill>
                  <a:schemeClr val="accent1">
                    <a:lumMod val="75000"/>
                  </a:schemeClr>
                </a:solidFill>
              </a:rPr>
              <a:t>100 Mbps</a:t>
            </a:r>
            <a:r>
              <a:rPr lang="en-IE" altLang="en-US" sz="1600" dirty="0">
                <a:solidFill>
                  <a:schemeClr val="accent1">
                    <a:lumMod val="75000"/>
                  </a:schemeClr>
                </a:solidFill>
              </a:rPr>
              <a:t>.  </a:t>
            </a:r>
          </a:p>
          <a:p>
            <a:pPr marL="285750" indent="-285750" eaLnBrk="1" hangingPunct="1">
              <a:lnSpc>
                <a:spcPct val="150000"/>
              </a:lnSpc>
              <a:buFont typeface="Arial" panose="020B0604020202020204" pitchFamily="34" charset="0"/>
              <a:buChar char="•"/>
            </a:pPr>
            <a:r>
              <a:rPr lang="en-IE" altLang="en-US" sz="1600" dirty="0">
                <a:solidFill>
                  <a:schemeClr val="accent1">
                    <a:lumMod val="75000"/>
                  </a:schemeClr>
                </a:solidFill>
              </a:rPr>
              <a:t>Gigabyte Ethernet  -  transmission speed of </a:t>
            </a:r>
            <a:r>
              <a:rPr lang="en-IE" altLang="en-US" sz="1600" dirty="0" smtClean="0">
                <a:solidFill>
                  <a:schemeClr val="accent1">
                    <a:lumMod val="75000"/>
                  </a:schemeClr>
                </a:solidFill>
              </a:rPr>
              <a:t>1000 Mbps</a:t>
            </a:r>
            <a:r>
              <a:rPr lang="en-IE" altLang="en-US" sz="1600" dirty="0">
                <a:solidFill>
                  <a:schemeClr val="accent1">
                    <a:lumMod val="75000"/>
                  </a:schemeClr>
                </a:solidFill>
              </a:rPr>
              <a:t>. </a:t>
            </a:r>
          </a:p>
        </p:txBody>
      </p:sp>
      <p:grpSp>
        <p:nvGrpSpPr>
          <p:cNvPr id="2" name="Group 1"/>
          <p:cNvGrpSpPr>
            <a:grpSpLocks/>
          </p:cNvGrpSpPr>
          <p:nvPr/>
        </p:nvGrpSpPr>
        <p:grpSpPr bwMode="auto">
          <a:xfrm>
            <a:off x="1462956" y="4801694"/>
            <a:ext cx="6768478" cy="1532922"/>
            <a:chOff x="107285700" y="111060150"/>
            <a:chExt cx="6767622" cy="1532578"/>
          </a:xfrm>
        </p:grpSpPr>
        <p:pic>
          <p:nvPicPr>
            <p:cNvPr id="50182" name="Picture 2" descr="L48-2246"/>
            <p:cNvPicPr>
              <a:picLocks noChangeAspect="1" noChangeArrowheads="1"/>
            </p:cNvPicPr>
            <p:nvPr/>
          </p:nvPicPr>
          <p:blipFill>
            <a:blip r:embed="rId3">
              <a:extLst>
                <a:ext uri="{28A0092B-C50C-407E-A947-70E740481C1C}">
                  <a14:useLocalDpi xmlns:a14="http://schemas.microsoft.com/office/drawing/2010/main" val="0"/>
                </a:ext>
              </a:extLst>
            </a:blip>
            <a:srcRect t="3378" b="7433"/>
            <a:stretch>
              <a:fillRect/>
            </a:stretch>
          </p:blipFill>
          <p:spPr bwMode="auto">
            <a:xfrm>
              <a:off x="111687825" y="111060150"/>
              <a:ext cx="1419225" cy="12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50183" name="Picture 3" descr="karta_4"/>
            <p:cNvPicPr>
              <a:picLocks noChangeAspect="1" noChangeArrowheads="1"/>
            </p:cNvPicPr>
            <p:nvPr/>
          </p:nvPicPr>
          <p:blipFill>
            <a:blip r:embed="rId4">
              <a:extLst>
                <a:ext uri="{28A0092B-C50C-407E-A947-70E740481C1C}">
                  <a14:useLocalDpi xmlns:a14="http://schemas.microsoft.com/office/drawing/2010/main" val="0"/>
                </a:ext>
              </a:extLst>
            </a:blip>
            <a:srcRect t="10333" b="17000"/>
            <a:stretch>
              <a:fillRect/>
            </a:stretch>
          </p:blipFill>
          <p:spPr bwMode="auto">
            <a:xfrm>
              <a:off x="109643325" y="111060150"/>
              <a:ext cx="1747706" cy="12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50184" name="Picture 4" descr="NC100TX-R(4)"/>
            <p:cNvPicPr>
              <a:picLocks noChangeAspect="1" noChangeArrowheads="1"/>
            </p:cNvPicPr>
            <p:nvPr/>
          </p:nvPicPr>
          <p:blipFill>
            <a:blip r:embed="rId5">
              <a:extLst>
                <a:ext uri="{28A0092B-C50C-407E-A947-70E740481C1C}">
                  <a14:useLocalDpi xmlns:a14="http://schemas.microsoft.com/office/drawing/2010/main" val="0"/>
                </a:ext>
              </a:extLst>
            </a:blip>
            <a:srcRect l="16406" t="23438" r="21680" b="32031"/>
            <a:stretch>
              <a:fillRect/>
            </a:stretch>
          </p:blipFill>
          <p:spPr bwMode="auto">
            <a:xfrm>
              <a:off x="107285700" y="111060150"/>
              <a:ext cx="2062246" cy="12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0185" name="Text Box 5"/>
            <p:cNvSpPr txBox="1">
              <a:spLocks noChangeArrowheads="1"/>
            </p:cNvSpPr>
            <p:nvPr/>
          </p:nvSpPr>
          <p:spPr bwMode="auto">
            <a:xfrm>
              <a:off x="107468704" y="112134600"/>
              <a:ext cx="42862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latin typeface="+mn-lt"/>
                </a:rPr>
                <a:t>PCI</a:t>
              </a:r>
              <a:endParaRPr lang="en-US" altLang="en-US" sz="1600" dirty="0">
                <a:solidFill>
                  <a:schemeClr val="accent1">
                    <a:lumMod val="75000"/>
                  </a:schemeClr>
                </a:solidFill>
                <a:latin typeface="+mn-lt"/>
              </a:endParaRPr>
            </a:p>
          </p:txBody>
        </p:sp>
        <p:sp>
          <p:nvSpPr>
            <p:cNvPr id="50186" name="Text Box 6"/>
            <p:cNvSpPr txBox="1">
              <a:spLocks noChangeArrowheads="1"/>
            </p:cNvSpPr>
            <p:nvPr/>
          </p:nvSpPr>
          <p:spPr bwMode="auto">
            <a:xfrm>
              <a:off x="110648479" y="112144597"/>
              <a:ext cx="933010" cy="448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latin typeface="+mn-lt"/>
                </a:rPr>
                <a:t>PC card</a:t>
              </a:r>
              <a:endParaRPr lang="en-US" altLang="en-US" sz="1600" dirty="0">
                <a:solidFill>
                  <a:schemeClr val="accent1">
                    <a:lumMod val="75000"/>
                  </a:schemeClr>
                </a:solidFill>
                <a:latin typeface="+mn-lt"/>
              </a:endParaRPr>
            </a:p>
          </p:txBody>
        </p:sp>
        <p:sp>
          <p:nvSpPr>
            <p:cNvPr id="50187" name="Text Box 7"/>
            <p:cNvSpPr txBox="1">
              <a:spLocks noChangeArrowheads="1"/>
            </p:cNvSpPr>
            <p:nvPr/>
          </p:nvSpPr>
          <p:spPr bwMode="auto">
            <a:xfrm>
              <a:off x="113213387" y="112144597"/>
              <a:ext cx="83993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latin typeface="+mn-lt"/>
                </a:rPr>
                <a:t>USB</a:t>
              </a:r>
              <a:endParaRPr lang="en-US" altLang="en-US" sz="1600" dirty="0">
                <a:solidFill>
                  <a:schemeClr val="accent1">
                    <a:lumMod val="75000"/>
                  </a:schemeClr>
                </a:solidFill>
                <a:latin typeface="+mn-lt"/>
              </a:endParaRPr>
            </a:p>
          </p:txBody>
        </p:sp>
      </p:grpSp>
      <p:sp>
        <p:nvSpPr>
          <p:cNvPr id="13" name="Rectangle 2"/>
          <p:cNvSpPr>
            <a:spLocks noGrp="1" noChangeArrowheads="1"/>
          </p:cNvSpPr>
          <p:nvPr>
            <p:ph type="title"/>
          </p:nvPr>
        </p:nvSpPr>
        <p:spPr>
          <a:xfrm>
            <a:off x="152815" y="248419"/>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999253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Box 4"/>
          <p:cNvSpPr txBox="1">
            <a:spLocks noChangeArrowheads="1"/>
          </p:cNvSpPr>
          <p:nvPr/>
        </p:nvSpPr>
        <p:spPr bwMode="auto">
          <a:xfrm>
            <a:off x="457200" y="1447800"/>
            <a:ext cx="822960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rPr>
              <a:t>The</a:t>
            </a:r>
            <a:r>
              <a:rPr lang="en-IE" altLang="en-US" sz="1600" b="1" dirty="0">
                <a:solidFill>
                  <a:schemeClr val="accent1">
                    <a:lumMod val="75000"/>
                  </a:schemeClr>
                </a:solidFill>
              </a:rPr>
              <a:t> wireless </a:t>
            </a:r>
            <a:r>
              <a:rPr lang="en-IE" altLang="en-US" sz="1600" dirty="0">
                <a:solidFill>
                  <a:schemeClr val="accent1">
                    <a:lumMod val="75000"/>
                  </a:schemeClr>
                </a:solidFill>
              </a:rPr>
              <a:t>standards include:</a:t>
            </a:r>
          </a:p>
          <a:p>
            <a:pPr eaLnBrk="1" hangingPunct="1"/>
            <a:r>
              <a:rPr lang="en-IE" altLang="en-US" sz="1600" dirty="0">
                <a:solidFill>
                  <a:schemeClr val="accent1">
                    <a:lumMod val="75000"/>
                  </a:schemeClr>
                </a:solidFill>
              </a:rPr>
              <a:t> </a:t>
            </a:r>
          </a:p>
          <a:p>
            <a:pPr marL="285750" indent="-285750" algn="just" eaLnBrk="1" hangingPunct="1">
              <a:spcAft>
                <a:spcPts val="600"/>
              </a:spcAft>
              <a:buFont typeface="Arial" panose="020B0604020202020204" pitchFamily="34" charset="0"/>
              <a:buChar char="•"/>
            </a:pPr>
            <a:r>
              <a:rPr lang="en-IE" altLang="en-US" sz="1600" dirty="0">
                <a:solidFill>
                  <a:schemeClr val="accent1">
                    <a:lumMod val="75000"/>
                  </a:schemeClr>
                </a:solidFill>
              </a:rPr>
              <a:t>The B standard  -  introduced in 1999, it has a transmission rate of </a:t>
            </a:r>
            <a:r>
              <a:rPr lang="en-IE" altLang="en-US" sz="1600" dirty="0" smtClean="0">
                <a:solidFill>
                  <a:schemeClr val="accent1">
                    <a:lumMod val="75000"/>
                  </a:schemeClr>
                </a:solidFill>
              </a:rPr>
              <a:t>11 Mbps </a:t>
            </a:r>
            <a:r>
              <a:rPr lang="en-IE" altLang="en-US" sz="1600" dirty="0">
                <a:solidFill>
                  <a:schemeClr val="accent1">
                    <a:lumMod val="75000"/>
                  </a:schemeClr>
                </a:solidFill>
              </a:rPr>
              <a:t>and a range of 30 Metres.</a:t>
            </a:r>
          </a:p>
          <a:p>
            <a:pPr marL="285750" indent="-285750" algn="just" eaLnBrk="1" hangingPunct="1">
              <a:spcAft>
                <a:spcPts val="600"/>
              </a:spcAft>
              <a:buFont typeface="Arial" panose="020B0604020202020204" pitchFamily="34" charset="0"/>
              <a:buChar char="•"/>
            </a:pPr>
            <a:r>
              <a:rPr lang="en-IE" altLang="en-US" sz="1600" dirty="0">
                <a:solidFill>
                  <a:schemeClr val="accent1">
                    <a:lumMod val="75000"/>
                  </a:schemeClr>
                </a:solidFill>
              </a:rPr>
              <a:t>The G standard  -  introduced in 2003, it has  a transmission rate of </a:t>
            </a:r>
            <a:r>
              <a:rPr lang="en-IE" altLang="en-US" sz="1600" dirty="0" smtClean="0">
                <a:solidFill>
                  <a:schemeClr val="accent1">
                    <a:lumMod val="75000"/>
                  </a:schemeClr>
                </a:solidFill>
              </a:rPr>
              <a:t>54 Mbps </a:t>
            </a:r>
            <a:r>
              <a:rPr lang="en-IE" altLang="en-US" sz="1600" dirty="0">
                <a:solidFill>
                  <a:schemeClr val="accent1">
                    <a:lumMod val="75000"/>
                  </a:schemeClr>
                </a:solidFill>
              </a:rPr>
              <a:t>and a range of 30 Metres.</a:t>
            </a:r>
          </a:p>
          <a:p>
            <a:pPr marL="285750" indent="-285750" algn="just" eaLnBrk="1" hangingPunct="1">
              <a:spcAft>
                <a:spcPts val="600"/>
              </a:spcAft>
              <a:buFont typeface="Arial" panose="020B0604020202020204" pitchFamily="34" charset="0"/>
              <a:buChar char="•"/>
            </a:pPr>
            <a:r>
              <a:rPr lang="en-IE" altLang="en-US" sz="1600" dirty="0">
                <a:solidFill>
                  <a:schemeClr val="accent1">
                    <a:lumMod val="75000"/>
                  </a:schemeClr>
                </a:solidFill>
              </a:rPr>
              <a:t>The N standard  -  introduced in 2006, it has a transmission speed of </a:t>
            </a:r>
            <a:r>
              <a:rPr lang="en-IE" altLang="en-US" sz="1600" dirty="0" smtClean="0">
                <a:solidFill>
                  <a:schemeClr val="accent1">
                    <a:lumMod val="75000"/>
                  </a:schemeClr>
                </a:solidFill>
              </a:rPr>
              <a:t>540 Mbps </a:t>
            </a:r>
            <a:r>
              <a:rPr lang="en-IE" altLang="en-US" sz="1600" dirty="0">
                <a:solidFill>
                  <a:schemeClr val="accent1">
                    <a:lumMod val="75000"/>
                  </a:schemeClr>
                </a:solidFill>
              </a:rPr>
              <a:t>and a range of 50 metres.</a:t>
            </a:r>
          </a:p>
        </p:txBody>
      </p:sp>
      <p:grpSp>
        <p:nvGrpSpPr>
          <p:cNvPr id="51204" name="Group 1"/>
          <p:cNvGrpSpPr>
            <a:grpSpLocks/>
          </p:cNvGrpSpPr>
          <p:nvPr/>
        </p:nvGrpSpPr>
        <p:grpSpPr bwMode="auto">
          <a:xfrm>
            <a:off x="1447800" y="4335337"/>
            <a:ext cx="6321860" cy="1854306"/>
            <a:chOff x="107338075" y="106218150"/>
            <a:chExt cx="5696600" cy="1579455"/>
          </a:xfrm>
        </p:grpSpPr>
        <p:pic>
          <p:nvPicPr>
            <p:cNvPr id="51205" name="Picture 2" descr="xg-301cw"/>
            <p:cNvPicPr>
              <a:picLocks noChangeAspect="1" noChangeArrowheads="1"/>
            </p:cNvPicPr>
            <p:nvPr/>
          </p:nvPicPr>
          <p:blipFill>
            <a:blip r:embed="rId3">
              <a:extLst>
                <a:ext uri="{28A0092B-C50C-407E-A947-70E740481C1C}">
                  <a14:useLocalDpi xmlns:a14="http://schemas.microsoft.com/office/drawing/2010/main" val="0"/>
                </a:ext>
              </a:extLst>
            </a:blip>
            <a:srcRect l="3703" t="19678" r="3334" b="17166"/>
            <a:stretch>
              <a:fillRect/>
            </a:stretch>
          </p:blipFill>
          <p:spPr bwMode="auto">
            <a:xfrm>
              <a:off x="109382775" y="106218150"/>
              <a:ext cx="2136335" cy="13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51206" name="Picture 3" descr="DWL520PLUS"/>
            <p:cNvPicPr>
              <a:picLocks noChangeAspect="1" noChangeArrowheads="1"/>
            </p:cNvPicPr>
            <p:nvPr/>
          </p:nvPicPr>
          <p:blipFill>
            <a:blip r:embed="rId4">
              <a:extLst>
                <a:ext uri="{28A0092B-C50C-407E-A947-70E740481C1C}">
                  <a14:useLocalDpi xmlns:a14="http://schemas.microsoft.com/office/drawing/2010/main" val="0"/>
                </a:ext>
              </a:extLst>
            </a:blip>
            <a:srcRect t="14789" b="15845"/>
            <a:stretch>
              <a:fillRect/>
            </a:stretch>
          </p:blipFill>
          <p:spPr bwMode="auto">
            <a:xfrm>
              <a:off x="107338075" y="106218150"/>
              <a:ext cx="1846093" cy="13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51207" name="Picture 4" descr="17138740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48800" y="106218150"/>
              <a:ext cx="1285875" cy="13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1208" name="Text Box 5"/>
            <p:cNvSpPr txBox="1">
              <a:spLocks noChangeArrowheads="1"/>
            </p:cNvSpPr>
            <p:nvPr/>
          </p:nvSpPr>
          <p:spPr bwMode="auto">
            <a:xfrm>
              <a:off x="108261121" y="107575517"/>
              <a:ext cx="42862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rgbClr val="000000"/>
                  </a:solidFill>
                  <a:latin typeface="+mn-lt"/>
                </a:rPr>
                <a:t>PCI</a:t>
              </a:r>
              <a:endParaRPr lang="en-US" altLang="en-US" sz="1600" dirty="0">
                <a:latin typeface="+mn-lt"/>
              </a:endParaRPr>
            </a:p>
          </p:txBody>
        </p:sp>
        <p:sp>
          <p:nvSpPr>
            <p:cNvPr id="51209" name="Text Box 6"/>
            <p:cNvSpPr txBox="1">
              <a:spLocks noChangeArrowheads="1"/>
            </p:cNvSpPr>
            <p:nvPr/>
          </p:nvSpPr>
          <p:spPr bwMode="auto">
            <a:xfrm>
              <a:off x="109878624" y="107575517"/>
              <a:ext cx="911467"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rgbClr val="000000"/>
                  </a:solidFill>
                  <a:latin typeface="+mn-lt"/>
                </a:rPr>
                <a:t>PC Card</a:t>
              </a:r>
              <a:endParaRPr lang="en-US" altLang="en-US" sz="1600" dirty="0">
                <a:latin typeface="+mn-lt"/>
              </a:endParaRPr>
            </a:p>
          </p:txBody>
        </p:sp>
        <p:sp>
          <p:nvSpPr>
            <p:cNvPr id="51210" name="Text Box 7"/>
            <p:cNvSpPr txBox="1">
              <a:spLocks noChangeArrowheads="1"/>
            </p:cNvSpPr>
            <p:nvPr/>
          </p:nvSpPr>
          <p:spPr bwMode="auto">
            <a:xfrm>
              <a:off x="111995450" y="107588055"/>
              <a:ext cx="546352"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rgbClr val="000000"/>
                  </a:solidFill>
                  <a:latin typeface="+mn-lt"/>
                </a:rPr>
                <a:t>USB</a:t>
              </a:r>
              <a:endParaRPr lang="en-US" altLang="en-US" sz="1600" dirty="0">
                <a:latin typeface="+mn-lt"/>
              </a:endParaRPr>
            </a:p>
          </p:txBody>
        </p:sp>
      </p:grpSp>
      <p:sp>
        <p:nvSpPr>
          <p:cNvPr id="13" name="Rectangle 2"/>
          <p:cNvSpPr>
            <a:spLocks noGrp="1" noChangeArrowheads="1"/>
          </p:cNvSpPr>
          <p:nvPr>
            <p:ph type="title"/>
          </p:nvPr>
        </p:nvSpPr>
        <p:spPr>
          <a:xfrm>
            <a:off x="229752" y="271457"/>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27011456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292497" y="1490745"/>
            <a:ext cx="8165703"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1" indent="0" algn="just" eaLnBrk="1" hangingPunct="1">
              <a:spcAft>
                <a:spcPts val="600"/>
              </a:spcAft>
            </a:pPr>
            <a:r>
              <a:rPr lang="en-IE" altLang="en-US" sz="1600" b="1" dirty="0">
                <a:solidFill>
                  <a:srgbClr val="C00000"/>
                </a:solidFill>
                <a:latin typeface="Comic Sans MS" panose="030F0702030302020204" pitchFamily="66" charset="0"/>
              </a:rPr>
              <a:t>Modem</a:t>
            </a:r>
          </a:p>
          <a:p>
            <a:pPr marL="742950" lvl="1" indent="-285750" algn="just" eaLnBrk="1" hangingPunct="1">
              <a:spcAft>
                <a:spcPts val="600"/>
              </a:spcAft>
              <a:buFont typeface="Arial" panose="020B0604020202020204" pitchFamily="34" charset="0"/>
              <a:buChar char="•"/>
            </a:pPr>
            <a:endParaRPr lang="en-IE" altLang="en-US" sz="1600" dirty="0" smtClean="0">
              <a:solidFill>
                <a:schemeClr val="accent1">
                  <a:lumMod val="75000"/>
                </a:schemeClr>
              </a:solidFill>
            </a:endParaRPr>
          </a:p>
          <a:p>
            <a:pPr marL="742950" lvl="1" indent="-285750" algn="just" eaLnBrk="1" hangingPunct="1">
              <a:spcAft>
                <a:spcPts val="600"/>
              </a:spcAft>
              <a:buFont typeface="Arial" panose="020B0604020202020204" pitchFamily="34" charset="0"/>
              <a:buChar char="•"/>
            </a:pPr>
            <a:r>
              <a:rPr lang="en-IE" altLang="en-US" sz="1600" dirty="0" smtClean="0">
                <a:solidFill>
                  <a:schemeClr val="accent1">
                    <a:lumMod val="75000"/>
                  </a:schemeClr>
                </a:solidFill>
              </a:rPr>
              <a:t>Internet </a:t>
            </a:r>
            <a:r>
              <a:rPr lang="en-IE" altLang="en-US" sz="1600" dirty="0">
                <a:solidFill>
                  <a:schemeClr val="accent1">
                    <a:lumMod val="75000"/>
                  </a:schemeClr>
                </a:solidFill>
              </a:rPr>
              <a:t>access using a telephone line.</a:t>
            </a:r>
          </a:p>
          <a:p>
            <a:pPr marL="742950" lvl="1" indent="-285750" algn="just" eaLnBrk="1" hangingPunct="1">
              <a:spcAft>
                <a:spcPts val="600"/>
              </a:spcAft>
              <a:buFont typeface="Arial" panose="020B0604020202020204" pitchFamily="34" charset="0"/>
              <a:buChar char="•"/>
            </a:pPr>
            <a:r>
              <a:rPr lang="en-IE" altLang="en-US" sz="1600" dirty="0">
                <a:solidFill>
                  <a:schemeClr val="accent1">
                    <a:lumMod val="75000"/>
                  </a:schemeClr>
                </a:solidFill>
              </a:rPr>
              <a:t>Converts the digital </a:t>
            </a:r>
            <a:r>
              <a:rPr lang="en-IE" altLang="en-US" sz="1600" dirty="0" smtClean="0">
                <a:solidFill>
                  <a:schemeClr val="accent1">
                    <a:lumMod val="75000"/>
                  </a:schemeClr>
                </a:solidFill>
              </a:rPr>
              <a:t>to </a:t>
            </a:r>
            <a:r>
              <a:rPr lang="en-IE" altLang="en-US" sz="1600" dirty="0">
                <a:solidFill>
                  <a:schemeClr val="accent1">
                    <a:lumMod val="75000"/>
                  </a:schemeClr>
                </a:solidFill>
              </a:rPr>
              <a:t>analogue computer data (</a:t>
            </a:r>
            <a:r>
              <a:rPr lang="en-IE" altLang="en-US" sz="1600" b="1" dirty="0">
                <a:solidFill>
                  <a:schemeClr val="accent1">
                    <a:lumMod val="75000"/>
                  </a:schemeClr>
                </a:solidFill>
              </a:rPr>
              <a:t>Mo</a:t>
            </a:r>
            <a:r>
              <a:rPr lang="en-IE" altLang="en-US" sz="1600" dirty="0">
                <a:solidFill>
                  <a:schemeClr val="accent1">
                    <a:lumMod val="75000"/>
                  </a:schemeClr>
                </a:solidFill>
              </a:rPr>
              <a:t>dulation</a:t>
            </a:r>
            <a:r>
              <a:rPr lang="en-IE" altLang="en-US" sz="1600" dirty="0" smtClean="0">
                <a:solidFill>
                  <a:schemeClr val="accent1">
                    <a:lumMod val="75000"/>
                  </a:schemeClr>
                </a:solidFill>
              </a:rPr>
              <a:t>), before </a:t>
            </a:r>
            <a:r>
              <a:rPr lang="en-IE" altLang="en-US" sz="1600" dirty="0">
                <a:solidFill>
                  <a:schemeClr val="accent1">
                    <a:lumMod val="75000"/>
                  </a:schemeClr>
                </a:solidFill>
              </a:rPr>
              <a:t>transmission over the telephone line and converts the analogue data to digital (</a:t>
            </a:r>
            <a:r>
              <a:rPr lang="en-IE" altLang="en-US" sz="1600" b="1" dirty="0" err="1">
                <a:solidFill>
                  <a:schemeClr val="accent1">
                    <a:lumMod val="75000"/>
                  </a:schemeClr>
                </a:solidFill>
              </a:rPr>
              <a:t>DEM</a:t>
            </a:r>
            <a:r>
              <a:rPr lang="en-IE" altLang="en-US" sz="1600" dirty="0" err="1">
                <a:solidFill>
                  <a:schemeClr val="accent1">
                    <a:lumMod val="75000"/>
                  </a:schemeClr>
                </a:solidFill>
              </a:rPr>
              <a:t>odulation</a:t>
            </a:r>
            <a:r>
              <a:rPr lang="en-IE" altLang="en-US" sz="1600" dirty="0">
                <a:solidFill>
                  <a:schemeClr val="accent1">
                    <a:lumMod val="75000"/>
                  </a:schemeClr>
                </a:solidFill>
              </a:rPr>
              <a:t>) before transmission to the computer. The device gets it’s name from these two terms. </a:t>
            </a:r>
          </a:p>
          <a:p>
            <a:pPr eaLnBrk="1" hangingPunct="1"/>
            <a:endParaRPr lang="en-IE" altLang="en-US" sz="2400" dirty="0"/>
          </a:p>
          <a:p>
            <a:pPr eaLnBrk="1" hangingPunct="1"/>
            <a:r>
              <a:rPr lang="en-IE" altLang="en-US" sz="2400" dirty="0"/>
              <a:t> </a:t>
            </a:r>
          </a:p>
          <a:p>
            <a:pPr eaLnBrk="1" hangingPunct="1"/>
            <a:endParaRPr lang="en-IE" altLang="en-US" sz="2400" dirty="0"/>
          </a:p>
          <a:p>
            <a:pPr eaLnBrk="1" hangingPunct="1"/>
            <a:r>
              <a:rPr lang="en-IE" altLang="en-US" dirty="0"/>
              <a:t> </a:t>
            </a:r>
          </a:p>
        </p:txBody>
      </p:sp>
      <p:grpSp>
        <p:nvGrpSpPr>
          <p:cNvPr id="2" name="Group 1"/>
          <p:cNvGrpSpPr>
            <a:grpSpLocks/>
          </p:cNvGrpSpPr>
          <p:nvPr/>
        </p:nvGrpSpPr>
        <p:grpSpPr bwMode="auto">
          <a:xfrm>
            <a:off x="1676400" y="4495800"/>
            <a:ext cx="5257800" cy="1571624"/>
            <a:chOff x="115739550" y="112492350"/>
            <a:chExt cx="4713150" cy="1612800"/>
          </a:xfrm>
        </p:grpSpPr>
        <p:grpSp>
          <p:nvGrpSpPr>
            <p:cNvPr id="52230" name="Group 2"/>
            <p:cNvGrpSpPr>
              <a:grpSpLocks/>
            </p:cNvGrpSpPr>
            <p:nvPr/>
          </p:nvGrpSpPr>
          <p:grpSpPr bwMode="auto">
            <a:xfrm>
              <a:off x="115739550" y="112608300"/>
              <a:ext cx="2420449" cy="1440000"/>
              <a:chOff x="115739550" y="112608300"/>
              <a:chExt cx="2420449" cy="1440000"/>
            </a:xfrm>
          </p:grpSpPr>
          <p:pic>
            <p:nvPicPr>
              <p:cNvPr id="52234" name="Picture 3" descr="Z165-1228"/>
              <p:cNvPicPr>
                <a:picLocks noChangeAspect="1" noChangeArrowheads="1"/>
              </p:cNvPicPr>
              <p:nvPr/>
            </p:nvPicPr>
            <p:blipFill>
              <a:blip r:embed="rId3">
                <a:extLst>
                  <a:ext uri="{28A0092B-C50C-407E-A947-70E740481C1C}">
                    <a14:useLocalDpi xmlns:a14="http://schemas.microsoft.com/office/drawing/2010/main" val="0"/>
                  </a:ext>
                </a:extLst>
              </a:blip>
              <a:srcRect l="3731" t="18768" b="19000"/>
              <a:stretch>
                <a:fillRect/>
              </a:stretch>
            </p:blipFill>
            <p:spPr bwMode="auto">
              <a:xfrm>
                <a:off x="115739550" y="112608300"/>
                <a:ext cx="2420449"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2235" name="Text Box 4"/>
              <p:cNvSpPr txBox="1">
                <a:spLocks noChangeArrowheads="1"/>
              </p:cNvSpPr>
              <p:nvPr/>
            </p:nvSpPr>
            <p:spPr bwMode="auto">
              <a:xfrm>
                <a:off x="115739550" y="113865240"/>
                <a:ext cx="405525" cy="183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latin typeface="+mn-lt"/>
                  </a:rPr>
                  <a:t>PCI</a:t>
                </a:r>
                <a:endParaRPr lang="en-US" altLang="en-US" sz="1600" dirty="0">
                  <a:solidFill>
                    <a:schemeClr val="accent1">
                      <a:lumMod val="75000"/>
                    </a:schemeClr>
                  </a:solidFill>
                  <a:latin typeface="+mn-lt"/>
                </a:endParaRPr>
              </a:p>
            </p:txBody>
          </p:sp>
        </p:grpSp>
        <p:grpSp>
          <p:nvGrpSpPr>
            <p:cNvPr id="52231" name="Group 5"/>
            <p:cNvGrpSpPr>
              <a:grpSpLocks/>
            </p:cNvGrpSpPr>
            <p:nvPr/>
          </p:nvGrpSpPr>
          <p:grpSpPr bwMode="auto">
            <a:xfrm>
              <a:off x="118436700" y="112492350"/>
              <a:ext cx="2016000" cy="1612800"/>
              <a:chOff x="114950550" y="114073500"/>
              <a:chExt cx="2016000" cy="1612800"/>
            </a:xfrm>
          </p:grpSpPr>
          <p:pic>
            <p:nvPicPr>
              <p:cNvPr id="52232" name="Picture 6" descr="sue"/>
              <p:cNvPicPr>
                <a:picLocks noChangeAspect="1" noChangeArrowheads="1"/>
              </p:cNvPicPr>
              <p:nvPr/>
            </p:nvPicPr>
            <p:blipFill>
              <a:blip r:embed="rId4">
                <a:extLst>
                  <a:ext uri="{28A0092B-C50C-407E-A947-70E740481C1C}">
                    <a14:useLocalDpi xmlns:a14="http://schemas.microsoft.com/office/drawing/2010/main" val="0"/>
                  </a:ext>
                </a:extLst>
              </a:blip>
              <a:srcRect t="9584" b="10417"/>
              <a:stretch>
                <a:fillRect/>
              </a:stretch>
            </p:blipFill>
            <p:spPr bwMode="auto">
              <a:xfrm>
                <a:off x="114950550" y="114073500"/>
                <a:ext cx="2016000" cy="16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2233" name="Text Box 7"/>
              <p:cNvSpPr txBox="1">
                <a:spLocks noChangeArrowheads="1"/>
              </p:cNvSpPr>
              <p:nvPr/>
            </p:nvSpPr>
            <p:spPr bwMode="auto">
              <a:xfrm>
                <a:off x="114950550" y="115476750"/>
                <a:ext cx="581563"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latin typeface="+mn-lt"/>
                  </a:rPr>
                  <a:t>USB</a:t>
                </a:r>
                <a:endParaRPr lang="en-US" altLang="en-US" sz="1600" dirty="0">
                  <a:solidFill>
                    <a:schemeClr val="accent1">
                      <a:lumMod val="75000"/>
                    </a:schemeClr>
                  </a:solidFill>
                  <a:latin typeface="+mn-lt"/>
                </a:endParaRPr>
              </a:p>
            </p:txBody>
          </p:sp>
        </p:grpSp>
      </p:grpSp>
      <p:sp>
        <p:nvSpPr>
          <p:cNvPr id="13" name="Rectangle 2"/>
          <p:cNvSpPr>
            <a:spLocks noGrp="1" noChangeArrowheads="1"/>
          </p:cNvSpPr>
          <p:nvPr>
            <p:ph type="title"/>
          </p:nvPr>
        </p:nvSpPr>
        <p:spPr>
          <a:xfrm>
            <a:off x="304800" y="241059"/>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15320391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71500" y="1714500"/>
            <a:ext cx="778668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114300" eaLnBrk="1" hangingPunct="1"/>
            <a:r>
              <a:rPr lang="en-IE" altLang="en-US" sz="1600" b="1" dirty="0">
                <a:solidFill>
                  <a:srgbClr val="C00000"/>
                </a:solidFill>
                <a:latin typeface="Comic Sans MS" panose="030F0702030302020204" pitchFamily="66" charset="0"/>
              </a:rPr>
              <a:t>Hard </a:t>
            </a:r>
            <a:r>
              <a:rPr lang="en-IE" altLang="en-US" sz="1600" b="1" dirty="0" smtClean="0">
                <a:solidFill>
                  <a:srgbClr val="C00000"/>
                </a:solidFill>
                <a:latin typeface="Comic Sans MS" panose="030F0702030302020204" pitchFamily="66" charset="0"/>
              </a:rPr>
              <a:t>Disk</a:t>
            </a:r>
          </a:p>
          <a:p>
            <a:pPr marL="0" indent="-114300" eaLnBrk="1" hangingPunct="1"/>
            <a:endParaRPr lang="en-IE" altLang="en-US" sz="1600" b="1" dirty="0">
              <a:solidFill>
                <a:schemeClr val="accent1">
                  <a:lumMod val="75000"/>
                </a:schemeClr>
              </a:solidFill>
              <a:latin typeface="Comic Sans MS" panose="030F0702030302020204" pitchFamily="66" charset="0"/>
            </a:endParaRPr>
          </a:p>
          <a:p>
            <a:pPr marL="0" indent="-114300" algn="just" eaLnBrk="1" hangingPunct="1"/>
            <a:endParaRPr lang="en-IE" altLang="en-US" sz="1600" b="1" dirty="0">
              <a:solidFill>
                <a:schemeClr val="accent1">
                  <a:lumMod val="75000"/>
                </a:schemeClr>
              </a:solidFill>
              <a:latin typeface="Comic Sans MS" panose="030F0702030302020204" pitchFamily="66" charset="0"/>
            </a:endParaRPr>
          </a:p>
          <a:p>
            <a:pPr algn="just" eaLnBrk="1" hangingPunct="1">
              <a:buFont typeface="Arial" panose="020B0604020202020204" pitchFamily="34" charset="0"/>
              <a:buChar char="•"/>
            </a:pPr>
            <a:r>
              <a:rPr lang="en-IE" altLang="en-US" sz="1600" b="1" dirty="0" smtClean="0">
                <a:solidFill>
                  <a:schemeClr val="accent1">
                    <a:lumMod val="75000"/>
                  </a:schemeClr>
                </a:solidFill>
              </a:rPr>
              <a:t>Primary </a:t>
            </a:r>
            <a:r>
              <a:rPr lang="en-IE" altLang="en-US" sz="1600" b="1" dirty="0">
                <a:solidFill>
                  <a:schemeClr val="accent1">
                    <a:lumMod val="75000"/>
                  </a:schemeClr>
                </a:solidFill>
              </a:rPr>
              <a:t>storage </a:t>
            </a:r>
            <a:r>
              <a:rPr lang="en-IE" altLang="en-US" sz="1600" dirty="0">
                <a:solidFill>
                  <a:schemeClr val="accent1">
                    <a:lumMod val="75000"/>
                  </a:schemeClr>
                </a:solidFill>
              </a:rPr>
              <a:t>(memory) - </a:t>
            </a:r>
            <a:r>
              <a:rPr lang="en-IE" altLang="en-US" sz="1600" dirty="0" smtClean="0">
                <a:solidFill>
                  <a:schemeClr val="accent1">
                    <a:lumMod val="75000"/>
                  </a:schemeClr>
                </a:solidFill>
              </a:rPr>
              <a:t>volatile - contents </a:t>
            </a:r>
            <a:r>
              <a:rPr lang="en-IE" altLang="en-US" sz="1600" dirty="0">
                <a:solidFill>
                  <a:schemeClr val="accent1">
                    <a:lumMod val="75000"/>
                  </a:schemeClr>
                </a:solidFill>
              </a:rPr>
              <a:t>lost when power is turned off.</a:t>
            </a:r>
          </a:p>
          <a:p>
            <a:pPr algn="just" eaLnBrk="1" hangingPunct="1"/>
            <a:endParaRPr lang="en-IE" altLang="en-US" sz="1600" dirty="0">
              <a:solidFill>
                <a:schemeClr val="accent1">
                  <a:lumMod val="75000"/>
                </a:schemeClr>
              </a:solidFill>
            </a:endParaRPr>
          </a:p>
          <a:p>
            <a:pPr algn="just" eaLnBrk="1" hangingPunct="1">
              <a:buFont typeface="Arial" panose="020B0604020202020204" pitchFamily="34" charset="0"/>
              <a:buChar char="•"/>
            </a:pPr>
            <a:r>
              <a:rPr lang="en-IE" altLang="en-US" sz="1600" b="1" dirty="0">
                <a:solidFill>
                  <a:schemeClr val="accent1">
                    <a:lumMod val="75000"/>
                  </a:schemeClr>
                </a:solidFill>
              </a:rPr>
              <a:t>Secondary storage </a:t>
            </a:r>
            <a:r>
              <a:rPr lang="en-IE" altLang="en-US" sz="1600" dirty="0">
                <a:solidFill>
                  <a:schemeClr val="accent1">
                    <a:lumMod val="75000"/>
                  </a:schemeClr>
                </a:solidFill>
              </a:rPr>
              <a:t>(disk drives) </a:t>
            </a:r>
            <a:r>
              <a:rPr lang="en-IE" altLang="en-US" sz="1600" dirty="0" smtClean="0">
                <a:solidFill>
                  <a:schemeClr val="accent1">
                    <a:lumMod val="75000"/>
                  </a:schemeClr>
                </a:solidFill>
              </a:rPr>
              <a:t>- </a:t>
            </a:r>
            <a:r>
              <a:rPr lang="en-IE" altLang="en-US" sz="1600" dirty="0">
                <a:solidFill>
                  <a:schemeClr val="accent1">
                    <a:lumMod val="75000"/>
                  </a:schemeClr>
                </a:solidFill>
              </a:rPr>
              <a:t>non-volatile - </a:t>
            </a:r>
            <a:r>
              <a:rPr lang="en-IE" altLang="en-US" sz="1600" dirty="0" smtClean="0">
                <a:solidFill>
                  <a:schemeClr val="accent1">
                    <a:lumMod val="75000"/>
                  </a:schemeClr>
                </a:solidFill>
              </a:rPr>
              <a:t>can </a:t>
            </a:r>
            <a:r>
              <a:rPr lang="en-IE" altLang="en-US" sz="1600" dirty="0">
                <a:solidFill>
                  <a:schemeClr val="accent1">
                    <a:lumMod val="75000"/>
                  </a:schemeClr>
                </a:solidFill>
              </a:rPr>
              <a:t>store files when power is turned off</a:t>
            </a:r>
            <a:r>
              <a:rPr lang="en-IE" altLang="en-US" sz="1600" dirty="0" smtClean="0">
                <a:solidFill>
                  <a:schemeClr val="accent1">
                    <a:lumMod val="75000"/>
                  </a:schemeClr>
                </a:solidFill>
              </a:rPr>
              <a:t>.</a:t>
            </a:r>
            <a:endParaRPr lang="en-IE" altLang="en-US" sz="1600" dirty="0">
              <a:solidFill>
                <a:schemeClr val="accent1">
                  <a:lumMod val="75000"/>
                </a:schemeClr>
              </a:solidFill>
            </a:endParaRPr>
          </a:p>
        </p:txBody>
      </p:sp>
      <p:sp>
        <p:nvSpPr>
          <p:cNvPr id="8" name="Rectangle 2"/>
          <p:cNvSpPr>
            <a:spLocks noGrp="1" noChangeArrowheads="1"/>
          </p:cNvSpPr>
          <p:nvPr>
            <p:ph type="title"/>
          </p:nvPr>
        </p:nvSpPr>
        <p:spPr>
          <a:xfrm>
            <a:off x="228600" y="257636"/>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167936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33400" y="1143000"/>
            <a:ext cx="792956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algn="just" eaLnBrk="1" hangingPunct="1"/>
            <a:r>
              <a:rPr lang="en-IE" altLang="en-US" sz="1600" b="1" dirty="0" smtClean="0">
                <a:solidFill>
                  <a:srgbClr val="C00000"/>
                </a:solidFill>
                <a:latin typeface="Comic Sans MS" panose="030F0702030302020204" pitchFamily="66" charset="0"/>
              </a:rPr>
              <a:t>Disk drive</a:t>
            </a:r>
          </a:p>
          <a:p>
            <a:pPr algn="just" eaLnBrk="1" hangingPunct="1">
              <a:buFont typeface="Arial" panose="020B0604020202020204" pitchFamily="34" charset="0"/>
              <a:buChar char="•"/>
            </a:pPr>
            <a:endParaRPr lang="en-IE" altLang="en-US" sz="1600" dirty="0">
              <a:solidFill>
                <a:schemeClr val="accent1">
                  <a:lumMod val="75000"/>
                </a:schemeClr>
              </a:solidFill>
            </a:endParaRPr>
          </a:p>
          <a:p>
            <a:pPr algn="just" eaLnBrk="1" hangingPunct="1">
              <a:buFont typeface="Arial" panose="020B0604020202020204" pitchFamily="34" charset="0"/>
              <a:buChar char="•"/>
            </a:pPr>
            <a:r>
              <a:rPr lang="en-IE" altLang="en-US" sz="1600" dirty="0" smtClean="0">
                <a:solidFill>
                  <a:schemeClr val="accent1">
                    <a:lumMod val="75000"/>
                  </a:schemeClr>
                </a:solidFill>
              </a:rPr>
              <a:t>A </a:t>
            </a:r>
            <a:r>
              <a:rPr lang="en-IE" altLang="en-US" sz="1600" dirty="0">
                <a:solidFill>
                  <a:schemeClr val="accent1">
                    <a:lumMod val="75000"/>
                  </a:schemeClr>
                </a:solidFill>
              </a:rPr>
              <a:t>metal disk (</a:t>
            </a:r>
            <a:r>
              <a:rPr lang="en-IE" altLang="en-US" sz="1600" b="1" dirty="0">
                <a:solidFill>
                  <a:schemeClr val="accent1">
                    <a:lumMod val="75000"/>
                  </a:schemeClr>
                </a:solidFill>
              </a:rPr>
              <a:t>platter</a:t>
            </a:r>
            <a:r>
              <a:rPr lang="en-IE" altLang="en-US" sz="1600" dirty="0">
                <a:solidFill>
                  <a:schemeClr val="accent1">
                    <a:lumMod val="75000"/>
                  </a:schemeClr>
                </a:solidFill>
              </a:rPr>
              <a:t>) is coated with tiny iron particles which can be magnetised to </a:t>
            </a:r>
            <a:r>
              <a:rPr lang="en-IE" altLang="en-US" sz="1600" b="1" dirty="0">
                <a:solidFill>
                  <a:schemeClr val="accent1">
                    <a:lumMod val="75000"/>
                  </a:schemeClr>
                </a:solidFill>
              </a:rPr>
              <a:t>north </a:t>
            </a:r>
            <a:r>
              <a:rPr lang="en-IE" altLang="en-US" sz="1600" dirty="0">
                <a:solidFill>
                  <a:schemeClr val="accent1">
                    <a:lumMod val="75000"/>
                  </a:schemeClr>
                </a:solidFill>
              </a:rPr>
              <a:t>and </a:t>
            </a:r>
            <a:r>
              <a:rPr lang="en-IE" altLang="en-US" sz="1600" b="1" dirty="0">
                <a:solidFill>
                  <a:schemeClr val="accent1">
                    <a:lumMod val="75000"/>
                  </a:schemeClr>
                </a:solidFill>
              </a:rPr>
              <a:t>south </a:t>
            </a:r>
            <a:r>
              <a:rPr lang="en-IE" altLang="en-US" sz="1600" dirty="0">
                <a:solidFill>
                  <a:schemeClr val="accent1">
                    <a:lumMod val="75000"/>
                  </a:schemeClr>
                </a:solidFill>
              </a:rPr>
              <a:t>to represent the binary digits 0 and 1. </a:t>
            </a:r>
          </a:p>
          <a:p>
            <a:pPr algn="just" eaLnBrk="1" hangingPunct="1"/>
            <a:endParaRPr lang="en-IE" altLang="en-US" sz="1600" dirty="0">
              <a:solidFill>
                <a:schemeClr val="accent1">
                  <a:lumMod val="75000"/>
                </a:schemeClr>
              </a:solidFill>
            </a:endParaRPr>
          </a:p>
          <a:p>
            <a:pPr algn="just" eaLnBrk="1" hangingPunct="1">
              <a:buFont typeface="Arial" panose="020B0604020202020204" pitchFamily="34" charset="0"/>
              <a:buChar char="•"/>
            </a:pPr>
            <a:r>
              <a:rPr lang="en-IE" altLang="en-US" sz="1600" dirty="0">
                <a:solidFill>
                  <a:schemeClr val="accent1">
                    <a:lumMod val="75000"/>
                  </a:schemeClr>
                </a:solidFill>
              </a:rPr>
              <a:t>A </a:t>
            </a:r>
            <a:r>
              <a:rPr lang="en-IE" altLang="en-US" sz="1600" b="1" dirty="0">
                <a:solidFill>
                  <a:schemeClr val="accent1">
                    <a:lumMod val="75000"/>
                  </a:schemeClr>
                </a:solidFill>
              </a:rPr>
              <a:t>read-write head </a:t>
            </a:r>
            <a:r>
              <a:rPr lang="en-IE" altLang="en-US" sz="1600" dirty="0">
                <a:solidFill>
                  <a:schemeClr val="accent1">
                    <a:lumMod val="75000"/>
                  </a:schemeClr>
                </a:solidFill>
              </a:rPr>
              <a:t>is used to magnetise the particles on the disk surface to represent the data held in RAM. </a:t>
            </a:r>
            <a:r>
              <a:rPr lang="en-IE" altLang="en-US" sz="1600" dirty="0" smtClean="0">
                <a:solidFill>
                  <a:schemeClr val="accent1">
                    <a:lumMod val="75000"/>
                  </a:schemeClr>
                </a:solidFill>
              </a:rPr>
              <a:t>The </a:t>
            </a:r>
            <a:r>
              <a:rPr lang="en-IE" altLang="en-US" sz="1600" dirty="0">
                <a:solidFill>
                  <a:schemeClr val="accent1">
                    <a:lumMod val="75000"/>
                  </a:schemeClr>
                </a:solidFill>
              </a:rPr>
              <a:t>computer can now be switched off and a copy of the data is safe for later use.   </a:t>
            </a:r>
          </a:p>
        </p:txBody>
      </p:sp>
      <p:grpSp>
        <p:nvGrpSpPr>
          <p:cNvPr id="2" name="Group 10"/>
          <p:cNvGrpSpPr>
            <a:grpSpLocks/>
          </p:cNvGrpSpPr>
          <p:nvPr/>
        </p:nvGrpSpPr>
        <p:grpSpPr bwMode="auto">
          <a:xfrm>
            <a:off x="1905001" y="3585642"/>
            <a:ext cx="5943600" cy="3196159"/>
            <a:chOff x="107483775" y="109656150"/>
            <a:chExt cx="5400000" cy="2272187"/>
          </a:xfrm>
        </p:grpSpPr>
        <p:pic>
          <p:nvPicPr>
            <p:cNvPr id="54277" name="Picture 2" descr="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03287" y="109656150"/>
              <a:ext cx="2805201" cy="2025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4278" name="Text Box 3"/>
            <p:cNvSpPr txBox="1">
              <a:spLocks noChangeArrowheads="1"/>
            </p:cNvSpPr>
            <p:nvPr/>
          </p:nvSpPr>
          <p:spPr bwMode="auto">
            <a:xfrm>
              <a:off x="111863043" y="109852212"/>
              <a:ext cx="1020732" cy="882276"/>
            </a:xfrm>
            <a:prstGeom prst="rect">
              <a:avLst/>
            </a:prstGeom>
            <a:noFill/>
            <a:ln w="12700" algn="in">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chemeClr val="accent1">
                      <a:lumMod val="75000"/>
                    </a:schemeClr>
                  </a:solidFill>
                  <a:latin typeface="+mn-lt"/>
                </a:rPr>
                <a:t>Metal disk </a:t>
              </a:r>
            </a:p>
            <a:p>
              <a:pPr algn="ctr" eaLnBrk="1" hangingPunct="1"/>
              <a:r>
                <a:rPr lang="en-IE" altLang="en-US" sz="1400" dirty="0">
                  <a:solidFill>
                    <a:schemeClr val="accent1">
                      <a:lumMod val="75000"/>
                    </a:schemeClr>
                  </a:solidFill>
                  <a:latin typeface="+mn-lt"/>
                </a:rPr>
                <a:t>(platter)</a:t>
              </a:r>
            </a:p>
            <a:p>
              <a:pPr algn="ctr" eaLnBrk="1" hangingPunct="1"/>
              <a:r>
                <a:rPr lang="en-IE" altLang="en-US" sz="1400" dirty="0">
                  <a:solidFill>
                    <a:schemeClr val="accent1">
                      <a:lumMod val="75000"/>
                    </a:schemeClr>
                  </a:solidFill>
                  <a:latin typeface="+mn-lt"/>
                </a:rPr>
                <a:t>covered with iron particles.</a:t>
              </a:r>
              <a:endParaRPr lang="en-US" altLang="en-US" sz="1400" dirty="0">
                <a:solidFill>
                  <a:schemeClr val="accent1">
                    <a:lumMod val="75000"/>
                  </a:schemeClr>
                </a:solidFill>
                <a:latin typeface="+mn-lt"/>
              </a:endParaRPr>
            </a:p>
          </p:txBody>
        </p:sp>
        <p:sp>
          <p:nvSpPr>
            <p:cNvPr id="54279" name="Line 4"/>
            <p:cNvSpPr>
              <a:spLocks noChangeShapeType="1"/>
            </p:cNvSpPr>
            <p:nvPr/>
          </p:nvSpPr>
          <p:spPr bwMode="auto">
            <a:xfrm flipH="1">
              <a:off x="110974019" y="110244335"/>
              <a:ext cx="889024" cy="392123"/>
            </a:xfrm>
            <a:prstGeom prst="line">
              <a:avLst/>
            </a:prstGeom>
            <a:noFill/>
            <a:ln w="19050" algn="ctr">
              <a:solidFill>
                <a:srgbClr val="A50021"/>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54280" name="Text Box 5"/>
            <p:cNvSpPr txBox="1">
              <a:spLocks noChangeArrowheads="1"/>
            </p:cNvSpPr>
            <p:nvPr/>
          </p:nvSpPr>
          <p:spPr bwMode="auto">
            <a:xfrm>
              <a:off x="107483775" y="111274799"/>
              <a:ext cx="1020732" cy="653538"/>
            </a:xfrm>
            <a:prstGeom prst="rect">
              <a:avLst/>
            </a:prstGeom>
            <a:noFill/>
            <a:ln w="12700" algn="in">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chemeClr val="accent1">
                      <a:lumMod val="75000"/>
                    </a:schemeClr>
                  </a:solidFill>
                  <a:latin typeface="+mj-lt"/>
                </a:rPr>
                <a:t>Read-write</a:t>
              </a:r>
            </a:p>
            <a:p>
              <a:pPr algn="ctr" eaLnBrk="1" hangingPunct="1"/>
              <a:r>
                <a:rPr lang="en-IE" altLang="en-US" sz="1400" dirty="0">
                  <a:solidFill>
                    <a:schemeClr val="accent1">
                      <a:lumMod val="75000"/>
                    </a:schemeClr>
                  </a:solidFill>
                  <a:latin typeface="+mj-lt"/>
                </a:rPr>
                <a:t>head</a:t>
              </a:r>
              <a:endParaRPr lang="en-US" altLang="en-US" sz="1400" dirty="0">
                <a:solidFill>
                  <a:schemeClr val="accent1">
                    <a:lumMod val="75000"/>
                  </a:schemeClr>
                </a:solidFill>
                <a:latin typeface="+mj-lt"/>
              </a:endParaRPr>
            </a:p>
          </p:txBody>
        </p:sp>
        <p:sp>
          <p:nvSpPr>
            <p:cNvPr id="54281" name="Line 6"/>
            <p:cNvSpPr>
              <a:spLocks noChangeShapeType="1"/>
            </p:cNvSpPr>
            <p:nvPr/>
          </p:nvSpPr>
          <p:spPr bwMode="auto">
            <a:xfrm flipV="1">
              <a:off x="108504507" y="110734488"/>
              <a:ext cx="1421616" cy="718893"/>
            </a:xfrm>
            <a:prstGeom prst="line">
              <a:avLst/>
            </a:prstGeom>
            <a:noFill/>
            <a:ln w="19050" algn="ctr">
              <a:solidFill>
                <a:srgbClr val="A50021"/>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sp>
        <p:nvSpPr>
          <p:cNvPr id="12" name="Rectangle 2"/>
          <p:cNvSpPr>
            <a:spLocks noGrp="1" noChangeArrowheads="1"/>
          </p:cNvSpPr>
          <p:nvPr>
            <p:ph type="title"/>
          </p:nvPr>
        </p:nvSpPr>
        <p:spPr>
          <a:xfrm>
            <a:off x="228600" y="257636"/>
            <a:ext cx="6992938" cy="504825"/>
          </a:xfrm>
        </p:spPr>
        <p:txBody>
          <a:bodyPr/>
          <a:lstStyle/>
          <a:p>
            <a:pPr algn="l" eaLnBrk="1" hangingPunct="1"/>
            <a:r>
              <a:rPr lang="en-GB" altLang="en-US" sz="1800"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8866769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33400" y="1354681"/>
            <a:ext cx="80391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Hard disks can be </a:t>
            </a:r>
            <a:r>
              <a:rPr lang="en-IE" altLang="en-US" sz="1600" b="1" dirty="0">
                <a:solidFill>
                  <a:schemeClr val="accent1">
                    <a:lumMod val="75000"/>
                  </a:schemeClr>
                </a:solidFill>
              </a:rPr>
              <a:t>internal </a:t>
            </a:r>
            <a:r>
              <a:rPr lang="en-IE" altLang="en-US" sz="1600" dirty="0">
                <a:solidFill>
                  <a:schemeClr val="accent1">
                    <a:lumMod val="75000"/>
                  </a:schemeClr>
                </a:solidFill>
              </a:rPr>
              <a:t>or </a:t>
            </a:r>
            <a:r>
              <a:rPr lang="en-IE" altLang="en-US" sz="1600" b="1" dirty="0">
                <a:solidFill>
                  <a:schemeClr val="accent1">
                    <a:lumMod val="75000"/>
                  </a:schemeClr>
                </a:solidFill>
              </a:rPr>
              <a:t>external</a:t>
            </a:r>
            <a:r>
              <a:rPr lang="en-IE" altLang="en-US" sz="1600" dirty="0">
                <a:solidFill>
                  <a:schemeClr val="accent1">
                    <a:lumMod val="75000"/>
                  </a:schemeClr>
                </a:solidFill>
              </a:rPr>
              <a:t>. </a:t>
            </a:r>
            <a:endParaRPr lang="en-IE" altLang="en-US" sz="1600" dirty="0" smtClean="0">
              <a:solidFill>
                <a:schemeClr val="accent1">
                  <a:lumMod val="75000"/>
                </a:schemeClr>
              </a:solidFill>
            </a:endParaRPr>
          </a:p>
          <a:p>
            <a:pPr algn="just" eaLnBrk="1" hangingPunct="1"/>
            <a:r>
              <a:rPr lang="en-IE" altLang="en-US" sz="1600" dirty="0" smtClean="0">
                <a:solidFill>
                  <a:schemeClr val="accent1">
                    <a:lumMod val="75000"/>
                  </a:schemeClr>
                </a:solidFill>
              </a:rPr>
              <a:t> </a:t>
            </a:r>
          </a:p>
          <a:p>
            <a:pPr algn="just" eaLnBrk="1" hangingPunct="1"/>
            <a:r>
              <a:rPr lang="en-IE" altLang="en-US" sz="1600" b="1" dirty="0" smtClean="0">
                <a:solidFill>
                  <a:schemeClr val="accent1">
                    <a:lumMod val="75000"/>
                  </a:schemeClr>
                </a:solidFill>
              </a:rPr>
              <a:t>Integrated Drive Electronics (IDE)</a:t>
            </a:r>
          </a:p>
          <a:p>
            <a:pPr algn="just" eaLnBrk="1" hangingPunct="1"/>
            <a:endParaRPr lang="en-IE" altLang="en-US" sz="1600" dirty="0">
              <a:solidFill>
                <a:schemeClr val="accent1">
                  <a:lumMod val="75000"/>
                </a:schemeClr>
              </a:solidFill>
            </a:endParaRPr>
          </a:p>
          <a:p>
            <a:pPr algn="just" eaLnBrk="1" hangingPunct="1"/>
            <a:r>
              <a:rPr lang="en-IE" altLang="en-US" sz="1600" dirty="0" smtClean="0">
                <a:solidFill>
                  <a:schemeClr val="accent1">
                    <a:lumMod val="75000"/>
                  </a:schemeClr>
                </a:solidFill>
              </a:rPr>
              <a:t>The disks connect to the motherboard using a ribbon cable. Each cable can hold two drives - </a:t>
            </a:r>
            <a:r>
              <a:rPr lang="en-IE" altLang="en-US" sz="1600" b="1" dirty="0" smtClean="0">
                <a:solidFill>
                  <a:schemeClr val="accent1">
                    <a:lumMod val="75000"/>
                  </a:schemeClr>
                </a:solidFill>
              </a:rPr>
              <a:t>master </a:t>
            </a:r>
            <a:r>
              <a:rPr lang="en-IE" altLang="en-US" sz="1600" dirty="0" smtClean="0">
                <a:solidFill>
                  <a:schemeClr val="accent1">
                    <a:lumMod val="75000"/>
                  </a:schemeClr>
                </a:solidFill>
              </a:rPr>
              <a:t>and </a:t>
            </a:r>
            <a:r>
              <a:rPr lang="en-IE" altLang="en-US" sz="1600" b="1" dirty="0" smtClean="0">
                <a:solidFill>
                  <a:schemeClr val="accent1">
                    <a:lumMod val="75000"/>
                  </a:schemeClr>
                </a:solidFill>
              </a:rPr>
              <a:t>slave</a:t>
            </a:r>
            <a:r>
              <a:rPr lang="en-IE" altLang="en-US" sz="1600" dirty="0" smtClean="0">
                <a:solidFill>
                  <a:schemeClr val="accent1">
                    <a:lumMod val="75000"/>
                  </a:schemeClr>
                </a:solidFill>
              </a:rPr>
              <a:t>. The drive is set as master or slave by positioning a </a:t>
            </a:r>
            <a:r>
              <a:rPr lang="en-IE" altLang="en-US" sz="1600" b="1" dirty="0" smtClean="0">
                <a:solidFill>
                  <a:schemeClr val="accent1">
                    <a:lumMod val="75000"/>
                  </a:schemeClr>
                </a:solidFill>
              </a:rPr>
              <a:t>jumper </a:t>
            </a:r>
            <a:r>
              <a:rPr lang="en-IE" altLang="en-US" sz="1600" dirty="0" smtClean="0">
                <a:solidFill>
                  <a:schemeClr val="accent1">
                    <a:lumMod val="75000"/>
                  </a:schemeClr>
                </a:solidFill>
              </a:rPr>
              <a:t>switch on the back of the drive. There are two IDE connectors and a total of four drives can be connected.</a:t>
            </a:r>
            <a:endParaRPr lang="en-IE" altLang="en-US" sz="1600" dirty="0">
              <a:solidFill>
                <a:schemeClr val="accent1">
                  <a:lumMod val="75000"/>
                </a:schemeClr>
              </a:solidFill>
            </a:endParaRPr>
          </a:p>
        </p:txBody>
      </p:sp>
      <p:grpSp>
        <p:nvGrpSpPr>
          <p:cNvPr id="2" name="Group 3"/>
          <p:cNvGrpSpPr>
            <a:grpSpLocks/>
          </p:cNvGrpSpPr>
          <p:nvPr/>
        </p:nvGrpSpPr>
        <p:grpSpPr bwMode="auto">
          <a:xfrm>
            <a:off x="1301366" y="3814246"/>
            <a:ext cx="6547234" cy="1976954"/>
            <a:chOff x="107411775" y="113580150"/>
            <a:chExt cx="5832000" cy="1224000"/>
          </a:xfrm>
        </p:grpSpPr>
        <p:pic>
          <p:nvPicPr>
            <p:cNvPr id="55301" name="Picture 4" descr="890"/>
            <p:cNvPicPr>
              <a:picLocks noChangeAspect="1" noChangeArrowheads="1"/>
            </p:cNvPicPr>
            <p:nvPr/>
          </p:nvPicPr>
          <p:blipFill>
            <a:blip r:embed="rId3">
              <a:extLst>
                <a:ext uri="{28A0092B-C50C-407E-A947-70E740481C1C}">
                  <a14:useLocalDpi xmlns:a14="http://schemas.microsoft.com/office/drawing/2010/main" val="0"/>
                </a:ext>
              </a:extLst>
            </a:blip>
            <a:srcRect l="27711" t="22195"/>
            <a:stretch>
              <a:fillRect/>
            </a:stretch>
          </p:blipFill>
          <p:spPr bwMode="auto">
            <a:xfrm>
              <a:off x="110399775" y="113580150"/>
              <a:ext cx="211050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nvGrpSpPr>
            <p:cNvPr id="55302" name="Group 5"/>
            <p:cNvGrpSpPr>
              <a:grpSpLocks/>
            </p:cNvGrpSpPr>
            <p:nvPr/>
          </p:nvGrpSpPr>
          <p:grpSpPr bwMode="auto">
            <a:xfrm>
              <a:off x="107411775" y="113580150"/>
              <a:ext cx="2952000" cy="1224000"/>
              <a:chOff x="107411775" y="113580150"/>
              <a:chExt cx="2952000" cy="1224000"/>
            </a:xfrm>
          </p:grpSpPr>
          <p:pic>
            <p:nvPicPr>
              <p:cNvPr id="55305" name="Picture 6" descr="ide7"/>
              <p:cNvPicPr>
                <a:picLocks noChangeAspect="1" noChangeArrowheads="1"/>
              </p:cNvPicPr>
              <p:nvPr/>
            </p:nvPicPr>
            <p:blipFill>
              <a:blip r:embed="rId4">
                <a:extLst>
                  <a:ext uri="{28A0092B-C50C-407E-A947-70E740481C1C}">
                    <a14:useLocalDpi xmlns:a14="http://schemas.microsoft.com/office/drawing/2010/main" val="0"/>
                  </a:ext>
                </a:extLst>
              </a:blip>
              <a:srcRect b="40207"/>
              <a:stretch>
                <a:fillRect/>
              </a:stretch>
            </p:blipFill>
            <p:spPr bwMode="auto">
              <a:xfrm>
                <a:off x="107411775" y="113580150"/>
                <a:ext cx="2535450" cy="12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5306" name="Text Box 7"/>
              <p:cNvSpPr txBox="1">
                <a:spLocks noChangeArrowheads="1"/>
              </p:cNvSpPr>
              <p:nvPr/>
            </p:nvSpPr>
            <p:spPr bwMode="auto">
              <a:xfrm>
                <a:off x="109643775" y="114588150"/>
                <a:ext cx="720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M/board</a:t>
                </a:r>
                <a:endParaRPr lang="en-US" altLang="en-US" sz="1400" dirty="0">
                  <a:solidFill>
                    <a:schemeClr val="accent1">
                      <a:lumMod val="75000"/>
                    </a:schemeClr>
                  </a:solidFill>
                  <a:latin typeface="+mn-lt"/>
                </a:endParaRPr>
              </a:p>
            </p:txBody>
          </p:sp>
          <p:sp>
            <p:nvSpPr>
              <p:cNvPr id="55307" name="Text Box 8"/>
              <p:cNvSpPr txBox="1">
                <a:spLocks noChangeArrowheads="1"/>
              </p:cNvSpPr>
              <p:nvPr/>
            </p:nvSpPr>
            <p:spPr bwMode="auto">
              <a:xfrm>
                <a:off x="107807775" y="114588150"/>
                <a:ext cx="576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Master</a:t>
                </a:r>
                <a:endParaRPr lang="en-US" altLang="en-US" sz="1400" dirty="0">
                  <a:solidFill>
                    <a:schemeClr val="accent1">
                      <a:lumMod val="75000"/>
                    </a:schemeClr>
                  </a:solidFill>
                  <a:latin typeface="+mn-lt"/>
                </a:endParaRPr>
              </a:p>
            </p:txBody>
          </p:sp>
          <p:sp>
            <p:nvSpPr>
              <p:cNvPr id="55308" name="Text Box 9"/>
              <p:cNvSpPr txBox="1">
                <a:spLocks noChangeArrowheads="1"/>
              </p:cNvSpPr>
              <p:nvPr/>
            </p:nvSpPr>
            <p:spPr bwMode="auto">
              <a:xfrm>
                <a:off x="108743775" y="114588150"/>
                <a:ext cx="576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Slave</a:t>
                </a:r>
                <a:endParaRPr lang="en-US" altLang="en-US" sz="1400" dirty="0">
                  <a:solidFill>
                    <a:schemeClr val="accent1">
                      <a:lumMod val="75000"/>
                    </a:schemeClr>
                  </a:solidFill>
                  <a:latin typeface="+mn-lt"/>
                </a:endParaRPr>
              </a:p>
            </p:txBody>
          </p:sp>
        </p:grpSp>
        <p:sp>
          <p:nvSpPr>
            <p:cNvPr id="55303" name="Text Box 10"/>
            <p:cNvSpPr txBox="1">
              <a:spLocks noChangeArrowheads="1"/>
            </p:cNvSpPr>
            <p:nvPr/>
          </p:nvSpPr>
          <p:spPr bwMode="auto">
            <a:xfrm>
              <a:off x="112559775" y="114588150"/>
              <a:ext cx="684000"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Jumper</a:t>
              </a:r>
              <a:endParaRPr lang="en-US" altLang="en-US" sz="1400" dirty="0">
                <a:solidFill>
                  <a:schemeClr val="accent1">
                    <a:lumMod val="75000"/>
                  </a:schemeClr>
                </a:solidFill>
                <a:latin typeface="+mn-lt"/>
              </a:endParaRPr>
            </a:p>
          </p:txBody>
        </p:sp>
        <p:sp>
          <p:nvSpPr>
            <p:cNvPr id="55304" name="Line 11"/>
            <p:cNvSpPr>
              <a:spLocks noChangeShapeType="1"/>
            </p:cNvSpPr>
            <p:nvPr/>
          </p:nvSpPr>
          <p:spPr bwMode="auto">
            <a:xfrm flipH="1" flipV="1">
              <a:off x="111803775" y="114404273"/>
              <a:ext cx="756000" cy="255877"/>
            </a:xfrm>
            <a:prstGeom prst="line">
              <a:avLst/>
            </a:prstGeom>
            <a:noFill/>
            <a:ln w="19050" algn="ctr">
              <a:solidFill>
                <a:srgbClr val="A50021"/>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grpSp>
      <p:sp>
        <p:nvSpPr>
          <p:cNvPr id="14" name="Rectangle 2"/>
          <p:cNvSpPr>
            <a:spLocks noGrp="1" noChangeArrowheads="1"/>
          </p:cNvSpPr>
          <p:nvPr>
            <p:ph type="title"/>
          </p:nvPr>
        </p:nvSpPr>
        <p:spPr>
          <a:xfrm>
            <a:off x="246422" y="293827"/>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3329718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494939" y="1240836"/>
            <a:ext cx="811053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114300" algn="just" eaLnBrk="1" hangingPunct="1"/>
            <a:r>
              <a:rPr lang="en-IE" altLang="en-US" sz="1600" b="1" dirty="0" smtClean="0">
                <a:solidFill>
                  <a:schemeClr val="accent1">
                    <a:lumMod val="75000"/>
                  </a:schemeClr>
                </a:solidFill>
              </a:rPr>
              <a:t>Serial </a:t>
            </a:r>
            <a:r>
              <a:rPr lang="en-IE" altLang="en-US" sz="1600" b="1" dirty="0">
                <a:solidFill>
                  <a:schemeClr val="accent1">
                    <a:lumMod val="75000"/>
                  </a:schemeClr>
                </a:solidFill>
              </a:rPr>
              <a:t>Advanced Technology </a:t>
            </a:r>
            <a:r>
              <a:rPr lang="en-IE" altLang="en-US" sz="1600" b="1" dirty="0" smtClean="0">
                <a:solidFill>
                  <a:schemeClr val="accent1">
                    <a:lumMod val="75000"/>
                  </a:schemeClr>
                </a:solidFill>
              </a:rPr>
              <a:t>Attachment (SATA)</a:t>
            </a:r>
          </a:p>
          <a:p>
            <a:pPr marL="0" indent="-114300" algn="just" eaLnBrk="1" hangingPunct="1"/>
            <a:endParaRPr lang="en-IE" altLang="en-US" sz="1600" dirty="0">
              <a:solidFill>
                <a:schemeClr val="accent1">
                  <a:lumMod val="75000"/>
                </a:schemeClr>
              </a:solidFill>
            </a:endParaRPr>
          </a:p>
          <a:p>
            <a:pPr marL="0" indent="-114300" algn="just" eaLnBrk="1" hangingPunct="1"/>
            <a:r>
              <a:rPr lang="en-IE" altLang="en-US" sz="1600" dirty="0" smtClean="0">
                <a:solidFill>
                  <a:schemeClr val="accent1">
                    <a:lumMod val="75000"/>
                  </a:schemeClr>
                </a:solidFill>
              </a:rPr>
              <a:t>SATA allow </a:t>
            </a:r>
            <a:r>
              <a:rPr lang="en-IE" altLang="en-US" sz="1600" dirty="0">
                <a:solidFill>
                  <a:schemeClr val="accent1">
                    <a:lumMod val="75000"/>
                  </a:schemeClr>
                </a:solidFill>
              </a:rPr>
              <a:t>faster data transfer speeds than Integrated Drive </a:t>
            </a:r>
            <a:r>
              <a:rPr lang="en-IE" altLang="en-US" sz="1600" dirty="0" smtClean="0">
                <a:solidFill>
                  <a:schemeClr val="accent1">
                    <a:lumMod val="75000"/>
                  </a:schemeClr>
                </a:solidFill>
              </a:rPr>
              <a:t>Electronics. There </a:t>
            </a:r>
            <a:r>
              <a:rPr lang="en-IE" altLang="en-US" sz="1600" dirty="0">
                <a:solidFill>
                  <a:schemeClr val="accent1">
                    <a:lumMod val="75000"/>
                  </a:schemeClr>
                </a:solidFill>
              </a:rPr>
              <a:t>is no master/slave arrangement with SATA and each drive has it’s own cable. </a:t>
            </a:r>
            <a:r>
              <a:rPr lang="en-IE" altLang="en-US" sz="1600" dirty="0" smtClean="0">
                <a:solidFill>
                  <a:schemeClr val="accent1">
                    <a:lumMod val="75000"/>
                  </a:schemeClr>
                </a:solidFill>
              </a:rPr>
              <a:t>The </a:t>
            </a:r>
            <a:r>
              <a:rPr lang="en-IE" altLang="en-US" sz="1600" dirty="0">
                <a:solidFill>
                  <a:schemeClr val="accent1">
                    <a:lumMod val="75000"/>
                  </a:schemeClr>
                </a:solidFill>
              </a:rPr>
              <a:t>cables are much smaller and allow better air circulation in the system unit.  </a:t>
            </a:r>
          </a:p>
        </p:txBody>
      </p:sp>
      <p:grpSp>
        <p:nvGrpSpPr>
          <p:cNvPr id="2" name="Group 12"/>
          <p:cNvGrpSpPr>
            <a:grpSpLocks/>
          </p:cNvGrpSpPr>
          <p:nvPr/>
        </p:nvGrpSpPr>
        <p:grpSpPr bwMode="auto">
          <a:xfrm>
            <a:off x="2971800" y="3057398"/>
            <a:ext cx="2878137" cy="800100"/>
            <a:chOff x="109175775" y="106555950"/>
            <a:chExt cx="2877900" cy="800550"/>
          </a:xfrm>
        </p:grpSpPr>
        <p:pic>
          <p:nvPicPr>
            <p:cNvPr id="56331" name="Picture 13" descr="sata18ra1-l"/>
            <p:cNvPicPr>
              <a:picLocks noChangeAspect="1" noChangeArrowheads="1"/>
            </p:cNvPicPr>
            <p:nvPr/>
          </p:nvPicPr>
          <p:blipFill>
            <a:blip r:embed="rId3">
              <a:extLst>
                <a:ext uri="{28A0092B-C50C-407E-A947-70E740481C1C}">
                  <a14:useLocalDpi xmlns:a14="http://schemas.microsoft.com/office/drawing/2010/main" val="0"/>
                </a:ext>
              </a:extLst>
            </a:blip>
            <a:srcRect t="26646" r="19882"/>
            <a:stretch>
              <a:fillRect/>
            </a:stretch>
          </p:blipFill>
          <p:spPr bwMode="auto">
            <a:xfrm>
              <a:off x="109175775" y="106555950"/>
              <a:ext cx="1764000" cy="8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6332" name="Line 14"/>
            <p:cNvSpPr>
              <a:spLocks noChangeShapeType="1"/>
            </p:cNvSpPr>
            <p:nvPr/>
          </p:nvSpPr>
          <p:spPr bwMode="auto">
            <a:xfrm flipH="1">
              <a:off x="110253675" y="106703175"/>
              <a:ext cx="1044000" cy="396000"/>
            </a:xfrm>
            <a:prstGeom prst="line">
              <a:avLst/>
            </a:prstGeom>
            <a:noFill/>
            <a:ln w="19050" algn="ctr">
              <a:solidFill>
                <a:srgbClr val="A50021"/>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56333" name="Text Box 15"/>
            <p:cNvSpPr txBox="1">
              <a:spLocks noChangeArrowheads="1"/>
            </p:cNvSpPr>
            <p:nvPr/>
          </p:nvSpPr>
          <p:spPr bwMode="auto">
            <a:xfrm>
              <a:off x="111297675" y="106632150"/>
              <a:ext cx="756000" cy="504000"/>
            </a:xfrm>
            <a:prstGeom prst="rect">
              <a:avLst/>
            </a:prstGeom>
            <a:noFill/>
            <a:ln w="12700" algn="in">
              <a:no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SATA</a:t>
              </a:r>
            </a:p>
            <a:p>
              <a:pPr eaLnBrk="1" hangingPunct="1"/>
              <a:r>
                <a:rPr lang="en-IE" altLang="en-US" sz="1400" dirty="0">
                  <a:solidFill>
                    <a:schemeClr val="accent1">
                      <a:lumMod val="75000"/>
                    </a:schemeClr>
                  </a:solidFill>
                  <a:latin typeface="+mn-lt"/>
                </a:rPr>
                <a:t>Cable</a:t>
              </a:r>
              <a:endParaRPr lang="en-US" altLang="en-US" sz="1400" dirty="0">
                <a:solidFill>
                  <a:schemeClr val="accent1">
                    <a:lumMod val="75000"/>
                  </a:schemeClr>
                </a:solidFill>
                <a:latin typeface="+mn-lt"/>
              </a:endParaRPr>
            </a:p>
          </p:txBody>
        </p:sp>
      </p:grpSp>
      <p:grpSp>
        <p:nvGrpSpPr>
          <p:cNvPr id="3" name="Group 16"/>
          <p:cNvGrpSpPr>
            <a:grpSpLocks/>
          </p:cNvGrpSpPr>
          <p:nvPr/>
        </p:nvGrpSpPr>
        <p:grpSpPr bwMode="auto">
          <a:xfrm>
            <a:off x="1928807" y="4775200"/>
            <a:ext cx="5462587" cy="1092199"/>
            <a:chOff x="107724000" y="108108150"/>
            <a:chExt cx="5463054" cy="1093274"/>
          </a:xfrm>
        </p:grpSpPr>
        <p:pic>
          <p:nvPicPr>
            <p:cNvPr id="56327" name="Picture 17" descr="672px-SATA_ports"/>
            <p:cNvPicPr>
              <a:picLocks noChangeAspect="1" noChangeArrowheads="1"/>
            </p:cNvPicPr>
            <p:nvPr/>
          </p:nvPicPr>
          <p:blipFill>
            <a:blip r:embed="rId4" cstate="print">
              <a:extLst>
                <a:ext uri="{28A0092B-C50C-407E-A947-70E740481C1C}">
                  <a14:useLocalDpi xmlns:a14="http://schemas.microsoft.com/office/drawing/2010/main" val="0"/>
                </a:ext>
              </a:extLst>
            </a:blip>
            <a:srcRect t="5650" b="9116"/>
            <a:stretch>
              <a:fillRect/>
            </a:stretch>
          </p:blipFill>
          <p:spPr bwMode="auto">
            <a:xfrm>
              <a:off x="111191775" y="108108150"/>
              <a:ext cx="1279380" cy="101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56328" name="Picture 18" descr="800px-ATA_on_mainboard"/>
            <p:cNvPicPr>
              <a:picLocks noChangeAspect="1" noChangeArrowheads="1"/>
            </p:cNvPicPr>
            <p:nvPr/>
          </p:nvPicPr>
          <p:blipFill>
            <a:blip r:embed="rId5" cstate="print">
              <a:extLst>
                <a:ext uri="{28A0092B-C50C-407E-A947-70E740481C1C}">
                  <a14:useLocalDpi xmlns:a14="http://schemas.microsoft.com/office/drawing/2010/main" val="0"/>
                </a:ext>
              </a:extLst>
            </a:blip>
            <a:srcRect l="11310" t="43829" r="6680" b="8420"/>
            <a:stretch>
              <a:fillRect/>
            </a:stretch>
          </p:blipFill>
          <p:spPr bwMode="auto">
            <a:xfrm>
              <a:off x="107724000" y="108226514"/>
              <a:ext cx="2280900" cy="898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6329" name="Text Box 19"/>
            <p:cNvSpPr txBox="1">
              <a:spLocks noChangeArrowheads="1"/>
            </p:cNvSpPr>
            <p:nvPr/>
          </p:nvSpPr>
          <p:spPr bwMode="auto">
            <a:xfrm>
              <a:off x="112487775" y="108864149"/>
              <a:ext cx="699279" cy="33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SATA</a:t>
              </a:r>
              <a:endParaRPr lang="en-US" altLang="en-US" sz="1400" dirty="0">
                <a:solidFill>
                  <a:schemeClr val="accent1">
                    <a:lumMod val="75000"/>
                  </a:schemeClr>
                </a:solidFill>
                <a:latin typeface="+mn-lt"/>
              </a:endParaRPr>
            </a:p>
          </p:txBody>
        </p:sp>
        <p:sp>
          <p:nvSpPr>
            <p:cNvPr id="56330" name="Text Box 20"/>
            <p:cNvSpPr txBox="1">
              <a:spLocks noChangeArrowheads="1"/>
            </p:cNvSpPr>
            <p:nvPr/>
          </p:nvSpPr>
          <p:spPr bwMode="auto">
            <a:xfrm>
              <a:off x="110043000" y="108854624"/>
              <a:ext cx="574341" cy="2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IDE</a:t>
              </a:r>
              <a:endParaRPr lang="en-US" altLang="en-US" sz="1400" dirty="0">
                <a:solidFill>
                  <a:schemeClr val="accent1">
                    <a:lumMod val="75000"/>
                  </a:schemeClr>
                </a:solidFill>
                <a:latin typeface="+mn-lt"/>
              </a:endParaRPr>
            </a:p>
          </p:txBody>
        </p:sp>
      </p:grpSp>
      <p:sp>
        <p:nvSpPr>
          <p:cNvPr id="23" name="TextBox 22"/>
          <p:cNvSpPr txBox="1">
            <a:spLocks noChangeArrowheads="1"/>
          </p:cNvSpPr>
          <p:nvPr/>
        </p:nvSpPr>
        <p:spPr bwMode="auto">
          <a:xfrm>
            <a:off x="709080" y="4271918"/>
            <a:ext cx="50059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smtClean="0">
                <a:solidFill>
                  <a:schemeClr val="accent1">
                    <a:lumMod val="75000"/>
                  </a:schemeClr>
                </a:solidFill>
              </a:rPr>
              <a:t>Motherboard – Hard disks connectors</a:t>
            </a:r>
            <a:endParaRPr lang="en-IE" altLang="en-US" sz="1600" dirty="0">
              <a:solidFill>
                <a:schemeClr val="accent1">
                  <a:lumMod val="75000"/>
                </a:schemeClr>
              </a:solidFill>
            </a:endParaRPr>
          </a:p>
        </p:txBody>
      </p:sp>
      <p:sp>
        <p:nvSpPr>
          <p:cNvPr id="15" name="Rectangle 2"/>
          <p:cNvSpPr>
            <a:spLocks noGrp="1" noChangeArrowheads="1"/>
          </p:cNvSpPr>
          <p:nvPr>
            <p:ph type="title"/>
          </p:nvPr>
        </p:nvSpPr>
        <p:spPr>
          <a:xfrm>
            <a:off x="228600" y="257636"/>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3668959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19641" y="1447800"/>
            <a:ext cx="80724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1698625" algn="l"/>
              </a:tabLst>
              <a:defRPr>
                <a:solidFill>
                  <a:schemeClr val="tx1"/>
                </a:solidFill>
                <a:latin typeface="Arial" panose="020B0604020202020204" pitchFamily="34" charset="0"/>
              </a:defRPr>
            </a:lvl1pPr>
            <a:lvl2pPr marL="914400" indent="-457200" eaLnBrk="0" hangingPunct="0">
              <a:tabLst>
                <a:tab pos="1698625" algn="l"/>
              </a:tabLst>
              <a:defRPr>
                <a:solidFill>
                  <a:schemeClr val="tx1"/>
                </a:solidFill>
                <a:latin typeface="Arial" panose="020B0604020202020204" pitchFamily="34" charset="0"/>
              </a:defRPr>
            </a:lvl2pPr>
            <a:lvl3pPr marL="1143000" indent="-228600" eaLnBrk="0" hangingPunct="0">
              <a:tabLst>
                <a:tab pos="1698625" algn="l"/>
              </a:tabLst>
              <a:defRPr>
                <a:solidFill>
                  <a:schemeClr val="tx1"/>
                </a:solidFill>
                <a:latin typeface="Arial" panose="020B0604020202020204" pitchFamily="34" charset="0"/>
              </a:defRPr>
            </a:lvl3pPr>
            <a:lvl4pPr marL="1600200" indent="-228600" eaLnBrk="0" hangingPunct="0">
              <a:tabLst>
                <a:tab pos="1698625" algn="l"/>
              </a:tabLst>
              <a:defRPr>
                <a:solidFill>
                  <a:schemeClr val="tx1"/>
                </a:solidFill>
                <a:latin typeface="Arial" panose="020B0604020202020204" pitchFamily="34" charset="0"/>
              </a:defRPr>
            </a:lvl4pPr>
            <a:lvl5pPr marL="2057400" indent="-228600" eaLnBrk="0" hangingPunct="0">
              <a:tabLst>
                <a:tab pos="1698625"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698625"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698625"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698625"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698625" algn="l"/>
              </a:tabLst>
              <a:defRPr>
                <a:solidFill>
                  <a:schemeClr val="tx1"/>
                </a:solidFill>
                <a:latin typeface="Arial" panose="020B0604020202020204" pitchFamily="34" charset="0"/>
              </a:defRPr>
            </a:lvl9pPr>
          </a:lstStyle>
          <a:p>
            <a:pPr indent="-457200" algn="just" eaLnBrk="1" hangingPunct="1"/>
            <a:r>
              <a:rPr lang="en-IE" altLang="en-US" sz="1600" b="1" dirty="0" smtClean="0">
                <a:solidFill>
                  <a:srgbClr val="C00000"/>
                </a:solidFill>
                <a:latin typeface="Comic Sans MS" panose="030F0702030302020204" pitchFamily="66" charset="0"/>
              </a:rPr>
              <a:t>Optical </a:t>
            </a:r>
            <a:r>
              <a:rPr lang="en-IE" altLang="en-US" sz="1600" b="1" dirty="0" smtClean="0">
                <a:solidFill>
                  <a:srgbClr val="C00000"/>
                </a:solidFill>
                <a:latin typeface="Comic Sans MS" panose="030F0702030302020204" pitchFamily="66" charset="0"/>
              </a:rPr>
              <a:t>drive</a:t>
            </a:r>
            <a:endParaRPr lang="en-IE" altLang="en-US" sz="1600" b="1" dirty="0" smtClean="0">
              <a:solidFill>
                <a:srgbClr val="C00000"/>
              </a:solidFill>
              <a:latin typeface="Comic Sans MS" panose="030F0702030302020204" pitchFamily="66" charset="0"/>
            </a:endParaRPr>
          </a:p>
          <a:p>
            <a:pPr indent="-457200" algn="just" eaLnBrk="1" hangingPunct="1"/>
            <a:endParaRPr lang="en-IE" altLang="en-US" sz="1600" b="1" dirty="0">
              <a:solidFill>
                <a:schemeClr val="accent1">
                  <a:lumMod val="75000"/>
                </a:schemeClr>
              </a:solidFill>
            </a:endParaRPr>
          </a:p>
          <a:p>
            <a:pPr algn="just" eaLnBrk="1" hangingPunct="1"/>
            <a:r>
              <a:rPr lang="en-IE" altLang="en-US" sz="1600" dirty="0" smtClean="0">
                <a:solidFill>
                  <a:schemeClr val="accent1">
                    <a:lumMod val="75000"/>
                  </a:schemeClr>
                </a:solidFill>
              </a:rPr>
              <a:t>Optical </a:t>
            </a:r>
            <a:r>
              <a:rPr lang="en-IE" altLang="en-US" sz="1600" dirty="0">
                <a:solidFill>
                  <a:schemeClr val="accent1">
                    <a:lumMod val="75000"/>
                  </a:schemeClr>
                </a:solidFill>
              </a:rPr>
              <a:t>drives use lasers to sense </a:t>
            </a:r>
            <a:r>
              <a:rPr lang="en-IE" altLang="en-US" sz="1600" b="1" dirty="0">
                <a:solidFill>
                  <a:schemeClr val="accent1">
                    <a:lumMod val="75000"/>
                  </a:schemeClr>
                </a:solidFill>
              </a:rPr>
              <a:t>pits </a:t>
            </a:r>
            <a:r>
              <a:rPr lang="en-IE" altLang="en-US" sz="1600" dirty="0">
                <a:solidFill>
                  <a:schemeClr val="accent1">
                    <a:lumMod val="75000"/>
                  </a:schemeClr>
                </a:solidFill>
              </a:rPr>
              <a:t>and </a:t>
            </a:r>
            <a:r>
              <a:rPr lang="en-IE" altLang="en-US" sz="1600" b="1" dirty="0">
                <a:solidFill>
                  <a:schemeClr val="accent1">
                    <a:lumMod val="75000"/>
                  </a:schemeClr>
                </a:solidFill>
              </a:rPr>
              <a:t>lands </a:t>
            </a:r>
            <a:r>
              <a:rPr lang="en-IE" altLang="en-US" sz="1600" dirty="0">
                <a:solidFill>
                  <a:schemeClr val="accent1">
                    <a:lumMod val="75000"/>
                  </a:schemeClr>
                </a:solidFill>
              </a:rPr>
              <a:t>mechanically pressed into a polycarbonate disk. </a:t>
            </a:r>
            <a:r>
              <a:rPr lang="en-IE" altLang="en-US" sz="1600" dirty="0" smtClean="0">
                <a:solidFill>
                  <a:schemeClr val="accent1">
                    <a:lumMod val="75000"/>
                  </a:schemeClr>
                </a:solidFill>
              </a:rPr>
              <a:t>These </a:t>
            </a:r>
            <a:r>
              <a:rPr lang="en-IE" altLang="en-US" sz="1600" dirty="0">
                <a:solidFill>
                  <a:schemeClr val="accent1">
                    <a:lumMod val="75000"/>
                  </a:schemeClr>
                </a:solidFill>
              </a:rPr>
              <a:t>pits and lands represent the binary 0’s and 1’s and so can store computer data.   </a:t>
            </a:r>
            <a:endParaRPr lang="en-IE" altLang="en-US" sz="1600" dirty="0" smtClean="0">
              <a:solidFill>
                <a:schemeClr val="accent1">
                  <a:lumMod val="75000"/>
                </a:schemeClr>
              </a:solidFill>
            </a:endParaRPr>
          </a:p>
          <a:p>
            <a:pPr algn="just" eaLnBrk="1" hangingPunct="1">
              <a:buFont typeface="Arial" panose="020B0604020202020204" pitchFamily="34" charset="0"/>
              <a:buChar char="•"/>
            </a:pPr>
            <a:endParaRPr lang="en-IE" altLang="en-US" sz="1600" dirty="0">
              <a:solidFill>
                <a:schemeClr val="accent1">
                  <a:lumMod val="75000"/>
                </a:schemeClr>
              </a:solidFill>
            </a:endParaRPr>
          </a:p>
          <a:p>
            <a:pPr algn="just" eaLnBrk="1" hangingPunct="1"/>
            <a:r>
              <a:rPr lang="en-IE" altLang="en-US" sz="1600" dirty="0" smtClean="0">
                <a:solidFill>
                  <a:schemeClr val="accent1">
                    <a:lumMod val="75000"/>
                  </a:schemeClr>
                </a:solidFill>
              </a:rPr>
              <a:t>A </a:t>
            </a:r>
            <a:r>
              <a:rPr lang="en-IE" altLang="en-US" sz="1600" dirty="0">
                <a:solidFill>
                  <a:schemeClr val="accent1">
                    <a:lumMod val="75000"/>
                  </a:schemeClr>
                </a:solidFill>
              </a:rPr>
              <a:t>thin layer of metal reflect the laser light. </a:t>
            </a:r>
            <a:r>
              <a:rPr lang="en-IE" altLang="en-US" sz="1600" dirty="0" smtClean="0">
                <a:solidFill>
                  <a:schemeClr val="accent1">
                    <a:lumMod val="75000"/>
                  </a:schemeClr>
                </a:solidFill>
              </a:rPr>
              <a:t>As </a:t>
            </a:r>
            <a:r>
              <a:rPr lang="en-IE" altLang="en-US" sz="1600" dirty="0">
                <a:solidFill>
                  <a:schemeClr val="accent1">
                    <a:lumMod val="75000"/>
                  </a:schemeClr>
                </a:solidFill>
              </a:rPr>
              <a:t>the disk rotates, the laser senses the pits and lands and reads the data from the disk. The laser only operates at a </a:t>
            </a:r>
            <a:r>
              <a:rPr lang="en-IE" altLang="en-US" sz="1600" b="1" dirty="0">
                <a:solidFill>
                  <a:schemeClr val="accent1">
                    <a:lumMod val="75000"/>
                  </a:schemeClr>
                </a:solidFill>
              </a:rPr>
              <a:t>single intensity </a:t>
            </a:r>
            <a:r>
              <a:rPr lang="en-IE" altLang="en-US" sz="1600" dirty="0">
                <a:solidFill>
                  <a:schemeClr val="accent1">
                    <a:lumMod val="75000"/>
                  </a:schemeClr>
                </a:solidFill>
              </a:rPr>
              <a:t>as it only scans the surface of the disk to detect the pits and lands. </a:t>
            </a:r>
          </a:p>
        </p:txBody>
      </p:sp>
      <p:grpSp>
        <p:nvGrpSpPr>
          <p:cNvPr id="2" name="Group 20"/>
          <p:cNvGrpSpPr>
            <a:grpSpLocks/>
          </p:cNvGrpSpPr>
          <p:nvPr/>
        </p:nvGrpSpPr>
        <p:grpSpPr bwMode="auto">
          <a:xfrm>
            <a:off x="2514600" y="4423572"/>
            <a:ext cx="4419600" cy="1752600"/>
            <a:chOff x="114878850" y="107208300"/>
            <a:chExt cx="2815875" cy="756000"/>
          </a:xfrm>
        </p:grpSpPr>
        <p:pic>
          <p:nvPicPr>
            <p:cNvPr id="58374" name="Picture 21" descr="_CDVSDVD"/>
            <p:cNvPicPr>
              <a:picLocks noChangeAspect="1" noChangeArrowheads="1"/>
            </p:cNvPicPr>
            <p:nvPr/>
          </p:nvPicPr>
          <p:blipFill>
            <a:blip r:embed="rId3">
              <a:extLst>
                <a:ext uri="{28A0092B-C50C-407E-A947-70E740481C1C}">
                  <a14:useLocalDpi xmlns:a14="http://schemas.microsoft.com/office/drawing/2010/main" val="0"/>
                </a:ext>
              </a:extLst>
            </a:blip>
            <a:srcRect t="23259" r="84126" b="9872"/>
            <a:stretch>
              <a:fillRect/>
            </a:stretch>
          </p:blipFill>
          <p:spPr bwMode="auto">
            <a:xfrm rot="-5400000">
              <a:off x="115985550" y="106758300"/>
              <a:ext cx="756000" cy="16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58375" name="Line 22"/>
            <p:cNvSpPr>
              <a:spLocks noChangeShapeType="1"/>
            </p:cNvSpPr>
            <p:nvPr/>
          </p:nvSpPr>
          <p:spPr bwMode="auto">
            <a:xfrm flipV="1">
              <a:off x="115346850" y="107388300"/>
              <a:ext cx="872700" cy="360000"/>
            </a:xfrm>
            <a:prstGeom prst="line">
              <a:avLst/>
            </a:prstGeom>
            <a:noFill/>
            <a:ln w="19050" algn="ctr">
              <a:solidFill>
                <a:srgbClr val="A50021"/>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58376" name="Line 23"/>
            <p:cNvSpPr>
              <a:spLocks noChangeShapeType="1"/>
            </p:cNvSpPr>
            <p:nvPr/>
          </p:nvSpPr>
          <p:spPr bwMode="auto">
            <a:xfrm flipH="1" flipV="1">
              <a:off x="116795550" y="107460300"/>
              <a:ext cx="611175" cy="289125"/>
            </a:xfrm>
            <a:prstGeom prst="line">
              <a:avLst/>
            </a:prstGeom>
            <a:noFill/>
            <a:ln w="19050" algn="ctr">
              <a:solidFill>
                <a:srgbClr val="A50021"/>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58377" name="Text Box 24"/>
            <p:cNvSpPr txBox="1">
              <a:spLocks noChangeArrowheads="1"/>
            </p:cNvSpPr>
            <p:nvPr/>
          </p:nvSpPr>
          <p:spPr bwMode="auto">
            <a:xfrm>
              <a:off x="117406725" y="107643525"/>
              <a:ext cx="288000" cy="252000"/>
            </a:xfrm>
            <a:prstGeom prst="rect">
              <a:avLst/>
            </a:prstGeom>
            <a:noFill/>
            <a:ln w="12700" algn="in">
              <a:no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cs typeface="Arial" panose="020B0604020202020204" pitchFamily="34" charset="0"/>
                </a:rPr>
                <a:t>Pit</a:t>
              </a:r>
              <a:endParaRPr lang="en-US" altLang="en-US" sz="1400" dirty="0">
                <a:solidFill>
                  <a:schemeClr val="accent1">
                    <a:lumMod val="75000"/>
                  </a:schemeClr>
                </a:solidFill>
                <a:cs typeface="Arial" panose="020B0604020202020204" pitchFamily="34" charset="0"/>
              </a:endParaRPr>
            </a:p>
          </p:txBody>
        </p:sp>
        <p:sp>
          <p:nvSpPr>
            <p:cNvPr id="58378" name="Text Box 25"/>
            <p:cNvSpPr txBox="1">
              <a:spLocks noChangeArrowheads="1"/>
            </p:cNvSpPr>
            <p:nvPr/>
          </p:nvSpPr>
          <p:spPr bwMode="auto">
            <a:xfrm>
              <a:off x="114878850" y="107678400"/>
              <a:ext cx="468000" cy="252000"/>
            </a:xfrm>
            <a:prstGeom prst="rect">
              <a:avLst/>
            </a:prstGeom>
            <a:noFill/>
            <a:ln w="12700" algn="in">
              <a:noFill/>
              <a:miter lim="800000"/>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cs typeface="Arial" panose="020B0604020202020204" pitchFamily="34" charset="0"/>
                </a:rPr>
                <a:t>Land</a:t>
              </a:r>
              <a:endParaRPr lang="en-US" altLang="en-US" sz="1400" dirty="0">
                <a:solidFill>
                  <a:schemeClr val="accent1">
                    <a:lumMod val="75000"/>
                  </a:schemeClr>
                </a:solidFill>
                <a:cs typeface="Arial" panose="020B0604020202020204" pitchFamily="34" charset="0"/>
              </a:endParaRPr>
            </a:p>
          </p:txBody>
        </p:sp>
      </p:grpSp>
      <p:sp>
        <p:nvSpPr>
          <p:cNvPr id="12" name="Rectangle 2"/>
          <p:cNvSpPr>
            <a:spLocks noGrp="1" noChangeArrowheads="1"/>
          </p:cNvSpPr>
          <p:nvPr>
            <p:ph type="title"/>
          </p:nvPr>
        </p:nvSpPr>
        <p:spPr>
          <a:xfrm>
            <a:off x="304800" y="287817"/>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System Devices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3317754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642938" y="1571625"/>
            <a:ext cx="7967662"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smtClean="0">
                <a:solidFill>
                  <a:srgbClr val="C00000"/>
                </a:solidFill>
                <a:latin typeface="Comic Sans MS" panose="030F0702030302020204" pitchFamily="66" charset="0"/>
              </a:rPr>
              <a:t>Monitor</a:t>
            </a:r>
            <a:endParaRPr lang="en-IE" altLang="en-US" sz="1600" b="1" dirty="0">
              <a:solidFill>
                <a:srgbClr val="C00000"/>
              </a:solidFill>
              <a:latin typeface="Comic Sans MS" panose="030F0702030302020204" pitchFamily="66" charset="0"/>
            </a:endParaRPr>
          </a:p>
          <a:p>
            <a:pPr algn="just" eaLnBrk="1" hangingPunct="1"/>
            <a:endParaRPr lang="en-IE" altLang="en-US" sz="1600" dirty="0" smtClean="0">
              <a:solidFill>
                <a:schemeClr val="accent1">
                  <a:lumMod val="75000"/>
                </a:schemeClr>
              </a:solidFill>
            </a:endParaRPr>
          </a:p>
          <a:p>
            <a:pPr algn="just" eaLnBrk="1" hangingPunct="1"/>
            <a:r>
              <a:rPr lang="en-IE" altLang="en-US" sz="1600" dirty="0" smtClean="0">
                <a:solidFill>
                  <a:schemeClr val="accent1">
                    <a:lumMod val="75000"/>
                  </a:schemeClr>
                </a:solidFill>
              </a:rPr>
              <a:t>A computer monitor displays images generated by the graphics card. </a:t>
            </a:r>
          </a:p>
          <a:p>
            <a:pPr algn="just" eaLnBrk="1" hangingPunct="1"/>
            <a:endParaRPr lang="en-IE" altLang="en-US" sz="1600" dirty="0" smtClean="0">
              <a:solidFill>
                <a:schemeClr val="accent1">
                  <a:lumMod val="75000"/>
                </a:schemeClr>
              </a:solidFill>
            </a:endParaRPr>
          </a:p>
          <a:p>
            <a:pPr algn="just" eaLnBrk="1" hangingPunct="1"/>
            <a:r>
              <a:rPr lang="en-IE" altLang="en-US" sz="1600" dirty="0" smtClean="0">
                <a:solidFill>
                  <a:schemeClr val="accent1">
                    <a:lumMod val="75000"/>
                  </a:schemeClr>
                </a:solidFill>
              </a:rPr>
              <a:t>Monitors are almost exclusively </a:t>
            </a:r>
            <a:r>
              <a:rPr lang="en-IE" altLang="en-US" sz="1600" b="1" dirty="0" smtClean="0">
                <a:solidFill>
                  <a:schemeClr val="accent1">
                    <a:lumMod val="75000"/>
                  </a:schemeClr>
                </a:solidFill>
              </a:rPr>
              <a:t>LCD</a:t>
            </a:r>
            <a:r>
              <a:rPr lang="en-IE" altLang="en-US" sz="1600" dirty="0" smtClean="0">
                <a:solidFill>
                  <a:schemeClr val="accent1">
                    <a:lumMod val="75000"/>
                  </a:schemeClr>
                </a:solidFill>
              </a:rPr>
              <a:t> (Liquid Crystal Display).  </a:t>
            </a:r>
          </a:p>
          <a:p>
            <a:pPr algn="just" eaLnBrk="1" hangingPunct="1"/>
            <a:r>
              <a:rPr lang="en-IE" altLang="en-US" sz="1600" b="1" dirty="0" smtClean="0">
                <a:solidFill>
                  <a:schemeClr val="accent1">
                    <a:lumMod val="75000"/>
                  </a:schemeClr>
                </a:solidFill>
              </a:rPr>
              <a:t>CRT</a:t>
            </a:r>
            <a:r>
              <a:rPr lang="en-IE" altLang="en-US" sz="1600" dirty="0" smtClean="0">
                <a:solidFill>
                  <a:schemeClr val="accent1">
                    <a:lumMod val="75000"/>
                  </a:schemeClr>
                </a:solidFill>
              </a:rPr>
              <a:t> (Cathode Ray Tube) monitors are rare and are now as expensive as LCD monitors. </a:t>
            </a:r>
            <a:endParaRPr lang="en-IE" altLang="en-US" sz="1600" dirty="0">
              <a:solidFill>
                <a:schemeClr val="accent1">
                  <a:lumMod val="75000"/>
                </a:schemeClr>
              </a:solidFill>
            </a:endParaRPr>
          </a:p>
        </p:txBody>
      </p:sp>
      <p:sp>
        <p:nvSpPr>
          <p:cNvPr id="12" name="TextBox 11"/>
          <p:cNvSpPr txBox="1">
            <a:spLocks noChangeArrowheads="1"/>
          </p:cNvSpPr>
          <p:nvPr/>
        </p:nvSpPr>
        <p:spPr bwMode="auto">
          <a:xfrm>
            <a:off x="642938" y="1000125"/>
            <a:ext cx="2428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sz="2400" b="1" dirty="0"/>
          </a:p>
        </p:txBody>
      </p:sp>
      <p:grpSp>
        <p:nvGrpSpPr>
          <p:cNvPr id="2" name="Group 4"/>
          <p:cNvGrpSpPr>
            <a:grpSpLocks/>
          </p:cNvGrpSpPr>
          <p:nvPr/>
        </p:nvGrpSpPr>
        <p:grpSpPr bwMode="auto">
          <a:xfrm>
            <a:off x="2743212" y="3906447"/>
            <a:ext cx="5109390" cy="2362200"/>
            <a:chOff x="108530925" y="107428050"/>
            <a:chExt cx="5109514" cy="2362095"/>
          </a:xfrm>
        </p:grpSpPr>
        <p:pic>
          <p:nvPicPr>
            <p:cNvPr id="8200" name="Picture 5" descr="viewsonic_vx2835wm_lcd_monitor"/>
            <p:cNvPicPr>
              <a:picLocks noChangeAspect="1" noChangeArrowheads="1"/>
            </p:cNvPicPr>
            <p:nvPr/>
          </p:nvPicPr>
          <p:blipFill>
            <a:blip r:embed="rId3">
              <a:extLst>
                <a:ext uri="{28A0092B-C50C-407E-A947-70E740481C1C}">
                  <a14:useLocalDpi xmlns:a14="http://schemas.microsoft.com/office/drawing/2010/main" val="0"/>
                </a:ext>
              </a:extLst>
            </a:blip>
            <a:srcRect t="5000" b="5333"/>
            <a:stretch>
              <a:fillRect/>
            </a:stretch>
          </p:blipFill>
          <p:spPr bwMode="auto">
            <a:xfrm>
              <a:off x="108530925" y="107428050"/>
              <a:ext cx="2857500" cy="2362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8201" name="Text Box 6"/>
            <p:cNvSpPr txBox="1">
              <a:spLocks noChangeArrowheads="1"/>
            </p:cNvSpPr>
            <p:nvPr/>
          </p:nvSpPr>
          <p:spPr bwMode="auto">
            <a:xfrm>
              <a:off x="111285624" y="109388916"/>
              <a:ext cx="2354815" cy="27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19 inch Widescreen LCD</a:t>
              </a:r>
              <a:endParaRPr lang="en-US" altLang="en-US" sz="1400" dirty="0">
                <a:solidFill>
                  <a:schemeClr val="accent1">
                    <a:lumMod val="75000"/>
                  </a:schemeClr>
                </a:solidFill>
                <a:latin typeface="+mn-lt"/>
              </a:endParaRPr>
            </a:p>
          </p:txBody>
        </p:sp>
      </p:grpSp>
      <p:sp>
        <p:nvSpPr>
          <p:cNvPr id="8194" name="Control 1"/>
          <p:cNvSpPr>
            <a:spLocks noChangeArrowheads="1" noChangeShapeType="1"/>
          </p:cNvSpPr>
          <p:nvPr/>
        </p:nvSpPr>
        <p:spPr bwMode="auto">
          <a:xfrm>
            <a:off x="7770813" y="6856413"/>
            <a:ext cx="5562600" cy="2513012"/>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8195"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3"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4538818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609600" y="1604064"/>
            <a:ext cx="8120062"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1" indent="0" algn="just" eaLnBrk="1" hangingPunct="1">
              <a:lnSpc>
                <a:spcPct val="150000"/>
              </a:lnSpc>
            </a:pPr>
            <a:endParaRPr lang="en-IE" altLang="en-US" sz="1600" b="1" dirty="0">
              <a:solidFill>
                <a:schemeClr val="accent1">
                  <a:lumMod val="75000"/>
                </a:schemeClr>
              </a:solidFill>
            </a:endParaRPr>
          </a:p>
          <a:p>
            <a:pPr algn="just" eaLnBrk="1" hangingPunct="1"/>
            <a:r>
              <a:rPr lang="en-IE" altLang="en-US" sz="1600" dirty="0">
                <a:solidFill>
                  <a:schemeClr val="accent1">
                    <a:lumMod val="75000"/>
                  </a:schemeClr>
                </a:solidFill>
              </a:rPr>
              <a:t>Most LCD monitors offer a </a:t>
            </a:r>
            <a:r>
              <a:rPr lang="en-IE" altLang="en-US" sz="1600" b="1" dirty="0">
                <a:solidFill>
                  <a:schemeClr val="accent1">
                    <a:lumMod val="75000"/>
                  </a:schemeClr>
                </a:solidFill>
              </a:rPr>
              <a:t>VGA</a:t>
            </a:r>
            <a:r>
              <a:rPr lang="en-IE" altLang="en-US" sz="1600" dirty="0">
                <a:solidFill>
                  <a:schemeClr val="accent1">
                    <a:lumMod val="75000"/>
                  </a:schemeClr>
                </a:solidFill>
              </a:rPr>
              <a:t> and a </a:t>
            </a:r>
            <a:r>
              <a:rPr lang="en-IE" altLang="en-US" sz="1600" b="1" dirty="0">
                <a:solidFill>
                  <a:schemeClr val="accent1">
                    <a:lumMod val="75000"/>
                  </a:schemeClr>
                </a:solidFill>
              </a:rPr>
              <a:t>DVI</a:t>
            </a:r>
            <a:r>
              <a:rPr lang="en-IE" altLang="en-US" sz="1600" dirty="0">
                <a:solidFill>
                  <a:schemeClr val="accent1">
                    <a:lumMod val="75000"/>
                  </a:schemeClr>
                </a:solidFill>
              </a:rPr>
              <a:t> connection.  The VGA connector is used for analogue signals and the DVI connector is used for digital.  As the computer is a digital machine, it is best if no conversion is required and so the best option is the DVI connection.</a:t>
            </a:r>
          </a:p>
        </p:txBody>
      </p:sp>
      <p:grpSp>
        <p:nvGrpSpPr>
          <p:cNvPr id="2" name="Group 4"/>
          <p:cNvGrpSpPr>
            <a:grpSpLocks/>
          </p:cNvGrpSpPr>
          <p:nvPr/>
        </p:nvGrpSpPr>
        <p:grpSpPr bwMode="auto">
          <a:xfrm>
            <a:off x="1654964" y="3657600"/>
            <a:ext cx="5495655" cy="1560343"/>
            <a:chOff x="107916150" y="109603020"/>
            <a:chExt cx="4475700" cy="857488"/>
          </a:xfrm>
        </p:grpSpPr>
        <p:pic>
          <p:nvPicPr>
            <p:cNvPr id="9223" name="Picture 5" descr="dvi"/>
            <p:cNvPicPr>
              <a:picLocks noChangeAspect="1" noChangeArrowheads="1"/>
            </p:cNvPicPr>
            <p:nvPr/>
          </p:nvPicPr>
          <p:blipFill>
            <a:blip r:embed="rId3">
              <a:extLst>
                <a:ext uri="{28A0092B-C50C-407E-A947-70E740481C1C}">
                  <a14:useLocalDpi xmlns:a14="http://schemas.microsoft.com/office/drawing/2010/main" val="0"/>
                </a:ext>
              </a:extLst>
            </a:blip>
            <a:srcRect l="2547" t="16667" r="5788" b="23119"/>
            <a:stretch>
              <a:fillRect/>
            </a:stretch>
          </p:blipFill>
          <p:spPr bwMode="auto">
            <a:xfrm>
              <a:off x="107916150" y="109603020"/>
              <a:ext cx="1838325" cy="51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9224" name="Picture 6" descr="vga_port"/>
            <p:cNvPicPr>
              <a:picLocks noChangeAspect="1" noChangeArrowheads="1"/>
            </p:cNvPicPr>
            <p:nvPr/>
          </p:nvPicPr>
          <p:blipFill>
            <a:blip r:embed="rId4">
              <a:extLst>
                <a:ext uri="{28A0092B-C50C-407E-A947-70E740481C1C}">
                  <a14:useLocalDpi xmlns:a14="http://schemas.microsoft.com/office/drawing/2010/main" val="0"/>
                </a:ext>
              </a:extLst>
            </a:blip>
            <a:srcRect l="14250" t="39667" r="13499" b="27000"/>
            <a:stretch>
              <a:fillRect/>
            </a:stretch>
          </p:blipFill>
          <p:spPr bwMode="auto">
            <a:xfrm>
              <a:off x="110867850" y="109619806"/>
              <a:ext cx="1524000" cy="527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9225" name="Text Box 7"/>
            <p:cNvSpPr txBox="1">
              <a:spLocks noChangeArrowheads="1"/>
            </p:cNvSpPr>
            <p:nvPr/>
          </p:nvSpPr>
          <p:spPr bwMode="auto">
            <a:xfrm>
              <a:off x="108554182" y="110250959"/>
              <a:ext cx="409575" cy="209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DVI</a:t>
              </a:r>
              <a:endParaRPr lang="en-US" altLang="en-US" sz="1400" dirty="0">
                <a:solidFill>
                  <a:schemeClr val="accent1">
                    <a:lumMod val="75000"/>
                  </a:schemeClr>
                </a:solidFill>
                <a:latin typeface="+mn-lt"/>
              </a:endParaRPr>
            </a:p>
          </p:txBody>
        </p:sp>
        <p:sp>
          <p:nvSpPr>
            <p:cNvPr id="9226" name="Text Box 8"/>
            <p:cNvSpPr txBox="1">
              <a:spLocks noChangeArrowheads="1"/>
            </p:cNvSpPr>
            <p:nvPr/>
          </p:nvSpPr>
          <p:spPr bwMode="auto">
            <a:xfrm>
              <a:off x="111470899" y="110250958"/>
              <a:ext cx="48577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VGA</a:t>
              </a:r>
              <a:endParaRPr lang="en-US" altLang="en-US" sz="1400" dirty="0">
                <a:solidFill>
                  <a:schemeClr val="accent1">
                    <a:lumMod val="75000"/>
                  </a:schemeClr>
                </a:solidFill>
                <a:latin typeface="+mn-lt"/>
              </a:endParaRPr>
            </a:p>
          </p:txBody>
        </p:sp>
      </p:grpSp>
      <p:sp>
        <p:nvSpPr>
          <p:cNvPr id="9218" name="Control 1"/>
          <p:cNvSpPr>
            <a:spLocks noChangeArrowheads="1" noChangeShapeType="1"/>
          </p:cNvSpPr>
          <p:nvPr/>
        </p:nvSpPr>
        <p:spPr bwMode="auto">
          <a:xfrm>
            <a:off x="7770813" y="6856413"/>
            <a:ext cx="5562600" cy="2513012"/>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9219"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2"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895789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685800" y="1295400"/>
            <a:ext cx="7929562"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chemeClr val="accent1">
                    <a:lumMod val="75000"/>
                  </a:schemeClr>
                </a:solidFill>
              </a:rPr>
              <a:t>Resolution </a:t>
            </a:r>
          </a:p>
          <a:p>
            <a:pPr algn="just" eaLnBrk="1" hangingPunct="1"/>
            <a:endParaRPr lang="en-IE" altLang="en-US" sz="1600" b="1" dirty="0">
              <a:solidFill>
                <a:schemeClr val="accent1">
                  <a:lumMod val="75000"/>
                </a:schemeClr>
              </a:solidFill>
            </a:endParaRPr>
          </a:p>
          <a:p>
            <a:pPr algn="just" eaLnBrk="1" hangingPunct="1"/>
            <a:r>
              <a:rPr lang="en-IE" altLang="en-US" sz="1600" dirty="0">
                <a:solidFill>
                  <a:schemeClr val="accent1">
                    <a:lumMod val="75000"/>
                  </a:schemeClr>
                </a:solidFill>
              </a:rPr>
              <a:t>Standard monitor</a:t>
            </a:r>
          </a:p>
          <a:p>
            <a:pPr algn="just" eaLnBrk="1" hangingPunct="1">
              <a:lnSpc>
                <a:spcPct val="150000"/>
              </a:lnSpc>
            </a:pPr>
            <a:r>
              <a:rPr lang="en-IE" altLang="en-US" sz="1600" dirty="0">
                <a:solidFill>
                  <a:schemeClr val="accent1">
                    <a:lumMod val="75000"/>
                  </a:schemeClr>
                </a:solidFill>
              </a:rPr>
              <a:t> </a:t>
            </a: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XGA</a:t>
            </a:r>
            <a:r>
              <a:rPr lang="en-IE" altLang="en-US" sz="1600" dirty="0">
                <a:solidFill>
                  <a:schemeClr val="accent1">
                    <a:lumMod val="75000"/>
                  </a:schemeClr>
                </a:solidFill>
              </a:rPr>
              <a:t> (Extended Graphics Array)  -  </a:t>
            </a:r>
            <a:r>
              <a:rPr lang="en-IE" altLang="en-US" sz="1600" b="1" dirty="0">
                <a:solidFill>
                  <a:schemeClr val="accent1">
                    <a:lumMod val="75000"/>
                  </a:schemeClr>
                </a:solidFill>
              </a:rPr>
              <a:t>1024 x 768 </a:t>
            </a:r>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SXGA</a:t>
            </a:r>
            <a:r>
              <a:rPr lang="en-IE" altLang="en-US" sz="1600" dirty="0">
                <a:solidFill>
                  <a:schemeClr val="accent1">
                    <a:lumMod val="75000"/>
                  </a:schemeClr>
                </a:solidFill>
              </a:rPr>
              <a:t> (Super Extended Graphics Array)  -  </a:t>
            </a:r>
            <a:r>
              <a:rPr lang="en-IE" altLang="en-US" sz="1600" b="1" dirty="0">
                <a:solidFill>
                  <a:schemeClr val="accent1">
                    <a:lumMod val="75000"/>
                  </a:schemeClr>
                </a:solidFill>
              </a:rPr>
              <a:t>1280 x 1024</a:t>
            </a:r>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UXGA</a:t>
            </a:r>
            <a:r>
              <a:rPr lang="en-IE" altLang="en-US" sz="1600" dirty="0">
                <a:solidFill>
                  <a:schemeClr val="accent1">
                    <a:lumMod val="75000"/>
                  </a:schemeClr>
                </a:solidFill>
              </a:rPr>
              <a:t> (Ultra Extended Graphics Array)  -  </a:t>
            </a:r>
            <a:r>
              <a:rPr lang="en-IE" altLang="en-US" sz="1600" b="1" dirty="0">
                <a:solidFill>
                  <a:schemeClr val="accent1">
                    <a:lumMod val="75000"/>
                  </a:schemeClr>
                </a:solidFill>
              </a:rPr>
              <a:t>1600 x 1200</a:t>
            </a:r>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QXGA</a:t>
            </a:r>
            <a:r>
              <a:rPr lang="en-IE" altLang="en-US" sz="1600" dirty="0">
                <a:solidFill>
                  <a:schemeClr val="accent1">
                    <a:lumMod val="75000"/>
                  </a:schemeClr>
                </a:solidFill>
              </a:rPr>
              <a:t> (Quad Extended Graphics Array)  -  </a:t>
            </a:r>
            <a:r>
              <a:rPr lang="en-IE" altLang="en-US" sz="1600" b="1" dirty="0">
                <a:solidFill>
                  <a:schemeClr val="accent1">
                    <a:lumMod val="75000"/>
                  </a:schemeClr>
                </a:solidFill>
              </a:rPr>
              <a:t>2048 x 1536</a:t>
            </a:r>
          </a:p>
          <a:p>
            <a:pPr algn="just" eaLnBrk="1" hangingPunct="1"/>
            <a:endParaRPr lang="en-IE" altLang="en-US" sz="1600" b="1" dirty="0">
              <a:solidFill>
                <a:schemeClr val="accent1">
                  <a:lumMod val="75000"/>
                </a:schemeClr>
              </a:solidFill>
            </a:endParaRPr>
          </a:p>
          <a:p>
            <a:pPr algn="just" eaLnBrk="1" hangingPunct="1"/>
            <a:r>
              <a:rPr lang="en-IE" altLang="en-US" sz="1600" dirty="0">
                <a:solidFill>
                  <a:schemeClr val="accent1">
                    <a:lumMod val="75000"/>
                  </a:schemeClr>
                </a:solidFill>
              </a:rPr>
              <a:t>Widescreen</a:t>
            </a:r>
          </a:p>
          <a:p>
            <a:pPr algn="just" eaLnBrk="1" hangingPunct="1"/>
            <a:r>
              <a:rPr lang="en-IE" altLang="en-US" sz="1600" b="1" dirty="0">
                <a:solidFill>
                  <a:schemeClr val="accent1">
                    <a:lumMod val="75000"/>
                  </a:schemeClr>
                </a:solidFill>
              </a:rPr>
              <a:t> </a:t>
            </a:r>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WXGA</a:t>
            </a:r>
            <a:r>
              <a:rPr lang="en-IE" altLang="en-US" sz="1600" dirty="0">
                <a:solidFill>
                  <a:schemeClr val="accent1">
                    <a:lumMod val="75000"/>
                  </a:schemeClr>
                </a:solidFill>
              </a:rPr>
              <a:t> (Wide XGA)  -  </a:t>
            </a:r>
            <a:r>
              <a:rPr lang="en-IE" altLang="en-US" sz="1600" b="1" dirty="0">
                <a:solidFill>
                  <a:schemeClr val="accent1">
                    <a:lumMod val="75000"/>
                  </a:schemeClr>
                </a:solidFill>
              </a:rPr>
              <a:t>1280 x 800</a:t>
            </a:r>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WSXGA</a:t>
            </a:r>
            <a:r>
              <a:rPr lang="en-IE" altLang="en-US" sz="1600" dirty="0">
                <a:solidFill>
                  <a:schemeClr val="accent1">
                    <a:lumMod val="75000"/>
                  </a:schemeClr>
                </a:solidFill>
              </a:rPr>
              <a:t> (Wide SXGA)  -  </a:t>
            </a:r>
            <a:r>
              <a:rPr lang="en-IE" altLang="en-US" sz="1600" b="1" dirty="0">
                <a:solidFill>
                  <a:schemeClr val="accent1">
                    <a:lumMod val="75000"/>
                  </a:schemeClr>
                </a:solidFill>
              </a:rPr>
              <a:t>1680 x 1050</a:t>
            </a:r>
            <a:endParaRPr lang="en-IE" altLang="en-US" sz="1600" dirty="0">
              <a:solidFill>
                <a:schemeClr val="accent1">
                  <a:lumMod val="75000"/>
                </a:schemeClr>
              </a:solidFill>
            </a:endParaRPr>
          </a:p>
          <a:p>
            <a:pPr lvl="1" algn="just" eaLnBrk="1" hangingPunct="1">
              <a:lnSpc>
                <a:spcPct val="150000"/>
              </a:lnSpc>
              <a:buFont typeface="Arial" panose="020B0604020202020204" pitchFamily="34" charset="0"/>
              <a:buChar char="•"/>
            </a:pPr>
            <a:r>
              <a:rPr lang="en-IE" altLang="en-US" sz="1600" b="1" dirty="0">
                <a:solidFill>
                  <a:schemeClr val="accent1">
                    <a:lumMod val="75000"/>
                  </a:schemeClr>
                </a:solidFill>
              </a:rPr>
              <a:t>WUXGA</a:t>
            </a:r>
            <a:r>
              <a:rPr lang="en-IE" altLang="en-US" sz="1600" dirty="0">
                <a:solidFill>
                  <a:schemeClr val="accent1">
                    <a:lumMod val="75000"/>
                  </a:schemeClr>
                </a:solidFill>
              </a:rPr>
              <a:t> (Wide UXGA)  -  </a:t>
            </a:r>
            <a:r>
              <a:rPr lang="en-IE" altLang="en-US" sz="1600" b="1" dirty="0">
                <a:solidFill>
                  <a:schemeClr val="accent1">
                    <a:lumMod val="75000"/>
                  </a:schemeClr>
                </a:solidFill>
              </a:rPr>
              <a:t>1920 x 1200</a:t>
            </a:r>
            <a:r>
              <a:rPr lang="en-IE" altLang="en-US" sz="1600" dirty="0">
                <a:solidFill>
                  <a:schemeClr val="accent1">
                    <a:lumMod val="75000"/>
                  </a:schemeClr>
                </a:solidFill>
              </a:rPr>
              <a:t> </a:t>
            </a:r>
          </a:p>
          <a:p>
            <a:pPr lvl="1" algn="just" eaLnBrk="1" hangingPunct="1">
              <a:buFont typeface="Arial" panose="020B0604020202020204" pitchFamily="34" charset="0"/>
              <a:buChar char="•"/>
            </a:pPr>
            <a:endParaRPr lang="en-IE" altLang="en-US" sz="1600" dirty="0">
              <a:solidFill>
                <a:schemeClr val="accent1">
                  <a:lumMod val="75000"/>
                </a:schemeClr>
              </a:solidFill>
            </a:endParaRPr>
          </a:p>
          <a:p>
            <a:pPr algn="just" eaLnBrk="1" hangingPunct="1"/>
            <a:r>
              <a:rPr lang="en-IE" altLang="en-US" sz="1600" dirty="0">
                <a:solidFill>
                  <a:schemeClr val="accent1">
                    <a:lumMod val="75000"/>
                  </a:schemeClr>
                </a:solidFill>
              </a:rPr>
              <a:t>LCD monitors  -  </a:t>
            </a:r>
            <a:r>
              <a:rPr lang="en-IE" altLang="en-US" sz="1600" b="1" dirty="0">
                <a:solidFill>
                  <a:schemeClr val="accent1">
                    <a:lumMod val="75000"/>
                  </a:schemeClr>
                </a:solidFill>
              </a:rPr>
              <a:t>native resolution </a:t>
            </a:r>
            <a:r>
              <a:rPr lang="en-IE" altLang="en-US" sz="1600" dirty="0">
                <a:solidFill>
                  <a:schemeClr val="accent1">
                    <a:lumMod val="75000"/>
                  </a:schemeClr>
                </a:solidFill>
              </a:rPr>
              <a:t>at which the image is crisp.  Other resolutions are possible but the image quality decreases.  </a:t>
            </a:r>
          </a:p>
        </p:txBody>
      </p:sp>
      <p:sp>
        <p:nvSpPr>
          <p:cNvPr id="10242" name="Control 1"/>
          <p:cNvSpPr>
            <a:spLocks noChangeArrowheads="1" noChangeShapeType="1"/>
          </p:cNvSpPr>
          <p:nvPr/>
        </p:nvSpPr>
        <p:spPr bwMode="auto">
          <a:xfrm>
            <a:off x="7770813" y="6856413"/>
            <a:ext cx="5562600" cy="2513012"/>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0243"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7"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1425165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685800" y="1828800"/>
            <a:ext cx="7929562"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b="1" dirty="0">
                <a:solidFill>
                  <a:srgbClr val="C00000"/>
                </a:solidFill>
                <a:latin typeface="Comic Sans MS" panose="030F0702030302020204" pitchFamily="66" charset="0"/>
              </a:rPr>
              <a:t>Keyboard </a:t>
            </a:r>
          </a:p>
          <a:p>
            <a:pPr eaLnBrk="1" hangingPunct="1"/>
            <a:endParaRPr lang="en-IE" altLang="en-US" sz="1600" b="1" dirty="0">
              <a:solidFill>
                <a:schemeClr val="accent1">
                  <a:lumMod val="75000"/>
                </a:schemeClr>
              </a:solidFill>
            </a:endParaRPr>
          </a:p>
          <a:p>
            <a:pPr algn="just" eaLnBrk="1" hangingPunct="1"/>
            <a:r>
              <a:rPr lang="en-IE" altLang="en-US" sz="1600" dirty="0">
                <a:solidFill>
                  <a:schemeClr val="accent1">
                    <a:lumMod val="75000"/>
                  </a:schemeClr>
                </a:solidFill>
              </a:rPr>
              <a:t>Primary input device  -  divided into sections:  </a:t>
            </a:r>
          </a:p>
          <a:p>
            <a:pPr algn="just" eaLnBrk="1" hangingPunct="1"/>
            <a:r>
              <a:rPr lang="en-IE" altLang="en-US" sz="1600" b="1" dirty="0">
                <a:solidFill>
                  <a:schemeClr val="accent1">
                    <a:lumMod val="75000"/>
                  </a:schemeClr>
                </a:solidFill>
              </a:rPr>
              <a:t> </a:t>
            </a:r>
            <a:endParaRPr lang="en-IE" altLang="en-US" sz="1600" dirty="0">
              <a:solidFill>
                <a:schemeClr val="accent1">
                  <a:lumMod val="75000"/>
                </a:schemeClr>
              </a:solidFill>
            </a:endParaRPr>
          </a:p>
          <a:p>
            <a:pPr marL="742950" lvl="1" indent="-285750" algn="just" eaLnBrk="1" hangingPunct="1">
              <a:buFont typeface="Arial" panose="020B0604020202020204" pitchFamily="34" charset="0"/>
              <a:buChar char="•"/>
            </a:pPr>
            <a:r>
              <a:rPr lang="en-IE" altLang="en-US" sz="1600" b="1" dirty="0">
                <a:solidFill>
                  <a:schemeClr val="accent1">
                    <a:lumMod val="75000"/>
                  </a:schemeClr>
                </a:solidFill>
              </a:rPr>
              <a:t>Typing keys  -  </a:t>
            </a:r>
            <a:r>
              <a:rPr lang="en-IE" altLang="en-US" sz="1600" dirty="0">
                <a:solidFill>
                  <a:schemeClr val="accent1">
                    <a:lumMod val="75000"/>
                  </a:schemeClr>
                </a:solidFill>
              </a:rPr>
              <a:t>contains the letter and number keys, shift keys, spacebar, return key etc.</a:t>
            </a:r>
          </a:p>
          <a:p>
            <a:pPr lvl="1" algn="just" eaLnBrk="1" hangingPunct="1"/>
            <a:endParaRPr lang="en-IE" altLang="en-US" sz="1600" dirty="0">
              <a:solidFill>
                <a:schemeClr val="accent1">
                  <a:lumMod val="75000"/>
                </a:schemeClr>
              </a:solidFill>
            </a:endParaRPr>
          </a:p>
          <a:p>
            <a:pPr marL="742950" lvl="1" indent="-285750" algn="just" eaLnBrk="1" hangingPunct="1">
              <a:buFont typeface="Arial" panose="020B0604020202020204" pitchFamily="34" charset="0"/>
              <a:buChar char="•"/>
            </a:pPr>
            <a:r>
              <a:rPr lang="en-IE" altLang="en-US" sz="1600" b="1" dirty="0">
                <a:solidFill>
                  <a:schemeClr val="accent1">
                    <a:lumMod val="75000"/>
                  </a:schemeClr>
                </a:solidFill>
              </a:rPr>
              <a:t>Numeric keypad  -  </a:t>
            </a:r>
            <a:r>
              <a:rPr lang="en-IE" altLang="en-US" sz="1600" dirty="0">
                <a:solidFill>
                  <a:schemeClr val="accent1">
                    <a:lumMod val="75000"/>
                  </a:schemeClr>
                </a:solidFill>
              </a:rPr>
              <a:t>These keys are arranged as on a calculator.</a:t>
            </a:r>
          </a:p>
          <a:p>
            <a:pPr lvl="1" algn="just" eaLnBrk="1" hangingPunct="1"/>
            <a:endParaRPr lang="en-IE" altLang="en-US" sz="1600" dirty="0">
              <a:solidFill>
                <a:schemeClr val="accent1">
                  <a:lumMod val="75000"/>
                </a:schemeClr>
              </a:solidFill>
            </a:endParaRPr>
          </a:p>
          <a:p>
            <a:pPr marL="742950" lvl="1" indent="-285750" algn="just" eaLnBrk="1" hangingPunct="1">
              <a:buFont typeface="Arial" panose="020B0604020202020204" pitchFamily="34" charset="0"/>
              <a:buChar char="•"/>
            </a:pPr>
            <a:r>
              <a:rPr lang="en-IE" altLang="en-US" sz="1600" b="1" dirty="0">
                <a:solidFill>
                  <a:schemeClr val="accent1">
                    <a:lumMod val="75000"/>
                  </a:schemeClr>
                </a:solidFill>
              </a:rPr>
              <a:t>Function keys  -  </a:t>
            </a:r>
            <a:r>
              <a:rPr lang="en-IE" altLang="en-US" sz="1600" dirty="0">
                <a:solidFill>
                  <a:schemeClr val="accent1">
                    <a:lumMod val="75000"/>
                  </a:schemeClr>
                </a:solidFill>
              </a:rPr>
              <a:t>programmable keys used by software for special functions. </a:t>
            </a:r>
            <a:r>
              <a:rPr lang="en-IE" altLang="en-US" sz="1600" dirty="0" smtClean="0">
                <a:solidFill>
                  <a:schemeClr val="accent1">
                    <a:lumMod val="75000"/>
                  </a:schemeClr>
                </a:solidFill>
              </a:rPr>
              <a:t>(ex:  </a:t>
            </a:r>
            <a:r>
              <a:rPr lang="en-IE" altLang="en-US" sz="1600" dirty="0">
                <a:solidFill>
                  <a:schemeClr val="accent1">
                    <a:lumMod val="75000"/>
                  </a:schemeClr>
                </a:solidFill>
              </a:rPr>
              <a:t>F1  -  </a:t>
            </a:r>
            <a:r>
              <a:rPr lang="en-IE" altLang="en-US" sz="1600" dirty="0" smtClean="0">
                <a:solidFill>
                  <a:schemeClr val="accent1">
                    <a:lumMod val="75000"/>
                  </a:schemeClr>
                </a:solidFill>
              </a:rPr>
              <a:t>Help).</a:t>
            </a:r>
            <a:endParaRPr lang="en-IE" altLang="en-US" sz="1600" dirty="0">
              <a:solidFill>
                <a:schemeClr val="accent1">
                  <a:lumMod val="75000"/>
                </a:schemeClr>
              </a:solidFill>
            </a:endParaRPr>
          </a:p>
          <a:p>
            <a:pPr lvl="1" algn="just" eaLnBrk="1" hangingPunct="1"/>
            <a:endParaRPr lang="en-IE" altLang="en-US" sz="1600" dirty="0">
              <a:solidFill>
                <a:schemeClr val="accent1">
                  <a:lumMod val="75000"/>
                </a:schemeClr>
              </a:solidFill>
            </a:endParaRPr>
          </a:p>
          <a:p>
            <a:pPr marL="742950" lvl="1" indent="-285750" algn="just" eaLnBrk="1" hangingPunct="1">
              <a:buFont typeface="Arial" panose="020B0604020202020204" pitchFamily="34" charset="0"/>
              <a:buChar char="•"/>
            </a:pPr>
            <a:r>
              <a:rPr lang="en-IE" altLang="en-US" sz="1600" b="1" dirty="0">
                <a:solidFill>
                  <a:schemeClr val="accent1">
                    <a:lumMod val="75000"/>
                  </a:schemeClr>
                </a:solidFill>
              </a:rPr>
              <a:t>Control keys  -  </a:t>
            </a:r>
            <a:r>
              <a:rPr lang="en-IE" altLang="en-US" sz="1600" dirty="0">
                <a:solidFill>
                  <a:schemeClr val="accent1">
                    <a:lumMod val="75000"/>
                  </a:schemeClr>
                </a:solidFill>
              </a:rPr>
              <a:t>screen and cursor control.</a:t>
            </a:r>
          </a:p>
        </p:txBody>
      </p:sp>
      <p:sp>
        <p:nvSpPr>
          <p:cNvPr id="11266" name="Control 1"/>
          <p:cNvSpPr>
            <a:spLocks noChangeArrowheads="1" noChangeShapeType="1"/>
          </p:cNvSpPr>
          <p:nvPr/>
        </p:nvSpPr>
        <p:spPr bwMode="auto">
          <a:xfrm>
            <a:off x="7770813" y="6856413"/>
            <a:ext cx="5562600" cy="2513012"/>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1267"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7"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3803126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147638" y="1223267"/>
            <a:ext cx="83486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lnSpc>
                <a:spcPct val="150000"/>
              </a:lnSpc>
              <a:buFont typeface="Arial" panose="020B0604020202020204" pitchFamily="34" charset="0"/>
              <a:buChar char="•"/>
            </a:pPr>
            <a:r>
              <a:rPr lang="en-IE" altLang="en-US" sz="1600" dirty="0">
                <a:solidFill>
                  <a:schemeClr val="accent1">
                    <a:lumMod val="75000"/>
                  </a:schemeClr>
                </a:solidFill>
              </a:rPr>
              <a:t>Most common arrangement is called </a:t>
            </a:r>
            <a:r>
              <a:rPr lang="en-IE" altLang="en-US" sz="1600" b="1" dirty="0">
                <a:solidFill>
                  <a:schemeClr val="accent1">
                    <a:lumMod val="75000"/>
                  </a:schemeClr>
                </a:solidFill>
              </a:rPr>
              <a:t>QWERTY </a:t>
            </a:r>
            <a:r>
              <a:rPr lang="en-IE" altLang="en-US" sz="1600" dirty="0">
                <a:solidFill>
                  <a:schemeClr val="accent1">
                    <a:lumMod val="75000"/>
                  </a:schemeClr>
                </a:solidFill>
              </a:rPr>
              <a:t>after the first six keys.  </a:t>
            </a:r>
          </a:p>
          <a:p>
            <a:pPr lvl="1" eaLnBrk="1" hangingPunct="1">
              <a:lnSpc>
                <a:spcPct val="150000"/>
              </a:lnSpc>
              <a:buFont typeface="Arial" panose="020B0604020202020204" pitchFamily="34" charset="0"/>
              <a:buChar char="•"/>
            </a:pPr>
            <a:r>
              <a:rPr lang="en-IE" altLang="en-US" sz="1600" dirty="0">
                <a:solidFill>
                  <a:schemeClr val="accent1">
                    <a:lumMod val="75000"/>
                  </a:schemeClr>
                </a:solidFill>
              </a:rPr>
              <a:t>Other arrangements are available including </a:t>
            </a:r>
            <a:r>
              <a:rPr lang="en-IE" altLang="en-US" sz="1600" b="1" dirty="0">
                <a:solidFill>
                  <a:schemeClr val="accent1">
                    <a:lumMod val="75000"/>
                  </a:schemeClr>
                </a:solidFill>
              </a:rPr>
              <a:t>Dvorak</a:t>
            </a:r>
            <a:r>
              <a:rPr lang="en-IE" altLang="en-US" sz="1600" dirty="0">
                <a:solidFill>
                  <a:schemeClr val="accent1">
                    <a:lumMod val="75000"/>
                  </a:schemeClr>
                </a:solidFill>
              </a:rPr>
              <a:t>, </a:t>
            </a:r>
            <a:r>
              <a:rPr lang="en-IE" altLang="en-US" sz="1600" b="1" dirty="0">
                <a:solidFill>
                  <a:schemeClr val="accent1">
                    <a:lumMod val="75000"/>
                  </a:schemeClr>
                </a:solidFill>
              </a:rPr>
              <a:t>ABCDEF</a:t>
            </a:r>
            <a:r>
              <a:rPr lang="en-IE" altLang="en-US" sz="1600" dirty="0">
                <a:solidFill>
                  <a:schemeClr val="accent1">
                    <a:lumMod val="75000"/>
                  </a:schemeClr>
                </a:solidFill>
              </a:rPr>
              <a:t>, </a:t>
            </a:r>
            <a:r>
              <a:rPr lang="en-IE" altLang="en-US" sz="1600" b="1" dirty="0">
                <a:solidFill>
                  <a:schemeClr val="accent1">
                    <a:lumMod val="75000"/>
                  </a:schemeClr>
                </a:solidFill>
              </a:rPr>
              <a:t>AZERTY </a:t>
            </a:r>
            <a:r>
              <a:rPr lang="en-IE" altLang="en-US" sz="1600" dirty="0">
                <a:solidFill>
                  <a:schemeClr val="accent1">
                    <a:lumMod val="75000"/>
                  </a:schemeClr>
                </a:solidFill>
              </a:rPr>
              <a:t>etc.</a:t>
            </a:r>
          </a:p>
          <a:p>
            <a:pPr eaLnBrk="1" hangingPunct="1">
              <a:lnSpc>
                <a:spcPct val="150000"/>
              </a:lnSpc>
            </a:pPr>
            <a:endParaRPr lang="en-IE" altLang="en-US" sz="1600" b="1" dirty="0">
              <a:solidFill>
                <a:schemeClr val="accent1">
                  <a:lumMod val="75000"/>
                </a:schemeClr>
              </a:solidFill>
            </a:endParaRPr>
          </a:p>
        </p:txBody>
      </p:sp>
      <p:grpSp>
        <p:nvGrpSpPr>
          <p:cNvPr id="2" name="Group 7"/>
          <p:cNvGrpSpPr>
            <a:grpSpLocks/>
          </p:cNvGrpSpPr>
          <p:nvPr/>
        </p:nvGrpSpPr>
        <p:grpSpPr bwMode="auto">
          <a:xfrm>
            <a:off x="2071688" y="2928938"/>
            <a:ext cx="4500562" cy="3714750"/>
            <a:chOff x="2071670" y="2928934"/>
            <a:chExt cx="4500594" cy="3714752"/>
          </a:xfrm>
        </p:grpSpPr>
        <p:pic>
          <p:nvPicPr>
            <p:cNvPr id="1229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70" y="2928934"/>
              <a:ext cx="4500594" cy="3404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2296" name="Text Box 6"/>
            <p:cNvSpPr txBox="1">
              <a:spLocks noChangeArrowheads="1"/>
            </p:cNvSpPr>
            <p:nvPr/>
          </p:nvSpPr>
          <p:spPr bwMode="auto">
            <a:xfrm>
              <a:off x="2122143" y="4447656"/>
              <a:ext cx="1195915" cy="310428"/>
            </a:xfrm>
            <a:prstGeom prst="rect">
              <a:avLst/>
            </a:prstGeom>
            <a:solidFill>
              <a:srgbClr val="FFFFFF"/>
            </a:solidFill>
            <a:ln>
              <a:noFill/>
            </a:ln>
            <a:extLs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QWERTY</a:t>
              </a:r>
              <a:endParaRPr lang="en-US" altLang="en-US" sz="1400" dirty="0">
                <a:solidFill>
                  <a:schemeClr val="accent1">
                    <a:lumMod val="75000"/>
                  </a:schemeClr>
                </a:solidFill>
                <a:latin typeface="+mn-lt"/>
              </a:endParaRPr>
            </a:p>
          </p:txBody>
        </p:sp>
        <p:sp>
          <p:nvSpPr>
            <p:cNvPr id="12297" name="Text Box 7"/>
            <p:cNvSpPr txBox="1">
              <a:spLocks noChangeArrowheads="1"/>
            </p:cNvSpPr>
            <p:nvPr/>
          </p:nvSpPr>
          <p:spPr bwMode="auto">
            <a:xfrm>
              <a:off x="2146062" y="6333258"/>
              <a:ext cx="1195915" cy="310428"/>
            </a:xfrm>
            <a:prstGeom prst="rect">
              <a:avLst/>
            </a:prstGeom>
            <a:solidFill>
              <a:srgbClr val="FFFFFF"/>
            </a:solidFill>
            <a:ln>
              <a:noFill/>
            </a:ln>
            <a:extLs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smtClean="0">
                  <a:solidFill>
                    <a:schemeClr val="accent1">
                      <a:lumMod val="75000"/>
                    </a:schemeClr>
                  </a:solidFill>
                  <a:latin typeface="+mn-lt"/>
                </a:rPr>
                <a:t>DVORAK</a:t>
              </a:r>
              <a:endParaRPr lang="en-US" altLang="en-US" sz="1400" dirty="0">
                <a:solidFill>
                  <a:schemeClr val="accent1">
                    <a:lumMod val="75000"/>
                  </a:schemeClr>
                </a:solidFill>
                <a:latin typeface="+mn-lt"/>
              </a:endParaRPr>
            </a:p>
          </p:txBody>
        </p:sp>
      </p:grpSp>
      <p:sp>
        <p:nvSpPr>
          <p:cNvPr id="12290" name="Control 1"/>
          <p:cNvSpPr>
            <a:spLocks noChangeArrowheads="1" noChangeShapeType="1"/>
          </p:cNvSpPr>
          <p:nvPr/>
        </p:nvSpPr>
        <p:spPr bwMode="auto">
          <a:xfrm>
            <a:off x="7770813" y="6856413"/>
            <a:ext cx="5562600" cy="2513012"/>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2291"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1"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39746310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642938" y="1143000"/>
            <a:ext cx="8001000"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dirty="0">
                <a:solidFill>
                  <a:schemeClr val="accent1">
                    <a:lumMod val="75000"/>
                  </a:schemeClr>
                </a:solidFill>
              </a:rPr>
              <a:t>Keyboards are available wired or wireless:</a:t>
            </a:r>
          </a:p>
          <a:p>
            <a:pPr eaLnBrk="1" hangingPunct="1"/>
            <a:r>
              <a:rPr lang="en-IE" altLang="en-US" sz="1600" dirty="0">
                <a:solidFill>
                  <a:schemeClr val="accent1">
                    <a:lumMod val="75000"/>
                  </a:schemeClr>
                </a:solidFill>
              </a:rPr>
              <a:t> </a:t>
            </a:r>
          </a:p>
          <a:p>
            <a:pPr lvl="1" eaLnBrk="1" hangingPunct="1">
              <a:lnSpc>
                <a:spcPct val="150000"/>
              </a:lnSpc>
              <a:buFont typeface="Arial" panose="020B0604020202020204" pitchFamily="34" charset="0"/>
              <a:buChar char="•"/>
            </a:pPr>
            <a:r>
              <a:rPr lang="en-IE" altLang="en-US" sz="1600" b="1" dirty="0">
                <a:solidFill>
                  <a:schemeClr val="accent1">
                    <a:lumMod val="75000"/>
                  </a:schemeClr>
                </a:solidFill>
              </a:rPr>
              <a:t>Wired</a:t>
            </a:r>
            <a:r>
              <a:rPr lang="en-IE" altLang="en-US" sz="1600" dirty="0">
                <a:solidFill>
                  <a:schemeClr val="accent1">
                    <a:lumMod val="75000"/>
                  </a:schemeClr>
                </a:solidFill>
              </a:rPr>
              <a:t>  -  These are either </a:t>
            </a:r>
            <a:r>
              <a:rPr lang="en-IE" altLang="en-US" sz="1600" b="1" dirty="0">
                <a:solidFill>
                  <a:schemeClr val="accent1">
                    <a:lumMod val="75000"/>
                  </a:schemeClr>
                </a:solidFill>
              </a:rPr>
              <a:t>PS/2 </a:t>
            </a:r>
            <a:r>
              <a:rPr lang="en-IE" altLang="en-US" sz="1600" dirty="0">
                <a:solidFill>
                  <a:schemeClr val="accent1">
                    <a:lumMod val="75000"/>
                  </a:schemeClr>
                </a:solidFill>
              </a:rPr>
              <a:t>or </a:t>
            </a:r>
            <a:r>
              <a:rPr lang="en-IE" altLang="en-US" sz="1600" b="1" dirty="0">
                <a:solidFill>
                  <a:schemeClr val="accent1">
                    <a:lumMod val="75000"/>
                  </a:schemeClr>
                </a:solidFill>
              </a:rPr>
              <a:t>USB</a:t>
            </a:r>
            <a:r>
              <a:rPr lang="en-IE" altLang="en-US" sz="1600" dirty="0">
                <a:solidFill>
                  <a:schemeClr val="accent1">
                    <a:lumMod val="75000"/>
                  </a:schemeClr>
                </a:solidFill>
              </a:rPr>
              <a:t>.  </a:t>
            </a:r>
          </a:p>
          <a:p>
            <a:pPr lvl="1" eaLnBrk="1" hangingPunct="1">
              <a:lnSpc>
                <a:spcPct val="150000"/>
              </a:lnSpc>
              <a:buFont typeface="Arial" panose="020B0604020202020204" pitchFamily="34" charset="0"/>
              <a:buChar char="•"/>
            </a:pPr>
            <a:r>
              <a:rPr lang="en-IE" altLang="en-US" sz="1600" b="1" dirty="0">
                <a:solidFill>
                  <a:schemeClr val="accent1">
                    <a:lumMod val="75000"/>
                  </a:schemeClr>
                </a:solidFill>
              </a:rPr>
              <a:t>Wireless</a:t>
            </a:r>
            <a:r>
              <a:rPr lang="en-IE" altLang="en-US" sz="1600" dirty="0">
                <a:solidFill>
                  <a:schemeClr val="accent1">
                    <a:lumMod val="75000"/>
                  </a:schemeClr>
                </a:solidFill>
              </a:rPr>
              <a:t>  -  The keyboard uses batteries.</a:t>
            </a:r>
          </a:p>
          <a:p>
            <a:pPr lvl="1" eaLnBrk="1" hangingPunct="1">
              <a:buFont typeface="Arial" panose="020B0604020202020204" pitchFamily="34" charset="0"/>
              <a:buChar char="•"/>
            </a:pPr>
            <a:endParaRPr lang="en-IE" altLang="en-US" sz="1600" dirty="0">
              <a:solidFill>
                <a:schemeClr val="accent1">
                  <a:lumMod val="75000"/>
                </a:schemeClr>
              </a:solidFill>
            </a:endParaRPr>
          </a:p>
          <a:p>
            <a:pPr lvl="1" eaLnBrk="1" hangingPunct="1">
              <a:buFont typeface="Arial" panose="020B0604020202020204" pitchFamily="34" charset="0"/>
              <a:buChar char="•"/>
            </a:pPr>
            <a:endParaRPr lang="en-IE" altLang="en-US" sz="1600" dirty="0">
              <a:solidFill>
                <a:schemeClr val="accent1">
                  <a:lumMod val="75000"/>
                </a:schemeClr>
              </a:solidFill>
            </a:endParaRPr>
          </a:p>
          <a:p>
            <a:pPr lvl="1" eaLnBrk="1" hangingPunct="1">
              <a:buFont typeface="Arial" panose="020B0604020202020204" pitchFamily="34" charset="0"/>
              <a:buChar char="•"/>
            </a:pPr>
            <a:endParaRPr lang="en-IE" altLang="en-US" sz="1600" dirty="0" smtClean="0">
              <a:solidFill>
                <a:schemeClr val="accent1">
                  <a:lumMod val="75000"/>
                </a:schemeClr>
              </a:solidFill>
            </a:endParaRPr>
          </a:p>
          <a:p>
            <a:pPr lvl="1" eaLnBrk="1" hangingPunct="1">
              <a:buFont typeface="Arial" panose="020B0604020202020204" pitchFamily="34" charset="0"/>
              <a:buChar char="•"/>
            </a:pPr>
            <a:endParaRPr lang="en-IE" altLang="en-US" sz="1600" dirty="0">
              <a:solidFill>
                <a:schemeClr val="accent1">
                  <a:lumMod val="75000"/>
                </a:schemeClr>
              </a:solidFill>
            </a:endParaRPr>
          </a:p>
          <a:p>
            <a:pPr lvl="1" eaLnBrk="1" hangingPunct="1">
              <a:buFont typeface="Arial" panose="020B0604020202020204" pitchFamily="34" charset="0"/>
              <a:buChar char="•"/>
            </a:pPr>
            <a:endParaRPr lang="en-IE" altLang="en-US" sz="1600" dirty="0" smtClean="0">
              <a:solidFill>
                <a:schemeClr val="accent1">
                  <a:lumMod val="75000"/>
                </a:schemeClr>
              </a:solidFill>
            </a:endParaRPr>
          </a:p>
          <a:p>
            <a:pPr lvl="1" eaLnBrk="1" hangingPunct="1">
              <a:buFont typeface="Arial" panose="020B0604020202020204" pitchFamily="34" charset="0"/>
              <a:buChar char="•"/>
            </a:pPr>
            <a:endParaRPr lang="en-IE" altLang="en-US" sz="1600" dirty="0">
              <a:solidFill>
                <a:schemeClr val="accent1">
                  <a:lumMod val="75000"/>
                </a:schemeClr>
              </a:solidFill>
            </a:endParaRPr>
          </a:p>
          <a:p>
            <a:pPr lvl="1" eaLnBrk="1" hangingPunct="1">
              <a:buFont typeface="Arial" panose="020B0604020202020204" pitchFamily="34" charset="0"/>
              <a:buChar char="•"/>
            </a:pPr>
            <a:endParaRPr lang="en-IE" altLang="en-US" sz="1600" dirty="0" smtClean="0">
              <a:solidFill>
                <a:schemeClr val="accent1">
                  <a:lumMod val="75000"/>
                </a:schemeClr>
              </a:solidFill>
            </a:endParaRPr>
          </a:p>
          <a:p>
            <a:pPr lvl="1" eaLnBrk="1" hangingPunct="1">
              <a:buFont typeface="Arial" panose="020B0604020202020204" pitchFamily="34" charset="0"/>
              <a:buChar char="•"/>
            </a:pPr>
            <a:endParaRPr lang="en-IE" altLang="en-US" sz="1600" dirty="0">
              <a:solidFill>
                <a:schemeClr val="accent1">
                  <a:lumMod val="75000"/>
                </a:schemeClr>
              </a:solidFill>
            </a:endParaRPr>
          </a:p>
          <a:p>
            <a:pPr lvl="1" eaLnBrk="1" hangingPunct="1">
              <a:buFont typeface="Arial" panose="020B0604020202020204" pitchFamily="34" charset="0"/>
              <a:buChar char="•"/>
            </a:pPr>
            <a:endParaRPr lang="en-IE" altLang="en-US" sz="1600" dirty="0">
              <a:solidFill>
                <a:schemeClr val="accent1">
                  <a:lumMod val="75000"/>
                </a:schemeClr>
              </a:solidFill>
            </a:endParaRPr>
          </a:p>
          <a:p>
            <a:pPr lvl="1" eaLnBrk="1" hangingPunct="1">
              <a:buFont typeface="Arial" panose="020B0604020202020204" pitchFamily="34" charset="0"/>
              <a:buChar char="•"/>
            </a:pPr>
            <a:endParaRPr lang="en-IE" altLang="en-US" sz="1600" dirty="0">
              <a:solidFill>
                <a:schemeClr val="accent1">
                  <a:lumMod val="75000"/>
                </a:schemeClr>
              </a:solidFill>
            </a:endParaRPr>
          </a:p>
          <a:p>
            <a:pPr eaLnBrk="1" hangingPunct="1"/>
            <a:r>
              <a:rPr lang="en-IE" altLang="en-US" sz="1600" b="1" dirty="0">
                <a:solidFill>
                  <a:schemeClr val="accent1">
                    <a:lumMod val="75000"/>
                  </a:schemeClr>
                </a:solidFill>
              </a:rPr>
              <a:t>Rubber keyboard  </a:t>
            </a:r>
            <a:r>
              <a:rPr lang="en-IE" altLang="en-US" sz="1600" dirty="0">
                <a:solidFill>
                  <a:schemeClr val="accent1">
                    <a:lumMod val="75000"/>
                  </a:schemeClr>
                </a:solidFill>
              </a:rPr>
              <a:t>-  useful for use with notebook computers.  Leaves users less prone to </a:t>
            </a:r>
            <a:r>
              <a:rPr lang="en-IE" altLang="en-US" sz="1600" b="1" dirty="0">
                <a:solidFill>
                  <a:schemeClr val="accent1">
                    <a:lumMod val="75000"/>
                  </a:schemeClr>
                </a:solidFill>
              </a:rPr>
              <a:t>RSI </a:t>
            </a:r>
            <a:r>
              <a:rPr lang="en-IE" altLang="en-US" sz="1600" dirty="0">
                <a:solidFill>
                  <a:schemeClr val="accent1">
                    <a:lumMod val="75000"/>
                  </a:schemeClr>
                </a:solidFill>
              </a:rPr>
              <a:t>(Repetitive Strain Injury)</a:t>
            </a:r>
          </a:p>
        </p:txBody>
      </p:sp>
      <p:grpSp>
        <p:nvGrpSpPr>
          <p:cNvPr id="2" name="Group 4"/>
          <p:cNvGrpSpPr>
            <a:grpSpLocks/>
          </p:cNvGrpSpPr>
          <p:nvPr/>
        </p:nvGrpSpPr>
        <p:grpSpPr bwMode="auto">
          <a:xfrm>
            <a:off x="2786063" y="2857500"/>
            <a:ext cx="3643312" cy="1336675"/>
            <a:chOff x="108607725" y="111225572"/>
            <a:chExt cx="3642805" cy="1526103"/>
          </a:xfrm>
        </p:grpSpPr>
        <p:pic>
          <p:nvPicPr>
            <p:cNvPr id="13319" name="Picture 5" descr="KA33ACK-571PB-170"/>
            <p:cNvPicPr>
              <a:picLocks noChangeAspect="1" noChangeArrowheads="1"/>
            </p:cNvPicPr>
            <p:nvPr/>
          </p:nvPicPr>
          <p:blipFill>
            <a:blip r:embed="rId3">
              <a:extLst>
                <a:ext uri="{28A0092B-C50C-407E-A947-70E740481C1C}">
                  <a14:useLocalDpi xmlns:a14="http://schemas.microsoft.com/office/drawing/2010/main" val="0"/>
                </a:ext>
              </a:extLst>
            </a:blip>
            <a:srcRect b="3587"/>
            <a:stretch>
              <a:fillRect/>
            </a:stretch>
          </p:blipFill>
          <p:spPr bwMode="auto">
            <a:xfrm>
              <a:off x="108607725" y="111225572"/>
              <a:ext cx="2146300" cy="152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3320" name="Text Box 6"/>
            <p:cNvSpPr txBox="1">
              <a:spLocks noChangeArrowheads="1"/>
            </p:cNvSpPr>
            <p:nvPr/>
          </p:nvSpPr>
          <p:spPr bwMode="auto">
            <a:xfrm>
              <a:off x="110566199" y="111442500"/>
              <a:ext cx="1684331" cy="35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Wireless keyboard </a:t>
              </a:r>
              <a:endParaRPr lang="en-US" altLang="en-US" sz="1400" dirty="0">
                <a:solidFill>
                  <a:schemeClr val="accent1">
                    <a:lumMod val="75000"/>
                  </a:schemeClr>
                </a:solidFill>
                <a:latin typeface="+mn-lt"/>
              </a:endParaRPr>
            </a:p>
          </p:txBody>
        </p:sp>
      </p:grpSp>
      <p:pic>
        <p:nvPicPr>
          <p:cNvPr id="209927" name="Picture 7" descr="KB-ATBK-big"/>
          <p:cNvPicPr>
            <a:picLocks noChangeAspect="1" noChangeArrowheads="1"/>
          </p:cNvPicPr>
          <p:nvPr/>
        </p:nvPicPr>
        <p:blipFill>
          <a:blip r:embed="rId4">
            <a:extLst>
              <a:ext uri="{28A0092B-C50C-407E-A947-70E740481C1C}">
                <a14:useLocalDpi xmlns:a14="http://schemas.microsoft.com/office/drawing/2010/main" val="0"/>
              </a:ext>
            </a:extLst>
          </a:blip>
          <a:srcRect b="9575"/>
          <a:stretch>
            <a:fillRect/>
          </a:stretch>
        </p:blipFill>
        <p:spPr bwMode="auto">
          <a:xfrm>
            <a:off x="3048000" y="5611096"/>
            <a:ext cx="289242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3314"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0"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27311638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627062" y="1183719"/>
            <a:ext cx="814387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b="1" dirty="0">
                <a:solidFill>
                  <a:srgbClr val="C00000"/>
                </a:solidFill>
                <a:latin typeface="Comic Sans MS" panose="030F0702030302020204" pitchFamily="66" charset="0"/>
              </a:rPr>
              <a:t>Mouse</a:t>
            </a:r>
          </a:p>
          <a:p>
            <a:pPr algn="just" eaLnBrk="1" hangingPunct="1"/>
            <a:endParaRPr lang="en-IE" altLang="en-US" sz="1600" b="1" dirty="0">
              <a:solidFill>
                <a:schemeClr val="accent1">
                  <a:lumMod val="75000"/>
                </a:schemeClr>
              </a:solidFill>
            </a:endParaRPr>
          </a:p>
          <a:p>
            <a:pPr algn="just" eaLnBrk="1" hangingPunct="1"/>
            <a:r>
              <a:rPr lang="en-IE" altLang="en-US" sz="1600" dirty="0">
                <a:solidFill>
                  <a:schemeClr val="accent1">
                    <a:lumMod val="75000"/>
                  </a:schemeClr>
                </a:solidFill>
              </a:rPr>
              <a:t>Input device  -  uses point and click </a:t>
            </a:r>
            <a:r>
              <a:rPr lang="en-IE" altLang="en-US" sz="1600" dirty="0" smtClean="0">
                <a:solidFill>
                  <a:schemeClr val="accent1">
                    <a:lumMod val="75000"/>
                  </a:schemeClr>
                </a:solidFill>
              </a:rPr>
              <a:t>technology.</a:t>
            </a:r>
            <a:endParaRPr lang="en-IE" altLang="en-US" sz="1600" dirty="0">
              <a:solidFill>
                <a:schemeClr val="accent1">
                  <a:lumMod val="75000"/>
                </a:schemeClr>
              </a:solidFill>
            </a:endParaRPr>
          </a:p>
          <a:p>
            <a:pPr algn="just" eaLnBrk="1" hangingPunct="1"/>
            <a:endParaRPr lang="en-IE" altLang="en-US" sz="1600" dirty="0">
              <a:solidFill>
                <a:schemeClr val="accent1">
                  <a:lumMod val="75000"/>
                </a:schemeClr>
              </a:solidFill>
            </a:endParaRPr>
          </a:p>
          <a:p>
            <a:pPr algn="just" eaLnBrk="1" hangingPunct="1"/>
            <a:r>
              <a:rPr lang="en-IE" altLang="en-US" sz="1600" dirty="0">
                <a:solidFill>
                  <a:schemeClr val="accent1">
                    <a:lumMod val="75000"/>
                  </a:schemeClr>
                </a:solidFill>
              </a:rPr>
              <a:t>There are two main types:</a:t>
            </a:r>
          </a:p>
          <a:p>
            <a:pPr algn="just" eaLnBrk="1" hangingPunct="1"/>
            <a:endParaRPr lang="en-IE" altLang="en-US" sz="1600" dirty="0">
              <a:solidFill>
                <a:schemeClr val="accent1">
                  <a:lumMod val="75000"/>
                </a:schemeClr>
              </a:solidFill>
            </a:endParaRPr>
          </a:p>
          <a:p>
            <a:pPr marL="285750" indent="-285750" algn="just" eaLnBrk="1" hangingPunct="1">
              <a:buFont typeface="Arial" panose="020B0604020202020204" pitchFamily="34" charset="0"/>
              <a:buChar char="•"/>
            </a:pPr>
            <a:r>
              <a:rPr lang="en-IE" altLang="en-US" sz="1600" b="1" dirty="0">
                <a:solidFill>
                  <a:schemeClr val="accent1">
                    <a:lumMod val="75000"/>
                  </a:schemeClr>
                </a:solidFill>
              </a:rPr>
              <a:t>Ball mouse  -  </a:t>
            </a:r>
            <a:r>
              <a:rPr lang="en-IE" altLang="en-US" sz="1600" dirty="0">
                <a:solidFill>
                  <a:schemeClr val="accent1">
                    <a:lumMod val="75000"/>
                  </a:schemeClr>
                </a:solidFill>
              </a:rPr>
              <a:t>uses a ball to roll across the surface and move rollers attached to sensors inside the mouse  -  reflecting the ball movement as cursor movement.  </a:t>
            </a:r>
          </a:p>
          <a:p>
            <a:pPr algn="just" eaLnBrk="1" hangingPunct="1">
              <a:buFont typeface="Arial" panose="020B0604020202020204" pitchFamily="34" charset="0"/>
              <a:buChar char="•"/>
            </a:pPr>
            <a:endParaRPr lang="en-IE" altLang="en-US" sz="1600" dirty="0">
              <a:solidFill>
                <a:schemeClr val="accent1">
                  <a:lumMod val="75000"/>
                </a:schemeClr>
              </a:solidFill>
            </a:endParaRPr>
          </a:p>
          <a:p>
            <a:pPr marL="285750" indent="-285750" algn="just" eaLnBrk="1" hangingPunct="1">
              <a:buFont typeface="Arial" panose="020B0604020202020204" pitchFamily="34" charset="0"/>
              <a:buChar char="•"/>
            </a:pPr>
            <a:r>
              <a:rPr lang="en-IE" altLang="en-US" sz="1600" b="1" dirty="0">
                <a:solidFill>
                  <a:schemeClr val="accent1">
                    <a:lumMod val="75000"/>
                  </a:schemeClr>
                </a:solidFill>
              </a:rPr>
              <a:t>Optical mouse  -  </a:t>
            </a:r>
            <a:r>
              <a:rPr lang="en-IE" altLang="en-US" sz="1600" dirty="0">
                <a:solidFill>
                  <a:schemeClr val="accent1">
                    <a:lumMod val="75000"/>
                  </a:schemeClr>
                </a:solidFill>
              </a:rPr>
              <a:t>camera takes thousands of images per second and sends them for digital processing. The red LED lights up the surface for the camera. </a:t>
            </a:r>
          </a:p>
        </p:txBody>
      </p:sp>
      <p:grpSp>
        <p:nvGrpSpPr>
          <p:cNvPr id="2" name="Group 13"/>
          <p:cNvGrpSpPr>
            <a:grpSpLocks/>
          </p:cNvGrpSpPr>
          <p:nvPr/>
        </p:nvGrpSpPr>
        <p:grpSpPr bwMode="auto">
          <a:xfrm>
            <a:off x="4699000" y="4843550"/>
            <a:ext cx="2044700" cy="1639797"/>
            <a:chOff x="4699320" y="4843571"/>
            <a:chExt cx="2044362" cy="1639717"/>
          </a:xfrm>
        </p:grpSpPr>
        <p:pic>
          <p:nvPicPr>
            <p:cNvPr id="14345" name="Picture 5" descr="whA8B522E"/>
            <p:cNvPicPr>
              <a:picLocks noChangeAspect="1" noChangeArrowheads="1"/>
            </p:cNvPicPr>
            <p:nvPr/>
          </p:nvPicPr>
          <p:blipFill>
            <a:blip r:embed="rId3">
              <a:extLst>
                <a:ext uri="{28A0092B-C50C-407E-A947-70E740481C1C}">
                  <a14:useLocalDpi xmlns:a14="http://schemas.microsoft.com/office/drawing/2010/main" val="0"/>
                </a:ext>
              </a:extLst>
            </a:blip>
            <a:srcRect l="4250" t="15334" b="9000"/>
            <a:stretch>
              <a:fillRect/>
            </a:stretch>
          </p:blipFill>
          <p:spPr bwMode="auto">
            <a:xfrm>
              <a:off x="4699320" y="5296788"/>
              <a:ext cx="2044362" cy="11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4346" name="Text Box 7"/>
            <p:cNvSpPr txBox="1">
              <a:spLocks noChangeArrowheads="1"/>
            </p:cNvSpPr>
            <p:nvPr/>
          </p:nvSpPr>
          <p:spPr bwMode="auto">
            <a:xfrm>
              <a:off x="5258028" y="4843571"/>
              <a:ext cx="1333280" cy="26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Ball mouse</a:t>
              </a:r>
              <a:endParaRPr lang="en-US" altLang="en-US" sz="1400" dirty="0">
                <a:solidFill>
                  <a:schemeClr val="accent1">
                    <a:lumMod val="75000"/>
                  </a:schemeClr>
                </a:solidFill>
                <a:latin typeface="+mn-lt"/>
              </a:endParaRPr>
            </a:p>
          </p:txBody>
        </p:sp>
      </p:grpSp>
      <p:grpSp>
        <p:nvGrpSpPr>
          <p:cNvPr id="3" name="Group 14"/>
          <p:cNvGrpSpPr>
            <a:grpSpLocks/>
          </p:cNvGrpSpPr>
          <p:nvPr/>
        </p:nvGrpSpPr>
        <p:grpSpPr bwMode="auto">
          <a:xfrm>
            <a:off x="2000250" y="4483080"/>
            <a:ext cx="2354263" cy="2166958"/>
            <a:chOff x="2000232" y="4482667"/>
            <a:chExt cx="2354987" cy="2167382"/>
          </a:xfrm>
        </p:grpSpPr>
        <p:pic>
          <p:nvPicPr>
            <p:cNvPr id="14343" name="Picture 6" descr="mouse_optical_cordles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32" y="5028894"/>
              <a:ext cx="2354987" cy="162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4344" name="Text Box 8"/>
            <p:cNvSpPr txBox="1">
              <a:spLocks noChangeArrowheads="1"/>
            </p:cNvSpPr>
            <p:nvPr/>
          </p:nvSpPr>
          <p:spPr bwMode="auto">
            <a:xfrm>
              <a:off x="2667187" y="4482667"/>
              <a:ext cx="1372022" cy="495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400" dirty="0">
                  <a:solidFill>
                    <a:schemeClr val="accent1">
                      <a:lumMod val="75000"/>
                    </a:schemeClr>
                  </a:solidFill>
                  <a:latin typeface="+mn-lt"/>
                </a:rPr>
                <a:t>Optical </a:t>
              </a:r>
            </a:p>
            <a:p>
              <a:pPr algn="ctr" eaLnBrk="1" hangingPunct="1"/>
              <a:r>
                <a:rPr lang="en-IE" altLang="en-US" sz="1400" dirty="0">
                  <a:solidFill>
                    <a:schemeClr val="accent1">
                      <a:lumMod val="75000"/>
                    </a:schemeClr>
                  </a:solidFill>
                  <a:latin typeface="+mn-lt"/>
                </a:rPr>
                <a:t>mouse</a:t>
              </a:r>
              <a:endParaRPr lang="en-US" altLang="en-US" sz="1400" dirty="0">
                <a:solidFill>
                  <a:schemeClr val="accent1">
                    <a:lumMod val="75000"/>
                  </a:schemeClr>
                </a:solidFill>
                <a:latin typeface="+mn-lt"/>
              </a:endParaRPr>
            </a:p>
          </p:txBody>
        </p:sp>
      </p:grpSp>
      <p:sp>
        <p:nvSpPr>
          <p:cNvPr id="14338"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2"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1085378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33400" y="1306643"/>
            <a:ext cx="8191500"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600" b="1" dirty="0" smtClean="0">
                <a:solidFill>
                  <a:srgbClr val="C00000"/>
                </a:solidFill>
                <a:latin typeface="Comic Sans MS" panose="030F0702030302020204" pitchFamily="66" charset="0"/>
              </a:rPr>
              <a:t>Printer</a:t>
            </a:r>
            <a:endParaRPr lang="en-IE" altLang="en-US" sz="1600" b="1" dirty="0">
              <a:solidFill>
                <a:srgbClr val="C00000"/>
              </a:solidFill>
              <a:latin typeface="Comic Sans MS" panose="030F0702030302020204" pitchFamily="66" charset="0"/>
            </a:endParaRPr>
          </a:p>
          <a:p>
            <a:pPr eaLnBrk="1" hangingPunct="1"/>
            <a:endParaRPr lang="en-IE" altLang="en-US" sz="1600" b="1" dirty="0">
              <a:solidFill>
                <a:schemeClr val="accent1">
                  <a:lumMod val="75000"/>
                </a:schemeClr>
              </a:solidFill>
            </a:endParaRPr>
          </a:p>
          <a:p>
            <a:pPr eaLnBrk="1" hangingPunct="1"/>
            <a:r>
              <a:rPr lang="en-IE" altLang="en-US" sz="1600" dirty="0">
                <a:solidFill>
                  <a:schemeClr val="accent1">
                    <a:lumMod val="75000"/>
                  </a:schemeClr>
                </a:solidFill>
              </a:rPr>
              <a:t>Output </a:t>
            </a:r>
            <a:r>
              <a:rPr lang="en-IE" altLang="en-US" sz="1600" dirty="0" smtClean="0">
                <a:solidFill>
                  <a:schemeClr val="accent1">
                    <a:lumMod val="75000"/>
                  </a:schemeClr>
                </a:solidFill>
              </a:rPr>
              <a:t>device  </a:t>
            </a:r>
            <a:r>
              <a:rPr lang="en-IE" altLang="en-US" sz="1600" dirty="0">
                <a:solidFill>
                  <a:schemeClr val="accent1">
                    <a:lumMod val="75000"/>
                  </a:schemeClr>
                </a:solidFill>
              </a:rPr>
              <a:t>-  produce a </a:t>
            </a:r>
            <a:r>
              <a:rPr lang="en-IE" altLang="en-US" sz="1600" b="1" dirty="0">
                <a:solidFill>
                  <a:schemeClr val="accent1">
                    <a:lumMod val="75000"/>
                  </a:schemeClr>
                </a:solidFill>
              </a:rPr>
              <a:t>hardcopy </a:t>
            </a:r>
            <a:r>
              <a:rPr lang="en-IE" altLang="en-US" sz="1600" dirty="0" smtClean="0">
                <a:solidFill>
                  <a:schemeClr val="accent1">
                    <a:lumMod val="75000"/>
                  </a:schemeClr>
                </a:solidFill>
              </a:rPr>
              <a:t>(permanent </a:t>
            </a:r>
            <a:r>
              <a:rPr lang="en-IE" altLang="en-US" sz="1600" dirty="0">
                <a:solidFill>
                  <a:schemeClr val="accent1">
                    <a:lumMod val="75000"/>
                  </a:schemeClr>
                </a:solidFill>
              </a:rPr>
              <a:t>and readable) of computer data.  The can print onto paper, transparency, photographic paper, card etc. </a:t>
            </a:r>
          </a:p>
          <a:p>
            <a:pPr eaLnBrk="1" hangingPunct="1"/>
            <a:endParaRPr lang="en-IE" altLang="en-US" sz="1600" dirty="0">
              <a:solidFill>
                <a:schemeClr val="accent1">
                  <a:lumMod val="75000"/>
                </a:schemeClr>
              </a:solidFill>
            </a:endParaRPr>
          </a:p>
          <a:p>
            <a:pPr eaLnBrk="1" hangingPunct="1"/>
            <a:r>
              <a:rPr lang="en-IE" altLang="en-US" sz="1600" dirty="0">
                <a:solidFill>
                  <a:schemeClr val="accent1">
                    <a:lumMod val="75000"/>
                  </a:schemeClr>
                </a:solidFill>
              </a:rPr>
              <a:t>There are two main technologies involved:</a:t>
            </a:r>
          </a:p>
          <a:p>
            <a:pPr eaLnBrk="1" hangingPunct="1"/>
            <a:r>
              <a:rPr lang="en-IE" altLang="en-US" sz="1600" dirty="0">
                <a:solidFill>
                  <a:schemeClr val="accent1">
                    <a:lumMod val="75000"/>
                  </a:schemeClr>
                </a:solidFill>
              </a:rPr>
              <a:t> </a:t>
            </a:r>
          </a:p>
          <a:p>
            <a:pPr lvl="1" eaLnBrk="1" hangingPunct="1">
              <a:lnSpc>
                <a:spcPct val="150000"/>
              </a:lnSpc>
              <a:buFont typeface="Arial" panose="020B0604020202020204" pitchFamily="34" charset="0"/>
              <a:buChar char="•"/>
            </a:pPr>
            <a:r>
              <a:rPr lang="en-IE" altLang="en-US" sz="1600" dirty="0">
                <a:solidFill>
                  <a:schemeClr val="accent1">
                    <a:lumMod val="75000"/>
                  </a:schemeClr>
                </a:solidFill>
              </a:rPr>
              <a:t>Inkjet (Bubble-jet)</a:t>
            </a:r>
          </a:p>
          <a:p>
            <a:pPr lvl="1" eaLnBrk="1" hangingPunct="1">
              <a:lnSpc>
                <a:spcPct val="150000"/>
              </a:lnSpc>
              <a:buFont typeface="Arial" panose="020B0604020202020204" pitchFamily="34" charset="0"/>
              <a:buChar char="•"/>
            </a:pPr>
            <a:r>
              <a:rPr lang="en-IE" altLang="en-US" sz="1600" dirty="0">
                <a:solidFill>
                  <a:schemeClr val="accent1">
                    <a:lumMod val="75000"/>
                  </a:schemeClr>
                </a:solidFill>
              </a:rPr>
              <a:t>Laser   </a:t>
            </a:r>
          </a:p>
          <a:p>
            <a:pPr eaLnBrk="1" hangingPunct="1">
              <a:lnSpc>
                <a:spcPct val="150000"/>
              </a:lnSpc>
            </a:pPr>
            <a:r>
              <a:rPr lang="en-IE" altLang="en-US" sz="1600" dirty="0">
                <a:solidFill>
                  <a:schemeClr val="accent1">
                    <a:lumMod val="75000"/>
                  </a:schemeClr>
                </a:solidFill>
              </a:rPr>
              <a:t> </a:t>
            </a:r>
          </a:p>
          <a:p>
            <a:pPr eaLnBrk="1" hangingPunct="1"/>
            <a:endParaRPr lang="en-IE" altLang="en-US" sz="2400" b="1" dirty="0"/>
          </a:p>
          <a:p>
            <a:pPr eaLnBrk="1" hangingPunct="1"/>
            <a:endParaRPr lang="en-IE" altLang="en-US" sz="1200" b="1" dirty="0"/>
          </a:p>
        </p:txBody>
      </p:sp>
      <p:grpSp>
        <p:nvGrpSpPr>
          <p:cNvPr id="2" name="Group 3"/>
          <p:cNvGrpSpPr>
            <a:grpSpLocks/>
          </p:cNvGrpSpPr>
          <p:nvPr/>
        </p:nvGrpSpPr>
        <p:grpSpPr bwMode="auto">
          <a:xfrm>
            <a:off x="4876807" y="4179124"/>
            <a:ext cx="2112723" cy="1993090"/>
            <a:chOff x="107433525" y="111935475"/>
            <a:chExt cx="2113256" cy="1992440"/>
          </a:xfrm>
        </p:grpSpPr>
        <p:pic>
          <p:nvPicPr>
            <p:cNvPr id="15367" name="Picture 4" descr="samsung-clp-300-printer-ope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33525" y="111935475"/>
              <a:ext cx="2113256" cy="1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5368" name="Text Box 5"/>
            <p:cNvSpPr txBox="1">
              <a:spLocks noChangeArrowheads="1"/>
            </p:cNvSpPr>
            <p:nvPr/>
          </p:nvSpPr>
          <p:spPr bwMode="auto">
            <a:xfrm>
              <a:off x="108237739" y="113682380"/>
              <a:ext cx="1177478" cy="24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Laser </a:t>
              </a:r>
              <a:endParaRPr lang="en-US" altLang="en-US" sz="1400" dirty="0">
                <a:solidFill>
                  <a:schemeClr val="accent1">
                    <a:lumMod val="75000"/>
                  </a:schemeClr>
                </a:solidFill>
                <a:latin typeface="+mn-lt"/>
              </a:endParaRPr>
            </a:p>
          </p:txBody>
        </p:sp>
      </p:grpSp>
      <p:pic>
        <p:nvPicPr>
          <p:cNvPr id="220166" name="Picture 6" descr="HP-PSC-1410-multifunction-all-in-one-printer-scanner-copier"/>
          <p:cNvPicPr>
            <a:picLocks noChangeAspect="1" noChangeArrowheads="1"/>
          </p:cNvPicPr>
          <p:nvPr/>
        </p:nvPicPr>
        <p:blipFill>
          <a:blip r:embed="rId4">
            <a:extLst>
              <a:ext uri="{28A0092B-C50C-407E-A947-70E740481C1C}">
                <a14:useLocalDpi xmlns:a14="http://schemas.microsoft.com/office/drawing/2010/main" val="0"/>
              </a:ext>
            </a:extLst>
          </a:blip>
          <a:srcRect t="6332" b="6802"/>
          <a:stretch>
            <a:fillRect/>
          </a:stretch>
        </p:blipFill>
        <p:spPr bwMode="auto">
          <a:xfrm>
            <a:off x="1676400" y="4343323"/>
            <a:ext cx="25273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5362"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0"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
        <p:nvSpPr>
          <p:cNvPr id="4" name="Rectangle 3"/>
          <p:cNvSpPr/>
          <p:nvPr/>
        </p:nvSpPr>
        <p:spPr>
          <a:xfrm>
            <a:off x="1656735" y="5823666"/>
            <a:ext cx="2048959" cy="415498"/>
          </a:xfrm>
          <a:prstGeom prst="rect">
            <a:avLst/>
          </a:prstGeom>
        </p:spPr>
        <p:txBody>
          <a:bodyPr wrap="none">
            <a:spAutoFit/>
          </a:bodyPr>
          <a:lstStyle/>
          <a:p>
            <a:pPr lvl="1">
              <a:lnSpc>
                <a:spcPct val="150000"/>
              </a:lnSpc>
            </a:pPr>
            <a:r>
              <a:rPr lang="en-IE" altLang="en-US" sz="1400" dirty="0">
                <a:solidFill>
                  <a:schemeClr val="accent1">
                    <a:lumMod val="75000"/>
                  </a:schemeClr>
                </a:solidFill>
              </a:rPr>
              <a:t>Inkjet (Bubble-jet)</a:t>
            </a:r>
          </a:p>
        </p:txBody>
      </p:sp>
    </p:spTree>
    <p:extLst>
      <p:ext uri="{BB962C8B-B14F-4D97-AF65-F5344CB8AC3E}">
        <p14:creationId xmlns:p14="http://schemas.microsoft.com/office/powerpoint/2010/main" val="2697751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152400" y="1263630"/>
            <a:ext cx="85344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1" indent="0" eaLnBrk="1" hangingPunct="1"/>
            <a:r>
              <a:rPr lang="en-IE" altLang="en-US" sz="1600" b="1" dirty="0">
                <a:solidFill>
                  <a:schemeClr val="accent1">
                    <a:lumMod val="75000"/>
                  </a:schemeClr>
                </a:solidFill>
              </a:rPr>
              <a:t>Inkjet  -  </a:t>
            </a:r>
            <a:r>
              <a:rPr lang="en-IE" altLang="en-US" sz="1600" dirty="0">
                <a:solidFill>
                  <a:schemeClr val="accent1">
                    <a:lumMod val="75000"/>
                  </a:schemeClr>
                </a:solidFill>
              </a:rPr>
              <a:t>uses an electric charge to vibrate a membrane.  When the membrane flexes downwards,  it ejects an ink droplet through the nozzle (</a:t>
            </a:r>
            <a:r>
              <a:rPr lang="en-IE" altLang="en-US" sz="1600" b="1" dirty="0">
                <a:solidFill>
                  <a:schemeClr val="accent1">
                    <a:lumMod val="75000"/>
                  </a:schemeClr>
                </a:solidFill>
              </a:rPr>
              <a:t>1</a:t>
            </a:r>
            <a:r>
              <a:rPr lang="en-IE" altLang="en-US" sz="1600" dirty="0">
                <a:solidFill>
                  <a:schemeClr val="accent1">
                    <a:lumMod val="75000"/>
                  </a:schemeClr>
                </a:solidFill>
              </a:rPr>
              <a:t>). When it flexes upwards, it draws more ink into the reservoir (</a:t>
            </a:r>
            <a:r>
              <a:rPr lang="en-IE" altLang="en-US" sz="1600" b="1" dirty="0">
                <a:solidFill>
                  <a:schemeClr val="accent1">
                    <a:lumMod val="75000"/>
                  </a:schemeClr>
                </a:solidFill>
              </a:rPr>
              <a:t>2</a:t>
            </a:r>
            <a:r>
              <a:rPr lang="en-IE" altLang="en-US" sz="1600" dirty="0">
                <a:solidFill>
                  <a:schemeClr val="accent1">
                    <a:lumMod val="75000"/>
                  </a:schemeClr>
                </a:solidFill>
              </a:rPr>
              <a:t>). </a:t>
            </a:r>
          </a:p>
          <a:p>
            <a:pPr eaLnBrk="1" hangingPunct="1"/>
            <a:endParaRPr lang="en-IE" altLang="en-US" sz="1600" dirty="0">
              <a:solidFill>
                <a:schemeClr val="accent1">
                  <a:lumMod val="75000"/>
                </a:schemeClr>
              </a:solidFill>
            </a:endParaRPr>
          </a:p>
          <a:p>
            <a:pPr eaLnBrk="1" hangingPunct="1"/>
            <a:endParaRPr lang="en-IE" altLang="en-US" sz="1600" dirty="0">
              <a:solidFill>
                <a:schemeClr val="accent1">
                  <a:lumMod val="75000"/>
                </a:schemeClr>
              </a:solidFill>
            </a:endParaRPr>
          </a:p>
          <a:p>
            <a:pPr eaLnBrk="1" hangingPunct="1"/>
            <a:endParaRPr lang="en-IE" altLang="en-US" sz="1600" dirty="0">
              <a:solidFill>
                <a:schemeClr val="accent1">
                  <a:lumMod val="75000"/>
                </a:schemeClr>
              </a:solidFill>
            </a:endParaRPr>
          </a:p>
          <a:p>
            <a:pPr eaLnBrk="1" hangingPunct="1"/>
            <a:endParaRPr lang="en-IE" altLang="en-US" sz="1600" dirty="0" smtClean="0">
              <a:solidFill>
                <a:schemeClr val="accent1">
                  <a:lumMod val="75000"/>
                </a:schemeClr>
              </a:solidFill>
            </a:endParaRPr>
          </a:p>
          <a:p>
            <a:pPr eaLnBrk="1" hangingPunct="1"/>
            <a:endParaRPr lang="en-IE" altLang="en-US" sz="1600" dirty="0">
              <a:solidFill>
                <a:schemeClr val="accent1">
                  <a:lumMod val="75000"/>
                </a:schemeClr>
              </a:solidFill>
            </a:endParaRPr>
          </a:p>
          <a:p>
            <a:pPr eaLnBrk="1" hangingPunct="1"/>
            <a:endParaRPr lang="en-IE" altLang="en-US" sz="1600" dirty="0" smtClean="0">
              <a:solidFill>
                <a:schemeClr val="accent1">
                  <a:lumMod val="75000"/>
                </a:schemeClr>
              </a:solidFill>
            </a:endParaRPr>
          </a:p>
          <a:p>
            <a:pPr eaLnBrk="1" hangingPunct="1"/>
            <a:endParaRPr lang="en-IE" altLang="en-US" sz="1600" dirty="0">
              <a:solidFill>
                <a:schemeClr val="accent1">
                  <a:lumMod val="75000"/>
                </a:schemeClr>
              </a:solidFill>
            </a:endParaRPr>
          </a:p>
          <a:p>
            <a:pPr eaLnBrk="1" hangingPunct="1"/>
            <a:endParaRPr lang="en-IE" altLang="en-US" sz="1600" dirty="0">
              <a:solidFill>
                <a:schemeClr val="accent1">
                  <a:lumMod val="75000"/>
                </a:schemeClr>
              </a:solidFill>
            </a:endParaRPr>
          </a:p>
          <a:p>
            <a:pPr eaLnBrk="1" hangingPunct="1"/>
            <a:endParaRPr lang="en-IE" altLang="en-US" sz="1600" dirty="0">
              <a:solidFill>
                <a:schemeClr val="accent1">
                  <a:lumMod val="75000"/>
                </a:schemeClr>
              </a:solidFill>
            </a:endParaRPr>
          </a:p>
          <a:p>
            <a:pPr marL="457200" lvl="1" indent="0" eaLnBrk="1" hangingPunct="1"/>
            <a:r>
              <a:rPr lang="en-IE" altLang="en-US" sz="1600" b="1" dirty="0" err="1">
                <a:solidFill>
                  <a:schemeClr val="accent1">
                    <a:lumMod val="75000"/>
                  </a:schemeClr>
                </a:solidFill>
              </a:rPr>
              <a:t>Bubblejet</a:t>
            </a:r>
            <a:r>
              <a:rPr lang="en-IE" altLang="en-US" sz="1600" b="1" dirty="0">
                <a:solidFill>
                  <a:schemeClr val="accent1">
                    <a:lumMod val="75000"/>
                  </a:schemeClr>
                </a:solidFill>
              </a:rPr>
              <a:t>  -  </a:t>
            </a:r>
            <a:r>
              <a:rPr lang="en-IE" altLang="en-US" sz="1600" dirty="0">
                <a:solidFill>
                  <a:schemeClr val="accent1">
                    <a:lumMod val="75000"/>
                  </a:schemeClr>
                </a:solidFill>
              </a:rPr>
              <a:t>a heating element locally heats ink to form a bubble (</a:t>
            </a:r>
            <a:r>
              <a:rPr lang="en-IE" altLang="en-US" sz="1600" b="1" dirty="0">
                <a:solidFill>
                  <a:schemeClr val="accent1">
                    <a:lumMod val="75000"/>
                  </a:schemeClr>
                </a:solidFill>
              </a:rPr>
              <a:t>1</a:t>
            </a:r>
            <a:r>
              <a:rPr lang="en-IE" altLang="en-US" sz="1600" dirty="0">
                <a:solidFill>
                  <a:schemeClr val="accent1">
                    <a:lumMod val="75000"/>
                  </a:schemeClr>
                </a:solidFill>
              </a:rPr>
              <a:t>). As the bubble expands, it forces ink through the nozzle (</a:t>
            </a:r>
            <a:r>
              <a:rPr lang="en-IE" altLang="en-US" sz="1600" b="1" dirty="0">
                <a:solidFill>
                  <a:schemeClr val="accent1">
                    <a:lumMod val="75000"/>
                  </a:schemeClr>
                </a:solidFill>
              </a:rPr>
              <a:t>2</a:t>
            </a:r>
            <a:r>
              <a:rPr lang="en-IE" altLang="en-US" sz="1600" dirty="0">
                <a:solidFill>
                  <a:schemeClr val="accent1">
                    <a:lumMod val="75000"/>
                  </a:schemeClr>
                </a:solidFill>
              </a:rPr>
              <a:t>). When it bursts, it causes a vacuum which draws ink into the reservoir (</a:t>
            </a:r>
            <a:r>
              <a:rPr lang="en-IE" altLang="en-US" sz="1600" b="1" dirty="0">
                <a:solidFill>
                  <a:schemeClr val="accent1">
                    <a:lumMod val="75000"/>
                  </a:schemeClr>
                </a:solidFill>
              </a:rPr>
              <a:t>3</a:t>
            </a:r>
            <a:r>
              <a:rPr lang="en-IE" altLang="en-US" sz="1600" dirty="0">
                <a:solidFill>
                  <a:schemeClr val="accent1">
                    <a:lumMod val="75000"/>
                  </a:schemeClr>
                </a:solidFill>
              </a:rPr>
              <a:t>).   </a:t>
            </a:r>
          </a:p>
        </p:txBody>
      </p:sp>
      <p:grpSp>
        <p:nvGrpSpPr>
          <p:cNvPr id="2" name="Group 3"/>
          <p:cNvGrpSpPr>
            <a:grpSpLocks/>
          </p:cNvGrpSpPr>
          <p:nvPr/>
        </p:nvGrpSpPr>
        <p:grpSpPr bwMode="auto">
          <a:xfrm>
            <a:off x="2857500" y="2428875"/>
            <a:ext cx="3754438" cy="1357313"/>
            <a:chOff x="109010925" y="109416330"/>
            <a:chExt cx="2981325" cy="1078170"/>
          </a:xfrm>
        </p:grpSpPr>
        <p:pic>
          <p:nvPicPr>
            <p:cNvPr id="16403" name="Picture 4" descr="piezo"/>
            <p:cNvPicPr>
              <a:picLocks noChangeAspect="1" noChangeArrowheads="1"/>
            </p:cNvPicPr>
            <p:nvPr/>
          </p:nvPicPr>
          <p:blipFill>
            <a:blip r:embed="rId3">
              <a:extLst>
                <a:ext uri="{28A0092B-C50C-407E-A947-70E740481C1C}">
                  <a14:useLocalDpi xmlns:a14="http://schemas.microsoft.com/office/drawing/2010/main" val="0"/>
                </a:ext>
              </a:extLst>
            </a:blip>
            <a:srcRect l="13063" r="42342"/>
            <a:stretch>
              <a:fillRect/>
            </a:stretch>
          </p:blipFill>
          <p:spPr bwMode="auto">
            <a:xfrm>
              <a:off x="109010925" y="109418805"/>
              <a:ext cx="942975" cy="1075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16404" name="Picture 5" descr="piezo"/>
            <p:cNvPicPr>
              <a:picLocks noChangeAspect="1" noChangeArrowheads="1"/>
            </p:cNvPicPr>
            <p:nvPr/>
          </p:nvPicPr>
          <p:blipFill>
            <a:blip r:embed="rId3">
              <a:extLst>
                <a:ext uri="{28A0092B-C50C-407E-A947-70E740481C1C}">
                  <a14:useLocalDpi xmlns:a14="http://schemas.microsoft.com/office/drawing/2010/main" val="0"/>
                </a:ext>
              </a:extLst>
            </a:blip>
            <a:srcRect l="55856" r="2252"/>
            <a:stretch>
              <a:fillRect/>
            </a:stretch>
          </p:blipFill>
          <p:spPr bwMode="auto">
            <a:xfrm>
              <a:off x="111106425" y="109416330"/>
              <a:ext cx="885825" cy="107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nvGrpSpPr>
            <p:cNvPr id="16405" name="Group 6"/>
            <p:cNvGrpSpPr>
              <a:grpSpLocks/>
            </p:cNvGrpSpPr>
            <p:nvPr/>
          </p:nvGrpSpPr>
          <p:grpSpPr bwMode="auto">
            <a:xfrm>
              <a:off x="109105700" y="110166150"/>
              <a:ext cx="276225" cy="276225"/>
              <a:chOff x="109004100" y="112515650"/>
              <a:chExt cx="276225" cy="276225"/>
            </a:xfrm>
          </p:grpSpPr>
          <p:sp>
            <p:nvSpPr>
              <p:cNvPr id="16409" name="Oval 7"/>
              <p:cNvSpPr>
                <a:spLocks noChangeArrowheads="1"/>
              </p:cNvSpPr>
              <p:nvPr/>
            </p:nvSpPr>
            <p:spPr bwMode="auto">
              <a:xfrm>
                <a:off x="109004100" y="112515650"/>
                <a:ext cx="276225" cy="276225"/>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6410" name="Text Box 8"/>
              <p:cNvSpPr txBox="1">
                <a:spLocks noChangeArrowheads="1"/>
              </p:cNvSpPr>
              <p:nvPr/>
            </p:nvSpPr>
            <p:spPr bwMode="auto">
              <a:xfrm>
                <a:off x="109032675" y="112550575"/>
                <a:ext cx="22225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1</a:t>
                </a:r>
                <a:endParaRPr lang="en-US" altLang="en-US"/>
              </a:p>
            </p:txBody>
          </p:sp>
        </p:grpSp>
        <p:grpSp>
          <p:nvGrpSpPr>
            <p:cNvPr id="16406" name="Group 9"/>
            <p:cNvGrpSpPr>
              <a:grpSpLocks/>
            </p:cNvGrpSpPr>
            <p:nvPr/>
          </p:nvGrpSpPr>
          <p:grpSpPr bwMode="auto">
            <a:xfrm>
              <a:off x="111396475" y="110174450"/>
              <a:ext cx="276225" cy="276225"/>
              <a:chOff x="103325625" y="110822150"/>
              <a:chExt cx="276225" cy="276225"/>
            </a:xfrm>
          </p:grpSpPr>
          <p:sp>
            <p:nvSpPr>
              <p:cNvPr id="16407" name="Oval 10"/>
              <p:cNvSpPr>
                <a:spLocks noChangeArrowheads="1"/>
              </p:cNvSpPr>
              <p:nvPr/>
            </p:nvSpPr>
            <p:spPr bwMode="auto">
              <a:xfrm>
                <a:off x="103325625" y="110822150"/>
                <a:ext cx="276225" cy="276225"/>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6408" name="Text Box 11"/>
              <p:cNvSpPr txBox="1">
                <a:spLocks noChangeArrowheads="1"/>
              </p:cNvSpPr>
              <p:nvPr/>
            </p:nvSpPr>
            <p:spPr bwMode="auto">
              <a:xfrm>
                <a:off x="103354200" y="110857075"/>
                <a:ext cx="22225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2</a:t>
                </a:r>
                <a:endParaRPr lang="en-US" altLang="en-US"/>
              </a:p>
            </p:txBody>
          </p:sp>
        </p:grpSp>
      </p:grpSp>
      <p:grpSp>
        <p:nvGrpSpPr>
          <p:cNvPr id="6" name="Group 12"/>
          <p:cNvGrpSpPr>
            <a:grpSpLocks/>
          </p:cNvGrpSpPr>
          <p:nvPr/>
        </p:nvGrpSpPr>
        <p:grpSpPr bwMode="auto">
          <a:xfrm>
            <a:off x="2643188" y="5357813"/>
            <a:ext cx="4691062" cy="1285875"/>
            <a:chOff x="108601350" y="111663150"/>
            <a:chExt cx="3752850" cy="1029381"/>
          </a:xfrm>
        </p:grpSpPr>
        <p:pic>
          <p:nvPicPr>
            <p:cNvPr id="16391" name="Picture 13" descr="thermal 2"/>
            <p:cNvPicPr>
              <a:picLocks noChangeAspect="1" noChangeArrowheads="1"/>
            </p:cNvPicPr>
            <p:nvPr/>
          </p:nvPicPr>
          <p:blipFill>
            <a:blip r:embed="rId4">
              <a:extLst>
                <a:ext uri="{28A0092B-C50C-407E-A947-70E740481C1C}">
                  <a14:useLocalDpi xmlns:a14="http://schemas.microsoft.com/office/drawing/2010/main" val="0"/>
                </a:ext>
              </a:extLst>
            </a:blip>
            <a:srcRect r="66008"/>
            <a:stretch>
              <a:fillRect/>
            </a:stretch>
          </p:blipFill>
          <p:spPr bwMode="auto">
            <a:xfrm>
              <a:off x="108601350" y="111663150"/>
              <a:ext cx="819150" cy="102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16392" name="Picture 14" descr="thermal 2"/>
            <p:cNvPicPr>
              <a:picLocks noChangeAspect="1" noChangeArrowheads="1"/>
            </p:cNvPicPr>
            <p:nvPr/>
          </p:nvPicPr>
          <p:blipFill>
            <a:blip r:embed="rId4">
              <a:extLst>
                <a:ext uri="{28A0092B-C50C-407E-A947-70E740481C1C}">
                  <a14:useLocalDpi xmlns:a14="http://schemas.microsoft.com/office/drawing/2010/main" val="0"/>
                </a:ext>
              </a:extLst>
            </a:blip>
            <a:srcRect l="33992" r="32806"/>
            <a:stretch>
              <a:fillRect/>
            </a:stretch>
          </p:blipFill>
          <p:spPr bwMode="auto">
            <a:xfrm>
              <a:off x="110134875" y="111663150"/>
              <a:ext cx="800100" cy="102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pic>
          <p:nvPicPr>
            <p:cNvPr id="16393" name="Picture 15" descr="thermal 2"/>
            <p:cNvPicPr>
              <a:picLocks noChangeAspect="1" noChangeArrowheads="1"/>
            </p:cNvPicPr>
            <p:nvPr/>
          </p:nvPicPr>
          <p:blipFill>
            <a:blip r:embed="rId4">
              <a:extLst>
                <a:ext uri="{28A0092B-C50C-407E-A947-70E740481C1C}">
                  <a14:useLocalDpi xmlns:a14="http://schemas.microsoft.com/office/drawing/2010/main" val="0"/>
                </a:ext>
              </a:extLst>
            </a:blip>
            <a:srcRect l="67984"/>
            <a:stretch>
              <a:fillRect/>
            </a:stretch>
          </p:blipFill>
          <p:spPr bwMode="auto">
            <a:xfrm>
              <a:off x="111582675" y="111663150"/>
              <a:ext cx="771525" cy="102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grpSp>
          <p:nvGrpSpPr>
            <p:cNvPr id="16394" name="Group 16"/>
            <p:cNvGrpSpPr>
              <a:grpSpLocks/>
            </p:cNvGrpSpPr>
            <p:nvPr/>
          </p:nvGrpSpPr>
          <p:grpSpPr bwMode="auto">
            <a:xfrm>
              <a:off x="108861225" y="112366425"/>
              <a:ext cx="276225" cy="276225"/>
              <a:chOff x="108861225" y="112366425"/>
              <a:chExt cx="276225" cy="276225"/>
            </a:xfrm>
          </p:grpSpPr>
          <p:sp>
            <p:nvSpPr>
              <p:cNvPr id="16401" name="Oval 17"/>
              <p:cNvSpPr>
                <a:spLocks noChangeArrowheads="1"/>
              </p:cNvSpPr>
              <p:nvPr/>
            </p:nvSpPr>
            <p:spPr bwMode="auto">
              <a:xfrm>
                <a:off x="108861225" y="112366425"/>
                <a:ext cx="276225" cy="276225"/>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6402" name="Text Box 18"/>
              <p:cNvSpPr txBox="1">
                <a:spLocks noChangeArrowheads="1"/>
              </p:cNvSpPr>
              <p:nvPr/>
            </p:nvSpPr>
            <p:spPr bwMode="auto">
              <a:xfrm>
                <a:off x="108889800" y="112401350"/>
                <a:ext cx="22225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1</a:t>
                </a:r>
                <a:endParaRPr lang="en-US" altLang="en-US"/>
              </a:p>
            </p:txBody>
          </p:sp>
        </p:grpSp>
        <p:grpSp>
          <p:nvGrpSpPr>
            <p:cNvPr id="16395" name="Group 19"/>
            <p:cNvGrpSpPr>
              <a:grpSpLocks/>
            </p:cNvGrpSpPr>
            <p:nvPr/>
          </p:nvGrpSpPr>
          <p:grpSpPr bwMode="auto">
            <a:xfrm>
              <a:off x="111820075" y="112372650"/>
              <a:ext cx="276225" cy="276225"/>
              <a:chOff x="103482525" y="111559850"/>
              <a:chExt cx="276225" cy="276225"/>
            </a:xfrm>
          </p:grpSpPr>
          <p:sp>
            <p:nvSpPr>
              <p:cNvPr id="16399" name="Oval 20"/>
              <p:cNvSpPr>
                <a:spLocks noChangeArrowheads="1"/>
              </p:cNvSpPr>
              <p:nvPr/>
            </p:nvSpPr>
            <p:spPr bwMode="auto">
              <a:xfrm>
                <a:off x="103482525" y="111559850"/>
                <a:ext cx="276225" cy="276225"/>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6400" name="Text Box 21"/>
              <p:cNvSpPr txBox="1">
                <a:spLocks noChangeArrowheads="1"/>
              </p:cNvSpPr>
              <p:nvPr/>
            </p:nvSpPr>
            <p:spPr bwMode="auto">
              <a:xfrm>
                <a:off x="103511100" y="111594775"/>
                <a:ext cx="22225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3</a:t>
                </a:r>
                <a:endParaRPr lang="en-US" altLang="en-US"/>
              </a:p>
            </p:txBody>
          </p:sp>
        </p:grpSp>
        <p:grpSp>
          <p:nvGrpSpPr>
            <p:cNvPr id="16396" name="Group 22"/>
            <p:cNvGrpSpPr>
              <a:grpSpLocks/>
            </p:cNvGrpSpPr>
            <p:nvPr/>
          </p:nvGrpSpPr>
          <p:grpSpPr bwMode="auto">
            <a:xfrm>
              <a:off x="110158225" y="112371550"/>
              <a:ext cx="276225" cy="276225"/>
              <a:chOff x="103211325" y="110707850"/>
              <a:chExt cx="276225" cy="276225"/>
            </a:xfrm>
          </p:grpSpPr>
          <p:sp>
            <p:nvSpPr>
              <p:cNvPr id="16397" name="Oval 23"/>
              <p:cNvSpPr>
                <a:spLocks noChangeArrowheads="1"/>
              </p:cNvSpPr>
              <p:nvPr/>
            </p:nvSpPr>
            <p:spPr bwMode="auto">
              <a:xfrm>
                <a:off x="103211325" y="110707850"/>
                <a:ext cx="276225" cy="276225"/>
              </a:xfrm>
              <a:prstGeom prst="ellipse">
                <a:avLst/>
              </a:prstGeom>
              <a:noFill/>
              <a:ln w="19050" algn="in">
                <a:solidFill>
                  <a:srgbClr val="CC0000"/>
                </a:solidFill>
                <a:round/>
                <a:headEnd/>
                <a:tailEnd/>
              </a:ln>
              <a:extLst>
                <a:ext uri="{909E8E84-426E-40DD-AFC4-6F175D3DCCD1}">
                  <a14:hiddenFill xmlns:a14="http://schemas.microsoft.com/office/drawing/2010/main">
                    <a:solidFill>
                      <a:srgbClr val="FFFFFF"/>
                    </a:solidFill>
                  </a14:hiddenFill>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a:p>
            </p:txBody>
          </p:sp>
          <p:sp>
            <p:nvSpPr>
              <p:cNvPr id="16398" name="Text Box 24"/>
              <p:cNvSpPr txBox="1">
                <a:spLocks noChangeArrowheads="1"/>
              </p:cNvSpPr>
              <p:nvPr/>
            </p:nvSpPr>
            <p:spPr bwMode="auto">
              <a:xfrm>
                <a:off x="103239900" y="110742775"/>
                <a:ext cx="22225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IE" altLang="en-US" sz="1000" b="1">
                    <a:solidFill>
                      <a:srgbClr val="000000"/>
                    </a:solidFill>
                    <a:latin typeface="Times New Roman" panose="02020603050405020304" pitchFamily="18" charset="0"/>
                  </a:rPr>
                  <a:t>2</a:t>
                </a:r>
                <a:endParaRPr lang="en-US" altLang="en-US"/>
              </a:p>
            </p:txBody>
          </p:sp>
        </p:grpSp>
      </p:grpSp>
      <p:sp>
        <p:nvSpPr>
          <p:cNvPr id="16386"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29"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5914229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20850" y="1253644"/>
            <a:ext cx="80897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Laser printers use </a:t>
            </a:r>
            <a:r>
              <a:rPr lang="en-IE" altLang="en-US" sz="1600" b="1" dirty="0">
                <a:solidFill>
                  <a:schemeClr val="accent1">
                    <a:lumMod val="75000"/>
                  </a:schemeClr>
                </a:solidFill>
              </a:rPr>
              <a:t>toner </a:t>
            </a:r>
            <a:r>
              <a:rPr lang="en-IE" altLang="en-US" sz="1600" dirty="0">
                <a:solidFill>
                  <a:schemeClr val="accent1">
                    <a:lumMod val="75000"/>
                  </a:schemeClr>
                </a:solidFill>
              </a:rPr>
              <a:t>(powdered ink) instead of liquid ink as in inkjet printers. </a:t>
            </a:r>
          </a:p>
          <a:p>
            <a:pPr algn="just" eaLnBrk="1" hangingPunct="1"/>
            <a:endParaRPr lang="en-IE" altLang="en-US" sz="1600" dirty="0">
              <a:solidFill>
                <a:schemeClr val="accent1">
                  <a:lumMod val="75000"/>
                </a:schemeClr>
              </a:solidFill>
            </a:endParaRPr>
          </a:p>
          <a:p>
            <a:pPr algn="just" eaLnBrk="1" hangingPunct="1"/>
            <a:r>
              <a:rPr lang="en-IE" altLang="en-US" sz="1600" dirty="0" smtClean="0">
                <a:solidFill>
                  <a:schemeClr val="accent1">
                    <a:lumMod val="75000"/>
                  </a:schemeClr>
                </a:solidFill>
              </a:rPr>
              <a:t>Laser </a:t>
            </a:r>
            <a:r>
              <a:rPr lang="en-IE" altLang="en-US" sz="1600" dirty="0">
                <a:solidFill>
                  <a:schemeClr val="accent1">
                    <a:lumMod val="75000"/>
                  </a:schemeClr>
                </a:solidFill>
              </a:rPr>
              <a:t>printers produce images using dots. The image is created using a </a:t>
            </a:r>
            <a:r>
              <a:rPr lang="en-IE" altLang="en-US" sz="1600" b="1" dirty="0">
                <a:solidFill>
                  <a:schemeClr val="accent1">
                    <a:lumMod val="75000"/>
                  </a:schemeClr>
                </a:solidFill>
              </a:rPr>
              <a:t>laser beam </a:t>
            </a:r>
            <a:r>
              <a:rPr lang="en-IE" altLang="en-US" sz="1600" dirty="0">
                <a:solidFill>
                  <a:schemeClr val="accent1">
                    <a:lumMod val="75000"/>
                  </a:schemeClr>
                </a:solidFill>
              </a:rPr>
              <a:t>and a </a:t>
            </a:r>
            <a:r>
              <a:rPr lang="en-IE" altLang="en-US" sz="1600" b="1" dirty="0">
                <a:solidFill>
                  <a:schemeClr val="accent1">
                    <a:lumMod val="75000"/>
                  </a:schemeClr>
                </a:solidFill>
              </a:rPr>
              <a:t>mirror </a:t>
            </a:r>
            <a:r>
              <a:rPr lang="en-IE" altLang="en-US" sz="1600" dirty="0">
                <a:solidFill>
                  <a:schemeClr val="accent1">
                    <a:lumMod val="75000"/>
                  </a:schemeClr>
                </a:solidFill>
              </a:rPr>
              <a:t>-</a:t>
            </a:r>
            <a:r>
              <a:rPr lang="en-IE" altLang="en-US" sz="1600" b="1" dirty="0">
                <a:solidFill>
                  <a:schemeClr val="accent1">
                    <a:lumMod val="75000"/>
                  </a:schemeClr>
                </a:solidFill>
              </a:rPr>
              <a:t>lens </a:t>
            </a:r>
            <a:r>
              <a:rPr lang="en-IE" altLang="en-US" sz="1600" dirty="0">
                <a:solidFill>
                  <a:schemeClr val="accent1">
                    <a:lumMod val="75000"/>
                  </a:schemeClr>
                </a:solidFill>
              </a:rPr>
              <a:t>arrangement on a </a:t>
            </a:r>
            <a:r>
              <a:rPr lang="en-IE" altLang="en-US" sz="1600" b="1" dirty="0">
                <a:solidFill>
                  <a:schemeClr val="accent1">
                    <a:lumMod val="75000"/>
                  </a:schemeClr>
                </a:solidFill>
              </a:rPr>
              <a:t>drum</a:t>
            </a:r>
            <a:r>
              <a:rPr lang="en-IE" altLang="en-US" sz="1600" dirty="0">
                <a:solidFill>
                  <a:schemeClr val="accent1">
                    <a:lumMod val="75000"/>
                  </a:schemeClr>
                </a:solidFill>
              </a:rPr>
              <a:t> coated with magnetically charged </a:t>
            </a:r>
            <a:r>
              <a:rPr lang="en-IE" altLang="en-US" sz="1600" b="1" dirty="0">
                <a:solidFill>
                  <a:schemeClr val="accent1">
                    <a:lumMod val="75000"/>
                  </a:schemeClr>
                </a:solidFill>
              </a:rPr>
              <a:t>toner </a:t>
            </a:r>
            <a:r>
              <a:rPr lang="en-IE" altLang="en-US" sz="1600" dirty="0">
                <a:solidFill>
                  <a:schemeClr val="accent1">
                    <a:lumMod val="75000"/>
                  </a:schemeClr>
                </a:solidFill>
              </a:rPr>
              <a:t>and then transferred from the drum to the paper. The paper is then fed through a heated </a:t>
            </a:r>
            <a:r>
              <a:rPr lang="en-IE" altLang="en-US" sz="1600" b="1" dirty="0">
                <a:solidFill>
                  <a:schemeClr val="accent1">
                    <a:lumMod val="75000"/>
                  </a:schemeClr>
                </a:solidFill>
              </a:rPr>
              <a:t>fuser </a:t>
            </a:r>
            <a:r>
              <a:rPr lang="en-IE" altLang="en-US" sz="1600" dirty="0">
                <a:solidFill>
                  <a:schemeClr val="accent1">
                    <a:lumMod val="75000"/>
                  </a:schemeClr>
                </a:solidFill>
              </a:rPr>
              <a:t>which fuses the toner to the paper as ink. </a:t>
            </a:r>
          </a:p>
        </p:txBody>
      </p:sp>
      <p:grpSp>
        <p:nvGrpSpPr>
          <p:cNvPr id="2" name="Group 3"/>
          <p:cNvGrpSpPr>
            <a:grpSpLocks/>
          </p:cNvGrpSpPr>
          <p:nvPr/>
        </p:nvGrpSpPr>
        <p:grpSpPr bwMode="auto">
          <a:xfrm>
            <a:off x="1828808" y="3048000"/>
            <a:ext cx="5943600" cy="3352800"/>
            <a:chOff x="108499275" y="107280075"/>
            <a:chExt cx="4347743" cy="2583696"/>
          </a:xfrm>
        </p:grpSpPr>
        <p:pic>
          <p:nvPicPr>
            <p:cNvPr id="17414" name="Picture 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66408" y="107454598"/>
              <a:ext cx="2691384" cy="2409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7415" name="Text Box 5"/>
            <p:cNvSpPr txBox="1">
              <a:spLocks noChangeArrowheads="1"/>
            </p:cNvSpPr>
            <p:nvPr/>
          </p:nvSpPr>
          <p:spPr bwMode="auto">
            <a:xfrm>
              <a:off x="111699675" y="107280075"/>
              <a:ext cx="6286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cs typeface="Arial" panose="020B0604020202020204" pitchFamily="34" charset="0"/>
                </a:rPr>
                <a:t>Laser</a:t>
              </a:r>
              <a:endParaRPr lang="en-US" altLang="en-US" sz="1400" dirty="0">
                <a:solidFill>
                  <a:schemeClr val="accent1">
                    <a:lumMod val="75000"/>
                  </a:schemeClr>
                </a:solidFill>
                <a:cs typeface="Arial" panose="020B0604020202020204" pitchFamily="34" charset="0"/>
              </a:endParaRPr>
            </a:p>
          </p:txBody>
        </p:sp>
        <p:sp>
          <p:nvSpPr>
            <p:cNvPr id="17416" name="Text Box 6"/>
            <p:cNvSpPr txBox="1">
              <a:spLocks noChangeArrowheads="1"/>
            </p:cNvSpPr>
            <p:nvPr/>
          </p:nvSpPr>
          <p:spPr bwMode="auto">
            <a:xfrm>
              <a:off x="111661575" y="108585000"/>
              <a:ext cx="1185443" cy="493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cs typeface="Arial" panose="020B0604020202020204" pitchFamily="34" charset="0"/>
                </a:rPr>
                <a:t>Mirror and lens</a:t>
              </a:r>
              <a:endParaRPr lang="en-US" altLang="en-US" sz="1400" dirty="0">
                <a:solidFill>
                  <a:schemeClr val="accent1">
                    <a:lumMod val="75000"/>
                  </a:schemeClr>
                </a:solidFill>
                <a:cs typeface="Arial" panose="020B0604020202020204" pitchFamily="34" charset="0"/>
              </a:endParaRPr>
            </a:p>
          </p:txBody>
        </p:sp>
        <p:sp>
          <p:nvSpPr>
            <p:cNvPr id="17417" name="Text Box 7"/>
            <p:cNvSpPr txBox="1">
              <a:spLocks noChangeArrowheads="1"/>
            </p:cNvSpPr>
            <p:nvPr/>
          </p:nvSpPr>
          <p:spPr bwMode="auto">
            <a:xfrm>
              <a:off x="109132189" y="109555185"/>
              <a:ext cx="704847" cy="249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cs typeface="Arial" panose="020B0604020202020204" pitchFamily="34" charset="0"/>
                </a:rPr>
                <a:t>Drum </a:t>
              </a:r>
              <a:endParaRPr lang="en-US" altLang="en-US" sz="1400" dirty="0">
                <a:solidFill>
                  <a:schemeClr val="accent1">
                    <a:lumMod val="75000"/>
                  </a:schemeClr>
                </a:solidFill>
                <a:cs typeface="Arial" panose="020B0604020202020204" pitchFamily="34" charset="0"/>
              </a:endParaRPr>
            </a:p>
          </p:txBody>
        </p:sp>
        <p:sp>
          <p:nvSpPr>
            <p:cNvPr id="17418" name="Line 8"/>
            <p:cNvSpPr>
              <a:spLocks noChangeShapeType="1"/>
            </p:cNvSpPr>
            <p:nvPr/>
          </p:nvSpPr>
          <p:spPr bwMode="auto">
            <a:xfrm flipH="1">
              <a:off x="110985300" y="107422950"/>
              <a:ext cx="723900" cy="228600"/>
            </a:xfrm>
            <a:prstGeom prst="line">
              <a:avLst/>
            </a:prstGeom>
            <a:noFill/>
            <a:ln w="1905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7419" name="Line 9"/>
            <p:cNvSpPr>
              <a:spLocks noChangeShapeType="1"/>
            </p:cNvSpPr>
            <p:nvPr/>
          </p:nvSpPr>
          <p:spPr bwMode="auto">
            <a:xfrm flipH="1" flipV="1">
              <a:off x="111356775" y="108765975"/>
              <a:ext cx="352425" cy="57150"/>
            </a:xfrm>
            <a:prstGeom prst="line">
              <a:avLst/>
            </a:prstGeom>
            <a:noFill/>
            <a:ln w="1905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7420" name="Line 10"/>
            <p:cNvSpPr>
              <a:spLocks noChangeShapeType="1"/>
            </p:cNvSpPr>
            <p:nvPr/>
          </p:nvSpPr>
          <p:spPr bwMode="auto">
            <a:xfrm>
              <a:off x="110213775" y="107965875"/>
              <a:ext cx="171450" cy="381000"/>
            </a:xfrm>
            <a:prstGeom prst="line">
              <a:avLst/>
            </a:prstGeom>
            <a:noFill/>
            <a:ln w="1905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7421" name="Line 11"/>
            <p:cNvSpPr>
              <a:spLocks noChangeShapeType="1"/>
            </p:cNvSpPr>
            <p:nvPr/>
          </p:nvSpPr>
          <p:spPr bwMode="auto">
            <a:xfrm flipV="1">
              <a:off x="109527975" y="109280325"/>
              <a:ext cx="314325" cy="314325"/>
            </a:xfrm>
            <a:prstGeom prst="line">
              <a:avLst/>
            </a:prstGeom>
            <a:noFill/>
            <a:ln w="1905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7422" name="Text Box 12"/>
            <p:cNvSpPr txBox="1">
              <a:spLocks noChangeArrowheads="1"/>
            </p:cNvSpPr>
            <p:nvPr/>
          </p:nvSpPr>
          <p:spPr bwMode="auto">
            <a:xfrm>
              <a:off x="109956600" y="107775375"/>
              <a:ext cx="62865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cs typeface="Arial" panose="020B0604020202020204" pitchFamily="34" charset="0"/>
                </a:rPr>
                <a:t>Toner </a:t>
              </a:r>
              <a:endParaRPr lang="en-US" altLang="en-US" sz="1400" dirty="0">
                <a:solidFill>
                  <a:schemeClr val="accent1">
                    <a:lumMod val="75000"/>
                  </a:schemeClr>
                </a:solidFill>
                <a:cs typeface="Arial" panose="020B0604020202020204" pitchFamily="34" charset="0"/>
              </a:endParaRPr>
            </a:p>
          </p:txBody>
        </p:sp>
        <p:sp>
          <p:nvSpPr>
            <p:cNvPr id="17423" name="Line 13"/>
            <p:cNvSpPr>
              <a:spLocks noChangeShapeType="1"/>
            </p:cNvSpPr>
            <p:nvPr/>
          </p:nvSpPr>
          <p:spPr bwMode="auto">
            <a:xfrm>
              <a:off x="108823125" y="108661200"/>
              <a:ext cx="428625" cy="523875"/>
            </a:xfrm>
            <a:prstGeom prst="line">
              <a:avLst/>
            </a:prstGeom>
            <a:noFill/>
            <a:ln w="19050" algn="ctr">
              <a:solidFill>
                <a:srgbClr val="CC0000"/>
              </a:solidFill>
              <a:round/>
              <a:headEnd/>
              <a:tailEnd type="oval" w="med" len="med"/>
            </a:ln>
            <a:extLst>
              <a:ext uri="{909E8E84-426E-40DD-AFC4-6F175D3DCCD1}">
                <a14:hiddenFill xmlns:a14="http://schemas.microsoft.com/office/drawing/2010/main">
                  <a:noFill/>
                </a14:hiddenFill>
              </a:ext>
            </a:extLst>
          </p:spPr>
          <p:txBody>
            <a:bodyPr lIns="36576" tIns="36576" rIns="36576" bIns="36576"/>
            <a:lstStyle/>
            <a:p>
              <a:endParaRPr lang="en-US"/>
            </a:p>
          </p:txBody>
        </p:sp>
        <p:sp>
          <p:nvSpPr>
            <p:cNvPr id="17424" name="Text Box 14"/>
            <p:cNvSpPr txBox="1">
              <a:spLocks noChangeArrowheads="1"/>
            </p:cNvSpPr>
            <p:nvPr/>
          </p:nvSpPr>
          <p:spPr bwMode="auto">
            <a:xfrm>
              <a:off x="108499275" y="108442125"/>
              <a:ext cx="62865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cs typeface="Arial" panose="020B0604020202020204" pitchFamily="34" charset="0"/>
                </a:rPr>
                <a:t>Fuser </a:t>
              </a:r>
              <a:endParaRPr lang="en-US" altLang="en-US" sz="1400" dirty="0">
                <a:solidFill>
                  <a:schemeClr val="accent1">
                    <a:lumMod val="75000"/>
                  </a:schemeClr>
                </a:solidFill>
                <a:cs typeface="Arial" panose="020B0604020202020204" pitchFamily="34" charset="0"/>
              </a:endParaRPr>
            </a:p>
          </p:txBody>
        </p:sp>
      </p:grpSp>
      <p:sp>
        <p:nvSpPr>
          <p:cNvPr id="17410"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18"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1104662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457200" y="1484849"/>
            <a:ext cx="82296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IE" altLang="en-US" sz="1600" dirty="0">
                <a:solidFill>
                  <a:schemeClr val="accent1">
                    <a:lumMod val="75000"/>
                  </a:schemeClr>
                </a:solidFill>
              </a:rPr>
              <a:t>Printers are available as </a:t>
            </a:r>
            <a:r>
              <a:rPr lang="en-IE" altLang="en-US" sz="1600" b="1" dirty="0">
                <a:solidFill>
                  <a:schemeClr val="accent1">
                    <a:lumMod val="75000"/>
                  </a:schemeClr>
                </a:solidFill>
              </a:rPr>
              <a:t>A4</a:t>
            </a:r>
            <a:r>
              <a:rPr lang="en-IE" altLang="en-US" sz="1600" dirty="0">
                <a:solidFill>
                  <a:schemeClr val="accent1">
                    <a:lumMod val="75000"/>
                  </a:schemeClr>
                </a:solidFill>
              </a:rPr>
              <a:t>, </a:t>
            </a:r>
            <a:r>
              <a:rPr lang="en-IE" altLang="en-US" sz="1600" b="1" dirty="0">
                <a:solidFill>
                  <a:schemeClr val="accent1">
                    <a:lumMod val="75000"/>
                  </a:schemeClr>
                </a:solidFill>
              </a:rPr>
              <a:t>A3 </a:t>
            </a:r>
            <a:r>
              <a:rPr lang="en-IE" altLang="en-US" sz="1600" dirty="0">
                <a:solidFill>
                  <a:schemeClr val="accent1">
                    <a:lumMod val="75000"/>
                  </a:schemeClr>
                </a:solidFill>
              </a:rPr>
              <a:t>and even </a:t>
            </a:r>
            <a:r>
              <a:rPr lang="en-IE" altLang="en-US" sz="1600" b="1" dirty="0">
                <a:solidFill>
                  <a:schemeClr val="accent1">
                    <a:lumMod val="75000"/>
                  </a:schemeClr>
                </a:solidFill>
              </a:rPr>
              <a:t>A2</a:t>
            </a:r>
            <a:r>
              <a:rPr lang="en-IE" altLang="en-US" sz="1600" dirty="0">
                <a:solidFill>
                  <a:schemeClr val="accent1">
                    <a:lumMod val="75000"/>
                  </a:schemeClr>
                </a:solidFill>
              </a:rPr>
              <a:t>, but if larger drawings and images are required, a plotter is more suitable.  </a:t>
            </a:r>
          </a:p>
          <a:p>
            <a:pPr algn="just" eaLnBrk="1" hangingPunct="1"/>
            <a:endParaRPr lang="en-IE" altLang="en-US" sz="1600" dirty="0">
              <a:solidFill>
                <a:schemeClr val="accent1">
                  <a:lumMod val="75000"/>
                </a:schemeClr>
              </a:solidFill>
            </a:endParaRPr>
          </a:p>
          <a:p>
            <a:pPr algn="just" eaLnBrk="1" hangingPunct="1"/>
            <a:r>
              <a:rPr lang="en-IE" altLang="en-US" sz="1600" b="1" dirty="0">
                <a:solidFill>
                  <a:schemeClr val="accent1">
                    <a:lumMod val="75000"/>
                  </a:schemeClr>
                </a:solidFill>
              </a:rPr>
              <a:t>Plotters</a:t>
            </a:r>
            <a:r>
              <a:rPr lang="en-IE" altLang="en-US" sz="1600" dirty="0">
                <a:solidFill>
                  <a:schemeClr val="accent1">
                    <a:lumMod val="75000"/>
                  </a:schemeClr>
                </a:solidFill>
              </a:rPr>
              <a:t> use inkjet technology and are available in </a:t>
            </a:r>
            <a:r>
              <a:rPr lang="en-IE" altLang="en-US" sz="1600" b="1" dirty="0">
                <a:solidFill>
                  <a:schemeClr val="accent1">
                    <a:lumMod val="75000"/>
                  </a:schemeClr>
                </a:solidFill>
              </a:rPr>
              <a:t>A3</a:t>
            </a:r>
            <a:r>
              <a:rPr lang="en-IE" altLang="en-US" sz="1600" dirty="0">
                <a:solidFill>
                  <a:schemeClr val="accent1">
                    <a:lumMod val="75000"/>
                  </a:schemeClr>
                </a:solidFill>
              </a:rPr>
              <a:t>, </a:t>
            </a:r>
            <a:r>
              <a:rPr lang="en-IE" altLang="en-US" sz="1600" b="1" dirty="0">
                <a:solidFill>
                  <a:schemeClr val="accent1">
                    <a:lumMod val="75000"/>
                  </a:schemeClr>
                </a:solidFill>
              </a:rPr>
              <a:t>A2, </a:t>
            </a:r>
            <a:r>
              <a:rPr lang="en-IE" altLang="en-US" sz="1600" b="1" dirty="0" smtClean="0">
                <a:solidFill>
                  <a:schemeClr val="accent1">
                    <a:lumMod val="75000"/>
                  </a:schemeClr>
                </a:solidFill>
              </a:rPr>
              <a:t>A1 </a:t>
            </a:r>
            <a:r>
              <a:rPr lang="en-IE" altLang="en-US" sz="1600" dirty="0">
                <a:solidFill>
                  <a:schemeClr val="accent1">
                    <a:lumMod val="75000"/>
                  </a:schemeClr>
                </a:solidFill>
              </a:rPr>
              <a:t>and </a:t>
            </a:r>
            <a:r>
              <a:rPr lang="en-IE" altLang="en-US" sz="1600" b="1" dirty="0">
                <a:solidFill>
                  <a:schemeClr val="accent1">
                    <a:lumMod val="75000"/>
                  </a:schemeClr>
                </a:solidFill>
              </a:rPr>
              <a:t>A0</a:t>
            </a:r>
            <a:r>
              <a:rPr lang="en-IE" altLang="en-US" sz="1600" dirty="0">
                <a:solidFill>
                  <a:schemeClr val="accent1">
                    <a:lumMod val="75000"/>
                  </a:schemeClr>
                </a:solidFill>
              </a:rPr>
              <a:t>. </a:t>
            </a:r>
            <a:r>
              <a:rPr lang="en-IE" altLang="en-US" sz="1600" dirty="0" smtClean="0">
                <a:solidFill>
                  <a:schemeClr val="accent1">
                    <a:lumMod val="75000"/>
                  </a:schemeClr>
                </a:solidFill>
              </a:rPr>
              <a:t>They </a:t>
            </a:r>
            <a:r>
              <a:rPr lang="en-IE" altLang="en-US" sz="1600" dirty="0">
                <a:solidFill>
                  <a:schemeClr val="accent1">
                    <a:lumMod val="75000"/>
                  </a:schemeClr>
                </a:solidFill>
              </a:rPr>
              <a:t>take up much less space than an equivalent inkjet or laser, bur are more expensive.</a:t>
            </a:r>
          </a:p>
        </p:txBody>
      </p:sp>
      <p:grpSp>
        <p:nvGrpSpPr>
          <p:cNvPr id="2" name="Group 3"/>
          <p:cNvGrpSpPr>
            <a:grpSpLocks/>
          </p:cNvGrpSpPr>
          <p:nvPr/>
        </p:nvGrpSpPr>
        <p:grpSpPr bwMode="auto">
          <a:xfrm>
            <a:off x="2428880" y="3200937"/>
            <a:ext cx="3971925" cy="3371313"/>
            <a:chOff x="110007303" y="111935475"/>
            <a:chExt cx="2857500" cy="2510812"/>
          </a:xfrm>
        </p:grpSpPr>
        <p:pic>
          <p:nvPicPr>
            <p:cNvPr id="18438" name="Picture 4" descr="T11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07303" y="111935475"/>
              <a:ext cx="2857500" cy="251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18439" name="Text Box 5"/>
            <p:cNvSpPr txBox="1">
              <a:spLocks noChangeArrowheads="1"/>
            </p:cNvSpPr>
            <p:nvPr/>
          </p:nvSpPr>
          <p:spPr bwMode="auto">
            <a:xfrm>
              <a:off x="112204500" y="114235650"/>
              <a:ext cx="647700"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txBody>
            <a:bodyPr lIns="36576" tIns="36576" rIns="36576" bIns="36576"/>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E" altLang="en-US" sz="1400" dirty="0">
                  <a:solidFill>
                    <a:schemeClr val="accent1">
                      <a:lumMod val="75000"/>
                    </a:schemeClr>
                  </a:solidFill>
                  <a:latin typeface="+mn-lt"/>
                </a:rPr>
                <a:t>Plotter</a:t>
              </a:r>
              <a:endParaRPr lang="en-US" altLang="en-US" sz="1400" dirty="0">
                <a:solidFill>
                  <a:schemeClr val="accent1">
                    <a:lumMod val="75000"/>
                  </a:schemeClr>
                </a:solidFill>
                <a:latin typeface="+mn-lt"/>
              </a:endParaRPr>
            </a:p>
          </p:txBody>
        </p:sp>
      </p:grpSp>
      <p:sp>
        <p:nvSpPr>
          <p:cNvPr id="18434"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9" name="Rectangle 2"/>
          <p:cNvSpPr>
            <a:spLocks noGrp="1" noChangeArrowheads="1"/>
          </p:cNvSpPr>
          <p:nvPr>
            <p:ph type="title"/>
          </p:nvPr>
        </p:nvSpPr>
        <p:spPr>
          <a:xfrm>
            <a:off x="304800" y="287817"/>
            <a:ext cx="6992938" cy="504825"/>
          </a:xfrm>
        </p:spPr>
        <p:txBody>
          <a:bodyPr/>
          <a:lstStyle/>
          <a:p>
            <a:r>
              <a:rPr lang="en-GB" altLang="en-US" sz="1800" dirty="0">
                <a:solidFill>
                  <a:schemeClr val="accent1">
                    <a:lumMod val="75000"/>
                  </a:schemeClr>
                </a:solidFill>
                <a:latin typeface="Comic Sans MS" panose="030F0702030302020204" pitchFamily="66" charset="0"/>
              </a:rPr>
              <a:t>Peripherals</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324407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533400" y="1447800"/>
            <a:ext cx="8001000"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E" altLang="en-US" sz="1600" dirty="0">
              <a:solidFill>
                <a:schemeClr val="accent1">
                  <a:lumMod val="75000"/>
                </a:schemeClr>
              </a:solidFill>
            </a:endParaRPr>
          </a:p>
          <a:p>
            <a:pPr lvl="1" eaLnBrk="1" hangingPunct="1">
              <a:buFont typeface="Arial" panose="020B0604020202020204" pitchFamily="34" charset="0"/>
              <a:buChar char="•"/>
            </a:pPr>
            <a:r>
              <a:rPr lang="en-IE" altLang="en-US" sz="1600" dirty="0">
                <a:solidFill>
                  <a:schemeClr val="accent1">
                    <a:lumMod val="75000"/>
                  </a:schemeClr>
                </a:solidFill>
              </a:rPr>
              <a:t>Intel Core Duo Processor  -  2.66MHz 64-Bit CPU, 128 KB L1 cache, 4MB L2 Cache, 1333MHz FSB</a:t>
            </a:r>
          </a:p>
          <a:p>
            <a:pPr lvl="1" eaLnBrk="1" hangingPunct="1">
              <a:buFont typeface="Arial" panose="020B0604020202020204" pitchFamily="34" charset="0"/>
              <a:buChar char="•"/>
            </a:pPr>
            <a:r>
              <a:rPr lang="en-IE" altLang="en-US" sz="1600" dirty="0">
                <a:solidFill>
                  <a:schemeClr val="accent1">
                    <a:lumMod val="75000"/>
                  </a:schemeClr>
                </a:solidFill>
              </a:rPr>
              <a:t>Windows Vista Business</a:t>
            </a:r>
          </a:p>
          <a:p>
            <a:pPr lvl="1" eaLnBrk="1" hangingPunct="1">
              <a:buFont typeface="Arial" panose="020B0604020202020204" pitchFamily="34" charset="0"/>
              <a:buChar char="•"/>
            </a:pPr>
            <a:r>
              <a:rPr lang="en-IE" altLang="en-US" sz="1600" dirty="0">
                <a:solidFill>
                  <a:schemeClr val="accent1">
                    <a:lumMod val="75000"/>
                  </a:schemeClr>
                </a:solidFill>
              </a:rPr>
              <a:t>4GB DDR2 Memory  -  667MHz </a:t>
            </a:r>
          </a:p>
          <a:p>
            <a:pPr lvl="1" eaLnBrk="1" hangingPunct="1">
              <a:buFont typeface="Arial" panose="020B0604020202020204" pitchFamily="34" charset="0"/>
              <a:buChar char="•"/>
            </a:pPr>
            <a:r>
              <a:rPr lang="en-IE" altLang="en-US" sz="1600" dirty="0">
                <a:solidFill>
                  <a:schemeClr val="accent1">
                    <a:lumMod val="75000"/>
                  </a:schemeClr>
                </a:solidFill>
              </a:rPr>
              <a:t>500GB SATA HDD 10,000rpm </a:t>
            </a:r>
          </a:p>
          <a:p>
            <a:pPr lvl="1" eaLnBrk="1" hangingPunct="1">
              <a:buFont typeface="Arial" panose="020B0604020202020204" pitchFamily="34" charset="0"/>
              <a:buChar char="•"/>
            </a:pPr>
            <a:r>
              <a:rPr lang="en-IE" altLang="en-US" sz="1600" dirty="0">
                <a:solidFill>
                  <a:schemeClr val="accent1">
                    <a:lumMod val="75000"/>
                  </a:schemeClr>
                </a:solidFill>
              </a:rPr>
              <a:t>256MB DDR2 NVIDIA  PCI-Express Graphics</a:t>
            </a:r>
          </a:p>
          <a:p>
            <a:pPr lvl="1" eaLnBrk="1" hangingPunct="1">
              <a:buFont typeface="Arial" panose="020B0604020202020204" pitchFamily="34" charset="0"/>
              <a:buChar char="•"/>
            </a:pPr>
            <a:r>
              <a:rPr lang="en-IE" altLang="en-US" sz="1600" dirty="0">
                <a:solidFill>
                  <a:schemeClr val="accent1">
                    <a:lumMod val="75000"/>
                  </a:schemeClr>
                </a:solidFill>
              </a:rPr>
              <a:t>19" Widescreen LCD  -  0.22mm Dot Pitch, Res  -1490 x 900 </a:t>
            </a:r>
          </a:p>
          <a:p>
            <a:pPr lvl="1" eaLnBrk="1" hangingPunct="1">
              <a:buFont typeface="Arial" panose="020B0604020202020204" pitchFamily="34" charset="0"/>
              <a:buChar char="•"/>
            </a:pPr>
            <a:r>
              <a:rPr lang="en-IE" altLang="en-US" sz="1600" dirty="0">
                <a:solidFill>
                  <a:schemeClr val="accent1">
                    <a:lumMod val="75000"/>
                  </a:schemeClr>
                </a:solidFill>
              </a:rPr>
              <a:t>7:1 Surround Sound Inc. Woofer</a:t>
            </a:r>
          </a:p>
          <a:p>
            <a:pPr lvl="1" eaLnBrk="1" hangingPunct="1">
              <a:buFont typeface="Arial" panose="020B0604020202020204" pitchFamily="34" charset="0"/>
              <a:buChar char="•"/>
            </a:pPr>
            <a:r>
              <a:rPr lang="en-IE" altLang="en-US" sz="1600" dirty="0">
                <a:solidFill>
                  <a:schemeClr val="accent1">
                    <a:lumMod val="75000"/>
                  </a:schemeClr>
                </a:solidFill>
              </a:rPr>
              <a:t>PCI-E Mainboard  -  </a:t>
            </a:r>
            <a:r>
              <a:rPr lang="en-IE" altLang="en-US" sz="1600" dirty="0" err="1">
                <a:solidFill>
                  <a:schemeClr val="accent1">
                    <a:lumMod val="75000"/>
                  </a:schemeClr>
                </a:solidFill>
              </a:rPr>
              <a:t>nForce</a:t>
            </a:r>
            <a:r>
              <a:rPr lang="en-IE" altLang="en-US" sz="1600" dirty="0">
                <a:solidFill>
                  <a:schemeClr val="accent1">
                    <a:lumMod val="75000"/>
                  </a:schemeClr>
                </a:solidFill>
              </a:rPr>
              <a:t> SLI, Micro ATX</a:t>
            </a:r>
          </a:p>
          <a:p>
            <a:pPr lvl="1" eaLnBrk="1" hangingPunct="1">
              <a:buFont typeface="Arial" panose="020B0604020202020204" pitchFamily="34" charset="0"/>
              <a:buChar char="•"/>
            </a:pPr>
            <a:r>
              <a:rPr lang="en-IE" altLang="en-US" sz="1600" dirty="0">
                <a:solidFill>
                  <a:schemeClr val="accent1">
                    <a:lumMod val="75000"/>
                  </a:schemeClr>
                </a:solidFill>
              </a:rPr>
              <a:t>6 x USB2 Ports  -  2 Front </a:t>
            </a:r>
          </a:p>
          <a:p>
            <a:pPr lvl="1" eaLnBrk="1" hangingPunct="1">
              <a:buFont typeface="Arial" panose="020B0604020202020204" pitchFamily="34" charset="0"/>
              <a:buChar char="•"/>
            </a:pPr>
            <a:r>
              <a:rPr lang="en-IE" altLang="en-US" sz="1600" dirty="0">
                <a:solidFill>
                  <a:schemeClr val="accent1">
                    <a:lumMod val="75000"/>
                  </a:schemeClr>
                </a:solidFill>
              </a:rPr>
              <a:t>2 x 1394 Ports  -  1 Front</a:t>
            </a:r>
          </a:p>
          <a:p>
            <a:pPr lvl="1" eaLnBrk="1" hangingPunct="1">
              <a:buFont typeface="Arial" panose="020B0604020202020204" pitchFamily="34" charset="0"/>
              <a:buChar char="•"/>
            </a:pPr>
            <a:r>
              <a:rPr lang="en-IE" altLang="en-US" sz="1600" dirty="0">
                <a:solidFill>
                  <a:schemeClr val="accent1">
                    <a:lumMod val="75000"/>
                  </a:schemeClr>
                </a:solidFill>
              </a:rPr>
              <a:t>Broadcom GB LAN Network Connection</a:t>
            </a:r>
          </a:p>
          <a:p>
            <a:pPr lvl="1" eaLnBrk="1" hangingPunct="1">
              <a:buFont typeface="Arial" panose="020B0604020202020204" pitchFamily="34" charset="0"/>
              <a:buChar char="•"/>
            </a:pPr>
            <a:r>
              <a:rPr lang="en-IE" altLang="en-US" sz="1600" dirty="0">
                <a:solidFill>
                  <a:schemeClr val="accent1">
                    <a:lumMod val="75000"/>
                  </a:schemeClr>
                </a:solidFill>
              </a:rPr>
              <a:t>Multi Card Reader</a:t>
            </a:r>
          </a:p>
          <a:p>
            <a:pPr lvl="1" eaLnBrk="1" hangingPunct="1">
              <a:buFont typeface="Arial" panose="020B0604020202020204" pitchFamily="34" charset="0"/>
              <a:buChar char="•"/>
            </a:pPr>
            <a:r>
              <a:rPr lang="en-IE" altLang="en-US" sz="1600" dirty="0">
                <a:solidFill>
                  <a:schemeClr val="accent1">
                    <a:lumMod val="75000"/>
                  </a:schemeClr>
                </a:solidFill>
              </a:rPr>
              <a:t>18X SATA Dual Format Dual Layer DVDRW Drive</a:t>
            </a:r>
          </a:p>
          <a:p>
            <a:pPr lvl="1" eaLnBrk="1" hangingPunct="1">
              <a:buFont typeface="Arial" panose="020B0604020202020204" pitchFamily="34" charset="0"/>
              <a:buChar char="•"/>
            </a:pPr>
            <a:r>
              <a:rPr lang="en-IE" altLang="en-US" sz="1600" dirty="0">
                <a:solidFill>
                  <a:schemeClr val="accent1">
                    <a:lumMod val="75000"/>
                  </a:schemeClr>
                </a:solidFill>
              </a:rPr>
              <a:t>550W Power Supply</a:t>
            </a:r>
          </a:p>
          <a:p>
            <a:pPr lvl="1" eaLnBrk="1" hangingPunct="1">
              <a:buFont typeface="Arial" panose="020B0604020202020204" pitchFamily="34" charset="0"/>
              <a:buChar char="•"/>
            </a:pPr>
            <a:r>
              <a:rPr lang="en-IE" altLang="en-US" sz="1600" dirty="0">
                <a:solidFill>
                  <a:schemeClr val="accent1">
                    <a:lumMod val="75000"/>
                  </a:schemeClr>
                </a:solidFill>
              </a:rPr>
              <a:t>Logitech Wireless Internet Keyboard and Wireless Optical Mouse </a:t>
            </a:r>
          </a:p>
        </p:txBody>
      </p:sp>
      <p:sp>
        <p:nvSpPr>
          <p:cNvPr id="19458" name="Control 8"/>
          <p:cNvSpPr>
            <a:spLocks noChangeArrowheads="1" noChangeShapeType="1"/>
          </p:cNvSpPr>
          <p:nvPr/>
        </p:nvSpPr>
        <p:spPr bwMode="auto">
          <a:xfrm>
            <a:off x="7877175" y="1092200"/>
            <a:ext cx="5400675" cy="1716088"/>
          </a:xfrm>
          <a:prstGeom prst="rect">
            <a:avLst/>
          </a:prstGeom>
          <a:noFill/>
          <a:ln>
            <a:noFill/>
          </a:ln>
          <a:effectLst/>
          <a:extLst>
            <a:ext uri="{91240B29-F687-4F45-9708-019B960494DF}">
              <a14:hiddenLine xmlns:a14="http://schemas.microsoft.com/office/drawing/2010/main" w="9525" algn="in">
                <a:no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lIns="0" tIns="0" rIns="0" bIns="0"/>
          <a:lstStyle/>
          <a:p>
            <a:endParaRPr lang="en-US"/>
          </a:p>
        </p:txBody>
      </p:sp>
      <p:sp>
        <p:nvSpPr>
          <p:cNvPr id="6" name="Rectangle 2"/>
          <p:cNvSpPr>
            <a:spLocks noGrp="1" noChangeArrowheads="1"/>
          </p:cNvSpPr>
          <p:nvPr>
            <p:ph type="title"/>
          </p:nvPr>
        </p:nvSpPr>
        <p:spPr>
          <a:xfrm>
            <a:off x="304800" y="287817"/>
            <a:ext cx="6992938" cy="504825"/>
          </a:xfrm>
        </p:spPr>
        <p:txBody>
          <a:bodyPr/>
          <a:lstStyle/>
          <a:p>
            <a:pPr algn="l" eaLnBrk="1" hangingPunct="1"/>
            <a:r>
              <a:rPr lang="en-GB" altLang="en-US" sz="1800" b="1" dirty="0" smtClean="0">
                <a:solidFill>
                  <a:schemeClr val="accent1">
                    <a:lumMod val="75000"/>
                  </a:schemeClr>
                </a:solidFill>
                <a:latin typeface="Comic Sans MS" panose="030F0702030302020204" pitchFamily="66" charset="0"/>
              </a:rPr>
              <a:t>Computer Specification</a:t>
            </a:r>
            <a:endParaRPr lang="en-US" altLang="en-US" sz="1800" b="1" dirty="0" smtClean="0">
              <a:solidFill>
                <a:schemeClr val="accent1">
                  <a:lumMod val="75000"/>
                </a:schemeClr>
              </a:solidFill>
              <a:latin typeface="Comic Sans MS" panose="030F0702030302020204" pitchFamily="66" charset="0"/>
            </a:endParaRPr>
          </a:p>
        </p:txBody>
      </p:sp>
    </p:spTree>
    <p:extLst>
      <p:ext uri="{BB962C8B-B14F-4D97-AF65-F5344CB8AC3E}">
        <p14:creationId xmlns:p14="http://schemas.microsoft.com/office/powerpoint/2010/main" val="261852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85800" y="2057400"/>
            <a:ext cx="7924800" cy="2571794"/>
          </a:xfrm>
          <a:prstGeom prst="rect">
            <a:avLst/>
          </a:prstGeom>
        </p:spPr>
        <p:txBody>
          <a:bodyPr wrap="square">
            <a:spAutoFit/>
          </a:bodyPr>
          <a:lstStyle/>
          <a:p>
            <a:pPr marL="914400" marR="0" algn="just">
              <a:lnSpc>
                <a:spcPct val="107000"/>
              </a:lnSpc>
              <a:spcBef>
                <a:spcPts val="0"/>
              </a:spcBef>
              <a:spcAft>
                <a:spcPts val="0"/>
              </a:spcAft>
            </a:pPr>
            <a:r>
              <a:rPr lang="mk-MK"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endParaRPr>
          </a:p>
          <a:p>
            <a:pPr algn="just"/>
            <a:r>
              <a:rPr lang="en-US" sz="1600" dirty="0">
                <a:solidFill>
                  <a:schemeClr val="accent1">
                    <a:lumMod val="75000"/>
                  </a:schemeClr>
                </a:solidFill>
              </a:rPr>
              <a:t>An ...................... is a set of processes and procedures that transform data into information and knowledge</a:t>
            </a:r>
            <a:r>
              <a:rPr lang="en-US" sz="1600" dirty="0" smtClean="0">
                <a:solidFill>
                  <a:schemeClr val="accent1">
                    <a:lumMod val="75000"/>
                  </a:schemeClr>
                </a:solidFill>
              </a:rPr>
              <a:t>.</a:t>
            </a:r>
          </a:p>
          <a:p>
            <a:pPr algn="just"/>
            <a:endParaRPr lang="en-US" sz="1600" dirty="0">
              <a:solidFill>
                <a:schemeClr val="accent1">
                  <a:lumMod val="75000"/>
                </a:schemeClr>
              </a:solidFill>
            </a:endParaRPr>
          </a:p>
          <a:p>
            <a:pPr marL="800100" lvl="1" indent="-342900" algn="just">
              <a:lnSpc>
                <a:spcPct val="150000"/>
              </a:lnSpc>
              <a:buFont typeface="+mj-lt"/>
              <a:buAutoNum type="alphaLcParenR"/>
            </a:pPr>
            <a:r>
              <a:rPr lang="en-US" sz="1600" dirty="0">
                <a:solidFill>
                  <a:schemeClr val="accent1">
                    <a:lumMod val="75000"/>
                  </a:schemeClr>
                </a:solidFill>
              </a:rPr>
              <a:t>Information system</a:t>
            </a:r>
          </a:p>
          <a:p>
            <a:pPr marL="800100" lvl="1" indent="-342900" algn="just">
              <a:lnSpc>
                <a:spcPct val="150000"/>
              </a:lnSpc>
              <a:buFont typeface="+mj-lt"/>
              <a:buAutoNum type="alphaLcParenR"/>
            </a:pPr>
            <a:r>
              <a:rPr lang="en-US" sz="1600" dirty="0">
                <a:solidFill>
                  <a:schemeClr val="accent1">
                    <a:lumMod val="75000"/>
                  </a:schemeClr>
                </a:solidFill>
              </a:rPr>
              <a:t>Knowledge system</a:t>
            </a:r>
          </a:p>
          <a:p>
            <a:pPr marL="800100" lvl="1" indent="-342900" algn="just">
              <a:lnSpc>
                <a:spcPct val="150000"/>
              </a:lnSpc>
              <a:buFont typeface="+mj-lt"/>
              <a:buAutoNum type="alphaLcParenR"/>
            </a:pPr>
            <a:r>
              <a:rPr lang="en-US" sz="1600" dirty="0">
                <a:solidFill>
                  <a:schemeClr val="accent1">
                    <a:lumMod val="75000"/>
                  </a:schemeClr>
                </a:solidFill>
              </a:rPr>
              <a:t>Database system</a:t>
            </a:r>
          </a:p>
          <a:p>
            <a:pPr marL="800100" lvl="1" indent="-342900" algn="just">
              <a:lnSpc>
                <a:spcPct val="150000"/>
              </a:lnSpc>
              <a:buFont typeface="+mj-lt"/>
              <a:buAutoNum type="alphaLcParenR"/>
            </a:pPr>
            <a:r>
              <a:rPr lang="en-US" sz="1600" dirty="0">
                <a:solidFill>
                  <a:schemeClr val="accent1">
                    <a:lumMod val="75000"/>
                  </a:schemeClr>
                </a:solidFill>
              </a:rPr>
              <a:t>Computer system – Information </a:t>
            </a:r>
            <a:r>
              <a:rPr lang="en-US" sz="1600" dirty="0" smtClean="0">
                <a:solidFill>
                  <a:schemeClr val="accent1">
                    <a:lumMod val="75000"/>
                  </a:schemeClr>
                </a:solidFill>
              </a:rPr>
              <a:t>Technology</a:t>
            </a:r>
            <a:endParaRPr lang="en-US" sz="1600" dirty="0">
              <a:solidFill>
                <a:schemeClr val="accent1">
                  <a:lumMod val="75000"/>
                </a:schemeClr>
              </a:solidFill>
            </a:endParaRPr>
          </a:p>
        </p:txBody>
      </p:sp>
    </p:spTree>
    <p:custDataLst>
      <p:tags r:id="rId1"/>
    </p:custDataLst>
    <p:extLst>
      <p:ext uri="{BB962C8B-B14F-4D97-AF65-F5344CB8AC3E}">
        <p14:creationId xmlns:p14="http://schemas.microsoft.com/office/powerpoint/2010/main" val="394415921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2325573"/>
          </a:xfrm>
          <a:prstGeom prst="rect">
            <a:avLst/>
          </a:prstGeom>
        </p:spPr>
        <p:txBody>
          <a:bodyPr wrap="square">
            <a:spAutoFit/>
          </a:bodyPr>
          <a:lstStyle/>
          <a:p>
            <a:pPr marL="914400" marR="0" algn="just">
              <a:lnSpc>
                <a:spcPct val="107000"/>
              </a:lnSpc>
              <a:spcBef>
                <a:spcPts val="0"/>
              </a:spcBef>
              <a:spcAft>
                <a:spcPts val="0"/>
              </a:spcAft>
            </a:pPr>
            <a:r>
              <a:rPr lang="mk-MK"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endParaRPr>
          </a:p>
          <a:p>
            <a:pPr algn="just"/>
            <a:r>
              <a:rPr lang="en-US" sz="1600" dirty="0">
                <a:solidFill>
                  <a:schemeClr val="accent1">
                    <a:lumMod val="75000"/>
                  </a:schemeClr>
                </a:solidFill>
              </a:rPr>
              <a:t>Processing involves transforming input into </a:t>
            </a:r>
            <a:r>
              <a:rPr lang="en-US" sz="1600" dirty="0" smtClean="0">
                <a:solidFill>
                  <a:schemeClr val="accent1">
                    <a:lumMod val="75000"/>
                  </a:schemeClr>
                </a:solidFill>
              </a:rPr>
              <a:t>.............</a:t>
            </a:r>
          </a:p>
          <a:p>
            <a:pPr algn="just"/>
            <a:endParaRPr lang="en-US" sz="1600" dirty="0">
              <a:solidFill>
                <a:schemeClr val="accent1">
                  <a:lumMod val="75000"/>
                </a:schemeClr>
              </a:solidFill>
            </a:endParaRPr>
          </a:p>
          <a:p>
            <a:pPr marL="800100" lvl="1" indent="-342900" algn="just">
              <a:lnSpc>
                <a:spcPct val="150000"/>
              </a:lnSpc>
              <a:buFont typeface="+mj-lt"/>
              <a:buAutoNum type="alphaLcParenR"/>
            </a:pPr>
            <a:r>
              <a:rPr lang="en-US" sz="1600" dirty="0" smtClean="0">
                <a:solidFill>
                  <a:schemeClr val="accent1">
                    <a:lumMod val="75000"/>
                  </a:schemeClr>
                </a:solidFill>
              </a:rPr>
              <a:t>Feedback</a:t>
            </a:r>
            <a:endParaRPr lang="en-US" sz="1600" dirty="0">
              <a:solidFill>
                <a:schemeClr val="accent1">
                  <a:lumMod val="75000"/>
                </a:schemeClr>
              </a:solidFill>
            </a:endParaRPr>
          </a:p>
          <a:p>
            <a:pPr marL="800100" lvl="1" indent="-342900" algn="just">
              <a:lnSpc>
                <a:spcPct val="150000"/>
              </a:lnSpc>
              <a:buFont typeface="+mj-lt"/>
              <a:buAutoNum type="alphaLcParenR"/>
            </a:pPr>
            <a:r>
              <a:rPr lang="en-US" sz="1600" dirty="0">
                <a:solidFill>
                  <a:schemeClr val="accent1">
                    <a:lumMod val="75000"/>
                  </a:schemeClr>
                </a:solidFill>
              </a:rPr>
              <a:t>Output</a:t>
            </a:r>
          </a:p>
          <a:p>
            <a:pPr marL="800100" lvl="1" indent="-342900" algn="just">
              <a:lnSpc>
                <a:spcPct val="150000"/>
              </a:lnSpc>
              <a:buFont typeface="+mj-lt"/>
              <a:buAutoNum type="alphaLcParenR"/>
            </a:pPr>
            <a:r>
              <a:rPr lang="en-US" sz="1600" dirty="0">
                <a:solidFill>
                  <a:schemeClr val="accent1">
                    <a:lumMod val="75000"/>
                  </a:schemeClr>
                </a:solidFill>
              </a:rPr>
              <a:t>Evaluation</a:t>
            </a:r>
          </a:p>
          <a:p>
            <a:pPr marL="800100" lvl="1" indent="-342900" algn="just">
              <a:lnSpc>
                <a:spcPct val="150000"/>
              </a:lnSpc>
              <a:buFont typeface="+mj-lt"/>
              <a:buAutoNum type="alphaLcParenR"/>
            </a:pPr>
            <a:r>
              <a:rPr lang="en-US" sz="1600" dirty="0">
                <a:solidFill>
                  <a:schemeClr val="accent1">
                    <a:lumMod val="75000"/>
                  </a:schemeClr>
                </a:solidFill>
              </a:rPr>
              <a:t>Profit</a:t>
            </a:r>
          </a:p>
        </p:txBody>
      </p:sp>
    </p:spTree>
    <p:custDataLst>
      <p:tags r:id="rId1"/>
    </p:custDataLst>
    <p:extLst>
      <p:ext uri="{BB962C8B-B14F-4D97-AF65-F5344CB8AC3E}">
        <p14:creationId xmlns:p14="http://schemas.microsoft.com/office/powerpoint/2010/main" val="25595998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2694905"/>
          </a:xfrm>
          <a:prstGeom prst="rect">
            <a:avLst/>
          </a:prstGeom>
        </p:spPr>
        <p:txBody>
          <a:bodyPr wrap="square">
            <a:spAutoFit/>
          </a:bodyPr>
          <a:lstStyle/>
          <a:p>
            <a:pPr marL="914400" marR="0" algn="just">
              <a:lnSpc>
                <a:spcPct val="107000"/>
              </a:lnSpc>
              <a:spcBef>
                <a:spcPts val="0"/>
              </a:spcBef>
              <a:spcAft>
                <a:spcPts val="0"/>
              </a:spcAft>
            </a:pPr>
            <a:r>
              <a:rPr lang="mk-MK"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endParaRPr>
          </a:p>
          <a:p>
            <a:pPr algn="just"/>
            <a:r>
              <a:rPr lang="en-US" sz="1600" dirty="0">
                <a:solidFill>
                  <a:schemeClr val="accent1">
                    <a:lumMod val="75000"/>
                  </a:schemeClr>
                </a:solidFill>
              </a:rPr>
              <a:t>Which computer component is a device that presents and/or transmits data from the computer to the user?</a:t>
            </a:r>
          </a:p>
          <a:p>
            <a:pPr marL="800100" lvl="1" indent="-342900" algn="just">
              <a:lnSpc>
                <a:spcPct val="150000"/>
              </a:lnSpc>
              <a:buFont typeface="+mj-lt"/>
              <a:buAutoNum type="alphaLcParenR"/>
            </a:pPr>
            <a:endParaRPr lang="en-US" sz="1600" dirty="0" smtClean="0">
              <a:solidFill>
                <a:schemeClr val="accent1">
                  <a:lumMod val="75000"/>
                </a:schemeClr>
              </a:solidFill>
            </a:endParaRPr>
          </a:p>
          <a:p>
            <a:pPr marL="800100" lvl="1" indent="-342900" algn="just">
              <a:lnSpc>
                <a:spcPct val="150000"/>
              </a:lnSpc>
              <a:buFont typeface="+mj-lt"/>
              <a:buAutoNum type="alphaLcParenR"/>
            </a:pPr>
            <a:r>
              <a:rPr lang="en-US" sz="1600" dirty="0" smtClean="0">
                <a:solidFill>
                  <a:schemeClr val="accent1">
                    <a:lumMod val="75000"/>
                  </a:schemeClr>
                </a:solidFill>
              </a:rPr>
              <a:t>CPU</a:t>
            </a:r>
            <a:endParaRPr lang="en-US" sz="1600" dirty="0">
              <a:solidFill>
                <a:schemeClr val="accent1">
                  <a:lumMod val="75000"/>
                </a:schemeClr>
              </a:solidFill>
            </a:endParaRPr>
          </a:p>
          <a:p>
            <a:pPr marL="800100" lvl="1" indent="-342900" algn="just">
              <a:lnSpc>
                <a:spcPct val="150000"/>
              </a:lnSpc>
              <a:buFont typeface="+mj-lt"/>
              <a:buAutoNum type="alphaLcParenR"/>
            </a:pPr>
            <a:r>
              <a:rPr lang="en-US" sz="1600" dirty="0">
                <a:solidFill>
                  <a:schemeClr val="accent1">
                    <a:lumMod val="75000"/>
                  </a:schemeClr>
                </a:solidFill>
              </a:rPr>
              <a:t>RAM</a:t>
            </a:r>
          </a:p>
          <a:p>
            <a:pPr marL="800100" lvl="1" indent="-342900" algn="just">
              <a:lnSpc>
                <a:spcPct val="150000"/>
              </a:lnSpc>
              <a:buFont typeface="+mj-lt"/>
              <a:buAutoNum type="alphaLcParenR"/>
            </a:pPr>
            <a:r>
              <a:rPr lang="en-US" sz="1600" dirty="0">
                <a:solidFill>
                  <a:schemeClr val="accent1">
                    <a:lumMod val="75000"/>
                  </a:schemeClr>
                </a:solidFill>
              </a:rPr>
              <a:t>Output device</a:t>
            </a:r>
          </a:p>
          <a:p>
            <a:pPr marL="800100" lvl="1" indent="-342900" algn="just">
              <a:lnSpc>
                <a:spcPct val="150000"/>
              </a:lnSpc>
              <a:buFont typeface="+mj-lt"/>
              <a:buAutoNum type="alphaLcParenR"/>
            </a:pPr>
            <a:r>
              <a:rPr lang="en-US" sz="1600" dirty="0">
                <a:solidFill>
                  <a:schemeClr val="accent1">
                    <a:lumMod val="75000"/>
                  </a:schemeClr>
                </a:solidFill>
              </a:rPr>
              <a:t>Input device</a:t>
            </a:r>
          </a:p>
        </p:txBody>
      </p:sp>
    </p:spTree>
    <p:custDataLst>
      <p:tags r:id="rId1"/>
    </p:custDataLst>
    <p:extLst>
      <p:ext uri="{BB962C8B-B14F-4D97-AF65-F5344CB8AC3E}">
        <p14:creationId xmlns:p14="http://schemas.microsoft.com/office/powerpoint/2010/main" val="95713111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362200"/>
            <a:ext cx="7924800" cy="2571794"/>
          </a:xfrm>
          <a:prstGeom prst="rect">
            <a:avLst/>
          </a:prstGeom>
        </p:spPr>
        <p:txBody>
          <a:bodyPr wrap="square">
            <a:spAutoFit/>
          </a:bodyPr>
          <a:lstStyle/>
          <a:p>
            <a:pPr marL="914400" marR="0" algn="just">
              <a:lnSpc>
                <a:spcPct val="107000"/>
              </a:lnSpc>
              <a:spcBef>
                <a:spcPts val="0"/>
              </a:spcBef>
              <a:spcAft>
                <a:spcPts val="0"/>
              </a:spcAft>
            </a:pPr>
            <a:r>
              <a:rPr lang="mk-MK"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endParaRPr>
          </a:p>
          <a:p>
            <a:pPr algn="just"/>
            <a:r>
              <a:rPr lang="en-US" sz="1600" dirty="0">
                <a:solidFill>
                  <a:schemeClr val="accent1">
                    <a:lumMod val="75000"/>
                  </a:schemeClr>
                </a:solidFill>
              </a:rPr>
              <a:t>A wireless technology built in electronic gadgets used for exchanging data over short distances is </a:t>
            </a:r>
            <a:r>
              <a:rPr lang="en-US" sz="1600" dirty="0" smtClean="0">
                <a:solidFill>
                  <a:schemeClr val="accent1">
                    <a:lumMod val="75000"/>
                  </a:schemeClr>
                </a:solidFill>
              </a:rPr>
              <a:t>..........</a:t>
            </a:r>
          </a:p>
          <a:p>
            <a:endParaRPr lang="en-US" sz="1600" dirty="0">
              <a:solidFill>
                <a:schemeClr val="accent1">
                  <a:lumMod val="75000"/>
                </a:schemeClr>
              </a:solidFill>
            </a:endParaRPr>
          </a:p>
          <a:p>
            <a:pPr marL="800100" lvl="1" indent="-342900" algn="just">
              <a:lnSpc>
                <a:spcPct val="150000"/>
              </a:lnSpc>
              <a:buFont typeface="+mj-lt"/>
              <a:buAutoNum type="alphaLcParenR"/>
            </a:pPr>
            <a:r>
              <a:rPr lang="en-US" sz="1600" dirty="0" smtClean="0">
                <a:solidFill>
                  <a:schemeClr val="accent1">
                    <a:lumMod val="75000"/>
                  </a:schemeClr>
                </a:solidFill>
              </a:rPr>
              <a:t>USB</a:t>
            </a:r>
            <a:endParaRPr lang="en-US" sz="1600" dirty="0">
              <a:solidFill>
                <a:schemeClr val="accent1">
                  <a:lumMod val="75000"/>
                </a:schemeClr>
              </a:solidFill>
            </a:endParaRPr>
          </a:p>
          <a:p>
            <a:pPr marL="800100" lvl="1" indent="-342900" algn="just">
              <a:lnSpc>
                <a:spcPct val="150000"/>
              </a:lnSpc>
              <a:buFont typeface="+mj-lt"/>
              <a:buAutoNum type="alphaLcParenR"/>
            </a:pPr>
            <a:r>
              <a:rPr lang="en-US" sz="1600" dirty="0">
                <a:solidFill>
                  <a:schemeClr val="accent1">
                    <a:lumMod val="75000"/>
                  </a:schemeClr>
                </a:solidFill>
              </a:rPr>
              <a:t>Bluetooth</a:t>
            </a:r>
          </a:p>
          <a:p>
            <a:pPr marL="800100" lvl="1" indent="-342900" algn="just">
              <a:lnSpc>
                <a:spcPct val="150000"/>
              </a:lnSpc>
              <a:buFont typeface="+mj-lt"/>
              <a:buAutoNum type="alphaLcParenR"/>
            </a:pPr>
            <a:r>
              <a:rPr lang="en-US" sz="1600" dirty="0">
                <a:solidFill>
                  <a:schemeClr val="accent1">
                    <a:lumMod val="75000"/>
                  </a:schemeClr>
                </a:solidFill>
              </a:rPr>
              <a:t>Modem</a:t>
            </a:r>
          </a:p>
          <a:p>
            <a:pPr marL="800100" lvl="1" indent="-342900" algn="just">
              <a:lnSpc>
                <a:spcPct val="150000"/>
              </a:lnSpc>
              <a:buFont typeface="+mj-lt"/>
              <a:buAutoNum type="alphaLcParenR"/>
            </a:pPr>
            <a:r>
              <a:rPr lang="en-US" sz="1600" dirty="0" err="1">
                <a:solidFill>
                  <a:schemeClr val="accent1">
                    <a:lumMod val="75000"/>
                  </a:schemeClr>
                </a:solidFill>
              </a:rPr>
              <a:t>Wifi</a:t>
            </a:r>
            <a:endParaRPr lang="en-US" sz="1600" dirty="0">
              <a:solidFill>
                <a:schemeClr val="accent1">
                  <a:lumMod val="75000"/>
                </a:schemeClr>
              </a:solidFill>
            </a:endParaRPr>
          </a:p>
        </p:txBody>
      </p:sp>
    </p:spTree>
    <p:custDataLst>
      <p:tags r:id="rId1"/>
    </p:custDataLst>
    <p:extLst>
      <p:ext uri="{BB962C8B-B14F-4D97-AF65-F5344CB8AC3E}">
        <p14:creationId xmlns:p14="http://schemas.microsoft.com/office/powerpoint/2010/main" val="105471043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2571794"/>
          </a:xfrm>
          <a:prstGeom prst="rect">
            <a:avLst/>
          </a:prstGeom>
        </p:spPr>
        <p:txBody>
          <a:bodyPr wrap="square">
            <a:spAutoFit/>
          </a:bodyPr>
          <a:lstStyle/>
          <a:p>
            <a:pPr marL="914400" marR="0" algn="just">
              <a:lnSpc>
                <a:spcPct val="107000"/>
              </a:lnSpc>
              <a:spcBef>
                <a:spcPts val="0"/>
              </a:spcBef>
              <a:spcAft>
                <a:spcPts val="0"/>
              </a:spcAft>
            </a:pPr>
            <a:r>
              <a:rPr lang="mk-MK"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endParaRPr>
          </a:p>
          <a:p>
            <a:pPr algn="just"/>
            <a:r>
              <a:rPr lang="en-US" sz="1600" dirty="0">
                <a:solidFill>
                  <a:schemeClr val="accent1">
                    <a:lumMod val="75000"/>
                  </a:schemeClr>
                </a:solidFill>
              </a:rPr>
              <a:t>Data becomes ……………. when it is presented in a format that people can understand and </a:t>
            </a:r>
            <a:r>
              <a:rPr lang="en-US" sz="1600" dirty="0" smtClean="0">
                <a:solidFill>
                  <a:schemeClr val="accent1">
                    <a:lumMod val="75000"/>
                  </a:schemeClr>
                </a:solidFill>
              </a:rPr>
              <a:t>use.</a:t>
            </a:r>
            <a:endParaRPr lang="en-US" sz="1600" dirty="0">
              <a:solidFill>
                <a:schemeClr val="accent1">
                  <a:lumMod val="75000"/>
                </a:schemeClr>
              </a:solidFill>
            </a:endParaRPr>
          </a:p>
          <a:p>
            <a:pPr algn="just"/>
            <a:endParaRPr lang="en-US" sz="1600" dirty="0" smtClean="0">
              <a:solidFill>
                <a:schemeClr val="accent1">
                  <a:lumMod val="75000"/>
                </a:schemeClr>
              </a:solidFill>
            </a:endParaRPr>
          </a:p>
          <a:p>
            <a:pPr marL="800100" lvl="1" indent="-342900" algn="just">
              <a:lnSpc>
                <a:spcPct val="150000"/>
              </a:lnSpc>
              <a:buFont typeface="+mj-lt"/>
              <a:buAutoNum type="alphaLcParenR"/>
            </a:pPr>
            <a:r>
              <a:rPr lang="en-US" sz="1600" dirty="0" smtClean="0">
                <a:solidFill>
                  <a:schemeClr val="accent1">
                    <a:lumMod val="75000"/>
                  </a:schemeClr>
                </a:solidFill>
              </a:rPr>
              <a:t>processed</a:t>
            </a:r>
            <a:endParaRPr lang="en-US" sz="1600" dirty="0">
              <a:solidFill>
                <a:schemeClr val="accent1">
                  <a:lumMod val="75000"/>
                </a:schemeClr>
              </a:solidFill>
            </a:endParaRPr>
          </a:p>
          <a:p>
            <a:pPr marL="800100" lvl="1" indent="-342900" algn="just">
              <a:lnSpc>
                <a:spcPct val="150000"/>
              </a:lnSpc>
              <a:buFont typeface="+mj-lt"/>
              <a:buAutoNum type="alphaLcParenR"/>
            </a:pPr>
            <a:r>
              <a:rPr lang="en-US" sz="1600" dirty="0">
                <a:solidFill>
                  <a:schemeClr val="accent1">
                    <a:lumMod val="75000"/>
                  </a:schemeClr>
                </a:solidFill>
              </a:rPr>
              <a:t>graphs</a:t>
            </a:r>
          </a:p>
          <a:p>
            <a:pPr marL="800100" lvl="1" indent="-342900" algn="just">
              <a:lnSpc>
                <a:spcPct val="150000"/>
              </a:lnSpc>
              <a:buFont typeface="+mj-lt"/>
              <a:buAutoNum type="alphaLcParenR"/>
            </a:pPr>
            <a:r>
              <a:rPr lang="en-US" sz="1600" dirty="0">
                <a:solidFill>
                  <a:schemeClr val="accent1">
                    <a:lumMod val="75000"/>
                  </a:schemeClr>
                </a:solidFill>
              </a:rPr>
              <a:t>information</a:t>
            </a:r>
          </a:p>
          <a:p>
            <a:pPr marL="800100" lvl="1" indent="-342900" algn="just">
              <a:lnSpc>
                <a:spcPct val="150000"/>
              </a:lnSpc>
              <a:buFont typeface="+mj-lt"/>
              <a:buAutoNum type="alphaLcParenR"/>
            </a:pPr>
            <a:r>
              <a:rPr lang="en-US" sz="1600" dirty="0">
                <a:solidFill>
                  <a:schemeClr val="accent1">
                    <a:lumMod val="75000"/>
                  </a:schemeClr>
                </a:solidFill>
              </a:rPr>
              <a:t>presentation</a:t>
            </a:r>
          </a:p>
        </p:txBody>
      </p:sp>
    </p:spTree>
    <p:custDataLst>
      <p:tags r:id="rId1"/>
    </p:custDataLst>
    <p:extLst>
      <p:ext uri="{BB962C8B-B14F-4D97-AF65-F5344CB8AC3E}">
        <p14:creationId xmlns:p14="http://schemas.microsoft.com/office/powerpoint/2010/main" val="215917839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399032"/>
          </a:xfrm>
        </p:spPr>
        <p:txBody>
          <a:bodyPr/>
          <a:lstStyle/>
          <a:p>
            <a:r>
              <a:rPr lang="en-US" sz="1800" dirty="0" smtClean="0">
                <a:solidFill>
                  <a:srgbClr val="C00000"/>
                </a:solidFill>
                <a:latin typeface="Comic Sans MS" panose="030F0702030302020204" pitchFamily="66" charset="0"/>
              </a:rPr>
              <a:t>Quick “In class Mock test”</a:t>
            </a:r>
            <a:endParaRPr lang="en-US" sz="1800" dirty="0">
              <a:solidFill>
                <a:srgbClr val="C00000"/>
              </a:solidFill>
              <a:latin typeface="Comic Sans MS" panose="030F0702030302020204" pitchFamily="66" charset="0"/>
            </a:endParaRPr>
          </a:p>
        </p:txBody>
      </p:sp>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5" name="Rectangle 4"/>
          <p:cNvSpPr/>
          <p:nvPr/>
        </p:nvSpPr>
        <p:spPr>
          <a:xfrm>
            <a:off x="609600" y="2438400"/>
            <a:ext cx="7924800" cy="2325573"/>
          </a:xfrm>
          <a:prstGeom prst="rect">
            <a:avLst/>
          </a:prstGeom>
        </p:spPr>
        <p:txBody>
          <a:bodyPr wrap="square">
            <a:spAutoFit/>
          </a:bodyPr>
          <a:lstStyle/>
          <a:p>
            <a:pPr marL="914400" marR="0" algn="just">
              <a:lnSpc>
                <a:spcPct val="107000"/>
              </a:lnSpc>
              <a:spcBef>
                <a:spcPts val="0"/>
              </a:spcBef>
              <a:spcAft>
                <a:spcPts val="0"/>
              </a:spcAft>
            </a:pPr>
            <a:r>
              <a:rPr lang="mk-MK"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rPr>
              <a:t> </a:t>
            </a:r>
            <a:endParaRPr lang="en-US" sz="1600" dirty="0">
              <a:solidFill>
                <a:schemeClr val="accent1">
                  <a:lumMod val="75000"/>
                </a:schemeClr>
              </a:solidFill>
              <a:latin typeface="Comic Sans MS" panose="030F0702030302020204" pitchFamily="66" charset="0"/>
              <a:ea typeface="Calibri" panose="020F0502020204030204" pitchFamily="34" charset="0"/>
              <a:cs typeface="Times New Roman" panose="02020603050405020304" pitchFamily="18" charset="0"/>
            </a:endParaRPr>
          </a:p>
          <a:p>
            <a:r>
              <a:rPr lang="en-US" sz="1600" dirty="0">
                <a:solidFill>
                  <a:schemeClr val="accent1">
                    <a:lumMod val="75000"/>
                  </a:schemeClr>
                </a:solidFill>
              </a:rPr>
              <a:t>.............. design and write </a:t>
            </a:r>
            <a:r>
              <a:rPr lang="en-US" sz="1600" dirty="0" smtClean="0">
                <a:solidFill>
                  <a:schemeClr val="accent1">
                    <a:lumMod val="75000"/>
                  </a:schemeClr>
                </a:solidFill>
              </a:rPr>
              <a:t>software.</a:t>
            </a:r>
            <a:endParaRPr lang="en-US" sz="1600" dirty="0">
              <a:solidFill>
                <a:schemeClr val="accent1">
                  <a:lumMod val="75000"/>
                </a:schemeClr>
              </a:solidFill>
            </a:endParaRPr>
          </a:p>
          <a:p>
            <a:endParaRPr lang="en-US" sz="1600" dirty="0" smtClean="0">
              <a:solidFill>
                <a:schemeClr val="accent1">
                  <a:lumMod val="75000"/>
                </a:schemeClr>
              </a:solidFill>
            </a:endParaRPr>
          </a:p>
          <a:p>
            <a:pPr marL="800100" lvl="1" indent="-342900">
              <a:lnSpc>
                <a:spcPct val="150000"/>
              </a:lnSpc>
              <a:buFont typeface="+mj-lt"/>
              <a:buAutoNum type="alphaLcParenR"/>
            </a:pPr>
            <a:r>
              <a:rPr lang="en-US" sz="1600" dirty="0" smtClean="0">
                <a:solidFill>
                  <a:schemeClr val="accent1">
                    <a:lumMod val="75000"/>
                  </a:schemeClr>
                </a:solidFill>
              </a:rPr>
              <a:t>Systems </a:t>
            </a:r>
            <a:r>
              <a:rPr lang="en-US" sz="1600" dirty="0">
                <a:solidFill>
                  <a:schemeClr val="accent1">
                    <a:lumMod val="75000"/>
                  </a:schemeClr>
                </a:solidFill>
              </a:rPr>
              <a:t>developers</a:t>
            </a:r>
          </a:p>
          <a:p>
            <a:pPr marL="800100" lvl="1" indent="-342900">
              <a:lnSpc>
                <a:spcPct val="150000"/>
              </a:lnSpc>
              <a:buFont typeface="+mj-lt"/>
              <a:buAutoNum type="alphaLcParenR"/>
            </a:pPr>
            <a:r>
              <a:rPr lang="en-US" sz="1600" dirty="0">
                <a:solidFill>
                  <a:schemeClr val="accent1">
                    <a:lumMod val="75000"/>
                  </a:schemeClr>
                </a:solidFill>
              </a:rPr>
              <a:t>Database administrators</a:t>
            </a:r>
          </a:p>
          <a:p>
            <a:pPr marL="800100" lvl="1" indent="-342900">
              <a:lnSpc>
                <a:spcPct val="150000"/>
              </a:lnSpc>
              <a:buFont typeface="+mj-lt"/>
              <a:buAutoNum type="alphaLcParenR"/>
            </a:pPr>
            <a:r>
              <a:rPr lang="en-US" sz="1600" dirty="0">
                <a:solidFill>
                  <a:schemeClr val="accent1">
                    <a:lumMod val="75000"/>
                  </a:schemeClr>
                </a:solidFill>
              </a:rPr>
              <a:t>Systems analysts</a:t>
            </a:r>
          </a:p>
          <a:p>
            <a:pPr marL="800100" lvl="1" indent="-342900">
              <a:lnSpc>
                <a:spcPct val="150000"/>
              </a:lnSpc>
              <a:buFont typeface="+mj-lt"/>
              <a:buAutoNum type="alphaLcParenR"/>
            </a:pPr>
            <a:r>
              <a:rPr lang="en-US" sz="1600" dirty="0">
                <a:solidFill>
                  <a:schemeClr val="accent1">
                    <a:lumMod val="75000"/>
                  </a:schemeClr>
                </a:solidFill>
              </a:rPr>
              <a:t>IT Consultants</a:t>
            </a:r>
          </a:p>
        </p:txBody>
      </p:sp>
    </p:spTree>
    <p:custDataLst>
      <p:tags r:id="rId1"/>
    </p:custDataLst>
    <p:extLst>
      <p:ext uri="{BB962C8B-B14F-4D97-AF65-F5344CB8AC3E}">
        <p14:creationId xmlns:p14="http://schemas.microsoft.com/office/powerpoint/2010/main" val="428545473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1066800" y="2344341"/>
            <a:ext cx="7010400" cy="2031325"/>
          </a:xfrm>
          <a:prstGeom prst="rect">
            <a:avLst/>
          </a:prstGeom>
        </p:spPr>
        <p:txBody>
          <a:bodyPr wrap="square">
            <a:spAutoFit/>
          </a:bodyPr>
          <a:lstStyle/>
          <a:p>
            <a:endParaRPr lang="en-US" sz="1400" dirty="0">
              <a:solidFill>
                <a:schemeClr val="accent1">
                  <a:lumMod val="75000"/>
                </a:schemeClr>
              </a:solidFill>
              <a:hlinkClick r:id=""/>
            </a:endParaRPr>
          </a:p>
          <a:p>
            <a:pPr algn="ctr"/>
            <a:r>
              <a:rPr lang="en-US" sz="1600" dirty="0">
                <a:solidFill>
                  <a:schemeClr val="accent1">
                    <a:lumMod val="75000"/>
                  </a:schemeClr>
                </a:solidFill>
                <a:hlinkClick r:id="rId2"/>
              </a:rPr>
              <a:t>https://</a:t>
            </a:r>
            <a:r>
              <a:rPr lang="en-US" sz="1600" dirty="0" smtClean="0">
                <a:solidFill>
                  <a:schemeClr val="accent1">
                    <a:lumMod val="75000"/>
                  </a:schemeClr>
                </a:solidFill>
                <a:hlinkClick r:id="rId2"/>
              </a:rPr>
              <a:t>www.youtube.com/watch?v=q6WlzHLxNKI</a:t>
            </a:r>
            <a:endParaRPr lang="en-US" sz="1600" dirty="0" smtClean="0">
              <a:solidFill>
                <a:schemeClr val="accent1">
                  <a:lumMod val="75000"/>
                </a:schemeClr>
              </a:solidFill>
            </a:endParaRPr>
          </a:p>
          <a:p>
            <a:pPr algn="ctr"/>
            <a:r>
              <a:rPr lang="pt-BR" sz="1600" dirty="0">
                <a:solidFill>
                  <a:schemeClr val="accent1">
                    <a:lumMod val="75000"/>
                  </a:schemeClr>
                </a:solidFill>
              </a:rPr>
              <a:t>Inside Amazon's Massive Data Center</a:t>
            </a:r>
          </a:p>
          <a:p>
            <a:pPr algn="ctr"/>
            <a:endParaRPr lang="en-US" sz="1600" dirty="0" smtClean="0">
              <a:solidFill>
                <a:schemeClr val="accent1">
                  <a:lumMod val="75000"/>
                </a:schemeClr>
              </a:solidFill>
              <a:hlinkClick r:id="rId3"/>
            </a:endParaRPr>
          </a:p>
          <a:p>
            <a:pPr algn="ctr"/>
            <a:r>
              <a:rPr lang="en-US" sz="1600" dirty="0">
                <a:solidFill>
                  <a:schemeClr val="accent1">
                    <a:lumMod val="75000"/>
                  </a:schemeClr>
                </a:solidFill>
                <a:hlinkClick r:id="rId4"/>
              </a:rPr>
              <a:t>https://</a:t>
            </a:r>
            <a:r>
              <a:rPr lang="en-US" sz="1600" dirty="0" smtClean="0">
                <a:solidFill>
                  <a:schemeClr val="accent1">
                    <a:lumMod val="75000"/>
                  </a:schemeClr>
                </a:solidFill>
                <a:hlinkClick r:id="rId4"/>
              </a:rPr>
              <a:t>www.youtube.com/watch?v=0_veMXUsutU</a:t>
            </a:r>
            <a:endParaRPr lang="en-US" sz="1600" dirty="0" smtClean="0">
              <a:solidFill>
                <a:schemeClr val="accent1">
                  <a:lumMod val="75000"/>
                </a:schemeClr>
              </a:solidFill>
            </a:endParaRPr>
          </a:p>
          <a:p>
            <a:pPr algn="ctr"/>
            <a:r>
              <a:rPr lang="en-US" sz="1600" dirty="0">
                <a:solidFill>
                  <a:schemeClr val="accent1">
                    <a:lumMod val="75000"/>
                  </a:schemeClr>
                </a:solidFill>
              </a:rPr>
              <a:t>Why does Microsoft have underwater data centers?</a:t>
            </a:r>
          </a:p>
          <a:p>
            <a:pPr algn="ctr"/>
            <a:endParaRPr lang="en-US" sz="1600" dirty="0" smtClean="0">
              <a:solidFill>
                <a:schemeClr val="accent1">
                  <a:lumMod val="75000"/>
                </a:schemeClr>
              </a:solidFill>
              <a:hlinkClick r:id="rId5"/>
            </a:endParaRPr>
          </a:p>
          <a:p>
            <a:pPr algn="ctr"/>
            <a:endParaRPr lang="en-US" sz="1600" dirty="0">
              <a:solidFill>
                <a:schemeClr val="accent1">
                  <a:lumMod val="75000"/>
                </a:schemeClr>
              </a:solidFill>
            </a:endParaRPr>
          </a:p>
        </p:txBody>
      </p:sp>
    </p:spTree>
    <p:extLst>
      <p:ext uri="{BB962C8B-B14F-4D97-AF65-F5344CB8AC3E}">
        <p14:creationId xmlns:p14="http://schemas.microsoft.com/office/powerpoint/2010/main" val="24091584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b="1" dirty="0" smtClean="0"/>
              <a:t>Thank </a:t>
            </a:r>
            <a:r>
              <a:rPr lang="en-US" sz="1400" b="1" dirty="0"/>
              <a:t>y</a:t>
            </a:r>
            <a:r>
              <a:rPr lang="en-US" sz="1400" b="1" dirty="0" smtClean="0"/>
              <a:t>ou for your attention!</a:t>
            </a:r>
            <a:endParaRPr lang="en-US" sz="1400" b="1"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21216</TotalTime>
  <Words>4909</Words>
  <Application>Microsoft Office PowerPoint</Application>
  <PresentationFormat>On-screen Show (4:3)</PresentationFormat>
  <Paragraphs>723</Paragraphs>
  <Slides>74</Slides>
  <Notes>46</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Comic Sans MS</vt:lpstr>
      <vt:lpstr>Times New Roman</vt:lpstr>
      <vt:lpstr>Wingdings 3</vt:lpstr>
      <vt:lpstr>Presentation slides</vt:lpstr>
      <vt:lpstr>PowerPoint Presentation</vt:lpstr>
      <vt:lpstr>PowerPoint Presentation</vt:lpstr>
      <vt:lpstr>PowerPoint Presentation</vt:lpstr>
      <vt:lpstr>Information System</vt:lpstr>
      <vt:lpstr>Perspectives of Information System</vt:lpstr>
      <vt:lpstr>Management Information System </vt:lpstr>
      <vt:lpstr>Typical use of MIS</vt:lpstr>
      <vt:lpstr>Role of MIS </vt:lpstr>
      <vt:lpstr>Types of MIS </vt:lpstr>
      <vt:lpstr>Components of MIS </vt:lpstr>
      <vt:lpstr>Outputs of MIS</vt:lpstr>
      <vt:lpstr>Outputs of MIS (cont.)</vt:lpstr>
      <vt:lpstr>Benefits of MIS</vt:lpstr>
      <vt:lpstr>Role of MIS in Business</vt:lpstr>
      <vt:lpstr>How MIS contributes to decision making process (1)</vt:lpstr>
      <vt:lpstr>How MIS contributes to decision making process (2)</vt:lpstr>
      <vt:lpstr>How MIS contributes to decision making process (3)</vt:lpstr>
      <vt:lpstr>How MIS contributes to decision making process (4)</vt:lpstr>
      <vt:lpstr>Role of MIS in Business (cont.)</vt:lpstr>
      <vt:lpstr>Advantage of MIS</vt:lpstr>
      <vt:lpstr>PowerPoint Presentation</vt:lpstr>
      <vt:lpstr>Hardware &amp; Software</vt:lpstr>
      <vt:lpstr>Hardware &amp; Software</vt:lpstr>
      <vt:lpstr>PC Components</vt:lpstr>
      <vt:lpstr>System Unit</vt:lpstr>
      <vt:lpstr>Peripherals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PowerPoint Presentation</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System Devices</vt:lpstr>
      <vt:lpstr>Peripherals</vt:lpstr>
      <vt:lpstr>Peripherals</vt:lpstr>
      <vt:lpstr>Peripherals</vt:lpstr>
      <vt:lpstr>Peripherals</vt:lpstr>
      <vt:lpstr>Peripherals</vt:lpstr>
      <vt:lpstr>Peripherals</vt:lpstr>
      <vt:lpstr>Peripherals</vt:lpstr>
      <vt:lpstr>Peripherals</vt:lpstr>
      <vt:lpstr>Peripherals</vt:lpstr>
      <vt:lpstr>Peripherals</vt:lpstr>
      <vt:lpstr>Peripherals</vt:lpstr>
      <vt:lpstr>Computer Specification</vt:lpstr>
      <vt:lpstr>Quick “In class Mock test”</vt:lpstr>
      <vt:lpstr>Quick “In class Mock test”</vt:lpstr>
      <vt:lpstr>Quick “In class Mock test”</vt:lpstr>
      <vt:lpstr>Quick “In class Mock test”</vt:lpstr>
      <vt:lpstr>Quick “In class Mock test”</vt:lpstr>
      <vt:lpstr>Quick “In class Mock test”</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2543</cp:revision>
  <dcterms:created xsi:type="dcterms:W3CDTF">2013-11-13T03:56:02Z</dcterms:created>
  <dcterms:modified xsi:type="dcterms:W3CDTF">2024-09-26T22:29:50Z</dcterms:modified>
</cp:coreProperties>
</file>