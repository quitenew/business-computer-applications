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Lst>
  <p:notesMasterIdLst>
    <p:notesMasterId r:id="rId43"/>
  </p:notesMasterIdLst>
  <p:handoutMasterIdLst>
    <p:handoutMasterId r:id="rId44"/>
  </p:handoutMasterIdLst>
  <p:sldIdLst>
    <p:sldId id="1086" r:id="rId2"/>
    <p:sldId id="1754" r:id="rId3"/>
    <p:sldId id="2316" r:id="rId4"/>
    <p:sldId id="2362" r:id="rId5"/>
    <p:sldId id="2417" r:id="rId6"/>
    <p:sldId id="2418" r:id="rId7"/>
    <p:sldId id="2364" r:id="rId8"/>
    <p:sldId id="2419" r:id="rId9"/>
    <p:sldId id="2420" r:id="rId10"/>
    <p:sldId id="2363" r:id="rId11"/>
    <p:sldId id="2421" r:id="rId12"/>
    <p:sldId id="2422" r:id="rId13"/>
    <p:sldId id="2366" r:id="rId14"/>
    <p:sldId id="2368" r:id="rId15"/>
    <p:sldId id="2423" r:id="rId16"/>
    <p:sldId id="2424" r:id="rId17"/>
    <p:sldId id="2369" r:id="rId18"/>
    <p:sldId id="2426" r:id="rId19"/>
    <p:sldId id="2427" r:id="rId20"/>
    <p:sldId id="2428" r:id="rId21"/>
    <p:sldId id="2429" r:id="rId22"/>
    <p:sldId id="2432" r:id="rId23"/>
    <p:sldId id="2433" r:id="rId24"/>
    <p:sldId id="2434" r:id="rId25"/>
    <p:sldId id="2430" r:id="rId26"/>
    <p:sldId id="2260" r:id="rId27"/>
    <p:sldId id="2435" r:id="rId28"/>
    <p:sldId id="2315" r:id="rId29"/>
    <p:sldId id="2259" r:id="rId30"/>
    <p:sldId id="2436" r:id="rId31"/>
    <p:sldId id="2370" r:id="rId32"/>
    <p:sldId id="2317" r:id="rId33"/>
    <p:sldId id="2343" r:id="rId34"/>
    <p:sldId id="2372" r:id="rId35"/>
    <p:sldId id="2373" r:id="rId36"/>
    <p:sldId id="2376" r:id="rId37"/>
    <p:sldId id="2374" r:id="rId38"/>
    <p:sldId id="2377" r:id="rId39"/>
    <p:sldId id="2437" r:id="rId40"/>
    <p:sldId id="2360" r:id="rId41"/>
    <p:sldId id="1984"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0CA0"/>
    <a:srgbClr val="FFFFFF"/>
    <a:srgbClr val="ECFFC3"/>
    <a:srgbClr val="E16519"/>
    <a:srgbClr val="FAD35B"/>
    <a:srgbClr val="517BA9"/>
    <a:srgbClr val="D80EC0"/>
    <a:srgbClr val="F77DEB"/>
    <a:srgbClr val="F2802A"/>
    <a:srgbClr val="F59E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63" autoAdjust="0"/>
    <p:restoredTop sz="93673" autoAdjust="0"/>
  </p:normalViewPr>
  <p:slideViewPr>
    <p:cSldViewPr>
      <p:cViewPr varScale="1">
        <p:scale>
          <a:sx n="63" d="100"/>
          <a:sy n="63" d="100"/>
        </p:scale>
        <p:origin x="1104" y="5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0" d="100"/>
          <a:sy n="50" d="100"/>
        </p:scale>
        <p:origin x="2708"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73AB8F-406F-4E8A-8176-5DB14D789022}" type="datetimeFigureOut">
              <a:rPr lang="en-US" smtClean="0"/>
              <a:t>9/8/2024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000F6F-FCC4-40B4-A776-0656D3559D45}" type="slidenum">
              <a:rPr lang="en-US" smtClean="0"/>
              <a:t>‹#›</a:t>
            </a:fld>
            <a:endParaRPr lang="en-US"/>
          </a:p>
        </p:txBody>
      </p:sp>
    </p:spTree>
    <p:extLst>
      <p:ext uri="{BB962C8B-B14F-4D97-AF65-F5344CB8AC3E}">
        <p14:creationId xmlns:p14="http://schemas.microsoft.com/office/powerpoint/2010/main" val="19447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9/8/2024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08/09/67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support.office.com/en-us/article/video-sort-data-in-a-range-or-table-ffb9fcb0-b9cb-48bf-a15c-8bec9fd3a472"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4648" y="3422596"/>
            <a:ext cx="8867736" cy="523220"/>
          </a:xfrm>
          <a:prstGeom prst="rect">
            <a:avLst/>
          </a:prstGeom>
          <a:noFill/>
        </p:spPr>
        <p:txBody>
          <a:bodyPr wrap="square" rtlCol="0">
            <a:spAutoFit/>
          </a:bodyPr>
          <a:lstStyle/>
          <a:p>
            <a:r>
              <a:rPr lang="en-US" sz="2800" b="1" dirty="0" smtClean="0">
                <a:solidFill>
                  <a:schemeClr val="bg1"/>
                </a:solidFill>
                <a:latin typeface="Comic Sans MS" panose="030F0702030302020204" pitchFamily="66" charset="0"/>
              </a:rPr>
              <a:t>Getting the most from Excel </a:t>
            </a:r>
            <a:r>
              <a:rPr lang="en-US" sz="1600" b="1" i="1" dirty="0" smtClean="0">
                <a:solidFill>
                  <a:schemeClr val="bg1"/>
                </a:solidFill>
                <a:latin typeface="Comic Sans MS" panose="030F0702030302020204" pitchFamily="66" charset="0"/>
              </a:rPr>
              <a:t>– level I</a:t>
            </a:r>
            <a:endParaRPr lang="en-US" sz="1600" i="1" dirty="0">
              <a:solidFill>
                <a:schemeClr val="bg1"/>
              </a:solidFill>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228600"/>
            <a:ext cx="9144000" cy="523220"/>
          </a:xfrm>
          <a:prstGeom prst="rect">
            <a:avLst/>
          </a:prstGeom>
          <a:solidFill>
            <a:schemeClr val="bg1">
              <a:lumMod val="95000"/>
            </a:schemeClr>
          </a:solidFill>
        </p:spPr>
        <p:txBody>
          <a:bodyPr wrap="square">
            <a:spAutoFit/>
          </a:bodyPr>
          <a:lstStyle/>
          <a:p>
            <a:pPr algn="ctr"/>
            <a:r>
              <a:rPr lang="en-US" sz="1400" i="1" dirty="0">
                <a:solidFill>
                  <a:schemeClr val="accent1">
                    <a:lumMod val="75000"/>
                  </a:schemeClr>
                </a:solidFill>
              </a:rPr>
              <a:t>Based on the </a:t>
            </a:r>
            <a:r>
              <a:rPr lang="en-US" sz="1400" i="1" dirty="0" smtClean="0">
                <a:solidFill>
                  <a:schemeClr val="accent1">
                    <a:lumMod val="75000"/>
                  </a:schemeClr>
                </a:solidFill>
              </a:rPr>
              <a:t>textbook: </a:t>
            </a:r>
            <a:endParaRPr lang="en-US" sz="1400" i="1" dirty="0">
              <a:solidFill>
                <a:schemeClr val="accent1">
                  <a:lumMod val="75000"/>
                </a:schemeClr>
              </a:solidFill>
            </a:endParaRPr>
          </a:p>
          <a:p>
            <a:pPr algn="ctr"/>
            <a:r>
              <a:rPr lang="en-US" sz="1400" dirty="0">
                <a:solidFill>
                  <a:schemeClr val="accent1">
                    <a:lumMod val="75000"/>
                  </a:schemeClr>
                </a:solidFill>
              </a:rPr>
              <a:t>Microsoft Office Inside Out (Office 2021 and Microsoft 365), J. </a:t>
            </a:r>
            <a:r>
              <a:rPr lang="en-US" sz="1400" dirty="0" err="1">
                <a:solidFill>
                  <a:schemeClr val="accent1">
                    <a:lumMod val="75000"/>
                  </a:schemeClr>
                </a:solidFill>
              </a:rPr>
              <a:t>Habraken</a:t>
            </a:r>
            <a:r>
              <a:rPr lang="en-US" sz="1400" dirty="0">
                <a:solidFill>
                  <a:schemeClr val="accent1">
                    <a:lumMod val="75000"/>
                  </a:schemeClr>
                </a:solidFill>
              </a:rPr>
              <a:t>, Pearson Education, Inc., </a:t>
            </a:r>
            <a:r>
              <a:rPr lang="en-US" sz="1400" dirty="0" smtClean="0">
                <a:solidFill>
                  <a:schemeClr val="accent1">
                    <a:lumMod val="75000"/>
                  </a:schemeClr>
                </a:solidFill>
              </a:rPr>
              <a:t>2022. </a:t>
            </a:r>
            <a:endParaRPr lang="en-US" sz="1400" dirty="0">
              <a:solidFill>
                <a:schemeClr val="accent1">
                  <a:lumMod val="75000"/>
                </a:schemeClr>
              </a:solidFill>
            </a:endParaRPr>
          </a:p>
        </p:txBody>
      </p:sp>
      <p:pic>
        <p:nvPicPr>
          <p:cNvPr id="1026" name="Picture 2" descr="How to use Excel: A beginner's guide | Zap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6553201" cy="327660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a:t>
            </a:r>
            <a:r>
              <a:rPr lang="en-US" dirty="0" smtClean="0">
                <a:latin typeface="Comic Sans MS" panose="030F0702030302020204" pitchFamily="66" charset="0"/>
              </a:rPr>
              <a:t>new </a:t>
            </a:r>
            <a:r>
              <a:rPr lang="en-US" dirty="0">
                <a:latin typeface="Comic Sans MS" panose="030F0702030302020204" pitchFamily="66" charset="0"/>
              </a:rPr>
              <a:t>page in the </a:t>
            </a:r>
            <a:r>
              <a:rPr lang="en-US" dirty="0" smtClean="0">
                <a:latin typeface="Comic Sans MS" panose="030F0702030302020204" pitchFamily="66" charset="0"/>
              </a:rPr>
              <a:t>Excel backstage</a:t>
            </a:r>
            <a:endParaRPr lang="en-US" dirty="0">
              <a:solidFill>
                <a:schemeClr val="accent1">
                  <a:lumMod val="75000"/>
                </a:schemeClr>
              </a:solidFill>
              <a:latin typeface="Comic Sans MS" panose="030F0702030302020204" pitchFamily="66" charset="0"/>
            </a:endParaRPr>
          </a:p>
        </p:txBody>
      </p:sp>
      <p:sp>
        <p:nvSpPr>
          <p:cNvPr id="3" name="object 3"/>
          <p:cNvSpPr txBox="1"/>
          <p:nvPr/>
        </p:nvSpPr>
        <p:spPr>
          <a:xfrm>
            <a:off x="629459" y="1232035"/>
            <a:ext cx="7924800" cy="1243930"/>
          </a:xfrm>
          <a:prstGeom prst="rect">
            <a:avLst/>
          </a:prstGeom>
        </p:spPr>
        <p:txBody>
          <a:bodyPr vert="horz" wrap="square" lIns="0" tIns="12700" rIns="0" bIns="0" rtlCol="0">
            <a:spAutoFit/>
          </a:bodyPr>
          <a:lstStyle/>
          <a:p>
            <a:pPr algn="just">
              <a:spcBef>
                <a:spcPct val="0"/>
              </a:spcBef>
            </a:pPr>
            <a:r>
              <a:rPr lang="en-US" sz="1600" dirty="0">
                <a:solidFill>
                  <a:schemeClr val="accent1">
                    <a:lumMod val="75000"/>
                  </a:schemeClr>
                </a:solidFill>
              </a:rPr>
              <a:t>When you start Excel (or Word or PowerPoint), the Start screen provides a list of recently accessed ﬁles; it also provides a number of templates including the blank workbook template to quickly get you up and running with a new Excel workbook. You will ﬁnd that the entire Excel Backstage </a:t>
            </a:r>
            <a:r>
              <a:rPr lang="en-US" sz="1600" dirty="0" smtClean="0">
                <a:solidFill>
                  <a:schemeClr val="accent1">
                    <a:lumMod val="75000"/>
                  </a:schemeClr>
                </a:solidFill>
              </a:rPr>
              <a:t>has </a:t>
            </a:r>
            <a:r>
              <a:rPr lang="en-US" sz="1600" dirty="0">
                <a:solidFill>
                  <a:schemeClr val="accent1">
                    <a:lumMod val="75000"/>
                  </a:schemeClr>
                </a:solidFill>
              </a:rPr>
              <a:t>been re-envisioned to make it easier for you to both save and access your ﬁles. </a:t>
            </a:r>
            <a:endParaRPr lang="en-US" altLang="en-US" sz="1600" dirty="0">
              <a:solidFill>
                <a:schemeClr val="accent1">
                  <a:lumMod val="75000"/>
                </a:schemeClr>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90" y="2743200"/>
            <a:ext cx="5240338" cy="369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88834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a:t>
            </a:r>
            <a:r>
              <a:rPr lang="en-US" dirty="0" smtClean="0">
                <a:latin typeface="Comic Sans MS" panose="030F0702030302020204" pitchFamily="66" charset="0"/>
              </a:rPr>
              <a:t>he </a:t>
            </a:r>
            <a:r>
              <a:rPr lang="en-US" dirty="0">
                <a:latin typeface="Comic Sans MS" panose="030F0702030302020204" pitchFamily="66" charset="0"/>
              </a:rPr>
              <a:t>Excel window and a new blank Excel workbook</a:t>
            </a:r>
            <a:endParaRPr lang="en-US" dirty="0">
              <a:solidFill>
                <a:schemeClr val="accent1">
                  <a:lumMod val="75000"/>
                </a:schemeClr>
              </a:solidFill>
              <a:latin typeface="Comic Sans MS" panose="030F0702030302020204" pitchFamily="66" charset="0"/>
            </a:endParaRPr>
          </a:p>
        </p:txBody>
      </p:sp>
      <p:sp>
        <p:nvSpPr>
          <p:cNvPr id="3" name="object 3"/>
          <p:cNvSpPr txBox="1"/>
          <p:nvPr/>
        </p:nvSpPr>
        <p:spPr>
          <a:xfrm>
            <a:off x="676172" y="1371600"/>
            <a:ext cx="7924800" cy="173637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As with the other Oﬃce applications, the tools and features you use to build and then enhance your Excel workbook are found on the ribbon and its various tabs</a:t>
            </a:r>
            <a:r>
              <a:rPr lang="en-US" sz="1600" dirty="0" smtClean="0">
                <a:solidFill>
                  <a:schemeClr val="accent1">
                    <a:lumMod val="75000"/>
                  </a:schemeClr>
                </a:solidFill>
              </a:rPr>
              <a:t>. A </a:t>
            </a:r>
            <a:r>
              <a:rPr lang="en-US" sz="1600" dirty="0">
                <a:solidFill>
                  <a:schemeClr val="accent1">
                    <a:lumMod val="75000"/>
                  </a:schemeClr>
                </a:solidFill>
              </a:rPr>
              <a:t>single Excel sheet actually has 16,384 columns and 1,048,576 rows, which means a single sheet has a lot of room </a:t>
            </a:r>
            <a:r>
              <a:rPr lang="en-US" sz="1600" dirty="0" smtClean="0">
                <a:solidFill>
                  <a:schemeClr val="accent1">
                    <a:lumMod val="75000"/>
                  </a:schemeClr>
                </a:solidFill>
              </a:rPr>
              <a:t>for </a:t>
            </a:r>
            <a:r>
              <a:rPr lang="en-US" sz="1600" dirty="0">
                <a:solidFill>
                  <a:schemeClr val="accent1">
                    <a:lumMod val="75000"/>
                  </a:schemeClr>
                </a:solidFill>
              </a:rPr>
              <a:t>your data and calculations. You </a:t>
            </a:r>
            <a:r>
              <a:rPr lang="en-US" sz="1600" dirty="0" smtClean="0">
                <a:solidFill>
                  <a:schemeClr val="accent1">
                    <a:lumMod val="75000"/>
                  </a:schemeClr>
                </a:solidFill>
              </a:rPr>
              <a:t>also </a:t>
            </a:r>
            <a:r>
              <a:rPr lang="en-US" sz="1600" dirty="0">
                <a:solidFill>
                  <a:schemeClr val="accent1">
                    <a:lumMod val="75000"/>
                  </a:schemeClr>
                </a:solidFill>
              </a:rPr>
              <a:t>have the ability to create a nearly endless number of sheets, so I would not worry about running out of space as you work in this powerful application.</a:t>
            </a:r>
          </a:p>
          <a:p>
            <a:pPr algn="just" eaLnBrk="0" hangingPunct="0"/>
            <a:endParaRPr lang="en-US" sz="1600" dirty="0">
              <a:solidFill>
                <a:schemeClr val="accent1">
                  <a:lumMod val="75000"/>
                </a:schemeClr>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153" y="3092207"/>
            <a:ext cx="5838837" cy="358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66024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Excel ribbon</a:t>
            </a:r>
          </a:p>
        </p:txBody>
      </p:sp>
      <p:sp>
        <p:nvSpPr>
          <p:cNvPr id="3" name="object 3"/>
          <p:cNvSpPr txBox="1"/>
          <p:nvPr/>
        </p:nvSpPr>
        <p:spPr>
          <a:xfrm>
            <a:off x="676172" y="1371600"/>
            <a:ext cx="7924800" cy="2228815"/>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ribbon sits at the top of the Excel application window and provides access to the commands and tools you use as you work on your Excel </a:t>
            </a:r>
            <a:r>
              <a:rPr lang="en-US" sz="1600" dirty="0" smtClean="0">
                <a:solidFill>
                  <a:schemeClr val="accent1">
                    <a:lumMod val="75000"/>
                  </a:schemeClr>
                </a:solidFill>
              </a:rPr>
              <a:t>worksheet:</a:t>
            </a:r>
          </a:p>
          <a:p>
            <a:pPr algn="just" eaLnBrk="0" hangingPunct="0"/>
            <a:endParaRPr lang="en-US" sz="1600" dirty="0" smtClean="0">
              <a:solidFill>
                <a:schemeClr val="accent1">
                  <a:lumMod val="75000"/>
                </a:schemeClr>
              </a:solidFill>
            </a:endParaRP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Home</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Insert</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Page layout</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Formulas</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Data Review</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View </a:t>
            </a:r>
            <a:endParaRPr lang="en-US" sz="1600" dirty="0">
              <a:solidFill>
                <a:schemeClr val="accent1">
                  <a:lumMod val="75000"/>
                </a:schemeClr>
              </a:solidFill>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69626"/>
          <a:stretch/>
        </p:blipFill>
        <p:spPr bwMode="auto">
          <a:xfrm>
            <a:off x="409472" y="4114800"/>
            <a:ext cx="8458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0359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Moving around a </a:t>
            </a:r>
            <a:r>
              <a:rPr lang="en-US" dirty="0" smtClean="0">
                <a:latin typeface="Comic Sans MS" panose="030F0702030302020204" pitchFamily="66" charset="0"/>
              </a:rPr>
              <a:t>worksheet</a:t>
            </a:r>
            <a:endParaRPr lang="en-US" dirty="0">
              <a:latin typeface="Comic Sans MS" panose="030F0702030302020204" pitchFamily="66" charset="0"/>
            </a:endParaRPr>
          </a:p>
        </p:txBody>
      </p:sp>
      <p:sp>
        <p:nvSpPr>
          <p:cNvPr id="3" name="object 3"/>
          <p:cNvSpPr txBox="1"/>
          <p:nvPr/>
        </p:nvSpPr>
        <p:spPr>
          <a:xfrm>
            <a:off x="409472" y="1219200"/>
            <a:ext cx="8191500" cy="751488"/>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a:t>
            </a:r>
            <a:r>
              <a:rPr lang="en-US" sz="1600" dirty="0" smtClean="0">
                <a:solidFill>
                  <a:schemeClr val="accent1">
                    <a:lumMod val="75000"/>
                  </a:schemeClr>
                </a:solidFill>
              </a:rPr>
              <a:t>he </a:t>
            </a:r>
            <a:r>
              <a:rPr lang="en-US" sz="1600" dirty="0">
                <a:solidFill>
                  <a:schemeClr val="accent1">
                    <a:lumMod val="75000"/>
                  </a:schemeClr>
                </a:solidFill>
              </a:rPr>
              <a:t>arrow keys move you one cell in the direction speciﬁed by the key, but other options for navigating the cells in a sheet exist as well. </a:t>
            </a:r>
            <a:r>
              <a:rPr lang="en-US" sz="1600" dirty="0" smtClean="0">
                <a:solidFill>
                  <a:schemeClr val="accent1">
                    <a:lumMod val="75000"/>
                  </a:schemeClr>
                </a:solidFill>
              </a:rPr>
              <a:t>Table provides </a:t>
            </a:r>
            <a:r>
              <a:rPr lang="en-US" sz="1600" dirty="0">
                <a:solidFill>
                  <a:schemeClr val="accent1">
                    <a:lumMod val="75000"/>
                  </a:schemeClr>
                </a:solidFill>
              </a:rPr>
              <a:t>some of the Excel keyboard shortcuts for moving around a worksheet.</a:t>
            </a:r>
          </a:p>
        </p:txBody>
      </p:sp>
      <p:pic>
        <p:nvPicPr>
          <p:cNvPr id="48" name="Picture 47"/>
          <p:cNvPicPr>
            <a:picLocks noChangeAspect="1"/>
          </p:cNvPicPr>
          <p:nvPr/>
        </p:nvPicPr>
        <p:blipFill rotWithShape="1">
          <a:blip r:embed="rId2">
            <a:extLst>
              <a:ext uri="{28A0092B-C50C-407E-A947-70E740481C1C}">
                <a14:useLocalDpi xmlns:a14="http://schemas.microsoft.com/office/drawing/2010/main" val="0"/>
              </a:ext>
            </a:extLst>
          </a:blip>
          <a:srcRect l="29166" t="27778" r="30000" b="18889"/>
          <a:stretch/>
        </p:blipFill>
        <p:spPr>
          <a:xfrm>
            <a:off x="2362200" y="2206524"/>
            <a:ext cx="4682772" cy="3020391"/>
          </a:xfrm>
          <a:prstGeom prst="rect">
            <a:avLst/>
          </a:prstGeom>
        </p:spPr>
      </p:pic>
      <p:sp>
        <p:nvSpPr>
          <p:cNvPr id="49" name="Rectangle 48"/>
          <p:cNvSpPr/>
          <p:nvPr/>
        </p:nvSpPr>
        <p:spPr>
          <a:xfrm>
            <a:off x="471436" y="5410200"/>
            <a:ext cx="8215364" cy="1323439"/>
          </a:xfrm>
          <a:prstGeom prst="rect">
            <a:avLst/>
          </a:prstGeom>
        </p:spPr>
        <p:txBody>
          <a:bodyPr wrap="square">
            <a:spAutoFit/>
          </a:bodyPr>
          <a:lstStyle/>
          <a:p>
            <a:pPr algn="just"/>
            <a:r>
              <a:rPr lang="en-US" sz="1600" dirty="0">
                <a:solidFill>
                  <a:schemeClr val="accent1">
                    <a:lumMod val="75000"/>
                  </a:schemeClr>
                </a:solidFill>
                <a:ea typeface="Times New Roman" panose="02020603050405020304" pitchFamily="18" charset="0"/>
                <a:cs typeface="Trebuchet MS" panose="020B0603020202020204" pitchFamily="34" charset="0"/>
              </a:rPr>
              <a:t>The mouse also gives you other possibilities for interacting with the worksheet cells. </a:t>
            </a:r>
            <a:r>
              <a:rPr lang="en-US" sz="1600" spc="-60" dirty="0">
                <a:solidFill>
                  <a:schemeClr val="accent1">
                    <a:lumMod val="75000"/>
                  </a:schemeClr>
                </a:solidFill>
                <a:ea typeface="Times New Roman" panose="02020603050405020304" pitchFamily="18" charset="0"/>
                <a:cs typeface="Trebuchet MS" panose="020B0603020202020204" pitchFamily="34" charset="0"/>
              </a:rPr>
              <a:t>You </a:t>
            </a:r>
            <a:r>
              <a:rPr lang="en-US" sz="1600" dirty="0">
                <a:solidFill>
                  <a:schemeClr val="accent1">
                    <a:lumMod val="75000"/>
                  </a:schemeClr>
                </a:solidFill>
                <a:ea typeface="Times New Roman" panose="02020603050405020304" pitchFamily="18" charset="0"/>
                <a:cs typeface="Trebuchet MS" panose="020B0603020202020204" pitchFamily="34" charset="0"/>
              </a:rPr>
              <a:t>can double-click in a cell to place the insertion point and edit the data directly in the cell. </a:t>
            </a:r>
            <a:r>
              <a:rPr lang="en-US" sz="1600" spc="-60" dirty="0">
                <a:solidFill>
                  <a:schemeClr val="accent1">
                    <a:lumMod val="75000"/>
                  </a:schemeClr>
                </a:solidFill>
                <a:ea typeface="Times New Roman" panose="02020603050405020304" pitchFamily="18" charset="0"/>
                <a:cs typeface="Trebuchet MS" panose="020B0603020202020204" pitchFamily="34" charset="0"/>
              </a:rPr>
              <a:t>You </a:t>
            </a:r>
            <a:r>
              <a:rPr lang="en-US" sz="1600" dirty="0">
                <a:solidFill>
                  <a:schemeClr val="accent1">
                    <a:lumMod val="75000"/>
                  </a:schemeClr>
                </a:solidFill>
                <a:ea typeface="Times New Roman" panose="02020603050405020304" pitchFamily="18" charset="0"/>
                <a:cs typeface="Trebuchet MS" panose="020B0603020202020204" pitchFamily="34" charset="0"/>
              </a:rPr>
              <a:t>can also click </a:t>
            </a:r>
            <a:r>
              <a:rPr lang="en-US" sz="1600" spc="-15" dirty="0">
                <a:solidFill>
                  <a:schemeClr val="accent1">
                    <a:lumMod val="75000"/>
                  </a:schemeClr>
                </a:solidFill>
                <a:ea typeface="Times New Roman" panose="02020603050405020304" pitchFamily="18" charset="0"/>
                <a:cs typeface="Trebuchet MS" panose="020B0603020202020204" pitchFamily="34" charset="0"/>
              </a:rPr>
              <a:t>directly </a:t>
            </a:r>
            <a:r>
              <a:rPr lang="en-US" sz="1600" dirty="0">
                <a:solidFill>
                  <a:schemeClr val="accent1">
                    <a:lumMod val="75000"/>
                  </a:schemeClr>
                </a:solidFill>
                <a:ea typeface="Times New Roman" panose="02020603050405020304" pitchFamily="18" charset="0"/>
                <a:cs typeface="Trebuchet MS" panose="020B0603020202020204" pitchFamily="34" charset="0"/>
              </a:rPr>
              <a:t>in the formula bar and edit the current cell entry there. </a:t>
            </a:r>
            <a:r>
              <a:rPr lang="en-US" sz="1600" spc="-60" dirty="0">
                <a:solidFill>
                  <a:schemeClr val="accent1">
                    <a:lumMod val="75000"/>
                  </a:schemeClr>
                </a:solidFill>
                <a:ea typeface="Times New Roman" panose="02020603050405020304" pitchFamily="18" charset="0"/>
                <a:cs typeface="Trebuchet MS" panose="020B0603020202020204" pitchFamily="34" charset="0"/>
              </a:rPr>
              <a:t>You </a:t>
            </a:r>
            <a:r>
              <a:rPr lang="en-US" sz="1600" dirty="0">
                <a:solidFill>
                  <a:schemeClr val="accent1">
                    <a:lumMod val="75000"/>
                  </a:schemeClr>
                </a:solidFill>
                <a:ea typeface="Times New Roman" panose="02020603050405020304" pitchFamily="18" charset="0"/>
                <a:cs typeface="Trebuchet MS" panose="020B0603020202020204" pitchFamily="34" charset="0"/>
              </a:rPr>
              <a:t>can use the mouse to zoom in or out on the current worksheet: Hold down the Ctrl </a:t>
            </a:r>
            <a:r>
              <a:rPr lang="en-US" sz="1600" spc="-20" dirty="0">
                <a:solidFill>
                  <a:schemeClr val="accent1">
                    <a:lumMod val="75000"/>
                  </a:schemeClr>
                </a:solidFill>
                <a:ea typeface="Times New Roman" panose="02020603050405020304" pitchFamily="18" charset="0"/>
                <a:cs typeface="Trebuchet MS" panose="020B0603020202020204" pitchFamily="34" charset="0"/>
              </a:rPr>
              <a:t>key </a:t>
            </a:r>
            <a:r>
              <a:rPr lang="en-US" sz="1600" dirty="0">
                <a:solidFill>
                  <a:schemeClr val="accent1">
                    <a:lumMod val="75000"/>
                  </a:schemeClr>
                </a:solidFill>
                <a:ea typeface="Times New Roman" panose="02020603050405020304" pitchFamily="18" charset="0"/>
                <a:cs typeface="Trebuchet MS" panose="020B0603020202020204" pitchFamily="34" charset="0"/>
              </a:rPr>
              <a:t>and then use the mouse wheel to zoom in or out as needed.</a:t>
            </a:r>
            <a:endParaRPr lang="en-US" sz="1600" dirty="0">
              <a:solidFill>
                <a:schemeClr val="accent1">
                  <a:lumMod val="75000"/>
                </a:schemeClr>
              </a:solidFill>
            </a:endParaRPr>
          </a:p>
        </p:txBody>
      </p:sp>
    </p:spTree>
    <p:extLst>
      <p:ext uri="{BB962C8B-B14F-4D97-AF65-F5344CB8AC3E}">
        <p14:creationId xmlns:p14="http://schemas.microsoft.com/office/powerpoint/2010/main" val="242153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296172"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workbooks and worksheets</a:t>
            </a:r>
          </a:p>
        </p:txBody>
      </p:sp>
      <p:sp>
        <p:nvSpPr>
          <p:cNvPr id="3" name="object 3"/>
          <p:cNvSpPr txBox="1"/>
          <p:nvPr/>
        </p:nvSpPr>
        <p:spPr>
          <a:xfrm>
            <a:off x="500114" y="1219200"/>
            <a:ext cx="8143772" cy="997709"/>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If you are already working on a workbook in Excel and you would like to open a new workbook, you can quickly access the New page in the Excel Backstage. </a:t>
            </a:r>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algn="just" eaLnBrk="0" hangingPunct="0"/>
            <a:r>
              <a:rPr lang="en-US" sz="1600" b="1" dirty="0" smtClean="0">
                <a:solidFill>
                  <a:schemeClr val="accent1">
                    <a:lumMod val="75000"/>
                  </a:schemeClr>
                </a:solidFill>
              </a:rPr>
              <a:t>Select </a:t>
            </a:r>
            <a:r>
              <a:rPr lang="en-US" sz="1600" b="1" dirty="0">
                <a:solidFill>
                  <a:schemeClr val="accent1">
                    <a:lumMod val="75000"/>
                  </a:schemeClr>
                </a:solidFill>
              </a:rPr>
              <a:t>File and then New.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38400"/>
            <a:ext cx="6096000" cy="39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2554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296172"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Oﬃce.com templates</a:t>
            </a:r>
          </a:p>
        </p:txBody>
      </p:sp>
      <p:sp>
        <p:nvSpPr>
          <p:cNvPr id="3" name="object 3"/>
          <p:cNvSpPr txBox="1"/>
          <p:nvPr/>
        </p:nvSpPr>
        <p:spPr>
          <a:xfrm>
            <a:off x="500114" y="1219200"/>
            <a:ext cx="8143772" cy="173637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Oﬃce.com provides you with diﬀerent types of Excel templates; you can download budgets, calendars, invoices, plans, and schedules. To view the templates available in one of the template groups, select a group such as Invoices. The number of templates available in a particular group depends on the group you have selected. </a:t>
            </a:r>
            <a:r>
              <a:rPr lang="en-US" sz="1600" dirty="0" smtClean="0">
                <a:solidFill>
                  <a:schemeClr val="accent1">
                    <a:lumMod val="75000"/>
                  </a:schemeClr>
                </a:solidFill>
              </a:rPr>
              <a:t>Each </a:t>
            </a:r>
            <a:r>
              <a:rPr lang="en-US" sz="1600" dirty="0">
                <a:solidFill>
                  <a:schemeClr val="accent1">
                    <a:lumMod val="75000"/>
                  </a:schemeClr>
                </a:solidFill>
              </a:rPr>
              <a:t>group provides several possibilities. </a:t>
            </a:r>
            <a:endParaRPr lang="en-US" sz="1600" dirty="0" smtClean="0">
              <a:solidFill>
                <a:schemeClr val="accent1">
                  <a:lumMod val="75000"/>
                </a:schemeClr>
              </a:solidFill>
            </a:endParaRP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Select </a:t>
            </a:r>
            <a:r>
              <a:rPr lang="en-US" sz="1600" b="1" dirty="0">
                <a:solidFill>
                  <a:schemeClr val="accent1">
                    <a:lumMod val="75000"/>
                  </a:schemeClr>
                </a:solidFill>
              </a:rPr>
              <a:t>File </a:t>
            </a:r>
            <a:r>
              <a:rPr lang="en-US" sz="1600" b="1" dirty="0" smtClean="0">
                <a:solidFill>
                  <a:schemeClr val="accent1">
                    <a:lumMod val="75000"/>
                  </a:schemeClr>
                </a:solidFill>
              </a:rPr>
              <a:t>&gt; New &gt; Search for online templates </a:t>
            </a:r>
            <a:endParaRPr lang="en-US" sz="1600" b="1" dirty="0">
              <a:solidFill>
                <a:schemeClr val="accent1">
                  <a:lumMod val="75000"/>
                </a:schemeClr>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263427"/>
            <a:ext cx="4802187" cy="340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56847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Managing Excel workbooks</a:t>
            </a:r>
            <a:endParaRPr lang="en-US" dirty="0">
              <a:latin typeface="Comic Sans MS" panose="030F0702030302020204" pitchFamily="66" charset="0"/>
            </a:endParaRP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0620"/>
          <a:stretch/>
        </p:blipFill>
        <p:spPr bwMode="auto">
          <a:xfrm>
            <a:off x="533400" y="3178440"/>
            <a:ext cx="8077200" cy="2682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p:cNvSpPr txBox="1"/>
          <p:nvPr/>
        </p:nvSpPr>
        <p:spPr>
          <a:xfrm>
            <a:off x="533400" y="1295400"/>
            <a:ext cx="8077200" cy="1243930"/>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ﬁrst time you save a new workbook, Excel takes you to the Save As page in the Backstage. The Save As page shows the various places where you can save the new Excel </a:t>
            </a:r>
            <a:r>
              <a:rPr lang="en-US" sz="1600" dirty="0" smtClean="0">
                <a:solidFill>
                  <a:schemeClr val="accent1">
                    <a:lumMod val="75000"/>
                  </a:schemeClr>
                </a:solidFill>
              </a:rPr>
              <a:t>workbook.</a:t>
            </a: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File &gt; Save as</a:t>
            </a:r>
          </a:p>
        </p:txBody>
      </p:sp>
    </p:spTree>
    <p:extLst>
      <p:ext uri="{BB962C8B-B14F-4D97-AF65-F5344CB8AC3E}">
        <p14:creationId xmlns:p14="http://schemas.microsoft.com/office/powerpoint/2010/main" val="2321243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Managing Excel </a:t>
            </a:r>
            <a:r>
              <a:rPr lang="en-US" dirty="0" smtClean="0">
                <a:latin typeface="Comic Sans MS" panose="030F0702030302020204" pitchFamily="66" charset="0"/>
              </a:rPr>
              <a:t>workbooks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533400" y="1295400"/>
            <a:ext cx="8077200" cy="1982594"/>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Another Backstage page that provides you with workbook management tools is the Backstage Info page. This page provides access to the workbook protection settings (Protect Workbook) and privacy and compatibility settings (Check For Issues); all these settings can be an issue if you are going to Share (Publish) this workbook with other users. The Info page provides access to the diﬀerent versions of your workbook that the </a:t>
            </a:r>
            <a:r>
              <a:rPr lang="en-US" sz="1600" dirty="0" err="1">
                <a:solidFill>
                  <a:schemeClr val="accent1">
                    <a:lumMod val="75000"/>
                  </a:schemeClr>
                </a:solidFill>
              </a:rPr>
              <a:t>Autosave</a:t>
            </a:r>
            <a:r>
              <a:rPr lang="en-US" sz="1600" dirty="0">
                <a:solidFill>
                  <a:schemeClr val="accent1">
                    <a:lumMod val="75000"/>
                  </a:schemeClr>
                </a:solidFill>
              </a:rPr>
              <a:t> feature has created</a:t>
            </a:r>
            <a:r>
              <a:rPr lang="en-US" sz="1600" dirty="0" smtClean="0">
                <a:solidFill>
                  <a:schemeClr val="accent1">
                    <a:lumMod val="75000"/>
                  </a:schemeClr>
                </a:solidFill>
              </a:rPr>
              <a:t>.</a:t>
            </a: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File &gt; Backstage  &gt; Info</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0142" y="3454400"/>
            <a:ext cx="5240338"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58910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Protecting workbooks and worksheets</a:t>
            </a:r>
          </a:p>
        </p:txBody>
      </p:sp>
      <p:sp>
        <p:nvSpPr>
          <p:cNvPr id="3" name="object 3"/>
          <p:cNvSpPr txBox="1"/>
          <p:nvPr/>
        </p:nvSpPr>
        <p:spPr>
          <a:xfrm>
            <a:off x="533400" y="1143000"/>
            <a:ext cx="8077200" cy="5891356"/>
          </a:xfrm>
          <a:prstGeom prst="rect">
            <a:avLst/>
          </a:prstGeom>
        </p:spPr>
        <p:txBody>
          <a:bodyPr vert="horz" wrap="square" lIns="0" tIns="12700" rIns="0" bIns="0" rtlCol="0">
            <a:spAutoFit/>
          </a:bodyPr>
          <a:lstStyle/>
          <a:p>
            <a:pPr eaLnBrk="0" hangingPunct="0"/>
            <a:r>
              <a:rPr lang="en-US" sz="1600" dirty="0">
                <a:solidFill>
                  <a:schemeClr val="accent1">
                    <a:lumMod val="75000"/>
                  </a:schemeClr>
                </a:solidFill>
              </a:rPr>
              <a:t>The Protect Workbook command in the Info window provides these possibilities:</a:t>
            </a: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File &gt; Backstage  &gt; Info &gt; Protect Workbook</a:t>
            </a:r>
          </a:p>
          <a:p>
            <a:pPr algn="just" eaLnBrk="0" hangingPunct="0"/>
            <a:endParaRPr lang="en-US" sz="1600" b="1" dirty="0">
              <a:solidFill>
                <a:schemeClr val="accent1">
                  <a:lumMod val="75000"/>
                </a:schemeClr>
              </a:solidFill>
            </a:endParaRPr>
          </a:p>
          <a:p>
            <a:pPr marL="285750" indent="-285750" algn="just" eaLnBrk="0" hangingPunct="0">
              <a:spcAft>
                <a:spcPts val="600"/>
              </a:spcAft>
              <a:buFont typeface="Arial" panose="020B0604020202020204" pitchFamily="34" charset="0"/>
              <a:buChar char="•"/>
            </a:pPr>
            <a:r>
              <a:rPr lang="en-US" sz="1600" b="1" dirty="0">
                <a:solidFill>
                  <a:schemeClr val="accent1">
                    <a:lumMod val="75000"/>
                  </a:schemeClr>
                </a:solidFill>
              </a:rPr>
              <a:t>Mark As Final: </a:t>
            </a:r>
            <a:r>
              <a:rPr lang="en-US" sz="1600" dirty="0">
                <a:solidFill>
                  <a:schemeClr val="accent1">
                    <a:lumMod val="75000"/>
                  </a:schemeClr>
                </a:solidFill>
              </a:rPr>
              <a:t>This command marks the ﬁle as ﬁnal and makes it read-only. All editing commands for the ﬁle are disabled. </a:t>
            </a:r>
            <a:endParaRPr lang="en-US" sz="1600" dirty="0" smtClean="0">
              <a:solidFill>
                <a:schemeClr val="accent1">
                  <a:lumMod val="75000"/>
                </a:schemeClr>
              </a:solidFill>
            </a:endParaRPr>
          </a:p>
          <a:p>
            <a:pPr marL="285750" indent="-285750" algn="just" eaLnBrk="0" hangingPunct="0">
              <a:spcAft>
                <a:spcPts val="600"/>
              </a:spcAft>
              <a:buFont typeface="Arial" panose="020B0604020202020204" pitchFamily="34" charset="0"/>
              <a:buChar char="•"/>
            </a:pPr>
            <a:r>
              <a:rPr lang="en-US" sz="1600" b="1" dirty="0" smtClean="0">
                <a:solidFill>
                  <a:schemeClr val="accent1">
                    <a:lumMod val="75000"/>
                  </a:schemeClr>
                </a:solidFill>
              </a:rPr>
              <a:t>Encrypt </a:t>
            </a:r>
            <a:r>
              <a:rPr lang="en-US" sz="1600" b="1" dirty="0">
                <a:solidFill>
                  <a:schemeClr val="accent1">
                    <a:lumMod val="75000"/>
                  </a:schemeClr>
                </a:solidFill>
              </a:rPr>
              <a:t>With A Password: </a:t>
            </a:r>
            <a:r>
              <a:rPr lang="en-US" sz="1600" dirty="0">
                <a:solidFill>
                  <a:schemeClr val="accent1">
                    <a:lumMod val="75000"/>
                  </a:schemeClr>
                </a:solidFill>
              </a:rPr>
              <a:t>The ﬁle is encrypted and protected with a password. When you select this option, you are required to enter a password for the workbook. Only users with the password can open the </a:t>
            </a:r>
            <a:r>
              <a:rPr lang="en-US" sz="1600" dirty="0" smtClean="0">
                <a:solidFill>
                  <a:schemeClr val="accent1">
                    <a:lumMod val="75000"/>
                  </a:schemeClr>
                </a:solidFill>
              </a:rPr>
              <a:t>workbook.</a:t>
            </a:r>
          </a:p>
          <a:p>
            <a:pPr marL="285750" indent="-285750" algn="just" eaLnBrk="0" hangingPunct="0">
              <a:spcAft>
                <a:spcPts val="600"/>
              </a:spcAft>
              <a:buFont typeface="Arial" panose="020B0604020202020204" pitchFamily="34" charset="0"/>
              <a:buChar char="•"/>
            </a:pPr>
            <a:r>
              <a:rPr lang="en-US" sz="1600" b="1" dirty="0">
                <a:solidFill>
                  <a:schemeClr val="accent1">
                    <a:lumMod val="75000"/>
                  </a:schemeClr>
                </a:solidFill>
              </a:rPr>
              <a:t>Protect Current Sheet: </a:t>
            </a:r>
            <a:r>
              <a:rPr lang="en-US" sz="1600" dirty="0">
                <a:solidFill>
                  <a:schemeClr val="accent1">
                    <a:lumMod val="75000"/>
                  </a:schemeClr>
                </a:solidFill>
              </a:rPr>
              <a:t>This option opens the Protect Sheet dialog box, which enables you to password-protect the sheet or specify individual sheet-related capabilities, such as Format Cells, Insert Hyperlinks, and Delete Columns. </a:t>
            </a:r>
            <a:endParaRPr lang="en-US" sz="1600" dirty="0" smtClean="0">
              <a:solidFill>
                <a:schemeClr val="accent1">
                  <a:lumMod val="75000"/>
                </a:schemeClr>
              </a:solidFill>
            </a:endParaRPr>
          </a:p>
          <a:p>
            <a:pPr marL="285750" indent="-285750" algn="just" eaLnBrk="0" hangingPunct="0">
              <a:spcAft>
                <a:spcPts val="600"/>
              </a:spcAft>
              <a:buFont typeface="Arial" panose="020B0604020202020204" pitchFamily="34" charset="0"/>
              <a:buChar char="•"/>
            </a:pPr>
            <a:r>
              <a:rPr lang="en-US" sz="1600" b="1" dirty="0" smtClean="0">
                <a:solidFill>
                  <a:schemeClr val="accent1">
                    <a:lumMod val="75000"/>
                  </a:schemeClr>
                </a:solidFill>
              </a:rPr>
              <a:t>Protect </a:t>
            </a:r>
            <a:r>
              <a:rPr lang="en-US" sz="1600" b="1" dirty="0">
                <a:solidFill>
                  <a:schemeClr val="accent1">
                    <a:lumMod val="75000"/>
                  </a:schemeClr>
                </a:solidFill>
              </a:rPr>
              <a:t>Workbook Structure: </a:t>
            </a:r>
            <a:r>
              <a:rPr lang="en-US" sz="1600" dirty="0">
                <a:solidFill>
                  <a:schemeClr val="accent1">
                    <a:lumMod val="75000"/>
                  </a:schemeClr>
                </a:solidFill>
              </a:rPr>
              <a:t>You can use this option to keep users from changing the number of sheets in the workbook. This means that worksheets cannot be deleted or </a:t>
            </a:r>
            <a:r>
              <a:rPr lang="en-US" sz="1600" dirty="0" smtClean="0">
                <a:solidFill>
                  <a:schemeClr val="accent1">
                    <a:lumMod val="75000"/>
                  </a:schemeClr>
                </a:solidFill>
              </a:rPr>
              <a:t>added.</a:t>
            </a:r>
          </a:p>
          <a:p>
            <a:pPr marL="285750" indent="-285750" algn="just" eaLnBrk="0" hangingPunct="0">
              <a:spcAft>
                <a:spcPts val="600"/>
              </a:spcAft>
              <a:buFont typeface="Arial" panose="020B0604020202020204" pitchFamily="34" charset="0"/>
              <a:buChar char="•"/>
            </a:pPr>
            <a:r>
              <a:rPr lang="en-US" sz="1600" b="1" dirty="0">
                <a:solidFill>
                  <a:schemeClr val="accent1">
                    <a:lumMod val="75000"/>
                  </a:schemeClr>
                </a:solidFill>
              </a:rPr>
              <a:t>Restrict Access: </a:t>
            </a:r>
            <a:r>
              <a:rPr lang="en-US" sz="1600" dirty="0">
                <a:solidFill>
                  <a:schemeClr val="accent1">
                    <a:lumMod val="75000"/>
                  </a:schemeClr>
                </a:solidFill>
              </a:rPr>
              <a:t>This option enables you to connect to a Digital Rights Management server, which gives you the capability to assign users diﬀerent permission levels based on user authentication. </a:t>
            </a:r>
            <a:endParaRPr lang="en-US" sz="1600" dirty="0" smtClean="0">
              <a:solidFill>
                <a:schemeClr val="accent1">
                  <a:lumMod val="75000"/>
                </a:schemeClr>
              </a:solidFill>
            </a:endParaRPr>
          </a:p>
          <a:p>
            <a:pPr marL="285750" indent="-285750" algn="just" eaLnBrk="0" hangingPunct="0">
              <a:spcAft>
                <a:spcPts val="600"/>
              </a:spcAft>
              <a:buFont typeface="Arial" panose="020B0604020202020204" pitchFamily="34" charset="0"/>
              <a:buChar char="•"/>
            </a:pPr>
            <a:r>
              <a:rPr lang="en-US" sz="1600" b="1" dirty="0" smtClean="0">
                <a:solidFill>
                  <a:schemeClr val="accent1">
                    <a:lumMod val="75000"/>
                  </a:schemeClr>
                </a:solidFill>
              </a:rPr>
              <a:t>Add </a:t>
            </a:r>
            <a:r>
              <a:rPr lang="en-US" sz="1600" b="1" dirty="0">
                <a:solidFill>
                  <a:schemeClr val="accent1">
                    <a:lumMod val="75000"/>
                  </a:schemeClr>
                </a:solidFill>
              </a:rPr>
              <a:t>A Digital </a:t>
            </a:r>
            <a:r>
              <a:rPr lang="en-US" sz="1600" b="1" dirty="0" smtClean="0">
                <a:solidFill>
                  <a:schemeClr val="accent1">
                    <a:lumMod val="75000"/>
                  </a:schemeClr>
                </a:solidFill>
              </a:rPr>
              <a:t>Signature</a:t>
            </a:r>
            <a:r>
              <a:rPr lang="en-US" sz="1600" b="1" dirty="0">
                <a:solidFill>
                  <a:schemeClr val="accent1">
                    <a:lumMod val="75000"/>
                  </a:schemeClr>
                </a:solidFill>
              </a:rPr>
              <a:t>: </a:t>
            </a:r>
            <a:r>
              <a:rPr lang="en-US" sz="1600" dirty="0" smtClean="0">
                <a:solidFill>
                  <a:schemeClr val="accent1">
                    <a:lumMod val="75000"/>
                  </a:schemeClr>
                </a:solidFill>
              </a:rPr>
              <a:t>You can </a:t>
            </a:r>
            <a:r>
              <a:rPr lang="en-US" sz="1600" dirty="0">
                <a:solidFill>
                  <a:schemeClr val="accent1">
                    <a:lumMod val="75000"/>
                  </a:schemeClr>
                </a:solidFill>
              </a:rPr>
              <a:t>digitally sign a ﬁle to prove </a:t>
            </a:r>
            <a:r>
              <a:rPr lang="en-US" sz="1600" dirty="0" smtClean="0">
                <a:solidFill>
                  <a:schemeClr val="accent1">
                    <a:lumMod val="75000"/>
                  </a:schemeClr>
                </a:solidFill>
              </a:rPr>
              <a:t>its </a:t>
            </a:r>
            <a:r>
              <a:rPr lang="en-US" sz="1600" dirty="0">
                <a:solidFill>
                  <a:schemeClr val="accent1">
                    <a:lumMod val="75000"/>
                  </a:schemeClr>
                </a:solidFill>
              </a:rPr>
              <a:t>authenticity. Signing a ﬁle digitally requires that you obtain a digital certiﬁcate from a certiﬁcate authority (you can locate a digital certiﬁcate authority on the web).</a:t>
            </a:r>
          </a:p>
          <a:p>
            <a:pPr algn="just" eaLnBrk="0" hangingPunct="0"/>
            <a:endParaRPr lang="en-US" sz="1600" b="1" dirty="0" smtClean="0">
              <a:solidFill>
                <a:schemeClr val="accent1">
                  <a:lumMod val="75000"/>
                </a:schemeClr>
              </a:solidFill>
            </a:endParaRPr>
          </a:p>
        </p:txBody>
      </p:sp>
    </p:spTree>
    <p:extLst>
      <p:ext uri="{BB962C8B-B14F-4D97-AF65-F5344CB8AC3E}">
        <p14:creationId xmlns:p14="http://schemas.microsoft.com/office/powerpoint/2010/main" val="35885480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Locking cells</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0999" y="2895601"/>
            <a:ext cx="4448969"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p:cNvSpPr txBox="1"/>
          <p:nvPr/>
        </p:nvSpPr>
        <p:spPr>
          <a:xfrm>
            <a:off x="457199" y="1371600"/>
            <a:ext cx="8182770" cy="2475037"/>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Select the cells in the worksheet that you want to lock. These can be cells containing formulas, functions, or column and row </a:t>
            </a:r>
            <a:r>
              <a:rPr lang="en-US" sz="1600" dirty="0" smtClean="0">
                <a:solidFill>
                  <a:schemeClr val="accent1">
                    <a:lumMod val="75000"/>
                  </a:schemeClr>
                </a:solidFill>
              </a:rPr>
              <a:t>labels. On </a:t>
            </a:r>
            <a:r>
              <a:rPr lang="en-US" sz="1600" dirty="0">
                <a:solidFill>
                  <a:schemeClr val="accent1">
                    <a:lumMod val="75000"/>
                  </a:schemeClr>
                </a:solidFill>
              </a:rPr>
              <a:t>the Home tab, select the Format command in the Cells group. Then select Format Cells </a:t>
            </a:r>
            <a:r>
              <a:rPr lang="en-US" sz="1600" dirty="0" smtClean="0">
                <a:solidFill>
                  <a:schemeClr val="accent1">
                    <a:lumMod val="75000"/>
                  </a:schemeClr>
                </a:solidFill>
              </a:rPr>
              <a:t>dialog </a:t>
            </a:r>
            <a:r>
              <a:rPr lang="en-US" sz="1600" dirty="0">
                <a:solidFill>
                  <a:schemeClr val="accent1">
                    <a:lumMod val="75000"/>
                  </a:schemeClr>
                </a:solidFill>
              </a:rPr>
              <a:t>box. Select the Protection tab in the dialog box. The Locked check box should already be selected by </a:t>
            </a:r>
            <a:r>
              <a:rPr lang="en-US" sz="1600" dirty="0" smtClean="0">
                <a:solidFill>
                  <a:schemeClr val="accent1">
                    <a:lumMod val="75000"/>
                  </a:schemeClr>
                </a:solidFill>
              </a:rPr>
              <a:t>default.</a:t>
            </a:r>
          </a:p>
          <a:p>
            <a:pPr algn="just" eaLnBrk="0" hangingPunct="0"/>
            <a:endParaRPr lang="en-US" sz="1600" b="1" dirty="0" smtClean="0">
              <a:solidFill>
                <a:schemeClr val="accent1">
                  <a:lumMod val="75000"/>
                </a:schemeClr>
              </a:solidFill>
            </a:endParaRPr>
          </a:p>
          <a:p>
            <a:pPr algn="just" eaLnBrk="0" hangingPunct="0"/>
            <a:endParaRPr lang="en-US" sz="1600" b="1" dirty="0">
              <a:solidFill>
                <a:schemeClr val="accent1">
                  <a:lumMod val="75000"/>
                </a:schemeClr>
              </a:solidFill>
            </a:endParaRPr>
          </a:p>
          <a:p>
            <a:pPr algn="just" eaLnBrk="0" hangingPunct="0"/>
            <a:endParaRPr lang="en-US" sz="1600" b="1" dirty="0" smtClean="0">
              <a:solidFill>
                <a:schemeClr val="accent1">
                  <a:lumMod val="75000"/>
                </a:schemeClr>
              </a:solidFill>
            </a:endParaRPr>
          </a:p>
          <a:p>
            <a:pPr algn="just" eaLnBrk="0" hangingPunct="0">
              <a:lnSpc>
                <a:spcPct val="150000"/>
              </a:lnSpc>
            </a:pPr>
            <a:r>
              <a:rPr lang="en-US" sz="1600" b="1" dirty="0" smtClean="0">
                <a:solidFill>
                  <a:schemeClr val="accent1">
                    <a:lumMod val="75000"/>
                  </a:schemeClr>
                </a:solidFill>
              </a:rPr>
              <a:t>Select cell &gt; right click &gt;</a:t>
            </a:r>
          </a:p>
          <a:p>
            <a:pPr algn="just" eaLnBrk="0" hangingPunct="0">
              <a:lnSpc>
                <a:spcPct val="150000"/>
              </a:lnSpc>
            </a:pPr>
            <a:r>
              <a:rPr lang="en-US" sz="1600" b="1" dirty="0" smtClean="0">
                <a:solidFill>
                  <a:schemeClr val="accent1">
                    <a:lumMod val="75000"/>
                  </a:schemeClr>
                </a:solidFill>
              </a:rPr>
              <a:t>Format cells &gt; Protection &gt; OK</a:t>
            </a:r>
          </a:p>
        </p:txBody>
      </p:sp>
    </p:spTree>
    <p:extLst>
      <p:ext uri="{BB962C8B-B14F-4D97-AF65-F5344CB8AC3E}">
        <p14:creationId xmlns:p14="http://schemas.microsoft.com/office/powerpoint/2010/main" val="13955067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Protect Sheet</a:t>
            </a:r>
            <a:endParaRPr lang="en-US" dirty="0">
              <a:solidFill>
                <a:schemeClr val="accent1">
                  <a:lumMod val="75000"/>
                </a:schemeClr>
              </a:solidFill>
              <a:latin typeface="Comic Sans MS" panose="030F0702030302020204" pitchFamily="66" charset="0"/>
            </a:endParaRPr>
          </a:p>
        </p:txBody>
      </p:sp>
      <p:sp>
        <p:nvSpPr>
          <p:cNvPr id="3" name="object 3"/>
          <p:cNvSpPr txBox="1"/>
          <p:nvPr/>
        </p:nvSpPr>
        <p:spPr bwMode="gray">
          <a:xfrm>
            <a:off x="457200" y="1803025"/>
            <a:ext cx="3962400" cy="4814138"/>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Select </a:t>
            </a:r>
            <a:r>
              <a:rPr lang="en-US" sz="1600" dirty="0">
                <a:solidFill>
                  <a:schemeClr val="accent1">
                    <a:lumMod val="75000"/>
                  </a:schemeClr>
                </a:solidFill>
              </a:rPr>
              <a:t>the ribbon’s Review tab and then select the Protect Sheet command in the Changes group.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Protect Sheet dialog box </a:t>
            </a:r>
            <a:r>
              <a:rPr lang="en-US" sz="1600" dirty="0" smtClean="0">
                <a:solidFill>
                  <a:schemeClr val="accent1">
                    <a:lumMod val="75000"/>
                  </a:schemeClr>
                </a:solidFill>
              </a:rPr>
              <a:t>opens. </a:t>
            </a:r>
            <a:r>
              <a:rPr lang="en-US" sz="1600" dirty="0">
                <a:solidFill>
                  <a:schemeClr val="accent1">
                    <a:lumMod val="75000"/>
                  </a:schemeClr>
                </a:solidFill>
              </a:rPr>
              <a:t>You can enter a password to protect the sheet, if you want.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also select other options related to what users can do to the worksheet, such as formatting cells, columns, or rows and inserting hyperlinks.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protect the locked cells on the sheet and allow data entry in other cells, you need not change any of the settings in the Protect Sheet dialog box.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Even </a:t>
            </a:r>
            <a:r>
              <a:rPr lang="en-US" sz="1600" dirty="0">
                <a:solidFill>
                  <a:schemeClr val="accent1">
                    <a:lumMod val="75000"/>
                  </a:schemeClr>
                </a:solidFill>
              </a:rPr>
              <a:t>the password is optional. Click OK to close the dialog box.</a:t>
            </a:r>
          </a:p>
          <a:p>
            <a:pPr algn="just" eaLnBrk="0" hangingPunct="0"/>
            <a:endParaRPr lang="en-US" sz="1600" dirty="0" smtClean="0">
              <a:solidFill>
                <a:schemeClr val="accent1">
                  <a:lumMod val="75000"/>
                </a:schemeClr>
              </a:solidFill>
            </a:endParaRPr>
          </a:p>
          <a:p>
            <a:pPr algn="just" eaLnBrk="0" hangingPunct="0">
              <a:lnSpc>
                <a:spcPct val="150000"/>
              </a:lnSpc>
            </a:pPr>
            <a:r>
              <a:rPr lang="en-US" sz="1600" b="1" dirty="0" smtClean="0">
                <a:solidFill>
                  <a:schemeClr val="accent1">
                    <a:lumMod val="75000"/>
                  </a:schemeClr>
                </a:solidFill>
              </a:rPr>
              <a:t>Home </a:t>
            </a:r>
            <a:r>
              <a:rPr lang="en-US" sz="1600" b="1" dirty="0">
                <a:solidFill>
                  <a:schemeClr val="accent1">
                    <a:lumMod val="75000"/>
                  </a:schemeClr>
                </a:solidFill>
              </a:rPr>
              <a:t>tab </a:t>
            </a:r>
            <a:r>
              <a:rPr lang="en-US" sz="1600" b="1" dirty="0" smtClean="0">
                <a:solidFill>
                  <a:schemeClr val="accent1">
                    <a:lumMod val="75000"/>
                  </a:schemeClr>
                </a:solidFill>
              </a:rPr>
              <a:t>&gt; Review &gt; Protect Sheet &gt; OK</a:t>
            </a:r>
            <a:endParaRPr lang="en-US" sz="1600" b="1" dirty="0">
              <a:solidFill>
                <a:schemeClr val="accent1">
                  <a:lumMod val="75000"/>
                </a:schemeClr>
              </a:solidFill>
            </a:endParaRPr>
          </a:p>
          <a:p>
            <a:pPr algn="just" eaLnBrk="0" hangingPunct="0"/>
            <a:endParaRPr lang="en-US" sz="1600" dirty="0">
              <a:solidFill>
                <a:schemeClr val="accent1">
                  <a:lumMod val="75000"/>
                </a:schemeClr>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4816" y="1991861"/>
            <a:ext cx="3791984" cy="425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4316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Preparing a workbook for sharing</a:t>
            </a:r>
          </a:p>
        </p:txBody>
      </p:sp>
      <p:sp>
        <p:nvSpPr>
          <p:cNvPr id="3" name="object 3"/>
          <p:cNvSpPr txBox="1"/>
          <p:nvPr/>
        </p:nvSpPr>
        <p:spPr bwMode="gray">
          <a:xfrm>
            <a:off x="533399" y="1295400"/>
            <a:ext cx="8188325" cy="2598147"/>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Check For Issues button in the Backstage Info window (from the Excel application window select File) provides commands that enable you to check a workbook for hidden or personal information and for any accessibility or compatibility issues with the workbook. When you select the Inspect Document command, the Document Inspector </a:t>
            </a:r>
            <a:r>
              <a:rPr lang="en-US" sz="1600" dirty="0" smtClean="0">
                <a:solidFill>
                  <a:schemeClr val="accent1">
                    <a:lumMod val="75000"/>
                  </a:schemeClr>
                </a:solidFill>
              </a:rPr>
              <a:t>opens. </a:t>
            </a:r>
            <a:r>
              <a:rPr lang="en-US" sz="1600" dirty="0">
                <a:solidFill>
                  <a:schemeClr val="accent1">
                    <a:lumMod val="75000"/>
                  </a:schemeClr>
                </a:solidFill>
              </a:rPr>
              <a:t>When the inspection has completed, a list of results appears in the Document Inspector. </a:t>
            </a:r>
            <a:endParaRPr lang="en-US" sz="1600" dirty="0" smtClean="0">
              <a:solidFill>
                <a:schemeClr val="accent1">
                  <a:lumMod val="75000"/>
                </a:schemeClr>
              </a:solidFill>
            </a:endParaRPr>
          </a:p>
          <a:p>
            <a:pPr algn="just" eaLnBrk="0" hangingPunct="0"/>
            <a:endParaRPr lang="en-US" sz="1600" b="1" dirty="0" smtClean="0">
              <a:solidFill>
                <a:schemeClr val="accent1">
                  <a:lumMod val="75000"/>
                </a:schemeClr>
              </a:solidFill>
            </a:endParaRPr>
          </a:p>
          <a:p>
            <a:pPr algn="just" eaLnBrk="0" hangingPunct="0">
              <a:lnSpc>
                <a:spcPct val="150000"/>
              </a:lnSpc>
            </a:pPr>
            <a:r>
              <a:rPr lang="en-US" sz="1600" b="1" dirty="0" smtClean="0">
                <a:solidFill>
                  <a:schemeClr val="accent1">
                    <a:lumMod val="75000"/>
                  </a:schemeClr>
                </a:solidFill>
              </a:rPr>
              <a:t>Home &gt; Backstage &gt; </a:t>
            </a:r>
          </a:p>
          <a:p>
            <a:pPr algn="just" eaLnBrk="0" hangingPunct="0">
              <a:lnSpc>
                <a:spcPct val="150000"/>
              </a:lnSpc>
            </a:pPr>
            <a:r>
              <a:rPr lang="en-US" sz="1600" b="1" dirty="0" smtClean="0">
                <a:solidFill>
                  <a:schemeClr val="accent1">
                    <a:lumMod val="75000"/>
                  </a:schemeClr>
                </a:solidFill>
              </a:rPr>
              <a:t>Check for issues &gt; </a:t>
            </a:r>
          </a:p>
          <a:p>
            <a:pPr algn="just" eaLnBrk="0" hangingPunct="0">
              <a:lnSpc>
                <a:spcPct val="150000"/>
              </a:lnSpc>
            </a:pPr>
            <a:r>
              <a:rPr lang="en-US" sz="1600" b="1" dirty="0" smtClean="0">
                <a:solidFill>
                  <a:schemeClr val="accent1">
                    <a:lumMod val="75000"/>
                  </a:schemeClr>
                </a:solidFill>
              </a:rPr>
              <a:t>Inspect Document</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895600"/>
            <a:ext cx="4374911"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16400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Entering data in a worksheet</a:t>
            </a:r>
          </a:p>
        </p:txBody>
      </p:sp>
      <p:sp>
        <p:nvSpPr>
          <p:cNvPr id="3" name="object 3"/>
          <p:cNvSpPr txBox="1"/>
          <p:nvPr/>
        </p:nvSpPr>
        <p:spPr bwMode="gray">
          <a:xfrm>
            <a:off x="457200" y="1600200"/>
            <a:ext cx="8188325" cy="3952364"/>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Entering data in a worksheet is just a matter of accessing a </a:t>
            </a:r>
            <a:r>
              <a:rPr lang="en-US" sz="1600" dirty="0" smtClean="0">
                <a:solidFill>
                  <a:schemeClr val="accent1">
                    <a:lumMod val="75000"/>
                  </a:schemeClr>
                </a:solidFill>
              </a:rPr>
              <a:t>particular </a:t>
            </a:r>
            <a:r>
              <a:rPr lang="en-US" sz="1600" dirty="0">
                <a:solidFill>
                  <a:schemeClr val="accent1">
                    <a:lumMod val="75000"/>
                  </a:schemeClr>
                </a:solidFill>
              </a:rPr>
              <a:t>cell and then entering the information you want in that  cell. Unlike Word, where you primarily enter text, Excel allows you to enter an array of diﬀerent types of information. So, your worksheet entries will typically include text, numbers, dates, times, formulas, and functions.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There are two </a:t>
            </a:r>
            <a:r>
              <a:rPr lang="en-US" sz="1600" dirty="0">
                <a:solidFill>
                  <a:schemeClr val="accent1">
                    <a:lumMod val="75000"/>
                  </a:schemeClr>
                </a:solidFill>
              </a:rPr>
              <a:t>distinct types of information: </a:t>
            </a:r>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marL="742950" lvl="1" indent="-285750" algn="just" eaLnBrk="0" hangingPunct="0">
              <a:lnSpc>
                <a:spcPct val="150000"/>
              </a:lnSpc>
              <a:buFont typeface="Arial" panose="020B0604020202020204" pitchFamily="34" charset="0"/>
              <a:buChar char="•"/>
            </a:pPr>
            <a:r>
              <a:rPr lang="en-US" sz="1600" b="1" dirty="0" smtClean="0">
                <a:solidFill>
                  <a:schemeClr val="accent1">
                    <a:lumMod val="75000"/>
                  </a:schemeClr>
                </a:solidFill>
              </a:rPr>
              <a:t>Labels</a:t>
            </a:r>
          </a:p>
          <a:p>
            <a:pPr marL="742950" lvl="1" indent="-285750" algn="just" eaLnBrk="0" hangingPunct="0">
              <a:lnSpc>
                <a:spcPct val="150000"/>
              </a:lnSpc>
              <a:buFont typeface="Arial" panose="020B0604020202020204" pitchFamily="34" charset="0"/>
              <a:buChar char="•"/>
            </a:pPr>
            <a:r>
              <a:rPr lang="en-US" sz="1600" b="1" dirty="0" smtClean="0">
                <a:solidFill>
                  <a:schemeClr val="accent1">
                    <a:lumMod val="75000"/>
                  </a:schemeClr>
                </a:solidFill>
              </a:rPr>
              <a:t>Values</a:t>
            </a:r>
            <a:endParaRPr lang="en-US" sz="1600" b="1" dirty="0">
              <a:solidFill>
                <a:schemeClr val="accent1">
                  <a:lumMod val="75000"/>
                </a:schemeClr>
              </a:solidFill>
            </a:endParaRP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A </a:t>
            </a:r>
            <a:r>
              <a:rPr lang="en-US" sz="1600" b="1" dirty="0">
                <a:solidFill>
                  <a:schemeClr val="accent1">
                    <a:lumMod val="75000"/>
                  </a:schemeClr>
                </a:solidFill>
              </a:rPr>
              <a:t>label</a:t>
            </a:r>
            <a:r>
              <a:rPr lang="en-US" sz="1600" dirty="0">
                <a:solidFill>
                  <a:schemeClr val="accent1">
                    <a:lumMod val="75000"/>
                  </a:schemeClr>
                </a:solidFill>
              </a:rPr>
              <a:t> is descriptive information, such as the name of a person, place, or thing, or a time designation such as the day of the week or month of the year. A label has no numerical signiﬁcance in </a:t>
            </a:r>
            <a:r>
              <a:rPr lang="en-US" sz="1600" dirty="0" smtClean="0">
                <a:solidFill>
                  <a:schemeClr val="accent1">
                    <a:lumMod val="75000"/>
                  </a:schemeClr>
                </a:solidFill>
              </a:rPr>
              <a:t>Excel.</a:t>
            </a:r>
          </a:p>
          <a:p>
            <a:pPr algn="just" eaLnBrk="0" hangingPunct="0"/>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A </a:t>
            </a:r>
            <a:r>
              <a:rPr lang="en-US" sz="1600" b="1" dirty="0">
                <a:solidFill>
                  <a:schemeClr val="accent1">
                    <a:lumMod val="75000"/>
                  </a:schemeClr>
                </a:solidFill>
              </a:rPr>
              <a:t>value</a:t>
            </a:r>
            <a:r>
              <a:rPr lang="en-US" sz="1600" dirty="0">
                <a:solidFill>
                  <a:schemeClr val="accent1">
                    <a:lumMod val="75000"/>
                  </a:schemeClr>
                </a:solidFill>
              </a:rPr>
              <a:t> is data that does have numerical signiﬁcance. Values can be numbers, dates, and times. Values can be acted upon by </a:t>
            </a:r>
            <a:r>
              <a:rPr lang="en-US" sz="1600" dirty="0" smtClean="0">
                <a:solidFill>
                  <a:schemeClr val="accent1">
                    <a:lumMod val="75000"/>
                  </a:schemeClr>
                </a:solidFill>
              </a:rPr>
              <a:t>formulas and </a:t>
            </a:r>
            <a:r>
              <a:rPr lang="en-US" sz="1600" dirty="0">
                <a:solidFill>
                  <a:schemeClr val="accent1">
                    <a:lumMod val="75000"/>
                  </a:schemeClr>
                </a:solidFill>
              </a:rPr>
              <a:t>functions. </a:t>
            </a:r>
            <a:endParaRPr lang="en-US" sz="1600" b="1" dirty="0" smtClean="0">
              <a:solidFill>
                <a:schemeClr val="accent1">
                  <a:lumMod val="75000"/>
                </a:schemeClr>
              </a:solidFill>
            </a:endParaRPr>
          </a:p>
        </p:txBody>
      </p:sp>
    </p:spTree>
    <p:extLst>
      <p:ext uri="{BB962C8B-B14F-4D97-AF65-F5344CB8AC3E}">
        <p14:creationId xmlns:p14="http://schemas.microsoft.com/office/powerpoint/2010/main" val="34044484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Fill handle</a:t>
            </a:r>
          </a:p>
        </p:txBody>
      </p:sp>
      <p:sp>
        <p:nvSpPr>
          <p:cNvPr id="3" name="object 3"/>
          <p:cNvSpPr txBox="1"/>
          <p:nvPr/>
        </p:nvSpPr>
        <p:spPr bwMode="gray">
          <a:xfrm>
            <a:off x="457200" y="1371600"/>
            <a:ext cx="8188325" cy="2475037"/>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To create a ﬁll series, such as the days of the week or months of the year, follow these steps</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marL="342900" indent="-342900" algn="just">
              <a:buFont typeface="+mj-lt"/>
              <a:buAutoNum type="arabicPeriod"/>
            </a:pPr>
            <a:r>
              <a:rPr lang="en-US" sz="1600" dirty="0">
                <a:solidFill>
                  <a:schemeClr val="accent1">
                    <a:lumMod val="75000"/>
                  </a:schemeClr>
                </a:solidFill>
              </a:rPr>
              <a:t>Enter the ﬁrst item in the </a:t>
            </a:r>
            <a:r>
              <a:rPr lang="en-US" sz="1600" dirty="0" smtClean="0">
                <a:solidFill>
                  <a:schemeClr val="accent1">
                    <a:lumMod val="75000"/>
                  </a:schemeClr>
                </a:solidFill>
              </a:rPr>
              <a:t>series.</a:t>
            </a:r>
          </a:p>
          <a:p>
            <a:pPr marL="342900" indent="-342900" algn="just">
              <a:buFont typeface="+mj-lt"/>
              <a:buAutoNum type="arabicPeriod"/>
            </a:pPr>
            <a:r>
              <a:rPr lang="en-US" sz="1600" dirty="0">
                <a:solidFill>
                  <a:schemeClr val="accent1">
                    <a:lumMod val="75000"/>
                  </a:schemeClr>
                </a:solidFill>
              </a:rPr>
              <a:t>Grab the Fill handle and drag in the appropriate direction to extend the series. ScreenTips appear as you drag across the cells, showing a preview of each item that will be placed in each subsequent </a:t>
            </a:r>
            <a:r>
              <a:rPr lang="en-US" sz="1600" dirty="0" smtClean="0">
                <a:solidFill>
                  <a:schemeClr val="accent1">
                    <a:lumMod val="75000"/>
                  </a:schemeClr>
                </a:solidFill>
              </a:rPr>
              <a:t>cell.</a:t>
            </a:r>
          </a:p>
          <a:p>
            <a:pPr marL="342900" indent="-342900" algn="just">
              <a:buFont typeface="+mj-lt"/>
              <a:buAutoNum type="arabicPeriod"/>
            </a:pPr>
            <a:r>
              <a:rPr lang="en-US" sz="1600" dirty="0">
                <a:solidFill>
                  <a:schemeClr val="accent1">
                    <a:lumMod val="75000"/>
                  </a:schemeClr>
                </a:solidFill>
              </a:rPr>
              <a:t>Release the mouse to enter the series </a:t>
            </a:r>
            <a:r>
              <a:rPr lang="en-US" sz="1600" dirty="0" smtClean="0">
                <a:solidFill>
                  <a:schemeClr val="accent1">
                    <a:lumMod val="75000"/>
                  </a:schemeClr>
                </a:solidFill>
              </a:rPr>
              <a:t>items.</a:t>
            </a:r>
          </a:p>
          <a:p>
            <a:pPr marL="342900" indent="-342900" algn="just">
              <a:buFont typeface="+mj-lt"/>
              <a:buAutoNum type="arabicPeriod"/>
            </a:pPr>
            <a:r>
              <a:rPr lang="en-US" sz="1600" dirty="0">
                <a:solidFill>
                  <a:schemeClr val="accent1">
                    <a:lumMod val="75000"/>
                  </a:schemeClr>
                </a:solidFill>
              </a:rPr>
              <a:t>When you release the mouse, the series items appear in </a:t>
            </a:r>
            <a:r>
              <a:rPr lang="en-US" sz="1600" dirty="0" smtClean="0">
                <a:solidFill>
                  <a:schemeClr val="accent1">
                    <a:lumMod val="75000"/>
                  </a:schemeClr>
                </a:solidFill>
              </a:rPr>
              <a:t>the cells. The AutoFill Options button appears.</a:t>
            </a:r>
            <a:endParaRPr lang="en-US" sz="1600" b="1" dirty="0" smtClean="0">
              <a:solidFill>
                <a:schemeClr val="accent1">
                  <a:lumMod val="75000"/>
                </a:schemeClr>
              </a:solidFill>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453" y="4191000"/>
            <a:ext cx="6335817"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32638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Copying, moving, and deleting cell contents</a:t>
            </a:r>
          </a:p>
        </p:txBody>
      </p:sp>
      <p:sp>
        <p:nvSpPr>
          <p:cNvPr id="3" name="object 3"/>
          <p:cNvSpPr txBox="1"/>
          <p:nvPr/>
        </p:nvSpPr>
        <p:spPr bwMode="gray">
          <a:xfrm>
            <a:off x="533400" y="1295400"/>
            <a:ext cx="7924800" cy="2844368"/>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Copy-and-paste and cut-and-paste are pretty familiar to even the most </a:t>
            </a:r>
            <a:r>
              <a:rPr lang="en-US" sz="1600" dirty="0" smtClean="0">
                <a:solidFill>
                  <a:schemeClr val="accent1">
                    <a:lumMod val="75000"/>
                  </a:schemeClr>
                </a:solidFill>
              </a:rPr>
              <a:t>Oﬃce </a:t>
            </a:r>
            <a:r>
              <a:rPr lang="en-US" sz="1600" dirty="0">
                <a:solidFill>
                  <a:schemeClr val="accent1">
                    <a:lumMod val="75000"/>
                  </a:schemeClr>
                </a:solidFill>
              </a:rPr>
              <a:t>user, and it is a very straightforward process to select a cell or cells, and then use the </a:t>
            </a:r>
            <a:r>
              <a:rPr lang="en-US" sz="1600" dirty="0" smtClean="0">
                <a:solidFill>
                  <a:schemeClr val="accent1">
                    <a:lumMod val="75000"/>
                  </a:schemeClr>
                </a:solidFill>
              </a:rPr>
              <a:t>Copy.</a:t>
            </a:r>
          </a:p>
          <a:p>
            <a:pPr algn="just" eaLnBrk="0" hangingPunct="0"/>
            <a:r>
              <a:rPr lang="en-US" sz="1600" dirty="0" smtClean="0">
                <a:solidFill>
                  <a:schemeClr val="accent1">
                    <a:lumMod val="75000"/>
                  </a:schemeClr>
                </a:solidFill>
              </a:rPr>
              <a:t>There </a:t>
            </a:r>
            <a:r>
              <a:rPr lang="en-US" sz="1600" dirty="0">
                <a:solidFill>
                  <a:schemeClr val="accent1">
                    <a:lumMod val="75000"/>
                  </a:schemeClr>
                </a:solidFill>
              </a:rPr>
              <a:t>are Paste options that allow you to just paste the formatting of the source cells or paste the results of a formula rather than the formula itself. These diﬀerent Paste command possibilities can be used to paste information on the current worksheet, the current </a:t>
            </a:r>
            <a:r>
              <a:rPr lang="en-US" sz="1600" dirty="0" smtClean="0">
                <a:solidFill>
                  <a:schemeClr val="accent1">
                    <a:lumMod val="75000"/>
                  </a:schemeClr>
                </a:solidFill>
              </a:rPr>
              <a:t>workbook</a:t>
            </a:r>
          </a:p>
          <a:p>
            <a:pPr algn="just" eaLnBrk="0" hangingPunct="0"/>
            <a:endParaRPr lang="en-US" sz="1600" dirty="0">
              <a:solidFill>
                <a:schemeClr val="accent1">
                  <a:lumMod val="75000"/>
                </a:schemeClr>
              </a:solidFill>
            </a:endParaRPr>
          </a:p>
          <a:p>
            <a:pPr marL="742950" lvl="1" indent="-285750" algn="just" eaLnBrk="0" hangingPunct="0">
              <a:lnSpc>
                <a:spcPct val="150000"/>
              </a:lnSpc>
              <a:buFont typeface="Arial" panose="020B0604020202020204" pitchFamily="34" charset="0"/>
              <a:buChar char="•"/>
            </a:pPr>
            <a:r>
              <a:rPr lang="en-US" sz="1600" b="1" dirty="0" err="1" smtClean="0">
                <a:solidFill>
                  <a:schemeClr val="accent1">
                    <a:lumMod val="75000"/>
                  </a:schemeClr>
                </a:solidFill>
              </a:rPr>
              <a:t>Ctrl+C</a:t>
            </a:r>
            <a:r>
              <a:rPr lang="en-US" sz="1600" b="1" dirty="0" smtClean="0">
                <a:solidFill>
                  <a:schemeClr val="accent1">
                    <a:lumMod val="75000"/>
                  </a:schemeClr>
                </a:solidFill>
              </a:rPr>
              <a:t> </a:t>
            </a:r>
            <a:r>
              <a:rPr lang="en-US" sz="1600" b="1" dirty="0">
                <a:solidFill>
                  <a:schemeClr val="accent1">
                    <a:lumMod val="75000"/>
                  </a:schemeClr>
                </a:solidFill>
              </a:rPr>
              <a:t>to </a:t>
            </a:r>
            <a:r>
              <a:rPr lang="en-US" sz="1600" b="1" dirty="0" smtClean="0">
                <a:solidFill>
                  <a:schemeClr val="accent1">
                    <a:lumMod val="75000"/>
                  </a:schemeClr>
                </a:solidFill>
              </a:rPr>
              <a:t>copy</a:t>
            </a:r>
          </a:p>
          <a:p>
            <a:pPr marL="742950" lvl="1" indent="-285750" algn="just" eaLnBrk="0" hangingPunct="0">
              <a:lnSpc>
                <a:spcPct val="150000"/>
              </a:lnSpc>
              <a:buFont typeface="Arial" panose="020B0604020202020204" pitchFamily="34" charset="0"/>
              <a:buChar char="•"/>
            </a:pPr>
            <a:r>
              <a:rPr lang="en-US" sz="1600" b="1" dirty="0" err="1" smtClean="0">
                <a:solidFill>
                  <a:schemeClr val="accent1">
                    <a:lumMod val="75000"/>
                  </a:schemeClr>
                </a:solidFill>
              </a:rPr>
              <a:t>Ctrl+X</a:t>
            </a:r>
            <a:r>
              <a:rPr lang="en-US" sz="1600" b="1" dirty="0" smtClean="0">
                <a:solidFill>
                  <a:schemeClr val="accent1">
                    <a:lumMod val="75000"/>
                  </a:schemeClr>
                </a:solidFill>
              </a:rPr>
              <a:t> </a:t>
            </a:r>
            <a:r>
              <a:rPr lang="en-US" sz="1600" b="1" dirty="0">
                <a:solidFill>
                  <a:schemeClr val="accent1">
                    <a:lumMod val="75000"/>
                  </a:schemeClr>
                </a:solidFill>
              </a:rPr>
              <a:t>to </a:t>
            </a:r>
            <a:r>
              <a:rPr lang="en-US" sz="1600" b="1" dirty="0" smtClean="0">
                <a:solidFill>
                  <a:schemeClr val="accent1">
                    <a:lumMod val="75000"/>
                  </a:schemeClr>
                </a:solidFill>
              </a:rPr>
              <a:t>cut</a:t>
            </a:r>
          </a:p>
          <a:p>
            <a:pPr marL="742950" lvl="1" indent="-285750" algn="just" eaLnBrk="0" hangingPunct="0">
              <a:lnSpc>
                <a:spcPct val="150000"/>
              </a:lnSpc>
              <a:buFont typeface="Arial" panose="020B0604020202020204" pitchFamily="34" charset="0"/>
              <a:buChar char="•"/>
            </a:pPr>
            <a:r>
              <a:rPr lang="en-US" sz="1600" b="1" dirty="0" err="1" smtClean="0">
                <a:solidFill>
                  <a:schemeClr val="accent1">
                    <a:lumMod val="75000"/>
                  </a:schemeClr>
                </a:solidFill>
              </a:rPr>
              <a:t>Ctrl+V</a:t>
            </a:r>
            <a:r>
              <a:rPr lang="en-US" sz="1600" b="1" dirty="0" smtClean="0">
                <a:solidFill>
                  <a:schemeClr val="accent1">
                    <a:lumMod val="75000"/>
                  </a:schemeClr>
                </a:solidFill>
              </a:rPr>
              <a:t> </a:t>
            </a:r>
            <a:r>
              <a:rPr lang="en-US" sz="1600" b="1" dirty="0">
                <a:solidFill>
                  <a:schemeClr val="accent1">
                    <a:lumMod val="75000"/>
                  </a:schemeClr>
                </a:solidFill>
              </a:rPr>
              <a:t>to </a:t>
            </a:r>
            <a:r>
              <a:rPr lang="en-US" sz="1600" b="1" dirty="0" smtClean="0">
                <a:solidFill>
                  <a:schemeClr val="accent1">
                    <a:lumMod val="75000"/>
                  </a:schemeClr>
                </a:solidFill>
              </a:rPr>
              <a:t>paste</a:t>
            </a:r>
            <a:r>
              <a:rPr lang="en-US" sz="1600" b="1" dirty="0">
                <a:solidFill>
                  <a:schemeClr val="accent1">
                    <a:lumMod val="75000"/>
                  </a:schemeClr>
                </a:solidFill>
              </a:rPr>
              <a:t> </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7414" y="3124200"/>
            <a:ext cx="2383999" cy="3547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3739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Copying, moving, and deleting cell </a:t>
            </a:r>
            <a:r>
              <a:rPr lang="en-US" dirty="0" smtClean="0">
                <a:latin typeface="Comic Sans MS" panose="030F0702030302020204" pitchFamily="66" charset="0"/>
              </a:rPr>
              <a:t>contents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bwMode="gray">
          <a:xfrm>
            <a:off x="533400" y="1676400"/>
            <a:ext cx="5334000" cy="4167808"/>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To view the contents of the Clipboard, select the Clipboard launcher at the bottom right of the Clipboard group on the ribbon’s Home tab. The Clipboard appears as a pane on the left side of the Excel </a:t>
            </a:r>
            <a:r>
              <a:rPr lang="en-US" sz="1600" dirty="0" smtClean="0">
                <a:solidFill>
                  <a:schemeClr val="accent1">
                    <a:lumMod val="75000"/>
                  </a:schemeClr>
                </a:solidFill>
              </a:rPr>
              <a:t>workspace.</a:t>
            </a:r>
          </a:p>
          <a:p>
            <a:pPr eaLnBrk="0" hangingPunct="0"/>
            <a:r>
              <a:rPr lang="en-US" sz="1600" dirty="0" smtClean="0">
                <a:solidFill>
                  <a:schemeClr val="accent1">
                    <a:lumMod val="75000"/>
                  </a:schemeClr>
                </a:solidFill>
              </a:rPr>
              <a:t>The </a:t>
            </a:r>
            <a:r>
              <a:rPr lang="en-US" sz="1600" dirty="0">
                <a:solidFill>
                  <a:schemeClr val="accent1">
                    <a:lumMod val="75000"/>
                  </a:schemeClr>
                </a:solidFill>
              </a:rPr>
              <a:t>Oﬃce Clipboard can hold up to 24 items, which makes it easy to paste data from worksheet to worksheet or even to another </a:t>
            </a:r>
            <a:r>
              <a:rPr lang="en-US" sz="1600" dirty="0" smtClean="0">
                <a:solidFill>
                  <a:schemeClr val="accent1">
                    <a:lumMod val="75000"/>
                  </a:schemeClr>
                </a:solidFill>
              </a:rPr>
              <a:t>Excel workbook</a:t>
            </a:r>
            <a:r>
              <a:rPr lang="en-US" sz="1600" dirty="0">
                <a:solidFill>
                  <a:schemeClr val="accent1">
                    <a:lumMod val="75000"/>
                  </a:schemeClr>
                </a:solidFill>
              </a:rPr>
              <a:t>.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When </a:t>
            </a:r>
            <a:r>
              <a:rPr lang="en-US" sz="1600" dirty="0">
                <a:solidFill>
                  <a:schemeClr val="accent1">
                    <a:lumMod val="75000"/>
                  </a:schemeClr>
                </a:solidFill>
              </a:rPr>
              <a:t>you place the mouse on an item stored in the Clipboard, a drop-down menu arrow appears.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use the menu to paste the item. You can also remove it from the Clipboard by selecting Delete on the drop-down menu.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paste all the items on the Clipboard using the Paste All command.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If </a:t>
            </a:r>
            <a:r>
              <a:rPr lang="en-US" sz="1600" dirty="0">
                <a:solidFill>
                  <a:schemeClr val="accent1">
                    <a:lumMod val="75000"/>
                  </a:schemeClr>
                </a:solidFill>
              </a:rPr>
              <a:t>you want to remove all the current items on the Clipboard, click the Clear All button.</a:t>
            </a:r>
          </a:p>
          <a:p>
            <a:pPr algn="just" eaLnBrk="0" hangingPunct="0"/>
            <a:endParaRPr lang="en-US" sz="1400" b="1" dirty="0">
              <a:solidFill>
                <a:schemeClr val="accent1">
                  <a:lumMod val="75000"/>
                </a:schemeClr>
              </a:solidFill>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990600"/>
            <a:ext cx="228917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12234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Paste Special dialog box</a:t>
            </a:r>
          </a:p>
        </p:txBody>
      </p:sp>
      <p:sp>
        <p:nvSpPr>
          <p:cNvPr id="3" name="object 3"/>
          <p:cNvSpPr txBox="1"/>
          <p:nvPr/>
        </p:nvSpPr>
        <p:spPr bwMode="gray">
          <a:xfrm>
            <a:off x="609600" y="1219200"/>
            <a:ext cx="8001000" cy="124393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Paste gallery provides several possibilities in terms of how copied or cut content (in a cell or range) is then pasted to a new location. The </a:t>
            </a:r>
            <a:r>
              <a:rPr lang="en-US" sz="1600" b="1" dirty="0">
                <a:solidFill>
                  <a:schemeClr val="accent1">
                    <a:lumMod val="75000"/>
                  </a:schemeClr>
                </a:solidFill>
              </a:rPr>
              <a:t>Paste Special dialog box </a:t>
            </a:r>
            <a:r>
              <a:rPr lang="en-US" sz="1600" dirty="0">
                <a:solidFill>
                  <a:schemeClr val="accent1">
                    <a:lumMod val="75000"/>
                  </a:schemeClr>
                </a:solidFill>
              </a:rPr>
              <a:t>provides more options than the Paste gallery. Many of the options provided in the Paste Special dialog box relate to pasting cells (that have been copied or cut) from one worksheet to another worksheet, or cells from one workbook to another. </a:t>
            </a:r>
            <a:endParaRPr lang="en-US" sz="1600" b="1" dirty="0">
              <a:solidFill>
                <a:schemeClr val="accent1">
                  <a:lumMod val="75000"/>
                </a:schemeClr>
              </a:solidFill>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819400"/>
            <a:ext cx="4403725" cy="364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6047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Clearing and deleting cells</a:t>
            </a:r>
          </a:p>
        </p:txBody>
      </p:sp>
      <p:sp>
        <p:nvSpPr>
          <p:cNvPr id="3" name="object 3"/>
          <p:cNvSpPr txBox="1"/>
          <p:nvPr/>
        </p:nvSpPr>
        <p:spPr bwMode="gray">
          <a:xfrm>
            <a:off x="457200" y="1320761"/>
            <a:ext cx="8153400" cy="997709"/>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To remove cells from a worksheet, select the cell or cell range and then select the Delete command in the Cells group of the ribbon’s Home tab. The Delete command provides a gallery that enables you to delete cells, rows, columns, or an entire worksheet. To open the Delete dialog box, select Delete Cells. </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971800"/>
            <a:ext cx="2819400" cy="2891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54274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627736"/>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Printing worksheets</a:t>
            </a:r>
            <a:br>
              <a:rPr lang="en-US" dirty="0">
                <a:latin typeface="Comic Sans MS" panose="030F0702030302020204" pitchFamily="66" charset="0"/>
              </a:rPr>
            </a:br>
            <a:endParaRPr lang="en-US" dirty="0">
              <a:latin typeface="Comic Sans MS" panose="030F0702030302020204" pitchFamily="66" charset="0"/>
            </a:endParaRPr>
          </a:p>
        </p:txBody>
      </p:sp>
      <p:sp>
        <p:nvSpPr>
          <p:cNvPr id="3" name="object 3"/>
          <p:cNvSpPr txBox="1"/>
          <p:nvPr/>
        </p:nvSpPr>
        <p:spPr bwMode="gray">
          <a:xfrm>
            <a:off x="533400" y="1905000"/>
            <a:ext cx="8001000" cy="2967479"/>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Printing </a:t>
            </a:r>
            <a:r>
              <a:rPr lang="en-US" sz="1600" dirty="0">
                <a:solidFill>
                  <a:schemeClr val="accent1">
                    <a:lumMod val="75000"/>
                  </a:schemeClr>
                </a:solidFill>
              </a:rPr>
              <a:t>in Excel is really a two-step process. </a:t>
            </a:r>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marL="342900" indent="-342900" algn="just" eaLnBrk="0" hangingPunct="0">
              <a:buFont typeface="+mj-lt"/>
              <a:buAutoNum type="arabicParenR"/>
            </a:pPr>
            <a:r>
              <a:rPr lang="en-US" sz="1600" dirty="0" smtClean="0">
                <a:solidFill>
                  <a:schemeClr val="accent1">
                    <a:lumMod val="75000"/>
                  </a:schemeClr>
                </a:solidFill>
              </a:rPr>
              <a:t>You </a:t>
            </a:r>
            <a:r>
              <a:rPr lang="en-US" sz="1600" dirty="0">
                <a:solidFill>
                  <a:schemeClr val="accent1">
                    <a:lumMod val="75000"/>
                  </a:schemeClr>
                </a:solidFill>
              </a:rPr>
              <a:t>will ﬁnd that the </a:t>
            </a:r>
            <a:r>
              <a:rPr lang="en-US" sz="1600" b="1" dirty="0">
                <a:solidFill>
                  <a:schemeClr val="accent1">
                    <a:lumMod val="75000"/>
                  </a:schemeClr>
                </a:solidFill>
              </a:rPr>
              <a:t>Page Layout tab of the ribbon </a:t>
            </a:r>
            <a:r>
              <a:rPr lang="en-US" sz="1600" dirty="0">
                <a:solidFill>
                  <a:schemeClr val="accent1">
                    <a:lumMod val="75000"/>
                  </a:schemeClr>
                </a:solidFill>
              </a:rPr>
              <a:t>provides all the commands you need to adjust the overall layout of the sheet, including page orientation, margins, and page sizes. </a:t>
            </a:r>
            <a:endParaRPr lang="en-US" sz="1600" dirty="0" smtClean="0">
              <a:solidFill>
                <a:schemeClr val="accent1">
                  <a:lumMod val="75000"/>
                </a:schemeClr>
              </a:solidFill>
            </a:endParaRPr>
          </a:p>
          <a:p>
            <a:pPr marL="342900" indent="-342900" algn="just" eaLnBrk="0" hangingPunct="0">
              <a:buFont typeface="+mj-lt"/>
              <a:buAutoNum type="arabicParenR"/>
            </a:pPr>
            <a:endParaRPr lang="en-US" sz="1600" dirty="0" smtClean="0">
              <a:solidFill>
                <a:schemeClr val="accent1">
                  <a:lumMod val="75000"/>
                </a:schemeClr>
              </a:solidFill>
            </a:endParaRPr>
          </a:p>
          <a:p>
            <a:pPr marL="342900" indent="-342900" algn="just" eaLnBrk="0" hangingPunct="0">
              <a:buFont typeface="+mj-lt"/>
              <a:buAutoNum type="arabicParenR"/>
            </a:pPr>
            <a:r>
              <a:rPr lang="en-US" sz="1600" dirty="0" smtClean="0">
                <a:solidFill>
                  <a:schemeClr val="accent1">
                    <a:lumMod val="75000"/>
                  </a:schemeClr>
                </a:solidFill>
              </a:rPr>
              <a:t>After </a:t>
            </a:r>
            <a:r>
              <a:rPr lang="en-US" sz="1600" dirty="0">
                <a:solidFill>
                  <a:schemeClr val="accent1">
                    <a:lumMod val="75000"/>
                  </a:schemeClr>
                </a:solidFill>
              </a:rPr>
              <a:t>you have adjusted the various page layout settings using the Page Layout tab, you can move on to the second half of the tasks related to printing and open the </a:t>
            </a:r>
            <a:r>
              <a:rPr lang="en-US" sz="1600" b="1" dirty="0">
                <a:solidFill>
                  <a:schemeClr val="accent1">
                    <a:lumMod val="75000"/>
                  </a:schemeClr>
                </a:solidFill>
              </a:rPr>
              <a:t>Backstage Print page</a:t>
            </a:r>
            <a:r>
              <a:rPr lang="en-US" sz="1600" dirty="0">
                <a:solidFill>
                  <a:schemeClr val="accent1">
                    <a:lumMod val="75000"/>
                  </a:schemeClr>
                </a:solidFill>
              </a:rPr>
              <a:t>. The Print page enables you to specify the printer for the printout and also conﬁgure other print settings, such as what is to be printed, how many copies should be printed, and how the printouts should be collated. Let’s look at the Page Layout command and then the Print page options.</a:t>
            </a:r>
          </a:p>
        </p:txBody>
      </p:sp>
    </p:spTree>
    <p:extLst>
      <p:ext uri="{BB962C8B-B14F-4D97-AF65-F5344CB8AC3E}">
        <p14:creationId xmlns:p14="http://schemas.microsoft.com/office/powerpoint/2010/main" val="33685002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Page Layout commands</a:t>
            </a:r>
          </a:p>
        </p:txBody>
      </p:sp>
      <p:sp>
        <p:nvSpPr>
          <p:cNvPr id="3" name="object 3"/>
          <p:cNvSpPr txBox="1"/>
          <p:nvPr/>
        </p:nvSpPr>
        <p:spPr bwMode="gray">
          <a:xfrm>
            <a:off x="609600" y="1419953"/>
            <a:ext cx="8001000" cy="318292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a:t>
            </a:r>
            <a:r>
              <a:rPr lang="en-US" sz="1600" b="1" dirty="0">
                <a:solidFill>
                  <a:schemeClr val="accent1">
                    <a:lumMod val="75000"/>
                  </a:schemeClr>
                </a:solidFill>
              </a:rPr>
              <a:t>Page Setup group on the Page Layout tab </a:t>
            </a:r>
            <a:r>
              <a:rPr lang="en-US" sz="1600" dirty="0">
                <a:solidFill>
                  <a:schemeClr val="accent1">
                    <a:lumMod val="75000"/>
                  </a:schemeClr>
                </a:solidFill>
              </a:rPr>
              <a:t>provides commands that are important in terms of conﬁguring the page settings for the worksheet. </a:t>
            </a:r>
            <a:endParaRPr lang="en-US" sz="1600" dirty="0" smtClean="0">
              <a:solidFill>
                <a:schemeClr val="accent1">
                  <a:lumMod val="75000"/>
                </a:schemeClr>
              </a:solidFill>
            </a:endParaRPr>
          </a:p>
          <a:p>
            <a:pPr algn="just" eaLnBrk="0" hangingPunct="0"/>
            <a:endParaRPr lang="en-US" sz="1600" dirty="0" smtClean="0">
              <a:solidFill>
                <a:schemeClr val="accent1">
                  <a:lumMod val="75000"/>
                </a:schemeClr>
              </a:solidFill>
            </a:endParaRPr>
          </a:p>
          <a:p>
            <a:pPr algn="just" eaLnBrk="0" hangingPunct="0"/>
            <a:endParaRPr lang="en-US" sz="1600" dirty="0" smtClean="0">
              <a:solidFill>
                <a:schemeClr val="accent1">
                  <a:lumMod val="75000"/>
                </a:schemeClr>
              </a:solidFill>
            </a:endParaRPr>
          </a:p>
          <a:p>
            <a:pPr marL="742950" lvl="1" indent="-285750" algn="just" eaLnBrk="0" hangingPunct="0">
              <a:spcAft>
                <a:spcPts val="600"/>
              </a:spcAft>
              <a:buFont typeface="Arial" panose="020B0604020202020204" pitchFamily="34" charset="0"/>
              <a:buChar char="•"/>
            </a:pPr>
            <a:r>
              <a:rPr lang="en-US" sz="1600" dirty="0" smtClean="0">
                <a:solidFill>
                  <a:schemeClr val="accent1">
                    <a:lumMod val="75000"/>
                  </a:schemeClr>
                </a:solidFill>
              </a:rPr>
              <a:t>Margins</a:t>
            </a:r>
          </a:p>
          <a:p>
            <a:pPr marL="742950" lvl="1" indent="-285750" algn="just" eaLnBrk="0" hangingPunct="0">
              <a:spcAft>
                <a:spcPts val="600"/>
              </a:spcAft>
              <a:buFont typeface="Arial" panose="020B0604020202020204" pitchFamily="34" charset="0"/>
              <a:buChar char="•"/>
            </a:pPr>
            <a:r>
              <a:rPr lang="en-US" sz="1600" dirty="0" smtClean="0">
                <a:solidFill>
                  <a:schemeClr val="accent1">
                    <a:lumMod val="75000"/>
                  </a:schemeClr>
                </a:solidFill>
              </a:rPr>
              <a:t>Orientation</a:t>
            </a:r>
          </a:p>
          <a:p>
            <a:pPr marL="742950" lvl="1" indent="-285750" algn="just" eaLnBrk="0" hangingPunct="0">
              <a:spcAft>
                <a:spcPts val="600"/>
              </a:spcAft>
              <a:buFont typeface="Arial" panose="020B0604020202020204" pitchFamily="34" charset="0"/>
              <a:buChar char="•"/>
            </a:pPr>
            <a:r>
              <a:rPr lang="en-US" sz="1600" dirty="0" smtClean="0">
                <a:solidFill>
                  <a:schemeClr val="accent1">
                    <a:lumMod val="75000"/>
                  </a:schemeClr>
                </a:solidFill>
              </a:rPr>
              <a:t>Size</a:t>
            </a:r>
          </a:p>
          <a:p>
            <a:pPr marL="742950" lvl="1" indent="-285750" algn="just" eaLnBrk="0" hangingPunct="0">
              <a:spcAft>
                <a:spcPts val="600"/>
              </a:spcAft>
              <a:buFont typeface="Arial" panose="020B0604020202020204" pitchFamily="34" charset="0"/>
              <a:buChar char="•"/>
            </a:pPr>
            <a:r>
              <a:rPr lang="en-US" sz="1600" dirty="0">
                <a:solidFill>
                  <a:schemeClr val="accent1">
                    <a:lumMod val="75000"/>
                  </a:schemeClr>
                </a:solidFill>
              </a:rPr>
              <a:t>Print </a:t>
            </a:r>
            <a:r>
              <a:rPr lang="en-US" sz="1600" dirty="0" smtClean="0">
                <a:solidFill>
                  <a:schemeClr val="accent1">
                    <a:lumMod val="75000"/>
                  </a:schemeClr>
                </a:solidFill>
              </a:rPr>
              <a:t>Area</a:t>
            </a:r>
          </a:p>
          <a:p>
            <a:pPr marL="742950" lvl="1" indent="-285750" algn="just" eaLnBrk="0" hangingPunct="0">
              <a:spcAft>
                <a:spcPts val="600"/>
              </a:spcAft>
              <a:buFont typeface="Arial" panose="020B0604020202020204" pitchFamily="34" charset="0"/>
              <a:buChar char="•"/>
            </a:pPr>
            <a:r>
              <a:rPr lang="en-US" sz="1600" dirty="0" smtClean="0">
                <a:solidFill>
                  <a:schemeClr val="accent1">
                    <a:lumMod val="75000"/>
                  </a:schemeClr>
                </a:solidFill>
              </a:rPr>
              <a:t>Breaks</a:t>
            </a:r>
          </a:p>
          <a:p>
            <a:pPr marL="742950" lvl="1" indent="-285750" algn="just" eaLnBrk="0" hangingPunct="0">
              <a:spcAft>
                <a:spcPts val="600"/>
              </a:spcAft>
              <a:buFont typeface="Arial" panose="020B0604020202020204" pitchFamily="34" charset="0"/>
              <a:buChar char="•"/>
            </a:pPr>
            <a:r>
              <a:rPr lang="en-US" sz="1600" dirty="0" smtClean="0">
                <a:solidFill>
                  <a:schemeClr val="accent1">
                    <a:lumMod val="75000"/>
                  </a:schemeClr>
                </a:solidFill>
              </a:rPr>
              <a:t>Background</a:t>
            </a:r>
          </a:p>
          <a:p>
            <a:pPr marL="742950" lvl="1" indent="-285750" algn="just" eaLnBrk="0" hangingPunct="0">
              <a:spcAft>
                <a:spcPts val="600"/>
              </a:spcAft>
              <a:buFont typeface="Arial" panose="020B0604020202020204" pitchFamily="34" charset="0"/>
              <a:buChar char="•"/>
            </a:pPr>
            <a:r>
              <a:rPr lang="en-US" sz="1600" dirty="0">
                <a:solidFill>
                  <a:schemeClr val="accent1">
                    <a:lumMod val="75000"/>
                  </a:schemeClr>
                </a:solidFill>
              </a:rPr>
              <a:t>Print </a:t>
            </a:r>
            <a:r>
              <a:rPr lang="en-US" sz="1600" dirty="0" smtClean="0">
                <a:solidFill>
                  <a:schemeClr val="accent1">
                    <a:lumMod val="75000"/>
                  </a:schemeClr>
                </a:solidFill>
              </a:rPr>
              <a:t>Titles</a:t>
            </a:r>
            <a:endParaRPr lang="en-US" sz="1600" dirty="0">
              <a:solidFill>
                <a:schemeClr val="accent1">
                  <a:lumMod val="75000"/>
                </a:schemeClr>
              </a:solidFill>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362200"/>
            <a:ext cx="477012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23431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on the print page</a:t>
            </a:r>
          </a:p>
        </p:txBody>
      </p:sp>
      <p:sp>
        <p:nvSpPr>
          <p:cNvPr id="3" name="object 3"/>
          <p:cNvSpPr txBox="1"/>
          <p:nvPr/>
        </p:nvSpPr>
        <p:spPr bwMode="gray">
          <a:xfrm>
            <a:off x="609600" y="1295400"/>
            <a:ext cx="8001000" cy="997709"/>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When </a:t>
            </a:r>
            <a:r>
              <a:rPr lang="en-US" sz="1600" dirty="0">
                <a:solidFill>
                  <a:schemeClr val="accent1">
                    <a:lumMod val="75000"/>
                  </a:schemeClr>
                </a:solidFill>
              </a:rPr>
              <a:t>you have the </a:t>
            </a:r>
            <a:r>
              <a:rPr lang="en-US" sz="1600" dirty="0" smtClean="0">
                <a:solidFill>
                  <a:schemeClr val="accent1">
                    <a:lumMod val="75000"/>
                  </a:schemeClr>
                </a:solidFill>
              </a:rPr>
              <a:t>Page Layout </a:t>
            </a:r>
            <a:r>
              <a:rPr lang="en-US" sz="1600" dirty="0">
                <a:solidFill>
                  <a:schemeClr val="accent1">
                    <a:lumMod val="75000"/>
                  </a:schemeClr>
                </a:solidFill>
              </a:rPr>
              <a:t>settings the way you want them</a:t>
            </a:r>
            <a:r>
              <a:rPr lang="en-US" sz="1600" dirty="0" smtClean="0">
                <a:solidFill>
                  <a:schemeClr val="accent1">
                    <a:lumMod val="75000"/>
                  </a:schemeClr>
                </a:solidFill>
              </a:rPr>
              <a:t>, </a:t>
            </a:r>
            <a:r>
              <a:rPr lang="en-US" sz="1600" dirty="0">
                <a:solidFill>
                  <a:schemeClr val="accent1">
                    <a:lumMod val="75000"/>
                  </a:schemeClr>
                </a:solidFill>
              </a:rPr>
              <a:t>you can access the Backstage Print page to ﬁnalize settings for your sheet printout (you can actually print multiple sheets in a workbook). To access the Backstage, select File on the ribbon. In the Backstage, select Print. </a:t>
            </a:r>
            <a:endParaRPr lang="en-US" sz="1600" b="1" dirty="0">
              <a:solidFill>
                <a:schemeClr val="accent1">
                  <a:lumMod val="75000"/>
                </a:schemeClr>
              </a:solidFill>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819400"/>
            <a:ext cx="5240338"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7854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headers and footers</a:t>
            </a:r>
          </a:p>
        </p:txBody>
      </p:sp>
      <p:sp>
        <p:nvSpPr>
          <p:cNvPr id="3" name="object 3"/>
          <p:cNvSpPr txBox="1"/>
          <p:nvPr/>
        </p:nvSpPr>
        <p:spPr bwMode="gray">
          <a:xfrm>
            <a:off x="445008" y="1143000"/>
            <a:ext cx="8104632" cy="173637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Headers </a:t>
            </a:r>
            <a:r>
              <a:rPr lang="en-US" sz="1600" dirty="0">
                <a:solidFill>
                  <a:schemeClr val="accent1">
                    <a:lumMod val="75000"/>
                  </a:schemeClr>
                </a:solidFill>
              </a:rPr>
              <a:t>and footers are used to place repeating information on the pages of your printout. </a:t>
            </a:r>
            <a:r>
              <a:rPr lang="en-US" sz="1600" dirty="0" smtClean="0">
                <a:solidFill>
                  <a:schemeClr val="accent1">
                    <a:lumMod val="75000"/>
                  </a:schemeClr>
                </a:solidFill>
              </a:rPr>
              <a:t>To </a:t>
            </a:r>
            <a:r>
              <a:rPr lang="en-US" sz="1600" dirty="0">
                <a:solidFill>
                  <a:schemeClr val="accent1">
                    <a:lumMod val="75000"/>
                  </a:schemeClr>
                </a:solidFill>
              </a:rPr>
              <a:t>specify a header for the worksheet, click the Custom Header button. This opens the Header dialog </a:t>
            </a:r>
            <a:r>
              <a:rPr lang="en-US" sz="1600" dirty="0" smtClean="0">
                <a:solidFill>
                  <a:schemeClr val="accent1">
                    <a:lumMod val="75000"/>
                  </a:schemeClr>
                </a:solidFill>
              </a:rPr>
              <a:t>box. </a:t>
            </a:r>
            <a:r>
              <a:rPr lang="en-US" sz="1600" dirty="0">
                <a:solidFill>
                  <a:schemeClr val="accent1">
                    <a:lumMod val="75000"/>
                  </a:schemeClr>
                </a:solidFill>
              </a:rPr>
              <a:t>You can specify a header for the left, center, and right sections of the worksheet</a:t>
            </a:r>
            <a:r>
              <a:rPr lang="en-US" sz="1600" dirty="0" smtClean="0">
                <a:solidFill>
                  <a:schemeClr val="accent1">
                    <a:lumMod val="75000"/>
                  </a:schemeClr>
                </a:solidFill>
              </a:rPr>
              <a:t>.</a:t>
            </a:r>
          </a:p>
          <a:p>
            <a:pPr algn="just" eaLnBrk="0" hangingPunct="0"/>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algn="just" eaLnBrk="0" hangingPunct="0"/>
            <a:r>
              <a:rPr lang="en-US" sz="1600" b="1" dirty="0" smtClean="0">
                <a:solidFill>
                  <a:schemeClr val="accent1">
                    <a:lumMod val="75000"/>
                  </a:schemeClr>
                </a:solidFill>
              </a:rPr>
              <a:t>Home &gt; Insert &gt; Header &amp; Footer</a:t>
            </a:r>
            <a:endParaRPr lang="en-US" sz="1600" b="1" dirty="0">
              <a:solidFill>
                <a:schemeClr val="accent1">
                  <a:lumMod val="75000"/>
                </a:schemeClr>
              </a:solidFill>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758" y="2540535"/>
            <a:ext cx="4743450" cy="393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7688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Changing text orientation</a:t>
            </a:r>
          </a:p>
        </p:txBody>
      </p:sp>
      <p:sp>
        <p:nvSpPr>
          <p:cNvPr id="3" name="object 3"/>
          <p:cNvSpPr txBox="1"/>
          <p:nvPr/>
        </p:nvSpPr>
        <p:spPr bwMode="gray">
          <a:xfrm>
            <a:off x="609600" y="1371600"/>
            <a:ext cx="8001000" cy="558980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change the orientation of text in a range of cells by using the Orientation command in the Home tab’s Alignment group.</a:t>
            </a:r>
          </a:p>
          <a:p>
            <a:pPr algn="just" eaLnBrk="0" hangingPunct="0"/>
            <a:r>
              <a:rPr lang="en-US" sz="1600" dirty="0">
                <a:solidFill>
                  <a:schemeClr val="accent1">
                    <a:lumMod val="75000"/>
                  </a:schemeClr>
                </a:solidFill>
              </a:rPr>
              <a:t>This is useful in cases where your labels must conform to very narrow columns or in cases where you want to align labels on the diagonal so that they are readily </a:t>
            </a:r>
            <a:r>
              <a:rPr lang="en-US" sz="1600" dirty="0" smtClean="0">
                <a:solidFill>
                  <a:schemeClr val="accent1">
                    <a:lumMod val="75000"/>
                  </a:schemeClr>
                </a:solidFill>
              </a:rPr>
              <a:t>noticeable - or </a:t>
            </a:r>
            <a:r>
              <a:rPr lang="en-US" sz="1600" dirty="0">
                <a:solidFill>
                  <a:schemeClr val="accent1">
                    <a:lumMod val="75000"/>
                  </a:schemeClr>
                </a:solidFill>
              </a:rPr>
              <a:t>perhaps you just want to add a little bit of design drama to the top of the sheet.</a:t>
            </a:r>
          </a:p>
          <a:p>
            <a:pPr algn="just"/>
            <a:r>
              <a:rPr lang="en-US" sz="1600" dirty="0" smtClean="0">
                <a:solidFill>
                  <a:schemeClr val="accent1">
                    <a:lumMod val="75000"/>
                  </a:schemeClr>
                </a:solidFill>
              </a:rPr>
              <a:t>Select </a:t>
            </a:r>
            <a:r>
              <a:rPr lang="en-US" sz="1600" dirty="0">
                <a:solidFill>
                  <a:schemeClr val="accent1">
                    <a:lumMod val="75000"/>
                  </a:schemeClr>
                </a:solidFill>
              </a:rPr>
              <a:t>the cell range that you want to format with the Orientation command. Then select Orientation in the Alignment group</a:t>
            </a:r>
            <a:r>
              <a:rPr lang="en-US" sz="1600" dirty="0" smtClean="0">
                <a:solidFill>
                  <a:schemeClr val="accent1">
                    <a:lumMod val="75000"/>
                  </a:schemeClr>
                </a:solidFill>
              </a:rPr>
              <a:t>.</a:t>
            </a:r>
          </a:p>
          <a:p>
            <a:pPr algn="just"/>
            <a:endParaRPr lang="en-US" sz="1600" dirty="0">
              <a:solidFill>
                <a:schemeClr val="accent1">
                  <a:lumMod val="75000"/>
                </a:schemeClr>
              </a:solidFill>
            </a:endParaRPr>
          </a:p>
          <a:p>
            <a:pPr marL="742950" lvl="1" indent="-285750" algn="just">
              <a:lnSpc>
                <a:spcPct val="150000"/>
              </a:lnSpc>
              <a:buFont typeface="Arial" panose="020B0604020202020204" pitchFamily="34" charset="0"/>
              <a:buChar char="•"/>
            </a:pPr>
            <a:r>
              <a:rPr lang="en-US" sz="1600" dirty="0" smtClean="0">
                <a:solidFill>
                  <a:schemeClr val="accent1">
                    <a:lumMod val="75000"/>
                  </a:schemeClr>
                </a:solidFill>
              </a:rPr>
              <a:t>Angle Counterclockwise</a:t>
            </a:r>
          </a:p>
          <a:p>
            <a:pPr marL="742950" lvl="1" indent="-285750" algn="just">
              <a:lnSpc>
                <a:spcPct val="150000"/>
              </a:lnSpc>
              <a:buFont typeface="Arial" panose="020B0604020202020204" pitchFamily="34" charset="0"/>
              <a:buChar char="•"/>
            </a:pPr>
            <a:r>
              <a:rPr lang="en-US" sz="1600" dirty="0">
                <a:solidFill>
                  <a:schemeClr val="accent1">
                    <a:lumMod val="75000"/>
                  </a:schemeClr>
                </a:solidFill>
              </a:rPr>
              <a:t>Angle </a:t>
            </a:r>
            <a:r>
              <a:rPr lang="en-US" sz="1600" dirty="0" smtClean="0">
                <a:solidFill>
                  <a:schemeClr val="accent1">
                    <a:lumMod val="75000"/>
                  </a:schemeClr>
                </a:solidFill>
              </a:rPr>
              <a:t>Clockwise</a:t>
            </a:r>
          </a:p>
          <a:p>
            <a:pPr marL="742950" lvl="1" indent="-285750" algn="just">
              <a:lnSpc>
                <a:spcPct val="150000"/>
              </a:lnSpc>
              <a:buFont typeface="Arial" panose="020B0604020202020204" pitchFamily="34" charset="0"/>
              <a:buChar char="•"/>
            </a:pPr>
            <a:r>
              <a:rPr lang="en-US" sz="1600" dirty="0">
                <a:solidFill>
                  <a:schemeClr val="accent1">
                    <a:lumMod val="75000"/>
                  </a:schemeClr>
                </a:solidFill>
              </a:rPr>
              <a:t>Vertical </a:t>
            </a:r>
            <a:r>
              <a:rPr lang="en-US" sz="1600" dirty="0" smtClean="0">
                <a:solidFill>
                  <a:schemeClr val="accent1">
                    <a:lumMod val="75000"/>
                  </a:schemeClr>
                </a:solidFill>
              </a:rPr>
              <a:t>Text</a:t>
            </a:r>
          </a:p>
          <a:p>
            <a:pPr marL="742950" lvl="1" indent="-285750" algn="just">
              <a:lnSpc>
                <a:spcPct val="150000"/>
              </a:lnSpc>
              <a:buFont typeface="Arial" panose="020B0604020202020204" pitchFamily="34" charset="0"/>
              <a:buChar char="•"/>
            </a:pPr>
            <a:r>
              <a:rPr lang="en-US" sz="1600" dirty="0">
                <a:solidFill>
                  <a:schemeClr val="accent1">
                    <a:lumMod val="75000"/>
                  </a:schemeClr>
                </a:solidFill>
              </a:rPr>
              <a:t>Rotate Text </a:t>
            </a:r>
            <a:r>
              <a:rPr lang="en-US" sz="1600" dirty="0" smtClean="0">
                <a:solidFill>
                  <a:schemeClr val="accent1">
                    <a:lumMod val="75000"/>
                  </a:schemeClr>
                </a:solidFill>
              </a:rPr>
              <a:t>Up</a:t>
            </a:r>
          </a:p>
          <a:p>
            <a:pPr marL="742950" lvl="1" indent="-285750" algn="just">
              <a:lnSpc>
                <a:spcPct val="150000"/>
              </a:lnSpc>
              <a:buFont typeface="Arial" panose="020B0604020202020204" pitchFamily="34" charset="0"/>
              <a:buChar char="•"/>
            </a:pPr>
            <a:r>
              <a:rPr lang="en-US" sz="1600" dirty="0">
                <a:solidFill>
                  <a:schemeClr val="accent1">
                    <a:lumMod val="75000"/>
                  </a:schemeClr>
                </a:solidFill>
              </a:rPr>
              <a:t>Rotate Text </a:t>
            </a:r>
            <a:r>
              <a:rPr lang="en-US" sz="1600" dirty="0" smtClean="0">
                <a:solidFill>
                  <a:schemeClr val="accent1">
                    <a:lumMod val="75000"/>
                  </a:schemeClr>
                </a:solidFill>
              </a:rPr>
              <a:t>Down</a:t>
            </a:r>
          </a:p>
          <a:p>
            <a:pPr marL="742950" lvl="1" indent="-285750" algn="just">
              <a:lnSpc>
                <a:spcPct val="150000"/>
              </a:lnSpc>
              <a:buFont typeface="Arial" panose="020B0604020202020204" pitchFamily="34" charset="0"/>
              <a:buChar char="•"/>
            </a:pPr>
            <a:r>
              <a:rPr lang="en-US" sz="1600" dirty="0">
                <a:solidFill>
                  <a:schemeClr val="accent1">
                    <a:lumMod val="75000"/>
                  </a:schemeClr>
                </a:solidFill>
              </a:rPr>
              <a:t>Format Cell Alignment</a:t>
            </a:r>
            <a:r>
              <a:rPr lang="en-US" sz="1600" dirty="0" smtClean="0">
                <a:solidFill>
                  <a:schemeClr val="accent1">
                    <a:lumMod val="75000"/>
                  </a:schemeClr>
                </a:solidFill>
              </a:rPr>
              <a:t> </a:t>
            </a:r>
          </a:p>
          <a:p>
            <a:pPr algn="just" eaLnBrk="0" hangingPunct="0">
              <a:lnSpc>
                <a:spcPct val="150000"/>
              </a:lnSpc>
            </a:pPr>
            <a:endParaRPr lang="en-US" sz="1600" b="1" dirty="0" smtClean="0">
              <a:solidFill>
                <a:schemeClr val="accent1">
                  <a:lumMod val="75000"/>
                </a:schemeClr>
              </a:solidFill>
            </a:endParaRPr>
          </a:p>
          <a:p>
            <a:pPr algn="just" eaLnBrk="0" hangingPunct="0">
              <a:lnSpc>
                <a:spcPct val="150000"/>
              </a:lnSpc>
            </a:pPr>
            <a:r>
              <a:rPr lang="en-US" sz="1600" b="1" dirty="0" smtClean="0">
                <a:solidFill>
                  <a:schemeClr val="accent1">
                    <a:lumMod val="75000"/>
                  </a:schemeClr>
                </a:solidFill>
              </a:rPr>
              <a:t>Home </a:t>
            </a:r>
            <a:r>
              <a:rPr lang="en-US" sz="1600" b="1" dirty="0">
                <a:solidFill>
                  <a:schemeClr val="accent1">
                    <a:lumMod val="75000"/>
                  </a:schemeClr>
                </a:solidFill>
              </a:rPr>
              <a:t>tab &gt; Number group (open) </a:t>
            </a:r>
          </a:p>
          <a:p>
            <a:pPr algn="just" eaLnBrk="0" hangingPunct="0">
              <a:lnSpc>
                <a:spcPct val="150000"/>
              </a:lnSpc>
            </a:pPr>
            <a:r>
              <a:rPr lang="en-US" sz="1600" b="1" dirty="0">
                <a:solidFill>
                  <a:schemeClr val="accent1">
                    <a:lumMod val="75000"/>
                  </a:schemeClr>
                </a:solidFill>
              </a:rPr>
              <a:t>&gt; Format </a:t>
            </a:r>
            <a:r>
              <a:rPr lang="en-US" sz="1600" b="1" dirty="0" smtClean="0">
                <a:solidFill>
                  <a:schemeClr val="accent1">
                    <a:lumMod val="75000"/>
                  </a:schemeClr>
                </a:solidFill>
              </a:rPr>
              <a:t>cells &gt; Alignment</a:t>
            </a:r>
            <a:endParaRPr lang="en-US" sz="1600" b="1" dirty="0">
              <a:solidFill>
                <a:schemeClr val="accent1">
                  <a:lumMod val="75000"/>
                </a:schemeClr>
              </a:solidFill>
            </a:endParaRPr>
          </a:p>
          <a:p>
            <a:pPr algn="just">
              <a:lnSpc>
                <a:spcPct val="150000"/>
              </a:lnSpc>
            </a:pPr>
            <a:endParaRPr lang="en-US" sz="1400" dirty="0">
              <a:solidFill>
                <a:schemeClr val="accent1">
                  <a:lumMod val="75000"/>
                </a:schemeClr>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360618"/>
            <a:ext cx="4114800" cy="3344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77334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Formatting values</a:t>
            </a:r>
          </a:p>
        </p:txBody>
      </p:sp>
      <p:sp>
        <p:nvSpPr>
          <p:cNvPr id="3" name="object 3"/>
          <p:cNvSpPr txBox="1"/>
          <p:nvPr/>
        </p:nvSpPr>
        <p:spPr>
          <a:xfrm>
            <a:off x="507492" y="1218459"/>
            <a:ext cx="7924800" cy="579902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shortest path for formatting numeric is to take advantage of the commands in the Number group on the ribbon’s Home tab.</a:t>
            </a:r>
          </a:p>
          <a:p>
            <a:pPr algn="just" eaLnBrk="0" hangingPunct="0"/>
            <a:r>
              <a:rPr lang="en-US" sz="1600" dirty="0">
                <a:solidFill>
                  <a:schemeClr val="accent1">
                    <a:lumMod val="75000"/>
                  </a:schemeClr>
                </a:solidFill>
              </a:rPr>
              <a:t>This group provides commands related to speciﬁc number formats, such as the percent style, and it provides you with the ability to increase or decrease the decimal places in cell values. It also provides a gallery with access to several number formats.</a:t>
            </a: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Number group commands are as follows</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Number </a:t>
            </a:r>
            <a:r>
              <a:rPr lang="en-US" sz="1600" dirty="0" smtClean="0">
                <a:solidFill>
                  <a:schemeClr val="accent1">
                    <a:lumMod val="75000"/>
                  </a:schemeClr>
                </a:solidFill>
              </a:rPr>
              <a:t>Format</a:t>
            </a: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Accounting Number </a:t>
            </a:r>
            <a:r>
              <a:rPr lang="en-US" sz="1600" dirty="0" smtClean="0">
                <a:solidFill>
                  <a:schemeClr val="accent1">
                    <a:lumMod val="75000"/>
                  </a:schemeClr>
                </a:solidFill>
              </a:rPr>
              <a:t>Format</a:t>
            </a:r>
            <a:endParaRPr lang="en-US" sz="1600" dirty="0">
              <a:solidFill>
                <a:schemeClr val="accent1">
                  <a:lumMod val="75000"/>
                </a:schemeClr>
              </a:solidFill>
            </a:endParaRP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Percent </a:t>
            </a:r>
            <a:r>
              <a:rPr lang="en-US" sz="1600" dirty="0" smtClean="0">
                <a:solidFill>
                  <a:schemeClr val="accent1">
                    <a:lumMod val="75000"/>
                  </a:schemeClr>
                </a:solidFill>
              </a:rPr>
              <a:t>Style</a:t>
            </a: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Comma </a:t>
            </a:r>
            <a:r>
              <a:rPr lang="en-US" sz="1600" dirty="0" smtClean="0">
                <a:solidFill>
                  <a:schemeClr val="accent1">
                    <a:lumMod val="75000"/>
                  </a:schemeClr>
                </a:solidFill>
              </a:rPr>
              <a:t>Style</a:t>
            </a: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Increase </a:t>
            </a:r>
            <a:r>
              <a:rPr lang="en-US" sz="1600" dirty="0" smtClean="0">
                <a:solidFill>
                  <a:schemeClr val="accent1">
                    <a:lumMod val="75000"/>
                  </a:schemeClr>
                </a:solidFill>
              </a:rPr>
              <a:t>Decimal</a:t>
            </a:r>
          </a:p>
          <a:p>
            <a:pPr marL="742950" lvl="1" indent="-285750" algn="just" eaLnBrk="0" hangingPunct="0">
              <a:lnSpc>
                <a:spcPct val="150000"/>
              </a:lnSpc>
              <a:buFont typeface="Arial" panose="020B0604020202020204" pitchFamily="34" charset="0"/>
              <a:buChar char="•"/>
            </a:pPr>
            <a:r>
              <a:rPr lang="en-US" sz="1600" dirty="0">
                <a:solidFill>
                  <a:schemeClr val="accent1">
                    <a:lumMod val="75000"/>
                  </a:schemeClr>
                </a:solidFill>
              </a:rPr>
              <a:t>Decrease </a:t>
            </a:r>
            <a:r>
              <a:rPr lang="en-US" sz="1600" dirty="0" smtClean="0">
                <a:solidFill>
                  <a:schemeClr val="accent1">
                    <a:lumMod val="75000"/>
                  </a:schemeClr>
                </a:solidFill>
              </a:rPr>
              <a:t>Decimal</a:t>
            </a:r>
          </a:p>
          <a:p>
            <a:pPr algn="just" eaLnBrk="0" hangingPunct="0">
              <a:lnSpc>
                <a:spcPct val="150000"/>
              </a:lnSpc>
            </a:pPr>
            <a:endParaRPr lang="en-US" sz="1600" dirty="0" smtClean="0">
              <a:solidFill>
                <a:schemeClr val="accent1">
                  <a:lumMod val="75000"/>
                </a:schemeClr>
              </a:solidFill>
            </a:endParaRPr>
          </a:p>
          <a:p>
            <a:pPr algn="just" eaLnBrk="0" hangingPunct="0">
              <a:lnSpc>
                <a:spcPct val="150000"/>
              </a:lnSpc>
            </a:pPr>
            <a:endParaRPr lang="en-US" sz="1600" dirty="0" smtClean="0">
              <a:solidFill>
                <a:schemeClr val="accent1">
                  <a:lumMod val="75000"/>
                </a:schemeClr>
              </a:solidFill>
            </a:endParaRPr>
          </a:p>
          <a:p>
            <a:pPr algn="just" eaLnBrk="0" hangingPunct="0">
              <a:lnSpc>
                <a:spcPct val="150000"/>
              </a:lnSpc>
            </a:pPr>
            <a:r>
              <a:rPr lang="en-US" sz="1600" b="1" dirty="0" smtClean="0">
                <a:solidFill>
                  <a:schemeClr val="accent1">
                    <a:lumMod val="75000"/>
                  </a:schemeClr>
                </a:solidFill>
              </a:rPr>
              <a:t>Home tab &gt; Number group (open) &gt; Format cells or</a:t>
            </a:r>
          </a:p>
          <a:p>
            <a:pPr algn="just" eaLnBrk="0" hangingPunct="0">
              <a:lnSpc>
                <a:spcPct val="150000"/>
              </a:lnSpc>
            </a:pPr>
            <a:r>
              <a:rPr lang="en-US" sz="1600" b="1" dirty="0" smtClean="0">
                <a:solidFill>
                  <a:schemeClr val="accent1">
                    <a:lumMod val="75000"/>
                  </a:schemeClr>
                </a:solidFill>
              </a:rPr>
              <a:t>Home </a:t>
            </a:r>
            <a:r>
              <a:rPr lang="en-US" sz="1600" b="1" dirty="0">
                <a:solidFill>
                  <a:schemeClr val="accent1">
                    <a:lumMod val="75000"/>
                  </a:schemeClr>
                </a:solidFill>
              </a:rPr>
              <a:t>tab &gt; </a:t>
            </a:r>
            <a:r>
              <a:rPr lang="en-US" sz="1600" b="1" dirty="0" smtClean="0">
                <a:solidFill>
                  <a:schemeClr val="accent1">
                    <a:lumMod val="75000"/>
                  </a:schemeClr>
                </a:solidFill>
              </a:rPr>
              <a:t>Alignment &gt; ab command</a:t>
            </a:r>
            <a:endParaRPr lang="en-US" sz="1600" b="1" dirty="0">
              <a:solidFill>
                <a:schemeClr val="accent1">
                  <a:lumMod val="75000"/>
                </a:schemeClr>
              </a:solidFill>
            </a:endParaRPr>
          </a:p>
          <a:p>
            <a:pPr algn="just" eaLnBrk="0" hangingPunct="0">
              <a:lnSpc>
                <a:spcPct val="150000"/>
              </a:lnSpc>
            </a:pPr>
            <a:endParaRPr lang="en-US" sz="1600" b="1" dirty="0">
              <a:solidFill>
                <a:schemeClr val="accent1">
                  <a:lumMod val="75000"/>
                </a:schemeClr>
              </a:solidFill>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895600"/>
            <a:ext cx="328751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0304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Adding comments to cells</a:t>
            </a:r>
          </a:p>
        </p:txBody>
      </p:sp>
      <p:sp>
        <p:nvSpPr>
          <p:cNvPr id="3" name="object 3"/>
          <p:cNvSpPr txBox="1"/>
          <p:nvPr/>
        </p:nvSpPr>
        <p:spPr>
          <a:xfrm>
            <a:off x="507492" y="1218459"/>
            <a:ext cx="7924800" cy="2198038"/>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add a comment to a cell, click the cell to select it. You can then navigate to the Review tab of the ribbon and select the New Comment command, or you can right-click on a cell and then choose Insert Comment. A new Comment box </a:t>
            </a:r>
            <a:r>
              <a:rPr lang="en-US" sz="1600" dirty="0" smtClean="0">
                <a:solidFill>
                  <a:schemeClr val="accent1">
                    <a:lumMod val="75000"/>
                  </a:schemeClr>
                </a:solidFill>
              </a:rPr>
              <a:t>opens.</a:t>
            </a:r>
            <a:r>
              <a:rPr lang="en-US" sz="1600" dirty="0">
                <a:solidFill>
                  <a:schemeClr val="accent1">
                    <a:lumMod val="75000"/>
                  </a:schemeClr>
                </a:solidFill>
              </a:rPr>
              <a:t> </a:t>
            </a:r>
            <a:r>
              <a:rPr lang="en-US" sz="1600" dirty="0" smtClean="0">
                <a:solidFill>
                  <a:schemeClr val="accent1">
                    <a:lumMod val="75000"/>
                  </a:schemeClr>
                </a:solidFill>
              </a:rPr>
              <a:t>To </a:t>
            </a:r>
            <a:r>
              <a:rPr lang="en-US" sz="1600" dirty="0">
                <a:solidFill>
                  <a:schemeClr val="accent1">
                    <a:lumMod val="75000"/>
                  </a:schemeClr>
                </a:solidFill>
              </a:rPr>
              <a:t>view a cell’s comment, place the mouse on the cell. The Comment box opens. If you want to edit the comment, you can select the cell containing the comment and then click the Edit Comment command in the Comments group. You can add or delete text as needed</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b="1" dirty="0" smtClean="0">
                <a:solidFill>
                  <a:schemeClr val="accent1">
                    <a:lumMod val="75000"/>
                  </a:schemeClr>
                </a:solidFill>
              </a:rPr>
              <a:t>Select cell &gt; Review tab &gt; New Comment</a:t>
            </a:r>
            <a:endParaRPr lang="en-US" sz="1600" b="1" dirty="0">
              <a:solidFill>
                <a:schemeClr val="accent1">
                  <a:lumMod val="75000"/>
                </a:schemeClr>
              </a:solidFill>
            </a:endParaRPr>
          </a:p>
          <a:p>
            <a:pPr algn="just" eaLnBrk="0" hangingPunct="0"/>
            <a:endParaRPr lang="en-US" sz="1400" dirty="0">
              <a:solidFill>
                <a:schemeClr val="accent1">
                  <a:lumMod val="75000"/>
                </a:schemeClr>
              </a:solidFill>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582510"/>
            <a:ext cx="6172200" cy="2818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20167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themes</a:t>
            </a:r>
          </a:p>
        </p:txBody>
      </p:sp>
      <p:sp>
        <p:nvSpPr>
          <p:cNvPr id="3" name="object 3"/>
          <p:cNvSpPr txBox="1"/>
          <p:nvPr/>
        </p:nvSpPr>
        <p:spPr>
          <a:xfrm>
            <a:off x="533400" y="1676400"/>
            <a:ext cx="4405149" cy="173637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Themes gallery is accessed using the Themes command, which is available in the Themes group on the ribbon’s Page Layout tab. The Themes group also houses the Colors, Fonts, and Eﬀects </a:t>
            </a:r>
            <a:r>
              <a:rPr lang="en-US" sz="1600" dirty="0" smtClean="0">
                <a:solidFill>
                  <a:schemeClr val="accent1">
                    <a:lumMod val="75000"/>
                  </a:schemeClr>
                </a:solidFill>
              </a:rPr>
              <a:t>commands.</a:t>
            </a:r>
            <a:endParaRPr lang="en-US" sz="1600" dirty="0">
              <a:solidFill>
                <a:schemeClr val="accent1">
                  <a:lumMod val="75000"/>
                </a:schemeClr>
              </a:solidFill>
            </a:endParaRPr>
          </a:p>
          <a:p>
            <a:pPr algn="just"/>
            <a:endParaRPr lang="en-US" sz="1600" dirty="0" smtClean="0">
              <a:solidFill>
                <a:schemeClr val="accent1">
                  <a:lumMod val="75000"/>
                </a:schemeClr>
              </a:solidFill>
            </a:endParaRPr>
          </a:p>
          <a:p>
            <a:pPr algn="just"/>
            <a:r>
              <a:rPr lang="en-US" altLang="en-US" sz="1600" b="1" dirty="0" smtClean="0">
                <a:solidFill>
                  <a:schemeClr val="accent1">
                    <a:lumMod val="75000"/>
                  </a:schemeClr>
                </a:solidFill>
              </a:rPr>
              <a:t>Page layout tab &gt; Themes</a:t>
            </a:r>
            <a:endParaRPr lang="en-US" altLang="en-US" sz="1600" b="1" dirty="0">
              <a:solidFill>
                <a:schemeClr val="accent1">
                  <a:lumMod val="75000"/>
                </a:schemeClr>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0012" y="1219200"/>
            <a:ext cx="3195679" cy="537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03381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Adding cell borders</a:t>
            </a:r>
          </a:p>
        </p:txBody>
      </p:sp>
      <p:sp>
        <p:nvSpPr>
          <p:cNvPr id="3" name="object 3"/>
          <p:cNvSpPr txBox="1"/>
          <p:nvPr/>
        </p:nvSpPr>
        <p:spPr>
          <a:xfrm>
            <a:off x="315310" y="2286000"/>
            <a:ext cx="4409090" cy="124393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Borders command provides a gallery of diﬀerent border types, such as Bottom Border, Top Border, All Borders, and so on. </a:t>
            </a:r>
            <a:endParaRPr lang="en-US" sz="1600" dirty="0" smtClean="0">
              <a:solidFill>
                <a:schemeClr val="accent1">
                  <a:lumMod val="75000"/>
                </a:schemeClr>
              </a:solidFill>
            </a:endParaRPr>
          </a:p>
          <a:p>
            <a:pPr algn="just" eaLnBrk="0" hangingPunct="0"/>
            <a:endParaRPr lang="en-US" sz="1600" b="1" dirty="0">
              <a:solidFill>
                <a:schemeClr val="accent1">
                  <a:lumMod val="75000"/>
                </a:schemeClr>
              </a:solidFill>
            </a:endParaRPr>
          </a:p>
          <a:p>
            <a:pPr algn="just" eaLnBrk="0" hangingPunct="0"/>
            <a:r>
              <a:rPr lang="en-US" sz="1600" b="1" dirty="0" smtClean="0">
                <a:solidFill>
                  <a:schemeClr val="accent1">
                    <a:lumMod val="75000"/>
                  </a:schemeClr>
                </a:solidFill>
              </a:rPr>
              <a:t>Home tab &gt; Borders</a:t>
            </a:r>
            <a:endParaRPr lang="en-US" sz="1600" b="1" dirty="0">
              <a:solidFill>
                <a:schemeClr val="accent1">
                  <a:lumMod val="75000"/>
                </a:schemeClr>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295400"/>
            <a:ext cx="3577734" cy="519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24567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algn="just" eaLnBrk="0" hangingPunct="0"/>
            <a:r>
              <a:rPr lang="en-US" dirty="0">
                <a:solidFill>
                  <a:schemeClr val="accent1">
                    <a:lumMod val="75000"/>
                  </a:schemeClr>
                </a:solidFill>
                <a:latin typeface="Comic Sans MS" panose="030F0702030302020204" pitchFamily="66" charset="0"/>
              </a:rPr>
              <a:t>Using cell styles and the Format  Painter</a:t>
            </a:r>
          </a:p>
        </p:txBody>
      </p:sp>
      <p:sp>
        <p:nvSpPr>
          <p:cNvPr id="3" name="object 3"/>
          <p:cNvSpPr txBox="1"/>
          <p:nvPr/>
        </p:nvSpPr>
        <p:spPr>
          <a:xfrm>
            <a:off x="457200" y="1295400"/>
            <a:ext cx="8229600" cy="2228815"/>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Excel provides speciﬁc cell styles for helping you denote cells that need to be checked or results that should be considered bad or good.</a:t>
            </a:r>
          </a:p>
          <a:p>
            <a:pPr algn="just"/>
            <a:r>
              <a:rPr lang="en-US" sz="1600" dirty="0">
                <a:solidFill>
                  <a:schemeClr val="accent1">
                    <a:lumMod val="75000"/>
                  </a:schemeClr>
                </a:solidFill>
              </a:rPr>
              <a:t>Other cell styles are provided speciﬁcally for headings and results, and there are also cell styles provided for number formatting</a:t>
            </a:r>
            <a:r>
              <a:rPr lang="en-US" sz="1600" dirty="0" smtClean="0">
                <a:solidFill>
                  <a:schemeClr val="accent1">
                    <a:lumMod val="75000"/>
                  </a:schemeClr>
                </a:solidFill>
              </a:rPr>
              <a:t>. Other </a:t>
            </a:r>
            <a:r>
              <a:rPr lang="en-US" sz="1600" dirty="0">
                <a:solidFill>
                  <a:schemeClr val="accent1">
                    <a:lumMod val="75000"/>
                  </a:schemeClr>
                </a:solidFill>
              </a:rPr>
              <a:t>cell styles are provided speciﬁcally for headings and results, and there are also cell styles provided for number formatting. The Cell Styles command is in the Styles group on the Home tab. When you select the Cell Styles command, the Cell Styles gallery </a:t>
            </a:r>
            <a:r>
              <a:rPr lang="en-US" sz="1600" dirty="0" smtClean="0">
                <a:solidFill>
                  <a:schemeClr val="accent1">
                    <a:lumMod val="75000"/>
                  </a:schemeClr>
                </a:solidFill>
              </a:rPr>
              <a:t>opens.</a:t>
            </a:r>
          </a:p>
          <a:p>
            <a:pPr algn="just"/>
            <a:endParaRPr lang="en-US" sz="1600" b="1" dirty="0">
              <a:solidFill>
                <a:schemeClr val="accent1">
                  <a:lumMod val="75000"/>
                </a:schemeClr>
              </a:solidFill>
            </a:endParaRPr>
          </a:p>
          <a:p>
            <a:pPr algn="just" eaLnBrk="0" hangingPunct="0"/>
            <a:r>
              <a:rPr lang="en-US" sz="1600" b="1" dirty="0" smtClean="0">
                <a:solidFill>
                  <a:schemeClr val="accent1">
                    <a:lumMod val="75000"/>
                  </a:schemeClr>
                </a:solidFill>
              </a:rPr>
              <a:t>Home tab &gt; Cell Styles</a:t>
            </a:r>
            <a:endParaRPr lang="en-US" sz="1600" b="1" dirty="0">
              <a:solidFill>
                <a:schemeClr val="accent1">
                  <a:lumMod val="75000"/>
                </a:schemeClr>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886200"/>
            <a:ext cx="5146675" cy="2733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73574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cell style</a:t>
            </a:r>
          </a:p>
        </p:txBody>
      </p:sp>
      <p:sp>
        <p:nvSpPr>
          <p:cNvPr id="3" name="object 3"/>
          <p:cNvSpPr txBox="1"/>
          <p:nvPr/>
        </p:nvSpPr>
        <p:spPr>
          <a:xfrm>
            <a:off x="457200" y="2133600"/>
            <a:ext cx="4419600" cy="2475037"/>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create a cell style by example. Format a cell or range of cells with font and cell attributes (such as font settings and border and ﬁll settings); you can also specify number formatting for the style by formatting the contents of the cell (or the cell range) with the diﬀerent number formats provided in the Number group or the Number Format gallery.</a:t>
            </a:r>
          </a:p>
          <a:p>
            <a:pPr algn="just" eaLnBrk="0" hangingPunct="0"/>
            <a:endParaRPr lang="en-US" sz="1600" b="1" dirty="0">
              <a:solidFill>
                <a:schemeClr val="accent1">
                  <a:lumMod val="75000"/>
                </a:schemeClr>
              </a:solidFill>
            </a:endParaRPr>
          </a:p>
          <a:p>
            <a:pPr algn="just" eaLnBrk="0" hangingPunct="0"/>
            <a:r>
              <a:rPr lang="en-US" sz="1600" b="1" dirty="0">
                <a:solidFill>
                  <a:schemeClr val="accent1">
                    <a:lumMod val="75000"/>
                  </a:schemeClr>
                </a:solidFill>
              </a:rPr>
              <a:t>Select </a:t>
            </a:r>
            <a:r>
              <a:rPr lang="en-US" sz="1600" b="1" dirty="0" smtClean="0">
                <a:solidFill>
                  <a:schemeClr val="accent1">
                    <a:lumMod val="75000"/>
                  </a:schemeClr>
                </a:solidFill>
              </a:rPr>
              <a:t>cell </a:t>
            </a:r>
            <a:r>
              <a:rPr lang="en-US" sz="1600" b="1" dirty="0">
                <a:solidFill>
                  <a:schemeClr val="accent1">
                    <a:lumMod val="75000"/>
                  </a:schemeClr>
                </a:solidFill>
              </a:rPr>
              <a:t>&gt; </a:t>
            </a:r>
            <a:r>
              <a:rPr lang="en-US" sz="1600" b="1" dirty="0" smtClean="0">
                <a:solidFill>
                  <a:schemeClr val="accent1">
                    <a:lumMod val="75000"/>
                  </a:schemeClr>
                </a:solidFill>
              </a:rPr>
              <a:t>Cell Style &gt; New Cell Style</a:t>
            </a:r>
            <a:endParaRPr lang="en-US" sz="1600" b="1" dirty="0">
              <a:solidFill>
                <a:schemeClr val="accent1">
                  <a:lumMod val="75000"/>
                </a:schemeClr>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600200"/>
            <a:ext cx="33305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96731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a:t>
            </a:r>
            <a:r>
              <a:rPr lang="en-US" dirty="0" smtClean="0">
                <a:latin typeface="Comic Sans MS" panose="030F0702030302020204" pitchFamily="66" charset="0"/>
              </a:rPr>
              <a:t>conditional formatting</a:t>
            </a:r>
            <a:endParaRPr lang="en-US" dirty="0">
              <a:latin typeface="Comic Sans MS" panose="030F0702030302020204" pitchFamily="66" charset="0"/>
            </a:endParaRPr>
          </a:p>
        </p:txBody>
      </p:sp>
      <p:sp>
        <p:nvSpPr>
          <p:cNvPr id="3" name="object 3"/>
          <p:cNvSpPr txBox="1"/>
          <p:nvPr/>
        </p:nvSpPr>
        <p:spPr>
          <a:xfrm>
            <a:off x="533400" y="1752600"/>
            <a:ext cx="5029200" cy="173637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When you select the Conditional Formatting command in the Styles group, the Conditional Formatting gallery opens. It provides you with several options related to applying conditional </a:t>
            </a:r>
            <a:r>
              <a:rPr lang="en-US" sz="1600" dirty="0" smtClean="0">
                <a:solidFill>
                  <a:schemeClr val="accent1">
                    <a:lumMod val="75000"/>
                  </a:schemeClr>
                </a:solidFill>
              </a:rPr>
              <a:t>formatting to the selected range of cells in the sheet.</a:t>
            </a:r>
            <a:endParaRPr lang="en-US" sz="1600" dirty="0">
              <a:solidFill>
                <a:schemeClr val="accent1">
                  <a:lumMod val="75000"/>
                </a:schemeClr>
              </a:solidFill>
            </a:endParaRPr>
          </a:p>
          <a:p>
            <a:pPr eaLnBrk="0" hangingPunct="0"/>
            <a:endParaRPr lang="en-US" altLang="en-US" sz="1600" dirty="0">
              <a:solidFill>
                <a:schemeClr val="accent1">
                  <a:lumMod val="75000"/>
                </a:schemeClr>
              </a:solidFill>
            </a:endParaRPr>
          </a:p>
          <a:p>
            <a:pPr algn="just">
              <a:spcBef>
                <a:spcPct val="0"/>
              </a:spcBef>
            </a:pPr>
            <a:r>
              <a:rPr lang="en-US" altLang="en-US" sz="1600" b="1" dirty="0" smtClean="0">
                <a:solidFill>
                  <a:schemeClr val="accent1">
                    <a:lumMod val="75000"/>
                  </a:schemeClr>
                </a:solidFill>
              </a:rPr>
              <a:t>Select cells &gt; Home tab &gt; Conditional formatting</a:t>
            </a:r>
            <a:endParaRPr lang="en-US" altLang="en-US" sz="1600" b="1" dirty="0">
              <a:solidFill>
                <a:schemeClr val="accent1">
                  <a:lumMod val="75000"/>
                </a:schemeClr>
              </a:solidFill>
            </a:endParaRP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0" y="1219200"/>
            <a:ext cx="26543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61560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Using data bars</a:t>
            </a:r>
            <a:endParaRPr lang="en-US" dirty="0">
              <a:latin typeface="Comic Sans MS" panose="030F0702030302020204" pitchFamily="66" charset="0"/>
            </a:endParaRPr>
          </a:p>
        </p:txBody>
      </p:sp>
      <p:sp>
        <p:nvSpPr>
          <p:cNvPr id="3" name="object 3"/>
          <p:cNvSpPr txBox="1"/>
          <p:nvPr/>
        </p:nvSpPr>
        <p:spPr>
          <a:xfrm>
            <a:off x="457200" y="2057400"/>
            <a:ext cx="4343400" cy="321370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If </a:t>
            </a:r>
            <a:r>
              <a:rPr lang="en-US" sz="1600" dirty="0">
                <a:solidFill>
                  <a:schemeClr val="accent1">
                    <a:lumMod val="75000"/>
                  </a:schemeClr>
                </a:solidFill>
              </a:rPr>
              <a:t>you like to visually compare data in a range of cells without resorting to a chart or </a:t>
            </a:r>
            <a:r>
              <a:rPr lang="en-US" sz="1600" dirty="0" err="1">
                <a:solidFill>
                  <a:schemeClr val="accent1">
                    <a:lumMod val="75000"/>
                  </a:schemeClr>
                </a:solidFill>
              </a:rPr>
              <a:t>sparklines</a:t>
            </a:r>
            <a:r>
              <a:rPr lang="en-US" sz="1600" dirty="0">
                <a:solidFill>
                  <a:schemeClr val="accent1">
                    <a:lumMod val="75000"/>
                  </a:schemeClr>
                </a:solidFill>
              </a:rPr>
              <a:t>, you can take advantage of the data bars provided in the Conditional Formatting gallery. </a:t>
            </a:r>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data bars are actually bar graphs that are placed in the cells of the selected range. This enables you to quickly see how the various values in the range compare with each other. </a:t>
            </a:r>
            <a:endParaRPr lang="en-US" sz="1600" dirty="0" smtClean="0">
              <a:solidFill>
                <a:schemeClr val="accent1">
                  <a:lumMod val="75000"/>
                </a:schemeClr>
              </a:solidFill>
            </a:endParaRPr>
          </a:p>
          <a:p>
            <a:pPr algn="just" eaLnBrk="0" hangingPunct="0"/>
            <a:endParaRPr lang="en-US" sz="1600" dirty="0" smtClean="0">
              <a:solidFill>
                <a:schemeClr val="accent1">
                  <a:lumMod val="75000"/>
                </a:schemeClr>
              </a:solidFill>
            </a:endParaRPr>
          </a:p>
          <a:p>
            <a:pPr algn="just" eaLnBrk="0" hangingPunct="0">
              <a:lnSpc>
                <a:spcPct val="150000"/>
              </a:lnSpc>
            </a:pPr>
            <a:r>
              <a:rPr lang="en-US" altLang="en-US" sz="1600" b="1" dirty="0">
                <a:solidFill>
                  <a:schemeClr val="accent1">
                    <a:lumMod val="75000"/>
                  </a:schemeClr>
                </a:solidFill>
              </a:rPr>
              <a:t>Select </a:t>
            </a:r>
            <a:r>
              <a:rPr lang="en-US" altLang="en-US" sz="1600" b="1" dirty="0" smtClean="0">
                <a:solidFill>
                  <a:schemeClr val="accent1">
                    <a:lumMod val="75000"/>
                  </a:schemeClr>
                </a:solidFill>
              </a:rPr>
              <a:t>cells </a:t>
            </a:r>
            <a:r>
              <a:rPr lang="en-US" sz="1600" b="1" dirty="0" smtClean="0">
                <a:solidFill>
                  <a:schemeClr val="accent1">
                    <a:lumMod val="75000"/>
                  </a:schemeClr>
                </a:solidFill>
              </a:rPr>
              <a:t>&gt; Home tab &gt; </a:t>
            </a:r>
          </a:p>
          <a:p>
            <a:pPr algn="just" eaLnBrk="0" hangingPunct="0">
              <a:lnSpc>
                <a:spcPct val="150000"/>
              </a:lnSpc>
            </a:pPr>
            <a:r>
              <a:rPr lang="en-US" sz="1600" b="1" dirty="0" smtClean="0">
                <a:solidFill>
                  <a:schemeClr val="accent1">
                    <a:lumMod val="75000"/>
                  </a:schemeClr>
                </a:solidFill>
              </a:rPr>
              <a:t>Conditional Formatting &gt; Data bars</a:t>
            </a:r>
            <a:endParaRPr lang="en-US" sz="1600" b="1" dirty="0">
              <a:solidFill>
                <a:schemeClr val="accent1">
                  <a:lumMod val="75000"/>
                </a:schemeClr>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447800"/>
            <a:ext cx="3530755"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6469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289641"/>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conditional formatting rules</a:t>
            </a:r>
          </a:p>
        </p:txBody>
      </p:sp>
      <p:sp>
        <p:nvSpPr>
          <p:cNvPr id="3" name="object 3"/>
          <p:cNvSpPr txBox="1"/>
          <p:nvPr/>
        </p:nvSpPr>
        <p:spPr>
          <a:xfrm>
            <a:off x="671512" y="1219200"/>
            <a:ext cx="8077200" cy="1490152"/>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New rules are created in the New Formatting Rule dialog box. You can open this dialog box by selecting New Rule in the Conditional Formatting gallery, or you can select More Rules when you have accessed a rule category, such as Highlight Cells Rules or Color Scales</a:t>
            </a:r>
            <a:r>
              <a:rPr lang="en-US" sz="1600" dirty="0" smtClean="0">
                <a:solidFill>
                  <a:schemeClr val="accent1">
                    <a:lumMod val="75000"/>
                  </a:schemeClr>
                </a:solidFill>
              </a:rPr>
              <a:t>.</a:t>
            </a: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Home tab &gt; Conditional Formatting &gt; New rule</a:t>
            </a:r>
            <a:endParaRPr lang="en-US" sz="1600" b="1" dirty="0">
              <a:solidFill>
                <a:schemeClr val="accent1">
                  <a:lumMod val="75000"/>
                </a:schemeClr>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971799"/>
            <a:ext cx="5457825" cy="371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40926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cells</a:t>
            </a:r>
          </a:p>
        </p:txBody>
      </p:sp>
      <p:sp>
        <p:nvSpPr>
          <p:cNvPr id="3" name="object 3"/>
          <p:cNvSpPr txBox="1"/>
          <p:nvPr/>
        </p:nvSpPr>
        <p:spPr>
          <a:xfrm>
            <a:off x="609600" y="1371600"/>
            <a:ext cx="7924800" cy="173637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insert single or multiple cells into a sheet. Inserting cells causes the data in the adjacent cells to shift down a row or over a column (to the right) to create a space for the new cells.</a:t>
            </a:r>
          </a:p>
          <a:p>
            <a:pPr algn="just"/>
            <a:r>
              <a:rPr lang="en-US" sz="1600" dirty="0">
                <a:solidFill>
                  <a:schemeClr val="accent1">
                    <a:lumMod val="75000"/>
                  </a:schemeClr>
                </a:solidFill>
              </a:rPr>
              <a:t>The number of cells inserted depends on the number of cells you select before inserting the new cells. </a:t>
            </a:r>
            <a:endParaRPr lang="en-US" sz="1600" dirty="0" smtClean="0">
              <a:solidFill>
                <a:schemeClr val="accent1">
                  <a:lumMod val="75000"/>
                </a:schemeClr>
              </a:solidFill>
            </a:endParaRPr>
          </a:p>
          <a:p>
            <a:endParaRPr lang="en-US" sz="1600" dirty="0" smtClean="0">
              <a:solidFill>
                <a:schemeClr val="accent1">
                  <a:lumMod val="75000"/>
                </a:schemeClr>
              </a:solidFill>
            </a:endParaRPr>
          </a:p>
          <a:p>
            <a:pPr algn="just">
              <a:spcBef>
                <a:spcPct val="0"/>
              </a:spcBef>
            </a:pPr>
            <a:r>
              <a:rPr lang="en-US" altLang="en-US" sz="1600" b="1" dirty="0" smtClean="0">
                <a:solidFill>
                  <a:schemeClr val="accent1">
                    <a:lumMod val="75000"/>
                  </a:schemeClr>
                </a:solidFill>
              </a:rPr>
              <a:t>Home tab &gt; Insert &gt; Insert cells</a:t>
            </a:r>
            <a:endParaRPr lang="en-US" altLang="en-US" sz="1600" b="1" dirty="0">
              <a:solidFill>
                <a:schemeClr val="accent1">
                  <a:lumMod val="75000"/>
                </a:schemeClr>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669" y="3657601"/>
            <a:ext cx="2824331"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00217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algn="just" eaLnBrk="0" hangingPunct="0"/>
            <a:r>
              <a:rPr lang="en-US" dirty="0" smtClean="0">
                <a:solidFill>
                  <a:schemeClr val="accent1">
                    <a:lumMod val="75000"/>
                  </a:schemeClr>
                </a:solidFill>
                <a:latin typeface="Comic Sans MS" panose="030F0702030302020204" pitchFamily="66" charset="0"/>
              </a:rPr>
              <a:t>Managing </a:t>
            </a:r>
            <a:r>
              <a:rPr lang="en-US" dirty="0">
                <a:solidFill>
                  <a:schemeClr val="accent1">
                    <a:lumMod val="75000"/>
                  </a:schemeClr>
                </a:solidFill>
                <a:latin typeface="Comic Sans MS" panose="030F0702030302020204" pitchFamily="66" charset="0"/>
              </a:rPr>
              <a:t>columns and rows</a:t>
            </a:r>
          </a:p>
        </p:txBody>
      </p:sp>
      <p:sp>
        <p:nvSpPr>
          <p:cNvPr id="3" name="object 3"/>
          <p:cNvSpPr txBox="1"/>
          <p:nvPr/>
        </p:nvSpPr>
        <p:spPr>
          <a:xfrm>
            <a:off x="457200" y="1371600"/>
            <a:ext cx="8229600" cy="5183470"/>
          </a:xfrm>
          <a:prstGeom prst="rect">
            <a:avLst/>
          </a:prstGeom>
        </p:spPr>
        <p:txBody>
          <a:bodyPr vert="horz" wrap="square" lIns="0" tIns="12700" rIns="0" bIns="0" rtlCol="0">
            <a:spAutoFit/>
          </a:bodyPr>
          <a:lstStyle/>
          <a:p>
            <a:pPr algn="just" eaLnBrk="0" hangingPunct="0"/>
            <a:r>
              <a:rPr lang="en-US" sz="1600" b="1" dirty="0">
                <a:solidFill>
                  <a:schemeClr val="accent1">
                    <a:lumMod val="75000"/>
                  </a:schemeClr>
                </a:solidFill>
              </a:rPr>
              <a:t>Inserting columns and rows</a:t>
            </a:r>
            <a:endParaRPr lang="en-US" sz="1600" dirty="0">
              <a:solidFill>
                <a:schemeClr val="accent1">
                  <a:lumMod val="75000"/>
                </a:schemeClr>
              </a:solidFill>
            </a:endParaRPr>
          </a:p>
          <a:p>
            <a:pPr algn="just" eaLnBrk="0" hangingPunct="0"/>
            <a:r>
              <a:rPr lang="en-US" sz="1600" dirty="0" smtClean="0">
                <a:solidFill>
                  <a:schemeClr val="accent1">
                    <a:lumMod val="75000"/>
                  </a:schemeClr>
                </a:solidFill>
              </a:rPr>
              <a:t>For </a:t>
            </a:r>
            <a:r>
              <a:rPr lang="en-US" sz="1600" dirty="0">
                <a:solidFill>
                  <a:schemeClr val="accent1">
                    <a:lumMod val="75000"/>
                  </a:schemeClr>
                </a:solidFill>
              </a:rPr>
              <a:t>inserting a single row, click in a cell in the row that you want to insert the new row below. Click the Insert command and select Insert Sheet Rows. The new row is inserted below the current row.</a:t>
            </a:r>
          </a:p>
          <a:p>
            <a:pPr algn="just" eaLnBrk="0" hangingPunct="0"/>
            <a:r>
              <a:rPr lang="en-US" sz="1600" dirty="0">
                <a:solidFill>
                  <a:schemeClr val="accent1">
                    <a:lumMod val="75000"/>
                  </a:schemeClr>
                </a:solidFill>
              </a:rPr>
              <a:t>To insert multiple columns or rows, select the number of columns or rows you want to insert. In the case of columns, drag over the column headings; for rows, drag over the row numbers. </a:t>
            </a:r>
            <a:endParaRPr lang="en-US" sz="1600" dirty="0" smtClean="0">
              <a:solidFill>
                <a:schemeClr val="accent1">
                  <a:lumMod val="75000"/>
                </a:schemeClr>
              </a:solidFill>
            </a:endParaRPr>
          </a:p>
          <a:p>
            <a:pPr algn="just" eaLnBrk="0" hangingPunct="0"/>
            <a:endParaRPr lang="en-US" sz="1600" b="1" dirty="0">
              <a:solidFill>
                <a:schemeClr val="accent1">
                  <a:lumMod val="75000"/>
                </a:schemeClr>
              </a:solidFill>
            </a:endParaRPr>
          </a:p>
          <a:p>
            <a:pPr algn="just" eaLnBrk="0" hangingPunct="0"/>
            <a:r>
              <a:rPr lang="en-US" sz="1600" b="1" dirty="0" smtClean="0">
                <a:solidFill>
                  <a:schemeClr val="accent1">
                    <a:lumMod val="75000"/>
                  </a:schemeClr>
                </a:solidFill>
              </a:rPr>
              <a:t>Deleting </a:t>
            </a:r>
            <a:r>
              <a:rPr lang="en-US" sz="1600" b="1" dirty="0">
                <a:solidFill>
                  <a:schemeClr val="accent1">
                    <a:lumMod val="75000"/>
                  </a:schemeClr>
                </a:solidFill>
              </a:rPr>
              <a:t>columns and rows</a:t>
            </a:r>
            <a:endParaRPr lang="en-US" sz="1600" dirty="0">
              <a:solidFill>
                <a:schemeClr val="accent1">
                  <a:lumMod val="75000"/>
                </a:schemeClr>
              </a:solidFill>
            </a:endParaRPr>
          </a:p>
          <a:p>
            <a:pPr algn="just" eaLnBrk="0" hangingPunct="0"/>
            <a:r>
              <a:rPr lang="en-US" sz="1600" dirty="0">
                <a:solidFill>
                  <a:schemeClr val="accent1">
                    <a:lumMod val="75000"/>
                  </a:schemeClr>
                </a:solidFill>
              </a:rPr>
              <a:t>You can also delete a column or row from the sheet. In either case, select the column or row you want to remove by clicking the appropriate column or row heading (drag to select multiple columns or rows).</a:t>
            </a:r>
          </a:p>
          <a:p>
            <a:pPr algn="just" eaLnBrk="0" hangingPunct="0"/>
            <a:r>
              <a:rPr lang="en-US" sz="1600" dirty="0">
                <a:solidFill>
                  <a:schemeClr val="accent1">
                    <a:lumMod val="75000"/>
                  </a:schemeClr>
                </a:solidFill>
              </a:rPr>
              <a:t>Select the Delete command in the Cells group and then select Delete Sheet Columns or Delete Sheet Rows, as needed. </a:t>
            </a:r>
            <a:endParaRPr lang="en-US" sz="1600" dirty="0" smtClean="0">
              <a:solidFill>
                <a:schemeClr val="accent1">
                  <a:lumMod val="75000"/>
                </a:schemeClr>
              </a:solidFill>
            </a:endParaRPr>
          </a:p>
          <a:p>
            <a:pPr algn="just" eaLnBrk="0" hangingPunct="0"/>
            <a:r>
              <a:rPr lang="en-US" sz="1600" dirty="0">
                <a:solidFill>
                  <a:schemeClr val="accent1">
                    <a:lumMod val="75000"/>
                  </a:schemeClr>
                </a:solidFill>
              </a:rPr>
              <a:t> </a:t>
            </a:r>
          </a:p>
          <a:p>
            <a:pPr algn="just" eaLnBrk="0" hangingPunct="0"/>
            <a:r>
              <a:rPr lang="en-US" sz="1600" b="1" dirty="0">
                <a:solidFill>
                  <a:schemeClr val="accent1">
                    <a:lumMod val="75000"/>
                  </a:schemeClr>
                </a:solidFill>
              </a:rPr>
              <a:t>Hiding columns and rows</a:t>
            </a:r>
            <a:endParaRPr lang="en-US" sz="1600" dirty="0">
              <a:solidFill>
                <a:schemeClr val="accent1">
                  <a:lumMod val="75000"/>
                </a:schemeClr>
              </a:solidFill>
            </a:endParaRPr>
          </a:p>
          <a:p>
            <a:pPr algn="just" eaLnBrk="0" hangingPunct="0"/>
            <a:r>
              <a:rPr lang="en-US" sz="1600" dirty="0" smtClean="0">
                <a:solidFill>
                  <a:schemeClr val="accent1">
                    <a:lumMod val="75000"/>
                  </a:schemeClr>
                </a:solidFill>
              </a:rPr>
              <a:t>In </a:t>
            </a:r>
            <a:r>
              <a:rPr lang="en-US" sz="1600" dirty="0">
                <a:solidFill>
                  <a:schemeClr val="accent1">
                    <a:lumMod val="75000"/>
                  </a:schemeClr>
                </a:solidFill>
              </a:rPr>
              <a:t>the case of columns, select the columns you want to hide. Select the Format command and then point at the Hide &amp; Unhide option. Select Hide Columns, and the columns are hidden</a:t>
            </a:r>
            <a:r>
              <a:rPr lang="en-US" sz="1600" dirty="0" smtClean="0">
                <a:solidFill>
                  <a:schemeClr val="accent1">
                    <a:lumMod val="75000"/>
                  </a:schemeClr>
                </a:solidFill>
              </a:rPr>
              <a:t>. The </a:t>
            </a:r>
            <a:r>
              <a:rPr lang="en-US" sz="1600" dirty="0">
                <a:solidFill>
                  <a:schemeClr val="accent1">
                    <a:lumMod val="75000"/>
                  </a:schemeClr>
                </a:solidFill>
              </a:rPr>
              <a:t>same process can be used for rows. </a:t>
            </a:r>
            <a:endParaRPr lang="en-US" sz="1600" dirty="0" smtClean="0">
              <a:solidFill>
                <a:schemeClr val="accent1">
                  <a:lumMod val="75000"/>
                </a:schemeClr>
              </a:solidFill>
            </a:endParaRPr>
          </a:p>
          <a:p>
            <a:pPr algn="just" eaLnBrk="0" hangingPunct="0"/>
            <a:endParaRPr lang="en-US" altLang="en-US" sz="1600" dirty="0">
              <a:solidFill>
                <a:schemeClr val="accent1">
                  <a:lumMod val="75000"/>
                </a:schemeClr>
              </a:solidFill>
            </a:endParaRPr>
          </a:p>
          <a:p>
            <a:pPr algn="just" eaLnBrk="0" hangingPunct="0"/>
            <a:r>
              <a:rPr lang="en-US" altLang="en-US" sz="1600" b="1" dirty="0" smtClean="0">
                <a:solidFill>
                  <a:schemeClr val="accent1">
                    <a:lumMod val="75000"/>
                  </a:schemeClr>
                </a:solidFill>
              </a:rPr>
              <a:t>Home &gt; Cells &gt; Insert/ Delete/ Format</a:t>
            </a:r>
            <a:endParaRPr lang="en-US" altLang="en-US" sz="1600" b="1" dirty="0">
              <a:solidFill>
                <a:schemeClr val="accent1">
                  <a:lumMod val="75000"/>
                </a:schemeClr>
              </a:solidFill>
            </a:endParaRPr>
          </a:p>
        </p:txBody>
      </p:sp>
    </p:spTree>
    <p:extLst>
      <p:ext uri="{BB962C8B-B14F-4D97-AF65-F5344CB8AC3E}">
        <p14:creationId xmlns:p14="http://schemas.microsoft.com/office/powerpoint/2010/main" val="36452988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range names from selections</a:t>
            </a:r>
          </a:p>
        </p:txBody>
      </p:sp>
      <p:sp>
        <p:nvSpPr>
          <p:cNvPr id="3" name="object 3"/>
          <p:cNvSpPr txBox="1"/>
          <p:nvPr/>
        </p:nvSpPr>
        <p:spPr>
          <a:xfrm>
            <a:off x="609600" y="1295400"/>
            <a:ext cx="7924800" cy="2228815"/>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You </a:t>
            </a:r>
            <a:r>
              <a:rPr lang="en-US" sz="1600" dirty="0">
                <a:solidFill>
                  <a:schemeClr val="accent1">
                    <a:lumMod val="75000"/>
                  </a:schemeClr>
                </a:solidFill>
              </a:rPr>
              <a:t>can also create range names based on the column labels or row labels that you have created in the worksheet. For example, if you have several columns of numbers, such as sales ﬁgures for diﬀerent regions by month (January, February, March), you can quickly create a range name for each of the columns using the column labels. To create range names from row or column labels, select the ranges (either in columns or rows) and make sure that you include the row or column containing the descriptive labels for the range. Then click the Create From Selection command in the Deﬁne Names groups</a:t>
            </a:r>
            <a:r>
              <a:rPr lang="en-US" sz="1600" dirty="0" smtClean="0">
                <a:solidFill>
                  <a:schemeClr val="accent1">
                    <a:lumMod val="75000"/>
                  </a:schemeClr>
                </a:solidFill>
              </a:rPr>
              <a:t>.</a:t>
            </a:r>
          </a:p>
          <a:p>
            <a:pPr algn="just"/>
            <a:endParaRPr lang="en-US" sz="1600" dirty="0">
              <a:solidFill>
                <a:schemeClr val="accent1">
                  <a:lumMod val="75000"/>
                </a:schemeClr>
              </a:solidFill>
            </a:endParaRPr>
          </a:p>
          <a:p>
            <a:pPr algn="just"/>
            <a:r>
              <a:rPr lang="en-US" sz="1600" b="1" dirty="0" smtClean="0">
                <a:solidFill>
                  <a:schemeClr val="accent1">
                    <a:lumMod val="75000"/>
                  </a:schemeClr>
                </a:solidFill>
              </a:rPr>
              <a:t>Select row/column &gt; Formulas &gt; Create From Selection &gt; Define Names group </a:t>
            </a:r>
            <a:endParaRPr lang="en-US" sz="1600" b="1" dirty="0">
              <a:solidFill>
                <a:schemeClr val="accent1">
                  <a:lumMod val="75000"/>
                </a:schemeClr>
              </a:solidFill>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3890" y="3886200"/>
            <a:ext cx="4064772" cy="2738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44844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Naming ranges</a:t>
            </a:r>
          </a:p>
        </p:txBody>
      </p:sp>
      <p:sp>
        <p:nvSpPr>
          <p:cNvPr id="3" name="object 3"/>
          <p:cNvSpPr txBox="1"/>
          <p:nvPr/>
        </p:nvSpPr>
        <p:spPr>
          <a:xfrm>
            <a:off x="598578" y="1219200"/>
            <a:ext cx="7924800" cy="173637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There is more than one way to create range names. You can select a range of values and then deﬁne the name, or you can have Excel generate range names for the selected values using the column or row headings as the range names. To specify a range name for a selected range of cells, select the range and then click the Deﬁne Name command in the Deﬁned Names group of the ribbon’s Formulas tab</a:t>
            </a:r>
            <a:r>
              <a:rPr lang="en-US" sz="1600" dirty="0" smtClean="0">
                <a:solidFill>
                  <a:schemeClr val="accent1">
                    <a:lumMod val="75000"/>
                  </a:schemeClr>
                </a:solidFill>
              </a:rPr>
              <a:t>.</a:t>
            </a:r>
          </a:p>
          <a:p>
            <a:pPr algn="just" eaLnBrk="0" hangingPunct="0"/>
            <a:endParaRPr lang="en-US" sz="1600" dirty="0" smtClean="0">
              <a:solidFill>
                <a:schemeClr val="accent1">
                  <a:lumMod val="75000"/>
                </a:schemeClr>
              </a:solidFill>
            </a:endParaRPr>
          </a:p>
          <a:p>
            <a:pPr algn="just" eaLnBrk="0" hangingPunct="0"/>
            <a:r>
              <a:rPr lang="en-US" sz="1600" b="1" dirty="0" smtClean="0">
                <a:solidFill>
                  <a:schemeClr val="accent1">
                    <a:lumMod val="75000"/>
                  </a:schemeClr>
                </a:solidFill>
              </a:rPr>
              <a:t>Click </a:t>
            </a:r>
            <a:r>
              <a:rPr lang="en-US" sz="1600" b="1" dirty="0">
                <a:solidFill>
                  <a:schemeClr val="accent1">
                    <a:lumMod val="75000"/>
                  </a:schemeClr>
                </a:solidFill>
              </a:rPr>
              <a:t>on the </a:t>
            </a:r>
            <a:r>
              <a:rPr lang="en-US" sz="1600" b="1" dirty="0" smtClean="0">
                <a:solidFill>
                  <a:schemeClr val="accent1">
                    <a:lumMod val="75000"/>
                  </a:schemeClr>
                </a:solidFill>
              </a:rPr>
              <a:t>row/column &gt; Formulas &gt; Define name</a:t>
            </a:r>
            <a:endParaRPr lang="en-US" sz="1600" b="1" dirty="0">
              <a:solidFill>
                <a:schemeClr val="accent1">
                  <a:lumMod val="75000"/>
                </a:schemeClr>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581400"/>
            <a:ext cx="3751095" cy="2869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02221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Freezing rows and columns</a:t>
            </a:r>
          </a:p>
        </p:txBody>
      </p:sp>
      <p:sp>
        <p:nvSpPr>
          <p:cNvPr id="3" name="object 3"/>
          <p:cNvSpPr txBox="1"/>
          <p:nvPr/>
        </p:nvSpPr>
        <p:spPr>
          <a:xfrm>
            <a:off x="615510" y="1295400"/>
            <a:ext cx="7924800" cy="2721258"/>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freeze your column and row labels so that they remain on the screen no matter how far you scroll to the right or scroll down in the sheet. </a:t>
            </a:r>
            <a:r>
              <a:rPr lang="en-US" sz="1600" dirty="0" smtClean="0">
                <a:solidFill>
                  <a:schemeClr val="accent1">
                    <a:lumMod val="75000"/>
                  </a:schemeClr>
                </a:solidFill>
              </a:rPr>
              <a:t>The </a:t>
            </a:r>
            <a:r>
              <a:rPr lang="en-US" sz="1600" dirty="0">
                <a:solidFill>
                  <a:schemeClr val="accent1">
                    <a:lumMod val="75000"/>
                  </a:schemeClr>
                </a:solidFill>
              </a:rPr>
              <a:t>Freeze Panes command enables you to freeze panes (both column and row labels), freeze the top row (the column labels), or freeze the ﬁrst column (the row labels).</a:t>
            </a:r>
          </a:p>
          <a:p>
            <a:pPr algn="just" eaLnBrk="0" hangingPunct="0"/>
            <a:r>
              <a:rPr lang="en-US" sz="1600" dirty="0">
                <a:solidFill>
                  <a:schemeClr val="accent1">
                    <a:lumMod val="75000"/>
                  </a:schemeClr>
                </a:solidFill>
              </a:rPr>
              <a:t>The Freeze Top Row and the Freeze First Column options on the Freeze Panes gallery are self-explanatory and require nothing from you other than just choosing one of these options after selecting the Freeze Panes drop-down arrow.</a:t>
            </a:r>
          </a:p>
          <a:p>
            <a:pPr algn="just" eaLnBrk="0" hangingPunct="0"/>
            <a:r>
              <a:rPr lang="en-US" sz="1600" dirty="0">
                <a:solidFill>
                  <a:schemeClr val="accent1">
                    <a:lumMod val="75000"/>
                  </a:schemeClr>
                </a:solidFill>
              </a:rPr>
              <a:t>If you want to use the Freeze Panes option, you need to specify the rows and columns you want to freeze. This is accomplished by selecting the cell that is below the row you want to freeze and to the right of the column you want to freeze.</a:t>
            </a:r>
          </a:p>
          <a:p>
            <a:pPr algn="just" eaLnBrk="0" hangingPunct="0"/>
            <a:r>
              <a:rPr lang="en-US" sz="1600" dirty="0">
                <a:solidFill>
                  <a:schemeClr val="accent1">
                    <a:lumMod val="75000"/>
                  </a:schemeClr>
                </a:solidFill>
              </a:rPr>
              <a:t>The Freeze Panes command is in the Zoom group on the ribbon’s View tab.</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4404769"/>
            <a:ext cx="7327021" cy="2240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55797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1066800" y="2344341"/>
            <a:ext cx="7010400" cy="1169551"/>
          </a:xfrm>
          <a:prstGeom prst="rect">
            <a:avLst/>
          </a:prstGeom>
        </p:spPr>
        <p:txBody>
          <a:bodyPr wrap="square">
            <a:spAutoFit/>
          </a:bodyPr>
          <a:lstStyle/>
          <a:p>
            <a:endParaRPr lang="en-US" sz="1400" dirty="0">
              <a:solidFill>
                <a:schemeClr val="accent1">
                  <a:lumMod val="75000"/>
                </a:schemeClr>
              </a:solidFill>
              <a:hlinkClick r:id=""/>
            </a:endParaRPr>
          </a:p>
          <a:p>
            <a:pPr algn="ctr"/>
            <a:r>
              <a:rPr lang="en-US" sz="1400" dirty="0">
                <a:solidFill>
                  <a:schemeClr val="accent1">
                    <a:lumMod val="75000"/>
                  </a:schemeClr>
                </a:solidFill>
                <a:hlinkClick r:id="rId2"/>
              </a:rPr>
              <a:t>https://</a:t>
            </a:r>
            <a:r>
              <a:rPr lang="en-US" sz="1400" dirty="0" smtClean="0">
                <a:solidFill>
                  <a:schemeClr val="accent1">
                    <a:lumMod val="75000"/>
                  </a:schemeClr>
                </a:solidFill>
                <a:hlinkClick r:id="rId2"/>
              </a:rPr>
              <a:t>support.office.com/en-us/article/video-sort-data-in-a-range-or-table-ffb9fcb0-b9cb-48bf-a15c-8bec9fd3a472</a:t>
            </a:r>
            <a:endParaRPr lang="en-US" sz="1400" dirty="0" smtClean="0">
              <a:solidFill>
                <a:schemeClr val="accent1">
                  <a:lumMod val="75000"/>
                </a:schemeClr>
              </a:solidFill>
            </a:endParaRPr>
          </a:p>
          <a:p>
            <a:pPr algn="ctr"/>
            <a:endParaRPr lang="pt-BR" sz="1400" dirty="0" smtClean="0">
              <a:solidFill>
                <a:schemeClr val="accent1">
                  <a:lumMod val="75000"/>
                </a:schemeClr>
              </a:solidFill>
            </a:endParaRPr>
          </a:p>
          <a:p>
            <a:pPr algn="ctr"/>
            <a:r>
              <a:rPr lang="en-US" sz="1400" dirty="0" smtClean="0">
                <a:solidFill>
                  <a:schemeClr val="accent1">
                    <a:lumMod val="75000"/>
                  </a:schemeClr>
                </a:solidFill>
              </a:rPr>
              <a:t>MS Excel </a:t>
            </a:r>
            <a:r>
              <a:rPr lang="en-US" sz="1400" dirty="0">
                <a:solidFill>
                  <a:schemeClr val="accent1">
                    <a:lumMod val="75000"/>
                  </a:schemeClr>
                </a:solidFill>
              </a:rPr>
              <a:t>Tutorial</a:t>
            </a:r>
          </a:p>
        </p:txBody>
      </p:sp>
    </p:spTree>
    <p:extLst>
      <p:ext uri="{BB962C8B-B14F-4D97-AF65-F5344CB8AC3E}">
        <p14:creationId xmlns:p14="http://schemas.microsoft.com/office/powerpoint/2010/main" val="1259820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25627</TotalTime>
  <Words>3692</Words>
  <Application>Microsoft Office PowerPoint</Application>
  <PresentationFormat>On-screen Show (4:3)</PresentationFormat>
  <Paragraphs>232</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Comic Sans MS</vt:lpstr>
      <vt:lpstr>Times New Roman</vt:lpstr>
      <vt:lpstr>Trebuchet MS</vt:lpstr>
      <vt:lpstr>Wingdings 3</vt:lpstr>
      <vt:lpstr>Presentation slides</vt:lpstr>
      <vt:lpstr>PowerPoint Presentation</vt:lpstr>
      <vt:lpstr>PowerPoint Presentation</vt:lpstr>
      <vt:lpstr>The new page in the Excel backstage</vt:lpstr>
      <vt:lpstr>The Excel window and a new blank Excel workbook</vt:lpstr>
      <vt:lpstr>The Excel ribbon</vt:lpstr>
      <vt:lpstr>Moving around a worksheet</vt:lpstr>
      <vt:lpstr>Creating workbooks and worksheets</vt:lpstr>
      <vt:lpstr>Using Oﬃce.com templates</vt:lpstr>
      <vt:lpstr>Managing Excel workbooks</vt:lpstr>
      <vt:lpstr>Managing Excel workbooks (cont.)</vt:lpstr>
      <vt:lpstr>Protecting workbooks and worksheets</vt:lpstr>
      <vt:lpstr>Locking cells</vt:lpstr>
      <vt:lpstr>Protect Sheet</vt:lpstr>
      <vt:lpstr>Preparing a workbook for sharing</vt:lpstr>
      <vt:lpstr>Entering data in a worksheet</vt:lpstr>
      <vt:lpstr>Using the Fill handle</vt:lpstr>
      <vt:lpstr>Copying, moving, and deleting cell contents</vt:lpstr>
      <vt:lpstr>Copying, moving, and deleting cell contents (cont.)</vt:lpstr>
      <vt:lpstr>Using the Paste Special dialog box</vt:lpstr>
      <vt:lpstr>Clearing and deleting cells</vt:lpstr>
      <vt:lpstr>Printing worksheets </vt:lpstr>
      <vt:lpstr>Using the Page Layout commands</vt:lpstr>
      <vt:lpstr>Working on the print page</vt:lpstr>
      <vt:lpstr>Inserting headers and footers</vt:lpstr>
      <vt:lpstr>Changing text orientation</vt:lpstr>
      <vt:lpstr>Formatting values</vt:lpstr>
      <vt:lpstr>Adding comments to cells</vt:lpstr>
      <vt:lpstr>Using themes</vt:lpstr>
      <vt:lpstr>Adding cell borders</vt:lpstr>
      <vt:lpstr>Using cell styles and the Format  Painter</vt:lpstr>
      <vt:lpstr>Creating a cell style</vt:lpstr>
      <vt:lpstr>Using conditional formatting</vt:lpstr>
      <vt:lpstr>Using data bars</vt:lpstr>
      <vt:lpstr>Creating conditional formatting rules</vt:lpstr>
      <vt:lpstr>Inserting cells</vt:lpstr>
      <vt:lpstr>Managing columns and rows</vt:lpstr>
      <vt:lpstr>Creating range names from selections</vt:lpstr>
      <vt:lpstr>Naming ranges</vt:lpstr>
      <vt:lpstr>Freezing rows and columns</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3331</cp:revision>
  <dcterms:created xsi:type="dcterms:W3CDTF">2013-11-13T03:56:02Z</dcterms:created>
  <dcterms:modified xsi:type="dcterms:W3CDTF">2024-09-08T17:41:08Z</dcterms:modified>
</cp:coreProperties>
</file>