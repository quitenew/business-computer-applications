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1086" r:id="rId2"/>
    <p:sldId id="2364" r:id="rId3"/>
    <p:sldId id="1958" r:id="rId4"/>
    <p:sldId id="2346" r:id="rId5"/>
    <p:sldId id="2337" r:id="rId6"/>
    <p:sldId id="2338" r:id="rId7"/>
    <p:sldId id="2339" r:id="rId8"/>
    <p:sldId id="2340" r:id="rId9"/>
    <p:sldId id="2347" r:id="rId10"/>
    <p:sldId id="2336" r:id="rId11"/>
    <p:sldId id="2319" r:id="rId12"/>
    <p:sldId id="2333" r:id="rId13"/>
    <p:sldId id="2334" r:id="rId14"/>
    <p:sldId id="2335" r:id="rId15"/>
    <p:sldId id="2320" r:id="rId16"/>
    <p:sldId id="2321" r:id="rId17"/>
    <p:sldId id="2332" r:id="rId18"/>
    <p:sldId id="2349" r:id="rId19"/>
    <p:sldId id="2363" r:id="rId20"/>
    <p:sldId id="2362" r:id="rId21"/>
    <p:sldId id="2350" r:id="rId22"/>
    <p:sldId id="2351" r:id="rId23"/>
    <p:sldId id="2352" r:id="rId24"/>
    <p:sldId id="2353" r:id="rId25"/>
    <p:sldId id="2354" r:id="rId26"/>
    <p:sldId id="2355" r:id="rId27"/>
    <p:sldId id="2356" r:id="rId28"/>
    <p:sldId id="2357" r:id="rId29"/>
    <p:sldId id="2358" r:id="rId30"/>
    <p:sldId id="2359" r:id="rId31"/>
    <p:sldId id="2360" r:id="rId32"/>
    <p:sldId id="2361" r:id="rId33"/>
    <p:sldId id="2341" r:id="rId34"/>
    <p:sldId id="1985" r:id="rId35"/>
    <p:sldId id="198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802A"/>
    <a:srgbClr val="B40CA0"/>
    <a:srgbClr val="D80EC0"/>
    <a:srgbClr val="E9EFEF"/>
    <a:srgbClr val="E2EAEA"/>
    <a:srgbClr val="F2E6BC"/>
    <a:srgbClr val="E16519"/>
    <a:srgbClr val="FAD35B"/>
    <a:srgbClr val="517BA9"/>
    <a:srgbClr val="F77D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929" autoAdjust="0"/>
    <p:restoredTop sz="93673" autoAdjust="0"/>
  </p:normalViewPr>
  <p:slideViewPr>
    <p:cSldViewPr>
      <p:cViewPr varScale="1">
        <p:scale>
          <a:sx n="65" d="100"/>
          <a:sy n="65" d="100"/>
        </p:scale>
        <p:origin x="1000"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9/11/2024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11/09/67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zdnet.com/article/what-is-chatgpt-and-why-does-it-matter-heres-everything-you-need-to-know/" TargetMode="External"/><Relationship Id="rId2" Type="http://schemas.openxmlformats.org/officeDocument/2006/relationships/hyperlink" Target="https://www.tidio.com/blog/benefits-of-chatbot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0" y="3382572"/>
            <a:ext cx="9144000" cy="461665"/>
          </a:xfrm>
          <a:prstGeom prst="rect">
            <a:avLst/>
          </a:prstGeom>
          <a:noFill/>
        </p:spPr>
        <p:txBody>
          <a:bodyPr wrap="square" rtlCol="0">
            <a:spAutoFit/>
          </a:bodyPr>
          <a:lstStyle/>
          <a:p>
            <a:r>
              <a:rPr lang="en-GB" sz="2400" b="1" dirty="0">
                <a:solidFill>
                  <a:schemeClr val="bg1"/>
                </a:solidFill>
                <a:latin typeface="Comic Sans MS" panose="030F0702030302020204" pitchFamily="66" charset="0"/>
              </a:rPr>
              <a:t>Practical uses </a:t>
            </a:r>
            <a:r>
              <a:rPr lang="en-US" sz="2400" b="1" dirty="0">
                <a:solidFill>
                  <a:schemeClr val="bg1"/>
                </a:solidFill>
                <a:latin typeface="Comic Sans MS" panose="030F0702030302020204" pitchFamily="66" charset="0"/>
              </a:rPr>
              <a:t>of AI </a:t>
            </a:r>
            <a:r>
              <a:rPr lang="en-US" sz="2400" b="1" dirty="0" err="1" smtClean="0">
                <a:solidFill>
                  <a:schemeClr val="bg1"/>
                </a:solidFill>
                <a:latin typeface="Comic Sans MS" panose="030F0702030302020204" pitchFamily="66" charset="0"/>
              </a:rPr>
              <a:t>ChatGPT</a:t>
            </a:r>
            <a:r>
              <a:rPr lang="en-US" sz="2400" b="1" dirty="0">
                <a:solidFill>
                  <a:schemeClr val="bg1"/>
                </a:solidFill>
                <a:latin typeface="Comic Sans MS" panose="030F0702030302020204" pitchFamily="66" charset="0"/>
              </a:rPr>
              <a:t>, Copilot and Bots in business</a:t>
            </a: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a:t>
            </a:r>
            <a:r>
              <a:rPr lang="en-US" b="1" smtClean="0">
                <a:solidFill>
                  <a:srgbClr val="002060"/>
                </a:solidFill>
              </a:rPr>
              <a:t>: </a:t>
            </a:r>
            <a:r>
              <a:rPr lang="en-US" b="1" smtClean="0">
                <a:solidFill>
                  <a:srgbClr val="002060"/>
                </a:solidFill>
              </a:rPr>
              <a:t>Business 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Next-Generation AI Chatbot Competi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7086600" cy="5335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533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Lecture overview</a:t>
            </a:r>
            <a:endParaRPr lang="en-US"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685800" y="1828800"/>
            <a:ext cx="8118987" cy="2323713"/>
          </a:xfrm>
          <a:prstGeom prst="rect">
            <a:avLst/>
          </a:prstGeom>
        </p:spPr>
        <p:txBody>
          <a:bodyPr wrap="square">
            <a:spAutoFit/>
          </a:bodyPr>
          <a:lstStyle/>
          <a:p>
            <a:pPr marL="457200" lvl="0" indent="-457200">
              <a:lnSpc>
                <a:spcPct val="150000"/>
              </a:lnSpc>
              <a:buFont typeface="+mj-lt"/>
              <a:buAutoNum type="romanLcPeriod"/>
            </a:pPr>
            <a:r>
              <a:rPr lang="en-US" sz="1400" dirty="0" smtClean="0">
                <a:solidFill>
                  <a:schemeClr val="accent1">
                    <a:lumMod val="75000"/>
                  </a:schemeClr>
                </a:solidFill>
              </a:rPr>
              <a:t>Explanation of AI Chat GPT.</a:t>
            </a:r>
            <a:endParaRPr lang="en-US" sz="1400" dirty="0">
              <a:solidFill>
                <a:schemeClr val="accent1">
                  <a:lumMod val="75000"/>
                </a:schemeClr>
              </a:solidFill>
            </a:endParaRPr>
          </a:p>
          <a:p>
            <a:pPr marL="457200" lvl="0" indent="-457200">
              <a:lnSpc>
                <a:spcPct val="150000"/>
              </a:lnSpc>
              <a:buFont typeface="+mj-lt"/>
              <a:buAutoNum type="romanLcPeriod"/>
            </a:pPr>
            <a:r>
              <a:rPr lang="en-US" sz="1400" dirty="0" smtClean="0">
                <a:solidFill>
                  <a:schemeClr val="accent1">
                    <a:lumMod val="75000"/>
                  </a:schemeClr>
                </a:solidFill>
              </a:rPr>
              <a:t>Description of Copilots.</a:t>
            </a:r>
          </a:p>
          <a:p>
            <a:pPr marL="457200" lvl="0" indent="-457200">
              <a:lnSpc>
                <a:spcPct val="150000"/>
              </a:lnSpc>
              <a:buFont typeface="+mj-lt"/>
              <a:buAutoNum type="romanLcPeriod"/>
            </a:pPr>
            <a:r>
              <a:rPr lang="en-US" sz="1400" dirty="0" smtClean="0">
                <a:solidFill>
                  <a:schemeClr val="accent1">
                    <a:lumMod val="75000"/>
                  </a:schemeClr>
                </a:solidFill>
              </a:rPr>
              <a:t>Explanation of Bots and types of </a:t>
            </a:r>
            <a:r>
              <a:rPr lang="en-US" sz="1400" dirty="0" err="1" smtClean="0">
                <a:solidFill>
                  <a:schemeClr val="accent1">
                    <a:lumMod val="75000"/>
                  </a:schemeClr>
                </a:solidFill>
              </a:rPr>
              <a:t>Chatbot</a:t>
            </a:r>
            <a:r>
              <a:rPr lang="en-US" sz="1400" dirty="0" smtClean="0">
                <a:solidFill>
                  <a:schemeClr val="accent1">
                    <a:lumMod val="75000"/>
                  </a:schemeClr>
                </a:solidFill>
              </a:rPr>
              <a:t> function and evolution.</a:t>
            </a:r>
          </a:p>
          <a:p>
            <a:pPr marL="457200" lvl="0" indent="-457200">
              <a:lnSpc>
                <a:spcPct val="150000"/>
              </a:lnSpc>
              <a:buFont typeface="+mj-lt"/>
              <a:buAutoNum type="romanLcPeriod"/>
            </a:pPr>
            <a:r>
              <a:rPr lang="en-US" sz="1400" dirty="0" smtClean="0">
                <a:solidFill>
                  <a:schemeClr val="accent1">
                    <a:lumMod val="75000"/>
                  </a:schemeClr>
                </a:solidFill>
              </a:rPr>
              <a:t>Discussion the advantages and disadvantages of </a:t>
            </a:r>
            <a:r>
              <a:rPr lang="en-US" sz="1400" dirty="0" err="1" smtClean="0">
                <a:solidFill>
                  <a:schemeClr val="accent1">
                    <a:lumMod val="75000"/>
                  </a:schemeClr>
                </a:solidFill>
              </a:rPr>
              <a:t>Chatbots</a:t>
            </a:r>
            <a:r>
              <a:rPr lang="en-US" sz="1400" dirty="0" smtClean="0">
                <a:solidFill>
                  <a:schemeClr val="accent1">
                    <a:lumMod val="75000"/>
                  </a:schemeClr>
                </a:solidFill>
              </a:rPr>
              <a:t>.</a:t>
            </a:r>
          </a:p>
          <a:p>
            <a:pPr marL="457200" lvl="0" indent="-457200">
              <a:lnSpc>
                <a:spcPct val="150000"/>
              </a:lnSpc>
              <a:buFont typeface="+mj-lt"/>
              <a:buAutoNum type="romanLcPeriod"/>
            </a:pPr>
            <a:r>
              <a:rPr lang="en-US" sz="1400" dirty="0" smtClean="0">
                <a:solidFill>
                  <a:schemeClr val="accent1">
                    <a:lumMod val="75000"/>
                  </a:schemeClr>
                </a:solidFill>
              </a:rPr>
              <a:t>Explanation of the Chat GPT features and applications in education.</a:t>
            </a:r>
            <a:endParaRPr lang="en-US" sz="1400" dirty="0">
              <a:solidFill>
                <a:schemeClr val="accent1">
                  <a:lumMod val="75000"/>
                </a:schemeClr>
              </a:solidFill>
            </a:endParaRPr>
          </a:p>
          <a:p>
            <a:pPr marL="400050" indent="-400050" algn="just">
              <a:lnSpc>
                <a:spcPct val="150000"/>
              </a:lnSpc>
              <a:buFont typeface="+mj-lt"/>
              <a:buAutoNum type="romanLcPeriod"/>
            </a:pPr>
            <a:endParaRPr lang="en-US" sz="1600" dirty="0" smtClean="0">
              <a:solidFill>
                <a:schemeClr val="accent1">
                  <a:lumMod val="75000"/>
                </a:schemeClr>
              </a:solidFill>
            </a:endParaRPr>
          </a:p>
          <a:p>
            <a:pPr marL="400050" indent="-400050" algn="just">
              <a:buFont typeface="+mj-lt"/>
              <a:buAutoNum type="romanLcPeriod"/>
            </a:pPr>
            <a:endParaRPr lang="en-US" sz="1600" dirty="0" smtClean="0">
              <a:solidFill>
                <a:schemeClr val="accent1">
                  <a:lumMod val="75000"/>
                </a:schemeClr>
              </a:solidFill>
            </a:endParaRPr>
          </a:p>
        </p:txBody>
      </p:sp>
    </p:spTree>
    <p:extLst>
      <p:ext uri="{BB962C8B-B14F-4D97-AF65-F5344CB8AC3E}">
        <p14:creationId xmlns:p14="http://schemas.microsoft.com/office/powerpoint/2010/main" val="9859239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520545" y="2265554"/>
            <a:ext cx="6608608" cy="3776018"/>
          </a:xfrm>
        </p:spPr>
      </p:pic>
      <p:sp>
        <p:nvSpPr>
          <p:cNvPr id="2" name="Rectangle 1"/>
          <p:cNvSpPr/>
          <p:nvPr/>
        </p:nvSpPr>
        <p:spPr>
          <a:xfrm>
            <a:off x="457200" y="2895600"/>
            <a:ext cx="8324088" cy="646331"/>
          </a:xfrm>
          <a:prstGeom prst="rect">
            <a:avLst/>
          </a:prstGeom>
        </p:spPr>
        <p:txBody>
          <a:bodyPr wrap="square">
            <a:spAutoFit/>
          </a:bodyPr>
          <a:lstStyle/>
          <a:p>
            <a:pPr algn="ctr"/>
            <a:r>
              <a:rPr lang="en-US" sz="3600" dirty="0" err="1" smtClean="0">
                <a:solidFill>
                  <a:srgbClr val="C00000"/>
                </a:solidFill>
                <a:effectLst>
                  <a:outerShdw blurRad="38100" dist="38100" dir="2700000" algn="tl">
                    <a:srgbClr val="000000">
                      <a:alpha val="43137"/>
                    </a:srgbClr>
                  </a:outerShdw>
                </a:effectLst>
                <a:latin typeface="Comic Sans MS" panose="030F0702030302020204" pitchFamily="66" charset="0"/>
              </a:rPr>
              <a:t>ChatGPT</a:t>
            </a:r>
            <a:endParaRPr lang="en-US" sz="360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3556996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latin typeface="Comic Sans MS" panose="030F0702030302020204" pitchFamily="66" charset="0"/>
              </a:rPr>
              <a:t>What is </a:t>
            </a:r>
            <a:r>
              <a:rPr lang="en-US" sz="1800" dirty="0" err="1" smtClean="0">
                <a:latin typeface="Comic Sans MS" panose="030F0702030302020204" pitchFamily="66" charset="0"/>
              </a:rPr>
              <a:t>ChatGPT</a:t>
            </a:r>
            <a:r>
              <a:rPr lang="en-US" sz="1800" dirty="0" smtClean="0">
                <a:latin typeface="Comic Sans MS" panose="030F0702030302020204" pitchFamily="66" charset="0"/>
              </a:rPr>
              <a:t>?</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828800"/>
            <a:ext cx="8229600" cy="4572000"/>
          </a:xfrm>
        </p:spPr>
        <p:txBody>
          <a:bodyPr/>
          <a:lstStyle/>
          <a:p>
            <a:pPr marL="0" indent="0" algn="just">
              <a:buNone/>
            </a:pPr>
            <a:r>
              <a:rPr lang="en-US" dirty="0" err="1"/>
              <a:t>ChatGPT</a:t>
            </a:r>
            <a:r>
              <a:rPr lang="en-US" dirty="0"/>
              <a:t> is a conversational AI model developed by </a:t>
            </a:r>
            <a:r>
              <a:rPr lang="en-US" dirty="0" err="1"/>
              <a:t>OpenAI</a:t>
            </a:r>
            <a:r>
              <a:rPr lang="en-US" dirty="0"/>
              <a:t>. It's based on the GPT (Generative Pre-trained Transformer) architecture, which is designed to generate human-like text based on the input it receives. </a:t>
            </a:r>
            <a:r>
              <a:rPr lang="en-US" dirty="0" err="1"/>
              <a:t>ChatGPT</a:t>
            </a:r>
            <a:r>
              <a:rPr lang="en-US" dirty="0"/>
              <a:t> can engage in conversations, answer questions, write essays, assist in coding, and perform various other tasks that involve natural language processing. </a:t>
            </a:r>
            <a:endParaRPr lang="en-US" dirty="0" smtClean="0"/>
          </a:p>
          <a:p>
            <a:pPr marL="0" indent="0" algn="just">
              <a:buNone/>
            </a:pPr>
            <a:r>
              <a:rPr lang="en-US" dirty="0" smtClean="0"/>
              <a:t>As </a:t>
            </a:r>
            <a:r>
              <a:rPr lang="en-US" dirty="0"/>
              <a:t>a result, </a:t>
            </a:r>
            <a:r>
              <a:rPr lang="en-US" dirty="0" err="1"/>
              <a:t>ChatGPT</a:t>
            </a:r>
            <a:r>
              <a:rPr lang="en-US" dirty="0"/>
              <a:t> can create more ‘human-like’ replies, thus ensuring realistic discussions with customers. Compared to most AI </a:t>
            </a:r>
            <a:r>
              <a:rPr lang="en-US" dirty="0" err="1"/>
              <a:t>chatbots</a:t>
            </a:r>
            <a:r>
              <a:rPr lang="en-US" dirty="0"/>
              <a:t>, </a:t>
            </a:r>
            <a:r>
              <a:rPr lang="en-US" dirty="0" err="1"/>
              <a:t>ChatGPT</a:t>
            </a:r>
            <a:r>
              <a:rPr lang="en-US" dirty="0"/>
              <a:t> learns from previous conversations, making user experiences more personalized. The natural language processing capabilities of GPT-4 (the language model behind </a:t>
            </a:r>
            <a:r>
              <a:rPr lang="en-US" dirty="0" err="1"/>
              <a:t>ChatGPT</a:t>
            </a:r>
            <a:r>
              <a:rPr lang="en-US" dirty="0"/>
              <a:t>) can be used for a wide range of business tasks.</a:t>
            </a:r>
          </a:p>
        </p:txBody>
      </p:sp>
    </p:spTree>
    <p:extLst>
      <p:ext uri="{BB962C8B-B14F-4D97-AF65-F5344CB8AC3E}">
        <p14:creationId xmlns:p14="http://schemas.microsoft.com/office/powerpoint/2010/main" val="4544395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Practical </a:t>
            </a:r>
            <a:r>
              <a:rPr lang="en-US" sz="1800" dirty="0" smtClean="0">
                <a:latin typeface="Comic Sans MS" panose="030F0702030302020204" pitchFamily="66" charset="0"/>
              </a:rPr>
              <a:t>applications </a:t>
            </a:r>
            <a:r>
              <a:rPr lang="en-US" sz="1800" dirty="0">
                <a:latin typeface="Comic Sans MS" panose="030F0702030302020204" pitchFamily="66" charset="0"/>
              </a:rPr>
              <a:t>of </a:t>
            </a:r>
            <a:r>
              <a:rPr lang="en-US" sz="1800" dirty="0" smtClean="0">
                <a:latin typeface="Comic Sans MS" panose="030F0702030302020204" pitchFamily="66" charset="0"/>
              </a:rPr>
              <a:t>Chat GPT in business</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indent="0" algn="just">
              <a:buNone/>
            </a:pPr>
            <a:r>
              <a:rPr lang="en-US" b="1" dirty="0"/>
              <a:t>Prompt customer support</a:t>
            </a:r>
            <a:endParaRPr lang="en-US" dirty="0"/>
          </a:p>
          <a:p>
            <a:pPr algn="just"/>
            <a:r>
              <a:rPr lang="en-US" dirty="0" err="1"/>
              <a:t>ChatGPT</a:t>
            </a:r>
            <a:r>
              <a:rPr lang="en-US" dirty="0"/>
              <a:t>-powered virtual assistants are available 24/7 and can answer customer inquiries on various topics. As they continue learning, the range of questions these virtual assistants can handle grows constantly. Moreover, they provide answers almost instantly, which reduces average waiting times for customers to milliseconds. The answers given are always accurate, which human agents cannot guarantee. </a:t>
            </a:r>
            <a:endParaRPr lang="en-US" dirty="0" smtClean="0"/>
          </a:p>
          <a:p>
            <a:pPr algn="just"/>
            <a:endParaRPr lang="en-US" dirty="0" smtClean="0"/>
          </a:p>
          <a:p>
            <a:pPr marL="0" indent="0" algn="just">
              <a:buNone/>
            </a:pPr>
            <a:r>
              <a:rPr lang="en-US" b="1" dirty="0"/>
              <a:t>Reduced operational costs</a:t>
            </a:r>
            <a:endParaRPr lang="en-US" dirty="0"/>
          </a:p>
          <a:p>
            <a:pPr algn="just"/>
            <a:r>
              <a:rPr lang="en-US" dirty="0"/>
              <a:t>By automating the customer support service, you no longer need fully-staffed support teams, which allows you to reduce labor costs. Automated support agents provide your business a lifeline at peak times. They can handle a large number of interactions simultaneously, minimizing the need to scale up your support team.</a:t>
            </a:r>
          </a:p>
          <a:p>
            <a:endParaRPr lang="en-US" sz="1600" dirty="0"/>
          </a:p>
        </p:txBody>
      </p:sp>
    </p:spTree>
    <p:extLst>
      <p:ext uri="{BB962C8B-B14F-4D97-AF65-F5344CB8AC3E}">
        <p14:creationId xmlns:p14="http://schemas.microsoft.com/office/powerpoint/2010/main" val="16094305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Practical </a:t>
            </a:r>
            <a:r>
              <a:rPr lang="en-US" sz="1800" dirty="0" smtClean="0">
                <a:latin typeface="Comic Sans MS" panose="030F0702030302020204" pitchFamily="66" charset="0"/>
              </a:rPr>
              <a:t>applications </a:t>
            </a:r>
            <a:r>
              <a:rPr lang="en-US" sz="1800" dirty="0">
                <a:latin typeface="Comic Sans MS" panose="030F0702030302020204" pitchFamily="66" charset="0"/>
              </a:rPr>
              <a:t>of </a:t>
            </a:r>
            <a:r>
              <a:rPr lang="en-US" sz="1800" dirty="0" smtClean="0">
                <a:latin typeface="Comic Sans MS" panose="030F0702030302020204" pitchFamily="66" charset="0"/>
              </a:rPr>
              <a:t>Chat GPT in business</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381000" y="1371600"/>
            <a:ext cx="8229600" cy="4572000"/>
          </a:xfrm>
        </p:spPr>
        <p:txBody>
          <a:bodyPr/>
          <a:lstStyle/>
          <a:p>
            <a:pPr marL="0" indent="0">
              <a:buNone/>
            </a:pPr>
            <a:r>
              <a:rPr lang="en-US" b="1" dirty="0"/>
              <a:t>Increased employee productivity</a:t>
            </a:r>
            <a:endParaRPr lang="en-US" dirty="0"/>
          </a:p>
          <a:p>
            <a:pPr algn="just"/>
            <a:r>
              <a:rPr lang="en-US" dirty="0" err="1"/>
              <a:t>ChatGPT</a:t>
            </a:r>
            <a:r>
              <a:rPr lang="en-US" dirty="0"/>
              <a:t> is an ideal solution to automate repetitive tasks, answer frequently asked questions, schedule meetings and/or appointments, and perform other mundane duties. At this point, your employees can focus on more strategic tasks rather than dedicate their time to these issues.</a:t>
            </a:r>
          </a:p>
          <a:p>
            <a:pPr marL="0" indent="0" algn="just">
              <a:buNone/>
            </a:pPr>
            <a:endParaRPr lang="en-US" b="1" dirty="0" smtClean="0"/>
          </a:p>
          <a:p>
            <a:pPr marL="0" indent="0" algn="just">
              <a:buNone/>
            </a:pPr>
            <a:r>
              <a:rPr lang="en-US" b="1" dirty="0" smtClean="0"/>
              <a:t>Personalized </a:t>
            </a:r>
            <a:r>
              <a:rPr lang="en-US" b="1" dirty="0"/>
              <a:t>customer experiences</a:t>
            </a:r>
            <a:endParaRPr lang="en-US" dirty="0"/>
          </a:p>
          <a:p>
            <a:pPr algn="just"/>
            <a:r>
              <a:rPr lang="en-US" dirty="0"/>
              <a:t>Modern AI capabilities granted by </a:t>
            </a:r>
            <a:r>
              <a:rPr lang="en-US" dirty="0" err="1"/>
              <a:t>ChatGPT</a:t>
            </a:r>
            <a:r>
              <a:rPr lang="en-US" dirty="0"/>
              <a:t> provide customer-tailored responses, recommendations, product offers, and solutions based on their behavior and </a:t>
            </a:r>
            <a:r>
              <a:rPr lang="en-US" dirty="0" smtClean="0"/>
              <a:t>preferences.</a:t>
            </a:r>
          </a:p>
          <a:p>
            <a:pPr algn="just"/>
            <a:endParaRPr lang="en-US" dirty="0"/>
          </a:p>
          <a:p>
            <a:pPr marL="0" indent="0">
              <a:buNone/>
            </a:pPr>
            <a:r>
              <a:rPr lang="en-US" b="1" dirty="0"/>
              <a:t>Process automation</a:t>
            </a:r>
            <a:endParaRPr lang="en-US" dirty="0"/>
          </a:p>
          <a:p>
            <a:pPr algn="just"/>
            <a:r>
              <a:rPr lang="en-US" dirty="0"/>
              <a:t>Given all the benefits you’ve read about, imagine how powerful </a:t>
            </a:r>
            <a:r>
              <a:rPr lang="en-US" dirty="0" err="1"/>
              <a:t>ChatGPT</a:t>
            </a:r>
            <a:r>
              <a:rPr lang="en-US" dirty="0"/>
              <a:t> can become when it’s integrated with a multifaceted enterprise-level system like a CRM or ERP. Thanks to its automation capabilities, </a:t>
            </a:r>
            <a:r>
              <a:rPr lang="en-US" dirty="0" err="1"/>
              <a:t>ChatGPT</a:t>
            </a:r>
            <a:r>
              <a:rPr lang="en-US" dirty="0"/>
              <a:t> can help </a:t>
            </a:r>
            <a:r>
              <a:rPr lang="en-US" dirty="0" smtClean="0"/>
              <a:t>in performing order </a:t>
            </a:r>
            <a:r>
              <a:rPr lang="en-US" dirty="0"/>
              <a:t>management, data entry, customer relations, HR, onboarding, IT support, and other business processes much faster, more accurately, and much faster and more accurately than ever before</a:t>
            </a:r>
            <a:r>
              <a:rPr lang="en-US" dirty="0" smtClean="0"/>
              <a:t>.</a:t>
            </a:r>
            <a:endParaRPr lang="en-US" dirty="0"/>
          </a:p>
        </p:txBody>
      </p:sp>
    </p:spTree>
    <p:extLst>
      <p:ext uri="{BB962C8B-B14F-4D97-AF65-F5344CB8AC3E}">
        <p14:creationId xmlns:p14="http://schemas.microsoft.com/office/powerpoint/2010/main" val="24336353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Practical </a:t>
            </a:r>
            <a:r>
              <a:rPr lang="en-US" sz="1800" dirty="0" smtClean="0">
                <a:latin typeface="Comic Sans MS" panose="030F0702030302020204" pitchFamily="66" charset="0"/>
              </a:rPr>
              <a:t>applications </a:t>
            </a:r>
            <a:r>
              <a:rPr lang="en-US" sz="1800" dirty="0">
                <a:latin typeface="Comic Sans MS" panose="030F0702030302020204" pitchFamily="66" charset="0"/>
              </a:rPr>
              <a:t>of </a:t>
            </a:r>
            <a:r>
              <a:rPr lang="en-US" sz="1800" dirty="0" smtClean="0">
                <a:latin typeface="Comic Sans MS" panose="030F0702030302020204" pitchFamily="66" charset="0"/>
              </a:rPr>
              <a:t>Chat GPT in business</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381000" y="1295400"/>
            <a:ext cx="8229600" cy="4572000"/>
          </a:xfrm>
        </p:spPr>
        <p:txBody>
          <a:bodyPr/>
          <a:lstStyle/>
          <a:p>
            <a:pPr marL="0" indent="0">
              <a:buNone/>
            </a:pPr>
            <a:r>
              <a:rPr lang="en-US" b="1" dirty="0"/>
              <a:t>Confident decision-making</a:t>
            </a:r>
            <a:endParaRPr lang="en-US" dirty="0"/>
          </a:p>
          <a:p>
            <a:pPr algn="just"/>
            <a:r>
              <a:rPr lang="en-US" dirty="0" err="1"/>
              <a:t>ChatGPT</a:t>
            </a:r>
            <a:r>
              <a:rPr lang="en-US" dirty="0"/>
              <a:t> can process data from various sources, summarizing and delivering relevant information to provide you with insights to make informed business decisions. </a:t>
            </a:r>
            <a:r>
              <a:rPr lang="en-US" dirty="0" err="1"/>
              <a:t>ChatGPT</a:t>
            </a:r>
            <a:r>
              <a:rPr lang="en-US" dirty="0"/>
              <a:t> is updated regularly, meaning that its data resources are always accurate and up-to-date.</a:t>
            </a:r>
          </a:p>
          <a:p>
            <a:pPr marL="0" indent="0" algn="just">
              <a:buNone/>
            </a:pPr>
            <a:endParaRPr lang="en-US" b="1" dirty="0" smtClean="0"/>
          </a:p>
          <a:p>
            <a:pPr marL="0" indent="0" algn="just">
              <a:buNone/>
            </a:pPr>
            <a:r>
              <a:rPr lang="en-US" b="1" dirty="0" smtClean="0"/>
              <a:t>Ideation </a:t>
            </a:r>
            <a:r>
              <a:rPr lang="en-US" b="1" dirty="0"/>
              <a:t>medium</a:t>
            </a:r>
            <a:endParaRPr lang="en-US" dirty="0"/>
          </a:p>
          <a:p>
            <a:pPr algn="just"/>
            <a:r>
              <a:rPr lang="en-US" dirty="0"/>
              <a:t>When it comes to brainstorming, </a:t>
            </a:r>
            <a:r>
              <a:rPr lang="en-US" dirty="0" err="1"/>
              <a:t>ChatGPT</a:t>
            </a:r>
            <a:r>
              <a:rPr lang="en-US" dirty="0"/>
              <a:t> gives you plenty of space for creativity and even suggests ideas that you can consider. Whether you need to devise a customer engagement strategy, plan to present new service offerings, or add new features, </a:t>
            </a:r>
            <a:r>
              <a:rPr lang="en-US" dirty="0" err="1"/>
              <a:t>ChatGPT</a:t>
            </a:r>
            <a:r>
              <a:rPr lang="en-US" dirty="0"/>
              <a:t> can help. That is, it gives you unlimited benefits of data analytics.</a:t>
            </a:r>
          </a:p>
          <a:p>
            <a:pPr marL="0" indent="0" algn="just">
              <a:buNone/>
            </a:pPr>
            <a:endParaRPr lang="en-US" b="1" dirty="0" smtClean="0"/>
          </a:p>
          <a:p>
            <a:pPr marL="0" indent="0" algn="just">
              <a:buNone/>
            </a:pPr>
            <a:r>
              <a:rPr lang="en-US" b="1" dirty="0" smtClean="0"/>
              <a:t>Automated </a:t>
            </a:r>
            <a:r>
              <a:rPr lang="en-US" b="1" dirty="0"/>
              <a:t>compliance</a:t>
            </a:r>
            <a:endParaRPr lang="en-US" dirty="0"/>
          </a:p>
          <a:p>
            <a:pPr algn="just"/>
            <a:r>
              <a:rPr lang="en-US" dirty="0"/>
              <a:t>You can program </a:t>
            </a:r>
            <a:r>
              <a:rPr lang="en-US" dirty="0" err="1"/>
              <a:t>ChatGPT</a:t>
            </a:r>
            <a:r>
              <a:rPr lang="en-US" dirty="0"/>
              <a:t> to strictly follow industry regulations and internal policies.it will ensure all your written communications are always compliant. One can hardly underestimate the efficiency of this solution, as it saves you trouble of performing regular compliance audits or hiring an outside counsel for this purpose</a:t>
            </a:r>
            <a:r>
              <a:rPr lang="en-US" dirty="0" smtClean="0"/>
              <a:t>. </a:t>
            </a:r>
            <a:endParaRPr lang="en-US" dirty="0"/>
          </a:p>
        </p:txBody>
      </p:sp>
    </p:spTree>
    <p:extLst>
      <p:ext uri="{BB962C8B-B14F-4D97-AF65-F5344CB8AC3E}">
        <p14:creationId xmlns:p14="http://schemas.microsoft.com/office/powerpoint/2010/main" val="40047109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520545" y="2265554"/>
            <a:ext cx="6608608" cy="3776018"/>
          </a:xfrm>
        </p:spPr>
      </p:pic>
      <p:sp>
        <p:nvSpPr>
          <p:cNvPr id="2" name="Rectangle 1"/>
          <p:cNvSpPr/>
          <p:nvPr/>
        </p:nvSpPr>
        <p:spPr>
          <a:xfrm>
            <a:off x="457200" y="2895600"/>
            <a:ext cx="8324088" cy="646331"/>
          </a:xfrm>
          <a:prstGeom prst="rect">
            <a:avLst/>
          </a:prstGeom>
        </p:spPr>
        <p:txBody>
          <a:bodyPr wrap="square">
            <a:spAutoFit/>
          </a:bodyPr>
          <a:lstStyle/>
          <a:p>
            <a:pPr algn="ctr"/>
            <a:r>
              <a:rPr lang="en-US" sz="3600" dirty="0" smtClean="0">
                <a:solidFill>
                  <a:srgbClr val="C00000"/>
                </a:solidFill>
                <a:effectLst>
                  <a:outerShdw blurRad="38100" dist="38100" dir="2700000" algn="tl">
                    <a:srgbClr val="000000">
                      <a:alpha val="43137"/>
                    </a:srgbClr>
                  </a:outerShdw>
                </a:effectLst>
                <a:latin typeface="Comic Sans MS" panose="030F0702030302020204" pitchFamily="66" charset="0"/>
              </a:rPr>
              <a:t>Copilots</a:t>
            </a:r>
            <a:endParaRPr lang="en-US" sz="360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498164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latin typeface="Comic Sans MS" panose="030F0702030302020204" pitchFamily="66" charset="0"/>
              </a:rPr>
              <a:t>What is Copilot?</a:t>
            </a:r>
            <a:r>
              <a:rPr lang="en-US" sz="1800" dirty="0">
                <a:latin typeface="Comic Sans MS" panose="030F0702030302020204" pitchFamily="66" charset="0"/>
              </a:rPr>
              <a:t> </a:t>
            </a:r>
          </a:p>
        </p:txBody>
      </p:sp>
      <p:sp>
        <p:nvSpPr>
          <p:cNvPr id="26627" name="Content Placeholder 2"/>
          <p:cNvSpPr>
            <a:spLocks noGrp="1"/>
          </p:cNvSpPr>
          <p:nvPr>
            <p:ph idx="1"/>
          </p:nvPr>
        </p:nvSpPr>
        <p:spPr>
          <a:xfrm>
            <a:off x="457200" y="1600200"/>
            <a:ext cx="8229600" cy="4572000"/>
          </a:xfrm>
        </p:spPr>
        <p:txBody>
          <a:bodyPr/>
          <a:lstStyle/>
          <a:p>
            <a:pPr marL="0" indent="0" algn="just">
              <a:buNone/>
            </a:pPr>
            <a:r>
              <a:rPr lang="en-US" dirty="0"/>
              <a:t>Copilot is an AI-powered coding assistant developed by GitHub in collaboration with </a:t>
            </a:r>
            <a:r>
              <a:rPr lang="en-US" dirty="0" err="1"/>
              <a:t>OpenAI</a:t>
            </a:r>
            <a:r>
              <a:rPr lang="en-US" dirty="0"/>
              <a:t>. It's integrated directly into code editors like Visual Studio Code and helps developers by suggesting code snippets, completing code, and even generating entire functions or classes based on the context. Copilot leverages the GPT architecture to understand and predict what a developer might need next, thus improving productivity and reducing the time required to write and debug code.</a:t>
            </a:r>
          </a:p>
          <a:p>
            <a:pPr marL="0" indent="0" algn="just">
              <a:buNone/>
            </a:pPr>
            <a:r>
              <a:rPr lang="en-US" dirty="0" smtClean="0"/>
              <a:t>Copilot </a:t>
            </a:r>
            <a:r>
              <a:rPr lang="en-US" dirty="0"/>
              <a:t>is an AI </a:t>
            </a:r>
            <a:r>
              <a:rPr lang="en-US" dirty="0" err="1"/>
              <a:t>chatbot</a:t>
            </a:r>
            <a:r>
              <a:rPr lang="en-US" dirty="0"/>
              <a:t> similar to </a:t>
            </a:r>
            <a:r>
              <a:rPr lang="en-US" dirty="0" err="1"/>
              <a:t>ChatGPT</a:t>
            </a:r>
            <a:r>
              <a:rPr lang="en-US" dirty="0"/>
              <a:t>, but it can be used to automate tasks, access data, generate insights, and assist with tasks to reduce employee manual work.</a:t>
            </a:r>
          </a:p>
          <a:p>
            <a:pPr marL="0" indent="0" algn="just">
              <a:buNone/>
            </a:pPr>
            <a:r>
              <a:rPr lang="en-US" dirty="0" smtClean="0"/>
              <a:t>Some </a:t>
            </a:r>
            <a:r>
              <a:rPr lang="en-US" dirty="0"/>
              <a:t>key features and general uses of </a:t>
            </a:r>
            <a:r>
              <a:rPr lang="en-US" dirty="0" smtClean="0"/>
              <a:t>Copilot are:</a:t>
            </a:r>
            <a:endParaRPr lang="en-US" dirty="0"/>
          </a:p>
          <a:p>
            <a:pPr algn="just"/>
            <a:r>
              <a:rPr lang="en-US" dirty="0"/>
              <a:t>It can read and summarize PDFs and provide bullet points of significant </a:t>
            </a:r>
            <a:r>
              <a:rPr lang="en-US" dirty="0" smtClean="0"/>
              <a:t>takeaways.</a:t>
            </a:r>
            <a:endParaRPr lang="en-US" dirty="0"/>
          </a:p>
          <a:p>
            <a:pPr algn="just"/>
            <a:r>
              <a:rPr lang="en-US" dirty="0"/>
              <a:t>Copilot can answer any question about current events, history, random facts, and </a:t>
            </a:r>
            <a:r>
              <a:rPr lang="en-US" dirty="0" smtClean="0"/>
              <a:t>more - </a:t>
            </a:r>
            <a:r>
              <a:rPr lang="en-US" dirty="0"/>
              <a:t>concisely and conversationally.</a:t>
            </a:r>
          </a:p>
          <a:p>
            <a:pPr algn="just"/>
            <a:r>
              <a:rPr lang="en-US" dirty="0"/>
              <a:t>It is run on the powerful GPT-4 AI model and earns trust with its consistent source citations.</a:t>
            </a:r>
          </a:p>
          <a:p>
            <a:pPr algn="just"/>
            <a:r>
              <a:rPr lang="en-US" dirty="0"/>
              <a:t>Copilot can analyze the current web page or </a:t>
            </a:r>
            <a:r>
              <a:rPr lang="en-US" dirty="0" smtClean="0"/>
              <a:t>user’s article user </a:t>
            </a:r>
            <a:r>
              <a:rPr lang="en-US" dirty="0"/>
              <a:t>and summarize the </a:t>
            </a:r>
            <a:r>
              <a:rPr lang="en-US" dirty="0" smtClean="0"/>
              <a:t>content.</a:t>
            </a:r>
            <a:endParaRPr lang="en-US" dirty="0"/>
          </a:p>
        </p:txBody>
      </p:sp>
    </p:spTree>
    <p:extLst>
      <p:ext uri="{BB962C8B-B14F-4D97-AF65-F5344CB8AC3E}">
        <p14:creationId xmlns:p14="http://schemas.microsoft.com/office/powerpoint/2010/main" val="3749159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Practical </a:t>
            </a:r>
            <a:r>
              <a:rPr lang="en-US" sz="1800" dirty="0" smtClean="0">
                <a:latin typeface="Comic Sans MS" panose="030F0702030302020204" pitchFamily="66" charset="0"/>
              </a:rPr>
              <a:t>applications </a:t>
            </a:r>
            <a:r>
              <a:rPr lang="en-US" sz="1800" dirty="0">
                <a:latin typeface="Comic Sans MS" panose="030F0702030302020204" pitchFamily="66" charset="0"/>
              </a:rPr>
              <a:t>of </a:t>
            </a:r>
            <a:r>
              <a:rPr lang="en-US" sz="1800" dirty="0" smtClean="0">
                <a:latin typeface="Comic Sans MS" panose="030F0702030302020204" pitchFamily="66" charset="0"/>
              </a:rPr>
              <a:t>copilot </a:t>
            </a:r>
            <a:r>
              <a:rPr lang="en-US" sz="1800" dirty="0">
                <a:latin typeface="Comic Sans MS" panose="030F0702030302020204" pitchFamily="66" charset="0"/>
              </a:rPr>
              <a:t>in </a:t>
            </a:r>
            <a:r>
              <a:rPr lang="en-US" sz="1800" dirty="0" smtClean="0">
                <a:latin typeface="Comic Sans MS" panose="030F0702030302020204" pitchFamily="66" charset="0"/>
              </a:rPr>
              <a:t>business</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lvl="0" indent="0" algn="just">
              <a:buNone/>
            </a:pPr>
            <a:r>
              <a:rPr lang="en-US" b="1" dirty="0"/>
              <a:t>Speeding Up </a:t>
            </a:r>
            <a:r>
              <a:rPr lang="en-US" b="1" dirty="0" smtClean="0"/>
              <a:t>Development</a:t>
            </a:r>
            <a:endParaRPr lang="en-US" dirty="0"/>
          </a:p>
          <a:p>
            <a:pPr marL="201448" lvl="1" indent="0" algn="just">
              <a:buNone/>
            </a:pPr>
            <a:r>
              <a:rPr lang="en-US" sz="1600" dirty="0" smtClean="0"/>
              <a:t>Copilot </a:t>
            </a:r>
            <a:r>
              <a:rPr lang="en-US" sz="1600" dirty="0"/>
              <a:t>accelerates the development process by suggesting code snippets, reducing the time spent on writing repetitive code.</a:t>
            </a:r>
          </a:p>
          <a:p>
            <a:pPr marL="0" lvl="0" indent="0" algn="just">
              <a:buNone/>
            </a:pPr>
            <a:r>
              <a:rPr lang="en-US" b="1" dirty="0"/>
              <a:t>Improving Code </a:t>
            </a:r>
            <a:r>
              <a:rPr lang="en-US" b="1" dirty="0" smtClean="0"/>
              <a:t>Quality</a:t>
            </a:r>
            <a:endParaRPr lang="en-US" dirty="0"/>
          </a:p>
          <a:p>
            <a:pPr marL="201448" lvl="1" indent="0" algn="just">
              <a:buNone/>
            </a:pPr>
            <a:r>
              <a:rPr lang="en-US" sz="1600" dirty="0" smtClean="0"/>
              <a:t>Copilot </a:t>
            </a:r>
            <a:r>
              <a:rPr lang="en-US" sz="1600" dirty="0"/>
              <a:t>suggests best practices and optimizations, helping developers write cleaner and more efficient code.</a:t>
            </a:r>
          </a:p>
          <a:p>
            <a:pPr marL="0" lvl="0" indent="0" algn="just">
              <a:buNone/>
            </a:pPr>
            <a:r>
              <a:rPr lang="en-US" b="1" dirty="0"/>
              <a:t>Supporting Learning and </a:t>
            </a:r>
            <a:r>
              <a:rPr lang="en-US" b="1" dirty="0" smtClean="0"/>
              <a:t>Collaboration</a:t>
            </a:r>
            <a:endParaRPr lang="en-US" dirty="0"/>
          </a:p>
          <a:p>
            <a:pPr marL="201448" lvl="1" indent="0" algn="just">
              <a:buNone/>
            </a:pPr>
            <a:r>
              <a:rPr lang="en-US" sz="1600" dirty="0" smtClean="0"/>
              <a:t>Copilot </a:t>
            </a:r>
            <a:r>
              <a:rPr lang="en-US" sz="1600" dirty="0"/>
              <a:t>aids junior developers in learning programming languages and coding practices by providing real-time examples and explanations.</a:t>
            </a:r>
          </a:p>
        </p:txBody>
      </p:sp>
    </p:spTree>
    <p:extLst>
      <p:ext uri="{BB962C8B-B14F-4D97-AF65-F5344CB8AC3E}">
        <p14:creationId xmlns:p14="http://schemas.microsoft.com/office/powerpoint/2010/main" val="20231990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latin typeface="Comic Sans MS" panose="030F0702030302020204" pitchFamily="66" charset="0"/>
              </a:rPr>
              <a:t>Specific use cases for Copilot</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indent="0" algn="just">
              <a:buNone/>
            </a:pPr>
            <a:r>
              <a:rPr lang="en-US" dirty="0" smtClean="0"/>
              <a:t>Create </a:t>
            </a:r>
            <a:r>
              <a:rPr lang="en-US" dirty="0"/>
              <a:t>AI-generated images</a:t>
            </a:r>
          </a:p>
          <a:p>
            <a:pPr algn="just"/>
            <a:r>
              <a:rPr lang="en-US" dirty="0" smtClean="0"/>
              <a:t>Users </a:t>
            </a:r>
            <a:r>
              <a:rPr lang="en-US" dirty="0"/>
              <a:t>can use Bing to create AI-generated images within the Copilot window. This feature </a:t>
            </a:r>
            <a:r>
              <a:rPr lang="en-US" dirty="0" smtClean="0"/>
              <a:t>allow users </a:t>
            </a:r>
            <a:r>
              <a:rPr lang="en-US" dirty="0"/>
              <a:t>to generate unique and creative graphics using plain English prompts. For example, </a:t>
            </a:r>
            <a:r>
              <a:rPr lang="en-US" dirty="0" smtClean="0"/>
              <a:t>user </a:t>
            </a:r>
            <a:r>
              <a:rPr lang="en-US" dirty="0"/>
              <a:t>can type “Can you generate a photo-realistic image of a businesswoman working on her Windows PC using AI tools?” and get </a:t>
            </a:r>
            <a:r>
              <a:rPr lang="en-US" dirty="0" smtClean="0"/>
              <a:t>following image…</a:t>
            </a:r>
            <a:endParaRPr lang="en-US" dirty="0"/>
          </a:p>
        </p:txBody>
      </p:sp>
    </p:spTree>
    <p:extLst>
      <p:ext uri="{BB962C8B-B14F-4D97-AF65-F5344CB8AC3E}">
        <p14:creationId xmlns:p14="http://schemas.microsoft.com/office/powerpoint/2010/main" val="5703072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sp-ao.shortpixel.ai/client/to_webp,q_glossy,ret_img,w_2048,h_1428/https:/www.evron.com/wp-content/uploads/2023/09/Bing-Chat-Generate-Image-Evr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838200"/>
            <a:ext cx="8414869" cy="60198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a:spLocks noGrp="1"/>
          </p:cNvSpPr>
          <p:nvPr>
            <p:ph idx="1"/>
          </p:nvPr>
        </p:nvSpPr>
        <p:spPr>
          <a:xfrm>
            <a:off x="3886200" y="4419600"/>
            <a:ext cx="4833469" cy="685800"/>
          </a:xfrm>
        </p:spPr>
        <p:txBody>
          <a:bodyPr/>
          <a:lstStyle/>
          <a:p>
            <a:pPr marL="0" indent="0" algn="just">
              <a:buNone/>
            </a:pPr>
            <a:r>
              <a:rPr lang="en-US" sz="1400" i="1" dirty="0" smtClean="0"/>
              <a:t>You </a:t>
            </a:r>
            <a:r>
              <a:rPr lang="en-US" sz="1400" i="1" dirty="0"/>
              <a:t>can learn more about Microsoft Designer and DALL-E </a:t>
            </a:r>
            <a:r>
              <a:rPr lang="en-US" sz="1400" i="1" dirty="0" smtClean="0"/>
              <a:t>from</a:t>
            </a:r>
          </a:p>
          <a:p>
            <a:pPr algn="just"/>
            <a:r>
              <a:rPr lang="en-US" sz="1400" i="1" dirty="0" smtClean="0"/>
              <a:t>https</a:t>
            </a:r>
            <a:r>
              <a:rPr lang="en-US" sz="1400" i="1" dirty="0"/>
              <a:t>://create.microsoft.com/en-us/learn/articles/how-to-image-prompts-dall-e-ai</a:t>
            </a:r>
          </a:p>
        </p:txBody>
      </p:sp>
    </p:spTree>
    <p:extLst>
      <p:ext uri="{BB962C8B-B14F-4D97-AF65-F5344CB8AC3E}">
        <p14:creationId xmlns:p14="http://schemas.microsoft.com/office/powerpoint/2010/main" val="41497283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Real-time competitive intelligence</a:t>
            </a:r>
          </a:p>
        </p:txBody>
      </p:sp>
      <p:sp>
        <p:nvSpPr>
          <p:cNvPr id="26627" name="Content Placeholder 2"/>
          <p:cNvSpPr>
            <a:spLocks noGrp="1"/>
          </p:cNvSpPr>
          <p:nvPr>
            <p:ph idx="1"/>
          </p:nvPr>
        </p:nvSpPr>
        <p:spPr>
          <a:xfrm>
            <a:off x="457200" y="1600200"/>
            <a:ext cx="8229600" cy="4572000"/>
          </a:xfrm>
        </p:spPr>
        <p:txBody>
          <a:bodyPr/>
          <a:lstStyle/>
          <a:p>
            <a:pPr marL="0" indent="0" algn="just">
              <a:buNone/>
            </a:pPr>
            <a:r>
              <a:rPr lang="en-US" dirty="0" smtClean="0"/>
              <a:t>Copilot </a:t>
            </a:r>
            <a:r>
              <a:rPr lang="en-US" dirty="0"/>
              <a:t>can be valuable for gaining real-time competitive intelligence using AI techniques and web data. </a:t>
            </a:r>
            <a:endParaRPr lang="en-US" dirty="0" smtClean="0"/>
          </a:p>
          <a:p>
            <a:pPr marL="0" indent="0" algn="just">
              <a:buNone/>
            </a:pPr>
            <a:r>
              <a:rPr lang="en-US" dirty="0" smtClean="0"/>
              <a:t>For </a:t>
            </a:r>
            <a:r>
              <a:rPr lang="en-US" dirty="0"/>
              <a:t>example, a marketing analyst needs to research a competitor’s new product launch. The analyst asks Copilot about the product’s pricing, features, and launch strategy. </a:t>
            </a:r>
            <a:r>
              <a:rPr lang="en-US" dirty="0" smtClean="0"/>
              <a:t>Based on </a:t>
            </a:r>
            <a:r>
              <a:rPr lang="en-US" dirty="0"/>
              <a:t>natural language processing, Copilot understands the intent and responds with a summary of the most relevant information it finds across the web, like press releases, product reviews, and industry analysis</a:t>
            </a:r>
            <a:r>
              <a:rPr lang="en-US" dirty="0" smtClean="0"/>
              <a:t>.</a:t>
            </a:r>
          </a:p>
          <a:p>
            <a:pPr marL="0" indent="0" algn="just">
              <a:buNone/>
            </a:pPr>
            <a:endParaRPr lang="en-US" dirty="0"/>
          </a:p>
          <a:p>
            <a:pPr marL="0" indent="0" algn="just">
              <a:buNone/>
            </a:pPr>
            <a:r>
              <a:rPr lang="en-US" dirty="0"/>
              <a:t>Copilot can provide rapid insights by applying AI approaches such as machine learning to </a:t>
            </a:r>
            <a:r>
              <a:rPr lang="en-US" dirty="0" smtClean="0"/>
              <a:t>analyze a pool </a:t>
            </a:r>
            <a:r>
              <a:rPr lang="en-US" dirty="0"/>
              <a:t>of unstructured web data quickly. The analyst can then ask more </a:t>
            </a:r>
            <a:r>
              <a:rPr lang="en-US" dirty="0" smtClean="0"/>
              <a:t>questions </a:t>
            </a:r>
            <a:r>
              <a:rPr lang="en-US" dirty="0"/>
              <a:t>to investigate the competitor’s marketing messaging, positioning, and potential vulnerabilities. This AI-augmented access to continuously updated web data helps the analyst efficiently conduct competitive research and identify </a:t>
            </a:r>
            <a:r>
              <a:rPr lang="en-US" dirty="0" smtClean="0"/>
              <a:t>the </a:t>
            </a:r>
            <a:r>
              <a:rPr lang="en-US" dirty="0"/>
              <a:t>strategic insights in real-time.</a:t>
            </a:r>
          </a:p>
        </p:txBody>
      </p:sp>
    </p:spTree>
    <p:extLst>
      <p:ext uri="{BB962C8B-B14F-4D97-AF65-F5344CB8AC3E}">
        <p14:creationId xmlns:p14="http://schemas.microsoft.com/office/powerpoint/2010/main" val="29385485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Comparing AI </a:t>
            </a:r>
            <a:r>
              <a:rPr lang="en-US" sz="1800" dirty="0" err="1">
                <a:latin typeface="Comic Sans MS" panose="030F0702030302020204" pitchFamily="66" charset="0"/>
              </a:rPr>
              <a:t>Chatbots</a:t>
            </a:r>
            <a:r>
              <a:rPr lang="en-US" sz="1800" dirty="0">
                <a:latin typeface="Comic Sans MS" panose="030F0702030302020204" pitchFamily="66" charset="0"/>
              </a:rPr>
              <a:t> for Business: Copilot and </a:t>
            </a:r>
            <a:r>
              <a:rPr lang="en-US" sz="1800" dirty="0" err="1">
                <a:latin typeface="Comic Sans MS" panose="030F0702030302020204" pitchFamily="66" charset="0"/>
              </a:rPr>
              <a:t>ChatGPT</a:t>
            </a:r>
            <a:r>
              <a:rPr lang="en-US" sz="1800" dirty="0">
                <a:latin typeface="Comic Sans MS" panose="030F0702030302020204" pitchFamily="66" charset="0"/>
              </a:rPr>
              <a:t> Features</a:t>
            </a:r>
          </a:p>
        </p:txBody>
      </p:sp>
      <p:sp>
        <p:nvSpPr>
          <p:cNvPr id="26627" name="Content Placeholder 2"/>
          <p:cNvSpPr>
            <a:spLocks noGrp="1"/>
          </p:cNvSpPr>
          <p:nvPr>
            <p:ph idx="1"/>
          </p:nvPr>
        </p:nvSpPr>
        <p:spPr>
          <a:xfrm>
            <a:off x="533400" y="1295400"/>
            <a:ext cx="4038600" cy="4495800"/>
          </a:xfrm>
        </p:spPr>
        <p:txBody>
          <a:bodyPr/>
          <a:lstStyle/>
          <a:p>
            <a:pPr marL="0" indent="0" algn="ctr">
              <a:buNone/>
            </a:pPr>
            <a:r>
              <a:rPr lang="en-US" b="1" dirty="0" smtClean="0"/>
              <a:t>Copilot benefits</a:t>
            </a:r>
          </a:p>
          <a:p>
            <a:pPr marL="0" indent="0" algn="ctr">
              <a:buNone/>
            </a:pPr>
            <a:endParaRPr lang="en-US" b="1" dirty="0" smtClean="0"/>
          </a:p>
          <a:p>
            <a:pPr algn="just"/>
            <a:r>
              <a:rPr lang="en-US" i="1" dirty="0" smtClean="0"/>
              <a:t>Streamlined </a:t>
            </a:r>
            <a:r>
              <a:rPr lang="en-US" i="1" dirty="0"/>
              <a:t>workflows: </a:t>
            </a:r>
            <a:r>
              <a:rPr lang="en-US" dirty="0"/>
              <a:t>Copilot can automate tasks and access data to reduce an employee’s manual work. This can improve productivity.</a:t>
            </a:r>
          </a:p>
          <a:p>
            <a:pPr algn="just"/>
            <a:r>
              <a:rPr lang="en-US" i="1" dirty="0"/>
              <a:t>Up-to-date information: </a:t>
            </a:r>
            <a:r>
              <a:rPr lang="en-US" dirty="0"/>
              <a:t>Since Bing is a search engine, the </a:t>
            </a:r>
            <a:r>
              <a:rPr lang="en-US" dirty="0" err="1"/>
              <a:t>chatbot</a:t>
            </a:r>
            <a:r>
              <a:rPr lang="en-US" dirty="0"/>
              <a:t> can provide real-time data from the web. This ensures accurate, current information.</a:t>
            </a:r>
          </a:p>
          <a:p>
            <a:pPr algn="just"/>
            <a:r>
              <a:rPr lang="en-US" i="1" dirty="0"/>
              <a:t>Enhanced security: </a:t>
            </a:r>
            <a:r>
              <a:rPr lang="en-US" dirty="0"/>
              <a:t>Copilot offers encrypted chat data and built-in privacy features to prevent leaks. It also has limited access and commercial data protection.</a:t>
            </a:r>
          </a:p>
          <a:p>
            <a:pPr algn="just"/>
            <a:r>
              <a:rPr lang="en-US" i="1" dirty="0"/>
              <a:t>Customizable options: </a:t>
            </a:r>
            <a:r>
              <a:rPr lang="en-US" dirty="0"/>
              <a:t>Bing provides three chat modes and AI fine-tuning options to optimize the bot for different needs. </a:t>
            </a:r>
            <a:r>
              <a:rPr lang="en-US" dirty="0" err="1"/>
              <a:t>ChatGPT</a:t>
            </a:r>
            <a:r>
              <a:rPr lang="en-US" dirty="0"/>
              <a:t> does not have customizable settings.</a:t>
            </a:r>
          </a:p>
        </p:txBody>
      </p:sp>
      <p:sp>
        <p:nvSpPr>
          <p:cNvPr id="4" name="Content Placeholder 2"/>
          <p:cNvSpPr txBox="1">
            <a:spLocks/>
          </p:cNvSpPr>
          <p:nvPr/>
        </p:nvSpPr>
        <p:spPr>
          <a:xfrm>
            <a:off x="4800600" y="1295400"/>
            <a:ext cx="3886200" cy="4495800"/>
          </a:xfrm>
        </p:spPr>
        <p:txBody>
          <a:bodyPr/>
          <a:lst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a:lstStyle>
          <a:p>
            <a:pPr marL="0" indent="0" algn="ctr">
              <a:buNone/>
            </a:pPr>
            <a:r>
              <a:rPr lang="en-US" b="1" dirty="0" err="1" smtClean="0"/>
              <a:t>ChatGPT</a:t>
            </a:r>
            <a:r>
              <a:rPr lang="en-US" b="1" dirty="0" smtClean="0"/>
              <a:t> benefits</a:t>
            </a:r>
          </a:p>
          <a:p>
            <a:pPr marL="0" indent="0" algn="ctr">
              <a:buNone/>
            </a:pPr>
            <a:endParaRPr lang="en-US" b="1" dirty="0" smtClean="0"/>
          </a:p>
          <a:p>
            <a:pPr algn="just"/>
            <a:r>
              <a:rPr lang="en-US" i="1" dirty="0" smtClean="0"/>
              <a:t>More </a:t>
            </a:r>
            <a:r>
              <a:rPr lang="en-US" i="1" dirty="0"/>
              <a:t>conversational: </a:t>
            </a:r>
            <a:r>
              <a:rPr lang="en-US" dirty="0" err="1"/>
              <a:t>ChatGPT</a:t>
            </a:r>
            <a:r>
              <a:rPr lang="en-US" dirty="0"/>
              <a:t> tends to provide longer, more conversational responses that mimic human chats. Bing replies can be more concise.</a:t>
            </a:r>
          </a:p>
          <a:p>
            <a:pPr algn="just"/>
            <a:r>
              <a:rPr lang="en-US" i="1" dirty="0"/>
              <a:t>Broader knowledge: </a:t>
            </a:r>
            <a:r>
              <a:rPr lang="en-US" dirty="0"/>
              <a:t>Without web access, </a:t>
            </a:r>
            <a:r>
              <a:rPr lang="en-US" dirty="0" err="1"/>
              <a:t>ChatGPT</a:t>
            </a:r>
            <a:r>
              <a:rPr lang="en-US" dirty="0"/>
              <a:t> relies on its vast training data to answer various questions and scenarios.</a:t>
            </a:r>
          </a:p>
          <a:p>
            <a:pPr algn="just"/>
            <a:r>
              <a:rPr lang="en-US" i="1" dirty="0"/>
              <a:t>Easy to use: </a:t>
            </a:r>
            <a:r>
              <a:rPr lang="en-US" dirty="0" err="1"/>
              <a:t>ChatGPT</a:t>
            </a:r>
            <a:r>
              <a:rPr lang="en-US" dirty="0"/>
              <a:t> does not require any account or integration. Anyone can start chatting with no setup or restrictions.</a:t>
            </a:r>
          </a:p>
        </p:txBody>
      </p:sp>
      <p:cxnSp>
        <p:nvCxnSpPr>
          <p:cNvPr id="3" name="Straight Connector 2"/>
          <p:cNvCxnSpPr/>
          <p:nvPr/>
        </p:nvCxnSpPr>
        <p:spPr>
          <a:xfrm>
            <a:off x="381000" y="1752600"/>
            <a:ext cx="8382000" cy="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724400" y="1371600"/>
            <a:ext cx="0" cy="525780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2494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Copilot </a:t>
            </a:r>
            <a:r>
              <a:rPr lang="en-US" sz="1800" dirty="0" smtClean="0">
                <a:latin typeface="Comic Sans MS" panose="030F0702030302020204" pitchFamily="66" charset="0"/>
              </a:rPr>
              <a:t>vs. </a:t>
            </a:r>
            <a:r>
              <a:rPr lang="en-US" sz="1800" dirty="0" err="1">
                <a:latin typeface="Comic Sans MS" panose="030F0702030302020204" pitchFamily="66" charset="0"/>
              </a:rPr>
              <a:t>ChatGPT</a:t>
            </a:r>
            <a:r>
              <a:rPr lang="en-US" sz="1800" dirty="0">
                <a:latin typeface="Comic Sans MS" panose="030F0702030302020204" pitchFamily="66" charset="0"/>
              </a:rPr>
              <a:t> for </a:t>
            </a:r>
            <a:r>
              <a:rPr lang="en-US" sz="1800" dirty="0" smtClean="0">
                <a:latin typeface="Comic Sans MS" panose="030F0702030302020204" pitchFamily="66" charset="0"/>
              </a:rPr>
              <a:t>business efficiency (1)</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indent="0">
              <a:buNone/>
            </a:pPr>
            <a:r>
              <a:rPr lang="en-US" dirty="0"/>
              <a:t>Access and </a:t>
            </a:r>
            <a:r>
              <a:rPr lang="en-US" dirty="0" smtClean="0"/>
              <a:t>usage </a:t>
            </a:r>
            <a:r>
              <a:rPr lang="en-US" dirty="0"/>
              <a:t>l</a:t>
            </a:r>
            <a:r>
              <a:rPr lang="en-US" dirty="0" smtClean="0"/>
              <a:t>imits</a:t>
            </a:r>
            <a:r>
              <a:rPr lang="en-US" dirty="0"/>
              <a:t>:</a:t>
            </a:r>
          </a:p>
          <a:p>
            <a:pPr algn="just"/>
            <a:r>
              <a:rPr lang="en-US" dirty="0"/>
              <a:t>One central distinction between the two AI </a:t>
            </a:r>
            <a:r>
              <a:rPr lang="en-US" dirty="0" err="1"/>
              <a:t>chatbots</a:t>
            </a:r>
            <a:r>
              <a:rPr lang="en-US" dirty="0"/>
              <a:t> is the required access and usage restrictions. Copilot requires a Microsoft account to chat with the bot. Microsoft has also </a:t>
            </a:r>
            <a:r>
              <a:rPr lang="en-US" dirty="0" smtClean="0"/>
              <a:t>defined </a:t>
            </a:r>
            <a:r>
              <a:rPr lang="en-US" dirty="0"/>
              <a:t>usage caps, 30 turns per session and 300 daily chats for account holders.</a:t>
            </a:r>
          </a:p>
          <a:p>
            <a:pPr algn="just"/>
            <a:r>
              <a:rPr lang="en-US" dirty="0"/>
              <a:t>In contrast, </a:t>
            </a:r>
            <a:r>
              <a:rPr lang="en-US" dirty="0" err="1"/>
              <a:t>ChatGPT</a:t>
            </a:r>
            <a:r>
              <a:rPr lang="en-US" dirty="0"/>
              <a:t> (Free) does not require any account or approval to begin chatting. Any user can go directly to the </a:t>
            </a:r>
            <a:r>
              <a:rPr lang="en-US" dirty="0" err="1"/>
              <a:t>ChatGPT</a:t>
            </a:r>
            <a:r>
              <a:rPr lang="en-US" dirty="0"/>
              <a:t> site and instantly ask questions without usage limits. While the open access </a:t>
            </a:r>
            <a:r>
              <a:rPr lang="en-US" dirty="0" smtClean="0"/>
              <a:t>boosts the </a:t>
            </a:r>
            <a:r>
              <a:rPr lang="en-US" dirty="0" err="1"/>
              <a:t>ChatGPT’s</a:t>
            </a:r>
            <a:r>
              <a:rPr lang="en-US" dirty="0"/>
              <a:t> popularity, it also makes the bot harder for its creators to control and monitor.</a:t>
            </a:r>
          </a:p>
        </p:txBody>
      </p:sp>
    </p:spTree>
    <p:extLst>
      <p:ext uri="{BB962C8B-B14F-4D97-AF65-F5344CB8AC3E}">
        <p14:creationId xmlns:p14="http://schemas.microsoft.com/office/powerpoint/2010/main" val="13880256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latin typeface="Comic Sans MS" panose="030F0702030302020204" pitchFamily="66" charset="0"/>
              </a:rPr>
              <a:t>Copilot </a:t>
            </a:r>
            <a:r>
              <a:rPr lang="en-US" sz="1800" dirty="0" smtClean="0">
                <a:latin typeface="Comic Sans MS" panose="030F0702030302020204" pitchFamily="66" charset="0"/>
              </a:rPr>
              <a:t>vs. </a:t>
            </a:r>
            <a:r>
              <a:rPr lang="en-US" sz="1800" dirty="0" err="1">
                <a:latin typeface="Comic Sans MS" panose="030F0702030302020204" pitchFamily="66" charset="0"/>
              </a:rPr>
              <a:t>ChatGPT</a:t>
            </a:r>
            <a:r>
              <a:rPr lang="en-US" sz="1800" dirty="0">
                <a:latin typeface="Comic Sans MS" panose="030F0702030302020204" pitchFamily="66" charset="0"/>
              </a:rPr>
              <a:t> for </a:t>
            </a:r>
            <a:r>
              <a:rPr lang="en-US" sz="1800" dirty="0" smtClean="0">
                <a:latin typeface="Comic Sans MS" panose="030F0702030302020204" pitchFamily="66" charset="0"/>
              </a:rPr>
              <a:t>business efficiency (2)</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indent="0">
              <a:buNone/>
            </a:pPr>
            <a:r>
              <a:rPr lang="en-US" dirty="0"/>
              <a:t>Data privacy </a:t>
            </a:r>
            <a:r>
              <a:rPr lang="en-US" dirty="0" smtClean="0"/>
              <a:t>and security</a:t>
            </a:r>
            <a:r>
              <a:rPr lang="en-US" dirty="0"/>
              <a:t>:</a:t>
            </a:r>
          </a:p>
          <a:p>
            <a:pPr algn="just"/>
            <a:r>
              <a:rPr lang="en-US" dirty="0"/>
              <a:t>Microsoft takes a principled approach to developing responsible AI, and this </a:t>
            </a:r>
            <a:r>
              <a:rPr lang="en-US" dirty="0" smtClean="0"/>
              <a:t>attitude </a:t>
            </a:r>
            <a:r>
              <a:rPr lang="en-US" dirty="0"/>
              <a:t>is reflected in Copilot for </a:t>
            </a:r>
            <a:r>
              <a:rPr lang="en-US" dirty="0" smtClean="0"/>
              <a:t>enterprise</a:t>
            </a:r>
            <a:r>
              <a:rPr lang="en-US" dirty="0"/>
              <a:t>. It provides robust commercial data protection to keep business information secure. The </a:t>
            </a:r>
            <a:r>
              <a:rPr lang="en-US" dirty="0" err="1"/>
              <a:t>chatbot’s</a:t>
            </a:r>
            <a:r>
              <a:rPr lang="en-US" dirty="0"/>
              <a:t> responses are grounded in verifiable web data from reliable sources, not unproven information.</a:t>
            </a:r>
          </a:p>
          <a:p>
            <a:pPr algn="just"/>
            <a:r>
              <a:rPr lang="en-US" dirty="0"/>
              <a:t>Microsoft created Copilot following its AI principles of fairness, reliability, safety, privacy, security, inclusiveness, transparency, and accountability. The company also works closely with its partner </a:t>
            </a:r>
            <a:r>
              <a:rPr lang="en-US" dirty="0" err="1"/>
              <a:t>OpenAI</a:t>
            </a:r>
            <a:r>
              <a:rPr lang="en-US" dirty="0"/>
              <a:t> to encourage responsible use of the technology.</a:t>
            </a:r>
          </a:p>
          <a:p>
            <a:pPr algn="just"/>
            <a:r>
              <a:rPr lang="en-US" dirty="0"/>
              <a:t>Additionally, Microsoft heavily incorporates user feedback to improve Copilot before releasing it more broadly, helping ensure it remains trustworthy. Between commercial data protections, web-based responses, ethical AI principles, and extensive user testing, Microsoft has implemented multilayered measures to deliver a safe Copilot experience.</a:t>
            </a:r>
          </a:p>
        </p:txBody>
      </p:sp>
    </p:spTree>
    <p:extLst>
      <p:ext uri="{BB962C8B-B14F-4D97-AF65-F5344CB8AC3E}">
        <p14:creationId xmlns:p14="http://schemas.microsoft.com/office/powerpoint/2010/main" val="1696666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520545" y="2265554"/>
            <a:ext cx="6608608" cy="3776018"/>
          </a:xfrm>
        </p:spPr>
      </p:pic>
      <p:sp>
        <p:nvSpPr>
          <p:cNvPr id="2" name="Rectangle 1"/>
          <p:cNvSpPr/>
          <p:nvPr/>
        </p:nvSpPr>
        <p:spPr>
          <a:xfrm>
            <a:off x="457200" y="2895600"/>
            <a:ext cx="8324088" cy="646331"/>
          </a:xfrm>
          <a:prstGeom prst="rect">
            <a:avLst/>
          </a:prstGeom>
        </p:spPr>
        <p:txBody>
          <a:bodyPr wrap="square">
            <a:spAutoFit/>
          </a:bodyPr>
          <a:lstStyle/>
          <a:p>
            <a:pPr algn="ctr"/>
            <a:r>
              <a:rPr lang="en-US" sz="3600" dirty="0" err="1" smtClean="0">
                <a:solidFill>
                  <a:srgbClr val="C00000"/>
                </a:solidFill>
                <a:effectLst>
                  <a:outerShdw blurRad="38100" dist="38100" dir="2700000" algn="tl">
                    <a:srgbClr val="000000">
                      <a:alpha val="43137"/>
                    </a:srgbClr>
                  </a:outerShdw>
                </a:effectLst>
                <a:latin typeface="Comic Sans MS" panose="030F0702030302020204" pitchFamily="66" charset="0"/>
              </a:rPr>
              <a:t>Chatbots</a:t>
            </a:r>
            <a:endParaRPr lang="en-US" sz="360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9735385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latin typeface="Comic Sans MS" panose="030F0702030302020204" pitchFamily="66" charset="0"/>
              </a:rPr>
              <a:t>What are bots?</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lvl="0" indent="0" algn="just">
              <a:buNone/>
            </a:pPr>
            <a:r>
              <a:rPr lang="en-US" dirty="0" smtClean="0"/>
              <a:t>Bots, also known as "robots," are automated software programs that perform specific tasks on the internet. These tasks are often repetitive, mundane, or require handling large volumes of data, making bots ideal for automating them. Bots can be simple scripts that follow a set of predefined rules, or they can be more advanced, leveraging artificial intelligence (AI) to interact with users and systems in a more sophisticated manner.</a:t>
            </a:r>
          </a:p>
          <a:p>
            <a:pPr marL="0" lvl="0" indent="0" algn="just">
              <a:buNone/>
            </a:pPr>
            <a:endParaRPr lang="en-US" dirty="0"/>
          </a:p>
          <a:p>
            <a:pPr marL="0" indent="0" algn="just">
              <a:buNone/>
            </a:pPr>
            <a:r>
              <a:rPr lang="en-US" b="1" dirty="0"/>
              <a:t>Types of </a:t>
            </a:r>
            <a:r>
              <a:rPr lang="en-US" b="1" dirty="0" smtClean="0"/>
              <a:t>Bots</a:t>
            </a:r>
            <a:endParaRPr lang="en-US" b="1" dirty="0"/>
          </a:p>
          <a:p>
            <a:pPr algn="just"/>
            <a:r>
              <a:rPr lang="en-US" b="1" dirty="0" err="1" smtClean="0"/>
              <a:t>Chatbots</a:t>
            </a:r>
            <a:r>
              <a:rPr lang="en-US" b="1" dirty="0" smtClean="0"/>
              <a:t> </a:t>
            </a:r>
            <a:r>
              <a:rPr lang="en-US" dirty="0" smtClean="0"/>
              <a:t>- engage </a:t>
            </a:r>
            <a:r>
              <a:rPr lang="en-US" dirty="0"/>
              <a:t>in conversations with users, often providing customer support, answering questions, or assisting with </a:t>
            </a:r>
            <a:r>
              <a:rPr lang="en-US" dirty="0" smtClean="0"/>
              <a:t>tasks.</a:t>
            </a:r>
            <a:endParaRPr lang="en-US" dirty="0"/>
          </a:p>
          <a:p>
            <a:pPr algn="just"/>
            <a:r>
              <a:rPr lang="en-US" b="1" dirty="0" smtClean="0"/>
              <a:t>Web </a:t>
            </a:r>
            <a:r>
              <a:rPr lang="en-US" b="1" dirty="0"/>
              <a:t>Crawlers (Spiders</a:t>
            </a:r>
            <a:r>
              <a:rPr lang="en-US" b="1" dirty="0" smtClean="0"/>
              <a:t>) </a:t>
            </a:r>
            <a:r>
              <a:rPr lang="en-US" dirty="0" smtClean="0"/>
              <a:t>- </a:t>
            </a:r>
            <a:r>
              <a:rPr lang="en-US" dirty="0"/>
              <a:t>i</a:t>
            </a:r>
            <a:r>
              <a:rPr lang="en-US" dirty="0" smtClean="0"/>
              <a:t>ndex </a:t>
            </a:r>
            <a:r>
              <a:rPr lang="en-US" dirty="0"/>
              <a:t>web pages for search engines like Google. They scan websites, follow links, and collect data to help build search engine indexes</a:t>
            </a:r>
            <a:r>
              <a:rPr lang="en-US" dirty="0" smtClean="0"/>
              <a:t>. </a:t>
            </a:r>
          </a:p>
          <a:p>
            <a:pPr algn="just"/>
            <a:r>
              <a:rPr lang="en-US" b="1" dirty="0" smtClean="0"/>
              <a:t>Social </a:t>
            </a:r>
            <a:r>
              <a:rPr lang="en-US" b="1" dirty="0"/>
              <a:t>Media </a:t>
            </a:r>
            <a:r>
              <a:rPr lang="en-US" b="1" dirty="0" smtClean="0"/>
              <a:t>Bots </a:t>
            </a:r>
            <a:r>
              <a:rPr lang="en-US" dirty="0" smtClean="0"/>
              <a:t>- automate </a:t>
            </a:r>
            <a:r>
              <a:rPr lang="en-US" dirty="0"/>
              <a:t>interactions on social media platforms, such as liking, commenting, or following users.</a:t>
            </a:r>
          </a:p>
          <a:p>
            <a:pPr algn="just"/>
            <a:r>
              <a:rPr lang="en-US" b="1" dirty="0" smtClean="0"/>
              <a:t>Transactional Bots </a:t>
            </a:r>
            <a:r>
              <a:rPr lang="en-US" dirty="0" smtClean="0"/>
              <a:t>- automate </a:t>
            </a:r>
            <a:r>
              <a:rPr lang="en-US" dirty="0"/>
              <a:t>financial transactions or other repetitive tasks in business processes.</a:t>
            </a:r>
          </a:p>
          <a:p>
            <a:pPr marL="201448" lvl="1" indent="0" algn="just">
              <a:buNone/>
            </a:pPr>
            <a:endParaRPr lang="en-US" sz="1600" dirty="0"/>
          </a:p>
        </p:txBody>
      </p:sp>
    </p:spTree>
    <p:extLst>
      <p:ext uri="{BB962C8B-B14F-4D97-AF65-F5344CB8AC3E}">
        <p14:creationId xmlns:p14="http://schemas.microsoft.com/office/powerpoint/2010/main" val="9327757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latin typeface="Comic Sans MS" panose="030F0702030302020204" pitchFamily="66" charset="0"/>
              </a:rPr>
              <a:t>Bots </a:t>
            </a:r>
            <a:r>
              <a:rPr lang="en-US" sz="1800" dirty="0">
                <a:latin typeface="Comic Sans MS" panose="030F0702030302020204" pitchFamily="66" charset="0"/>
              </a:rPr>
              <a:t>in </a:t>
            </a:r>
            <a:r>
              <a:rPr lang="en-US" sz="1800" dirty="0" smtClean="0">
                <a:latin typeface="Comic Sans MS" panose="030F0702030302020204" pitchFamily="66" charset="0"/>
              </a:rPr>
              <a:t>process automation</a:t>
            </a:r>
            <a:endParaRPr lang="en-US" sz="1800" dirty="0">
              <a:latin typeface="Comic Sans MS" panose="030F0702030302020204" pitchFamily="66" charset="0"/>
            </a:endParaRPr>
          </a:p>
        </p:txBody>
      </p:sp>
      <p:sp>
        <p:nvSpPr>
          <p:cNvPr id="26627" name="Content Placeholder 2"/>
          <p:cNvSpPr>
            <a:spLocks noGrp="1"/>
          </p:cNvSpPr>
          <p:nvPr>
            <p:ph idx="1"/>
          </p:nvPr>
        </p:nvSpPr>
        <p:spPr>
          <a:xfrm>
            <a:off x="457200" y="1600200"/>
            <a:ext cx="8229600" cy="4572000"/>
          </a:xfrm>
        </p:spPr>
        <p:txBody>
          <a:bodyPr/>
          <a:lstStyle/>
          <a:p>
            <a:pPr marL="0" lvl="0" indent="0" algn="just">
              <a:buNone/>
            </a:pPr>
            <a:r>
              <a:rPr lang="en-US" b="1" dirty="0" smtClean="0"/>
              <a:t>Streamlining operations</a:t>
            </a:r>
            <a:r>
              <a:rPr lang="en-US" dirty="0"/>
              <a:t> </a:t>
            </a:r>
            <a:endParaRPr lang="en-US" dirty="0" smtClean="0"/>
          </a:p>
          <a:p>
            <a:pPr marL="0" lvl="0" indent="0" algn="just">
              <a:buNone/>
            </a:pPr>
            <a:r>
              <a:rPr lang="en-US" sz="1600" dirty="0" smtClean="0"/>
              <a:t>Bots </a:t>
            </a:r>
            <a:r>
              <a:rPr lang="en-US" sz="1600" dirty="0"/>
              <a:t>can automate repetitive business processes like billing, scheduling, and data management.</a:t>
            </a:r>
          </a:p>
          <a:p>
            <a:pPr marL="0" lvl="0" indent="0" algn="just">
              <a:buNone/>
            </a:pPr>
            <a:endParaRPr lang="en-US" b="1" dirty="0" smtClean="0"/>
          </a:p>
          <a:p>
            <a:pPr marL="0" lvl="0" indent="0" algn="just">
              <a:buNone/>
            </a:pPr>
            <a:r>
              <a:rPr lang="en-US" b="1" dirty="0" smtClean="0"/>
              <a:t>Reducing costs</a:t>
            </a:r>
            <a:endParaRPr lang="en-US" dirty="0"/>
          </a:p>
          <a:p>
            <a:pPr marL="0" indent="0" algn="just">
              <a:buNone/>
            </a:pPr>
            <a:r>
              <a:rPr lang="en-US" dirty="0" smtClean="0"/>
              <a:t>It is worth to emphasize</a:t>
            </a:r>
            <a:r>
              <a:rPr lang="en-US" sz="1600" dirty="0" smtClean="0"/>
              <a:t> </a:t>
            </a:r>
            <a:r>
              <a:rPr lang="en-US" sz="1600" dirty="0"/>
              <a:t>the cost savings associated with automating these processes, reducing the need for manual labor and minimizing errors</a:t>
            </a:r>
            <a:r>
              <a:rPr lang="en-US" sz="1600" dirty="0" smtClean="0"/>
              <a:t>.</a:t>
            </a:r>
            <a:r>
              <a:rPr lang="en-US" dirty="0"/>
              <a:t> </a:t>
            </a:r>
            <a:endParaRPr lang="en-US" sz="1600" dirty="0"/>
          </a:p>
        </p:txBody>
      </p:sp>
    </p:spTree>
    <p:extLst>
      <p:ext uri="{BB962C8B-B14F-4D97-AF65-F5344CB8AC3E}">
        <p14:creationId xmlns:p14="http://schemas.microsoft.com/office/powerpoint/2010/main" val="38669602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What is a </a:t>
            </a:r>
            <a:r>
              <a:rPr lang="en-US" sz="1800" dirty="0" err="1" smtClean="0">
                <a:solidFill>
                  <a:schemeClr val="accent1">
                    <a:lumMod val="75000"/>
                  </a:schemeClr>
                </a:solidFill>
                <a:latin typeface="Comic Sans MS" panose="030F0702030302020204" pitchFamily="66" charset="0"/>
              </a:rPr>
              <a:t>Chatbots</a:t>
            </a:r>
            <a:r>
              <a:rPr lang="en-US" sz="1800" dirty="0" smtClean="0">
                <a:solidFill>
                  <a:schemeClr val="accent1">
                    <a:lumMod val="75000"/>
                  </a:schemeClr>
                </a:solidFill>
                <a:latin typeface="Comic Sans MS" panose="030F0702030302020204" pitchFamily="66" charset="0"/>
              </a:rPr>
              <a:t>?</a:t>
            </a:r>
            <a:endParaRPr lang="en-US" sz="1800" dirty="0">
              <a:solidFill>
                <a:schemeClr val="accent1">
                  <a:lumMod val="75000"/>
                </a:schemeClr>
              </a:solidFill>
              <a:latin typeface="Comic Sans MS" panose="030F0702030302020204" pitchFamily="66" charset="0"/>
            </a:endParaRPr>
          </a:p>
        </p:txBody>
      </p:sp>
      <p:sp>
        <p:nvSpPr>
          <p:cNvPr id="26627" name="Content Placeholder 2"/>
          <p:cNvSpPr>
            <a:spLocks noGrp="1"/>
          </p:cNvSpPr>
          <p:nvPr>
            <p:ph idx="1"/>
          </p:nvPr>
        </p:nvSpPr>
        <p:spPr>
          <a:xfrm>
            <a:off x="457200" y="1371600"/>
            <a:ext cx="8229600" cy="2743200"/>
          </a:xfrm>
        </p:spPr>
        <p:txBody>
          <a:bodyPr/>
          <a:lstStyle/>
          <a:p>
            <a:pPr marL="0" indent="0" algn="just">
              <a:buNone/>
            </a:pPr>
            <a:r>
              <a:rPr lang="en-US" smtClean="0"/>
              <a:t>A chatbot is a software application that can simulate human conversation with an and user. It can chat with a user in different languages and providing instant and consistent responses without human intervention. This flexibility makes them usable across a wide range of use cases and industries.</a:t>
            </a:r>
          </a:p>
          <a:p>
            <a:pPr marL="0" indent="0" algn="just">
              <a:buNone/>
            </a:pPr>
            <a:r>
              <a:rPr lang="en-US" smtClean="0">
                <a:solidFill>
                  <a:schemeClr val="accent1">
                    <a:lumMod val="75000"/>
                  </a:schemeClr>
                </a:solidFill>
              </a:rPr>
              <a:t>Though </a:t>
            </a:r>
            <a:r>
              <a:rPr lang="en-US" dirty="0" smtClean="0">
                <a:solidFill>
                  <a:schemeClr val="accent1">
                    <a:lumMod val="75000"/>
                  </a:schemeClr>
                </a:solidFill>
              </a:rPr>
              <a:t>not all </a:t>
            </a:r>
            <a:r>
              <a:rPr lang="en-US" dirty="0" err="1" smtClean="0">
                <a:solidFill>
                  <a:schemeClr val="accent1">
                    <a:lumMod val="75000"/>
                  </a:schemeClr>
                </a:solidFill>
              </a:rPr>
              <a:t>Chatbots</a:t>
            </a:r>
            <a:r>
              <a:rPr lang="en-US" dirty="0" smtClean="0">
                <a:solidFill>
                  <a:schemeClr val="accent1">
                    <a:lumMod val="75000"/>
                  </a:schemeClr>
                </a:solidFill>
              </a:rPr>
              <a:t> are equipped with artificial intelligence (AI), modern </a:t>
            </a:r>
            <a:r>
              <a:rPr lang="en-US" dirty="0" err="1">
                <a:solidFill>
                  <a:schemeClr val="accent1">
                    <a:lumMod val="75000"/>
                  </a:schemeClr>
                </a:solidFill>
              </a:rPr>
              <a:t>C</a:t>
            </a:r>
            <a:r>
              <a:rPr lang="en-US" dirty="0" err="1" smtClean="0">
                <a:solidFill>
                  <a:schemeClr val="accent1">
                    <a:lumMod val="75000"/>
                  </a:schemeClr>
                </a:solidFill>
              </a:rPr>
              <a:t>hatbots</a:t>
            </a:r>
            <a:r>
              <a:rPr lang="en-US" dirty="0" smtClean="0">
                <a:solidFill>
                  <a:schemeClr val="accent1">
                    <a:lumMod val="75000"/>
                  </a:schemeClr>
                </a:solidFill>
              </a:rPr>
              <a:t> increasingly use conversational AI techniques like natural language processing (NLP) to understand the user’s questions and automate responses to them.</a:t>
            </a:r>
          </a:p>
          <a:p>
            <a:pPr marL="0" indent="0" algn="just">
              <a:buNone/>
            </a:pPr>
            <a:r>
              <a:rPr lang="en-US" dirty="0" err="1" smtClean="0">
                <a:solidFill>
                  <a:schemeClr val="accent1">
                    <a:lumMod val="75000"/>
                  </a:schemeClr>
                </a:solidFill>
              </a:rPr>
              <a:t>Chatbots</a:t>
            </a:r>
            <a:r>
              <a:rPr lang="en-US" dirty="0" smtClean="0">
                <a:solidFill>
                  <a:schemeClr val="accent1">
                    <a:lumMod val="75000"/>
                  </a:schemeClr>
                </a:solidFill>
              </a:rPr>
              <a:t> </a:t>
            </a:r>
            <a:r>
              <a:rPr lang="en-US" dirty="0">
                <a:solidFill>
                  <a:schemeClr val="accent1">
                    <a:lumMod val="75000"/>
                  </a:schemeClr>
                </a:solidFill>
              </a:rPr>
              <a:t>can make it easy for users to find information by instantaneously responding to questions and </a:t>
            </a:r>
            <a:r>
              <a:rPr lang="en-US" dirty="0" smtClean="0">
                <a:solidFill>
                  <a:schemeClr val="accent1">
                    <a:lumMod val="75000"/>
                  </a:schemeClr>
                </a:solidFill>
              </a:rPr>
              <a:t>requests - through </a:t>
            </a:r>
            <a:r>
              <a:rPr lang="en-US" dirty="0">
                <a:solidFill>
                  <a:schemeClr val="accent1">
                    <a:lumMod val="75000"/>
                  </a:schemeClr>
                </a:solidFill>
              </a:rPr>
              <a:t>text input, audio input, or </a:t>
            </a:r>
            <a:r>
              <a:rPr lang="en-US" dirty="0" smtClean="0">
                <a:solidFill>
                  <a:schemeClr val="accent1">
                    <a:lumMod val="75000"/>
                  </a:schemeClr>
                </a:solidFill>
              </a:rPr>
              <a:t>both - without </a:t>
            </a:r>
            <a:r>
              <a:rPr lang="en-US" dirty="0">
                <a:solidFill>
                  <a:schemeClr val="accent1">
                    <a:lumMod val="75000"/>
                  </a:schemeClr>
                </a:solidFill>
              </a:rPr>
              <a:t>the need for human intervention or manual research</a:t>
            </a:r>
            <a:r>
              <a:rPr lang="en-US" dirty="0" smtClean="0">
                <a:solidFill>
                  <a:schemeClr val="accent1">
                    <a:lumMod val="75000"/>
                  </a:schemeClr>
                </a:solidFill>
              </a:rPr>
              <a:t>.</a:t>
            </a:r>
          </a:p>
          <a:p>
            <a:pPr marL="0" indent="0" algn="just">
              <a:buNone/>
            </a:pPr>
            <a:endParaRPr lang="en-US" dirty="0"/>
          </a:p>
        </p:txBody>
      </p:sp>
      <p:pic>
        <p:nvPicPr>
          <p:cNvPr id="4" name="Picture 2" descr="AI chatbots by Drift"/>
          <p:cNvPicPr>
            <a:picLocks noChangeAspect="1" noChangeArrowheads="1"/>
          </p:cNvPicPr>
          <p:nvPr/>
        </p:nvPicPr>
        <p:blipFill rotWithShape="1">
          <a:blip r:embed="rId2">
            <a:extLst>
              <a:ext uri="{28A0092B-C50C-407E-A947-70E740481C1C}">
                <a14:useLocalDpi xmlns:a14="http://schemas.microsoft.com/office/drawing/2010/main" val="0"/>
              </a:ext>
            </a:extLst>
          </a:blip>
          <a:srcRect l="7921" t="28265" r="9028" b="8682"/>
          <a:stretch/>
        </p:blipFill>
        <p:spPr bwMode="auto">
          <a:xfrm>
            <a:off x="800100" y="4267200"/>
            <a:ext cx="7543800" cy="237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1556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Types of </a:t>
            </a:r>
            <a:r>
              <a:rPr lang="en-US" sz="1800" dirty="0" err="1" smtClean="0">
                <a:solidFill>
                  <a:schemeClr val="accent1">
                    <a:lumMod val="75000"/>
                  </a:schemeClr>
                </a:solidFill>
                <a:latin typeface="Comic Sans MS" panose="030F0702030302020204" pitchFamily="66" charset="0"/>
              </a:rPr>
              <a:t>Chatbots</a:t>
            </a:r>
            <a:endParaRPr lang="en-US" sz="1800" dirty="0">
              <a:solidFill>
                <a:schemeClr val="accent1">
                  <a:lumMod val="75000"/>
                </a:schemeClr>
              </a:solidFill>
              <a:latin typeface="Comic Sans MS" panose="030F0702030302020204" pitchFamily="66" charset="0"/>
            </a:endParaRPr>
          </a:p>
        </p:txBody>
      </p:sp>
      <p:pic>
        <p:nvPicPr>
          <p:cNvPr id="5124" name="Picture 4" descr="Infographic with three types of chatbots: rule-based, hybrid, and AI"/>
          <p:cNvPicPr>
            <a:picLocks noChangeAspect="1" noChangeArrowheads="1"/>
          </p:cNvPicPr>
          <p:nvPr/>
        </p:nvPicPr>
        <p:blipFill rotWithShape="1">
          <a:blip r:embed="rId2">
            <a:extLst>
              <a:ext uri="{28A0092B-C50C-407E-A947-70E740481C1C}">
                <a14:useLocalDpi xmlns:a14="http://schemas.microsoft.com/office/drawing/2010/main" val="0"/>
              </a:ext>
            </a:extLst>
          </a:blip>
          <a:srcRect t="21509" b="21786"/>
          <a:stretch/>
        </p:blipFill>
        <p:spPr bwMode="auto">
          <a:xfrm>
            <a:off x="24140" y="1905000"/>
            <a:ext cx="911986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1531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Types of </a:t>
            </a:r>
            <a:r>
              <a:rPr lang="en-US" sz="1800" dirty="0" err="1" smtClean="0">
                <a:solidFill>
                  <a:schemeClr val="accent1">
                    <a:lumMod val="75000"/>
                  </a:schemeClr>
                </a:solidFill>
                <a:latin typeface="Comic Sans MS" panose="030F0702030302020204" pitchFamily="66" charset="0"/>
              </a:rPr>
              <a:t>Chatbots</a:t>
            </a:r>
            <a:endParaRPr lang="en-US" sz="1800" dirty="0">
              <a:solidFill>
                <a:schemeClr val="accent1">
                  <a:lumMod val="75000"/>
                </a:schemeClr>
              </a:solidFill>
              <a:latin typeface="Comic Sans MS" panose="030F0702030302020204" pitchFamily="66" charset="0"/>
            </a:endParaRPr>
          </a:p>
        </p:txBody>
      </p:sp>
      <p:sp>
        <p:nvSpPr>
          <p:cNvPr id="2" name="Rectangle 1"/>
          <p:cNvSpPr/>
          <p:nvPr/>
        </p:nvSpPr>
        <p:spPr>
          <a:xfrm>
            <a:off x="508819" y="1703832"/>
            <a:ext cx="8001000" cy="3046988"/>
          </a:xfrm>
          <a:prstGeom prst="rect">
            <a:avLst/>
          </a:prstGeom>
        </p:spPr>
        <p:txBody>
          <a:bodyPr wrap="square">
            <a:spAutoFit/>
          </a:bodyPr>
          <a:lstStyle/>
          <a:p>
            <a:pPr algn="just"/>
            <a:r>
              <a:rPr lang="en-US" sz="1600" b="1" dirty="0">
                <a:solidFill>
                  <a:schemeClr val="accent1">
                    <a:lumMod val="75000"/>
                  </a:schemeClr>
                </a:solidFill>
              </a:rPr>
              <a:t>Rule-based </a:t>
            </a:r>
            <a:r>
              <a:rPr lang="en-US" sz="1600" b="1" dirty="0" err="1">
                <a:solidFill>
                  <a:schemeClr val="accent1">
                    <a:lumMod val="75000"/>
                  </a:schemeClr>
                </a:solidFill>
              </a:rPr>
              <a:t>chatbots</a:t>
            </a:r>
            <a:r>
              <a:rPr lang="en-US" sz="1600" dirty="0">
                <a:solidFill>
                  <a:schemeClr val="accent1">
                    <a:lumMod val="75000"/>
                  </a:schemeClr>
                </a:solidFill>
              </a:rPr>
              <a:t> are the ones that give the user a choice of options to click on to get an answer to a specific query. These bots only offer a limited selection of questions, but you can use them to answer your customers’ most FAQs. </a:t>
            </a:r>
            <a:endParaRPr lang="en-US" sz="1600" dirty="0" smtClean="0">
              <a:solidFill>
                <a:schemeClr val="accent1">
                  <a:lumMod val="75000"/>
                </a:schemeClr>
              </a:solidFill>
            </a:endParaRPr>
          </a:p>
          <a:p>
            <a:pPr algn="just"/>
            <a:endParaRPr lang="en-US" sz="1600" dirty="0">
              <a:solidFill>
                <a:schemeClr val="accent1">
                  <a:lumMod val="75000"/>
                </a:schemeClr>
              </a:solidFill>
            </a:endParaRPr>
          </a:p>
          <a:p>
            <a:pPr algn="just"/>
            <a:r>
              <a:rPr lang="en-US" sz="1600" b="1" dirty="0" err="1">
                <a:solidFill>
                  <a:schemeClr val="accent1">
                    <a:lumMod val="75000"/>
                  </a:schemeClr>
                </a:solidFill>
              </a:rPr>
              <a:t>Chatbots</a:t>
            </a:r>
            <a:r>
              <a:rPr lang="en-US" sz="1600" b="1" dirty="0">
                <a:solidFill>
                  <a:schemeClr val="accent1">
                    <a:lumMod val="75000"/>
                  </a:schemeClr>
                </a:solidFill>
              </a:rPr>
              <a:t> that use artificial intelligence</a:t>
            </a:r>
            <a:r>
              <a:rPr lang="en-US" sz="1600" dirty="0">
                <a:solidFill>
                  <a:schemeClr val="accent1">
                    <a:lumMod val="75000"/>
                  </a:schemeClr>
                </a:solidFill>
              </a:rPr>
              <a:t>, natural language processing (NLP), and machine learning understand a variety of keywords and phrases and learn from the visitor’s input. These bots get trained over time to understand more queries and different ways that customers phrase a question</a:t>
            </a:r>
            <a:r>
              <a:rPr lang="en-US" sz="1600" dirty="0" smtClean="0">
                <a:solidFill>
                  <a:schemeClr val="accent1">
                    <a:lumMod val="75000"/>
                  </a:schemeClr>
                </a:solidFill>
              </a:rPr>
              <a:t>.</a:t>
            </a:r>
          </a:p>
          <a:p>
            <a:pPr algn="just"/>
            <a:endParaRPr lang="en-US" sz="1600" dirty="0" smtClean="0">
              <a:solidFill>
                <a:schemeClr val="accent1">
                  <a:lumMod val="75000"/>
                </a:schemeClr>
              </a:solidFill>
            </a:endParaRPr>
          </a:p>
          <a:p>
            <a:pPr algn="just"/>
            <a:r>
              <a:rPr lang="en-US" sz="1600" b="1" dirty="0">
                <a:solidFill>
                  <a:schemeClr val="accent1">
                    <a:lumMod val="75000"/>
                  </a:schemeClr>
                </a:solidFill>
              </a:rPr>
              <a:t>Hybrid </a:t>
            </a:r>
            <a:r>
              <a:rPr lang="en-US" sz="1600" b="1" dirty="0" err="1">
                <a:solidFill>
                  <a:schemeClr val="accent1">
                    <a:lumMod val="75000"/>
                  </a:schemeClr>
                </a:solidFill>
              </a:rPr>
              <a:t>chatbots</a:t>
            </a:r>
            <a:r>
              <a:rPr lang="en-US" sz="1600" dirty="0">
                <a:solidFill>
                  <a:schemeClr val="accent1">
                    <a:lumMod val="75000"/>
                  </a:schemeClr>
                </a:solidFill>
              </a:rPr>
              <a:t> combine rule-based bots and AI technology. They perform some rule-based tasks, but they can also detect the context and user intent. They are the best-balanced tool for a business to interact with website visitors. </a:t>
            </a:r>
            <a:endParaRPr lang="en-US" sz="1600" b="0" i="0" dirty="0">
              <a:solidFill>
                <a:schemeClr val="accent1">
                  <a:lumMod val="75000"/>
                </a:schemeClr>
              </a:solidFill>
              <a:effectLst/>
            </a:endParaRPr>
          </a:p>
        </p:txBody>
      </p:sp>
    </p:spTree>
    <p:extLst>
      <p:ext uri="{BB962C8B-B14F-4D97-AF65-F5344CB8AC3E}">
        <p14:creationId xmlns:p14="http://schemas.microsoft.com/office/powerpoint/2010/main" val="2089043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err="1" smtClean="0">
                <a:solidFill>
                  <a:schemeClr val="accent1">
                    <a:lumMod val="75000"/>
                  </a:schemeClr>
                </a:solidFill>
                <a:latin typeface="Comic Sans MS" panose="030F0702030302020204" pitchFamily="66" charset="0"/>
              </a:rPr>
              <a:t>Chatbot</a:t>
            </a:r>
            <a:r>
              <a:rPr lang="en-US" sz="1800" dirty="0" smtClean="0">
                <a:solidFill>
                  <a:schemeClr val="accent1">
                    <a:lumMod val="75000"/>
                  </a:schemeClr>
                </a:solidFill>
                <a:latin typeface="Comic Sans MS" panose="030F0702030302020204" pitchFamily="66" charset="0"/>
              </a:rPr>
              <a:t> benefits for Customers</a:t>
            </a:r>
            <a:endParaRPr lang="en-US" sz="1800" dirty="0">
              <a:solidFill>
                <a:schemeClr val="accent1">
                  <a:lumMod val="75000"/>
                </a:schemeClr>
              </a:solidFill>
              <a:latin typeface="Comic Sans MS" panose="030F0702030302020204" pitchFamily="66" charset="0"/>
            </a:endParaRPr>
          </a:p>
        </p:txBody>
      </p:sp>
      <p:pic>
        <p:nvPicPr>
          <p:cNvPr id="7170" name="Picture 2" descr="Infographic with benefits of chatbots for customers: customers support 24/7, multilingual, better personalization, provide easy checkout, offer proactive customer service, speed up response time, deliver omnichannel support"/>
          <p:cNvPicPr>
            <a:picLocks noChangeAspect="1" noChangeArrowheads="1"/>
          </p:cNvPicPr>
          <p:nvPr/>
        </p:nvPicPr>
        <p:blipFill rotWithShape="1">
          <a:blip r:embed="rId2">
            <a:extLst>
              <a:ext uri="{28A0092B-C50C-407E-A947-70E740481C1C}">
                <a14:useLocalDpi xmlns:a14="http://schemas.microsoft.com/office/drawing/2010/main" val="0"/>
              </a:ext>
            </a:extLst>
          </a:blip>
          <a:srcRect t="12361" b="13473"/>
          <a:stretch/>
        </p:blipFill>
        <p:spPr bwMode="auto">
          <a:xfrm>
            <a:off x="762000" y="1447800"/>
            <a:ext cx="7697355"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9476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err="1" smtClean="0">
                <a:solidFill>
                  <a:schemeClr val="accent1">
                    <a:lumMod val="75000"/>
                  </a:schemeClr>
                </a:solidFill>
                <a:latin typeface="Comic Sans MS" panose="030F0702030302020204" pitchFamily="66" charset="0"/>
              </a:rPr>
              <a:t>Chatbot</a:t>
            </a:r>
            <a:r>
              <a:rPr lang="en-US" sz="1800" dirty="0" smtClean="0">
                <a:solidFill>
                  <a:schemeClr val="accent1">
                    <a:lumMod val="75000"/>
                  </a:schemeClr>
                </a:solidFill>
                <a:latin typeface="Comic Sans MS" panose="030F0702030302020204" pitchFamily="66" charset="0"/>
              </a:rPr>
              <a:t> benefits for Business</a:t>
            </a:r>
            <a:endParaRPr lang="en-US" sz="1800" dirty="0">
              <a:solidFill>
                <a:schemeClr val="accent1">
                  <a:lumMod val="75000"/>
                </a:schemeClr>
              </a:solidFill>
              <a:latin typeface="Comic Sans MS" panose="030F0702030302020204" pitchFamily="66" charset="0"/>
            </a:endParaRPr>
          </a:p>
        </p:txBody>
      </p:sp>
      <p:pic>
        <p:nvPicPr>
          <p:cNvPr id="8194" name="Picture 2" descr="Infographic with chatbot benefits for business: generate leads, increase sales, save costs, improve customer service, provide conversational marketing, decrease bounce rate, gain customer insights, help recruitment, lower the number of requests for the human agents"/>
          <p:cNvPicPr>
            <a:picLocks noChangeAspect="1" noChangeArrowheads="1"/>
          </p:cNvPicPr>
          <p:nvPr/>
        </p:nvPicPr>
        <p:blipFill rotWithShape="1">
          <a:blip r:embed="rId2">
            <a:extLst>
              <a:ext uri="{28A0092B-C50C-407E-A947-70E740481C1C}">
                <a14:useLocalDpi xmlns:a14="http://schemas.microsoft.com/office/drawing/2010/main" val="0"/>
              </a:ext>
            </a:extLst>
          </a:blip>
          <a:srcRect t="9101" b="10667"/>
          <a:stretch/>
        </p:blipFill>
        <p:spPr bwMode="auto">
          <a:xfrm>
            <a:off x="1066800" y="990600"/>
            <a:ext cx="6781800" cy="5889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3502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a:t>A </a:t>
            </a:r>
            <a:r>
              <a:rPr lang="en-US" sz="1800" dirty="0">
                <a:latin typeface="Comic Sans MS" panose="030F0702030302020204" pitchFamily="66" charset="0"/>
              </a:rPr>
              <a:t>Summary of well-known </a:t>
            </a:r>
            <a:r>
              <a:rPr lang="en-US" sz="1800" dirty="0" err="1" smtClean="0">
                <a:latin typeface="Comic Sans MS" panose="030F0702030302020204" pitchFamily="66" charset="0"/>
              </a:rPr>
              <a:t>Chatbots</a:t>
            </a:r>
            <a:r>
              <a:rPr lang="en-US" sz="1800" dirty="0" smtClean="0">
                <a:latin typeface="Comic Sans MS" panose="030F0702030302020204" pitchFamily="66" charset="0"/>
              </a:rPr>
              <a:t> </a:t>
            </a:r>
            <a:r>
              <a:rPr lang="en-US" sz="1800" dirty="0">
                <a:latin typeface="Comic Sans MS" panose="030F0702030302020204" pitchFamily="66" charset="0"/>
              </a:rPr>
              <a:t>over time</a:t>
            </a:r>
            <a:endParaRPr lang="en-US" sz="1800" dirty="0">
              <a:solidFill>
                <a:schemeClr val="accent1">
                  <a:lumMod val="75000"/>
                </a:schemeClr>
              </a:solidFill>
              <a:latin typeface="Comic Sans MS" panose="030F0702030302020204" pitchFamily="66"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84212"/>
            <a:ext cx="9144000" cy="4387988"/>
          </a:xfrm>
          <a:prstGeom prst="rect">
            <a:avLst/>
          </a:prstGeom>
        </p:spPr>
      </p:pic>
    </p:spTree>
    <p:extLst>
      <p:ext uri="{BB962C8B-B14F-4D97-AF65-F5344CB8AC3E}">
        <p14:creationId xmlns:p14="http://schemas.microsoft.com/office/powerpoint/2010/main" val="8236554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What is </a:t>
            </a:r>
            <a:r>
              <a:rPr lang="en-US" sz="1800" dirty="0" err="1" smtClean="0">
                <a:solidFill>
                  <a:schemeClr val="accent1">
                    <a:lumMod val="75000"/>
                  </a:schemeClr>
                </a:solidFill>
                <a:latin typeface="Comic Sans MS" panose="030F0702030302020204" pitchFamily="66" charset="0"/>
              </a:rPr>
              <a:t>ChatGPT</a:t>
            </a:r>
            <a:r>
              <a:rPr lang="en-US" sz="1800" dirty="0" smtClean="0">
                <a:solidFill>
                  <a:schemeClr val="accent1">
                    <a:lumMod val="75000"/>
                  </a:schemeClr>
                </a:solidFill>
                <a:latin typeface="Comic Sans MS" panose="030F0702030302020204" pitchFamily="66" charset="0"/>
              </a:rPr>
              <a:t>?</a:t>
            </a:r>
            <a:endParaRPr lang="en-US" sz="1800" dirty="0">
              <a:solidFill>
                <a:schemeClr val="accent1">
                  <a:lumMod val="75000"/>
                </a:schemeClr>
              </a:solidFill>
              <a:latin typeface="Comic Sans MS" panose="030F0702030302020204" pitchFamily="66" charset="0"/>
            </a:endParaRPr>
          </a:p>
        </p:txBody>
      </p:sp>
      <p:sp>
        <p:nvSpPr>
          <p:cNvPr id="26627" name="Content Placeholder 2"/>
          <p:cNvSpPr>
            <a:spLocks noGrp="1"/>
          </p:cNvSpPr>
          <p:nvPr>
            <p:ph idx="1"/>
          </p:nvPr>
        </p:nvSpPr>
        <p:spPr>
          <a:xfrm>
            <a:off x="381000" y="1703832"/>
            <a:ext cx="8229600" cy="4572000"/>
          </a:xfrm>
        </p:spPr>
        <p:txBody>
          <a:bodyPr/>
          <a:lstStyle/>
          <a:p>
            <a:pPr algn="just"/>
            <a:r>
              <a:rPr lang="en-US" dirty="0" err="1" smtClean="0">
                <a:solidFill>
                  <a:schemeClr val="accent1">
                    <a:lumMod val="75000"/>
                  </a:schemeClr>
                </a:solidFill>
              </a:rPr>
              <a:t>ChatGPT</a:t>
            </a:r>
            <a:r>
              <a:rPr lang="en-US" dirty="0" smtClean="0">
                <a:solidFill>
                  <a:schemeClr val="accent1">
                    <a:lumMod val="75000"/>
                  </a:schemeClr>
                </a:solidFill>
              </a:rPr>
              <a:t> </a:t>
            </a:r>
            <a:r>
              <a:rPr lang="en-US" dirty="0">
                <a:solidFill>
                  <a:schemeClr val="accent1">
                    <a:lumMod val="75000"/>
                  </a:schemeClr>
                </a:solidFill>
              </a:rPr>
              <a:t>is a natural language processing tool driven by AI technology that allows you to have human-like conversations and much more with the </a:t>
            </a:r>
            <a:r>
              <a:rPr lang="en-US" dirty="0" err="1">
                <a:solidFill>
                  <a:schemeClr val="accent1">
                    <a:lumMod val="75000"/>
                  </a:schemeClr>
                </a:solidFill>
              </a:rPr>
              <a:t>chatbot</a:t>
            </a:r>
            <a:r>
              <a:rPr lang="en-US" dirty="0">
                <a:solidFill>
                  <a:schemeClr val="accent1">
                    <a:lumMod val="75000"/>
                  </a:schemeClr>
                </a:solidFill>
              </a:rPr>
              <a:t>. The language model can answer questions and assist you with tasks, such as composing emails, essays, and code</a:t>
            </a:r>
            <a:r>
              <a:rPr lang="en-US" dirty="0" smtClean="0">
                <a:solidFill>
                  <a:schemeClr val="accent1">
                    <a:lumMod val="75000"/>
                  </a:schemeClr>
                </a:solidFill>
              </a:rPr>
              <a:t>.</a:t>
            </a:r>
          </a:p>
          <a:p>
            <a:pPr algn="just"/>
            <a:r>
              <a:rPr lang="en-US" dirty="0" err="1">
                <a:solidFill>
                  <a:schemeClr val="accent1">
                    <a:lumMod val="75000"/>
                  </a:schemeClr>
                </a:solidFill>
              </a:rPr>
              <a:t>ChatGPT</a:t>
            </a:r>
            <a:r>
              <a:rPr lang="en-US" dirty="0">
                <a:solidFill>
                  <a:schemeClr val="accent1">
                    <a:lumMod val="75000"/>
                  </a:schemeClr>
                </a:solidFill>
              </a:rPr>
              <a:t> was created by </a:t>
            </a:r>
            <a:r>
              <a:rPr lang="en-US" dirty="0" err="1">
                <a:solidFill>
                  <a:schemeClr val="accent1">
                    <a:lumMod val="75000"/>
                  </a:schemeClr>
                </a:solidFill>
              </a:rPr>
              <a:t>OpenAI</a:t>
            </a:r>
            <a:r>
              <a:rPr lang="en-US" dirty="0">
                <a:solidFill>
                  <a:schemeClr val="accent1">
                    <a:lumMod val="75000"/>
                  </a:schemeClr>
                </a:solidFill>
              </a:rPr>
              <a:t>, an AI and research company. The company launched </a:t>
            </a:r>
            <a:r>
              <a:rPr lang="en-US" dirty="0" err="1">
                <a:solidFill>
                  <a:schemeClr val="accent1">
                    <a:lumMod val="75000"/>
                  </a:schemeClr>
                </a:solidFill>
              </a:rPr>
              <a:t>ChatGPT</a:t>
            </a:r>
            <a:r>
              <a:rPr lang="en-US" dirty="0">
                <a:solidFill>
                  <a:schemeClr val="accent1">
                    <a:lumMod val="75000"/>
                  </a:schemeClr>
                </a:solidFill>
              </a:rPr>
              <a:t> on November 30, 2022. </a:t>
            </a:r>
            <a:endParaRPr lang="en-US" dirty="0" smtClean="0">
              <a:solidFill>
                <a:schemeClr val="accent1">
                  <a:lumMod val="75000"/>
                </a:schemeClr>
              </a:solidFill>
            </a:endParaRPr>
          </a:p>
          <a:p>
            <a:pPr algn="just"/>
            <a:r>
              <a:rPr lang="en-US" dirty="0" smtClean="0"/>
              <a:t>The </a:t>
            </a:r>
            <a:r>
              <a:rPr lang="en-US" dirty="0"/>
              <a:t>GPT stands for "Generative Pre-trained Transformer," which refers to how </a:t>
            </a:r>
            <a:r>
              <a:rPr lang="en-US" dirty="0" err="1"/>
              <a:t>ChatGPT</a:t>
            </a:r>
            <a:r>
              <a:rPr lang="en-US" dirty="0"/>
              <a:t> processes requests and formulates responses. </a:t>
            </a:r>
            <a:r>
              <a:rPr lang="en-US" dirty="0" err="1"/>
              <a:t>ChatGPT</a:t>
            </a:r>
            <a:r>
              <a:rPr lang="en-US" dirty="0"/>
              <a:t> is trained </a:t>
            </a:r>
            <a:r>
              <a:rPr lang="en-US" dirty="0" smtClean="0"/>
              <a:t>with reinforcement learning through </a:t>
            </a:r>
            <a:r>
              <a:rPr lang="en-US" dirty="0" err="1" smtClean="0"/>
              <a:t>humen</a:t>
            </a:r>
            <a:r>
              <a:rPr lang="en-US" dirty="0" smtClean="0"/>
              <a:t> feedback</a:t>
            </a:r>
            <a:r>
              <a:rPr lang="en-US" dirty="0"/>
              <a:t> and reward models that rank the best responses. This feedback helps augment </a:t>
            </a:r>
            <a:r>
              <a:rPr lang="en-US" dirty="0" err="1"/>
              <a:t>ChatGPT</a:t>
            </a:r>
            <a:r>
              <a:rPr lang="en-US" dirty="0"/>
              <a:t> </a:t>
            </a:r>
            <a:r>
              <a:rPr lang="en-US" dirty="0" smtClean="0"/>
              <a:t>with machine </a:t>
            </a:r>
            <a:r>
              <a:rPr lang="en-US" dirty="0" err="1" smtClean="0"/>
              <a:t>leraning</a:t>
            </a:r>
            <a:r>
              <a:rPr lang="en-US" dirty="0"/>
              <a:t> to improve future responses.</a:t>
            </a:r>
            <a:endParaRPr lang="en-US" dirty="0" smtClean="0">
              <a:solidFill>
                <a:schemeClr val="accent1">
                  <a:lumMod val="75000"/>
                </a:schemeClr>
              </a:solidFill>
            </a:endParaRPr>
          </a:p>
          <a:p>
            <a:r>
              <a:rPr lang="en-US" dirty="0" err="1"/>
              <a:t>ChatGPT</a:t>
            </a:r>
            <a:r>
              <a:rPr lang="en-US" dirty="0"/>
              <a:t> </a:t>
            </a:r>
            <a:r>
              <a:rPr lang="en-US" dirty="0" smtClean="0"/>
              <a:t>uses deep </a:t>
            </a:r>
            <a:r>
              <a:rPr lang="en-US" dirty="0" err="1" smtClean="0"/>
              <a:t>leraning</a:t>
            </a:r>
            <a:r>
              <a:rPr lang="en-US" dirty="0" smtClean="0"/>
              <a:t>, </a:t>
            </a:r>
            <a:r>
              <a:rPr lang="en-US" dirty="0"/>
              <a:t>a subset of machine learning, to produce humanlike text through </a:t>
            </a:r>
            <a:r>
              <a:rPr lang="en-US" dirty="0" smtClean="0"/>
              <a:t>transformer neural networks. </a:t>
            </a:r>
            <a:r>
              <a:rPr lang="en-US" dirty="0"/>
              <a:t>The transformer predicts text </a:t>
            </a:r>
            <a:r>
              <a:rPr lang="en-US" dirty="0" smtClean="0"/>
              <a:t>- </a:t>
            </a:r>
            <a:r>
              <a:rPr lang="en-US" dirty="0"/>
              <a:t>including the next word, sentence or paragraph </a:t>
            </a:r>
            <a:r>
              <a:rPr lang="en-US" dirty="0" smtClean="0"/>
              <a:t>- </a:t>
            </a:r>
            <a:r>
              <a:rPr lang="en-US" dirty="0"/>
              <a:t>based on its training data's typical sequence</a:t>
            </a:r>
            <a:r>
              <a:rPr lang="en-US" dirty="0" smtClean="0"/>
              <a:t>.</a:t>
            </a:r>
            <a:endParaRPr lang="en-US" dirty="0"/>
          </a:p>
        </p:txBody>
      </p:sp>
    </p:spTree>
    <p:extLst>
      <p:ext uri="{BB962C8B-B14F-4D97-AF65-F5344CB8AC3E}">
        <p14:creationId xmlns:p14="http://schemas.microsoft.com/office/powerpoint/2010/main" val="42618932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What can </a:t>
            </a:r>
            <a:r>
              <a:rPr lang="en-US" sz="1800" dirty="0" err="1" smtClean="0">
                <a:solidFill>
                  <a:schemeClr val="accent1">
                    <a:lumMod val="75000"/>
                  </a:schemeClr>
                </a:solidFill>
                <a:latin typeface="Comic Sans MS" panose="030F0702030302020204" pitchFamily="66" charset="0"/>
              </a:rPr>
              <a:t>ChatGPT</a:t>
            </a:r>
            <a:r>
              <a:rPr lang="en-US" sz="1800" dirty="0" smtClean="0">
                <a:solidFill>
                  <a:schemeClr val="accent1">
                    <a:lumMod val="75000"/>
                  </a:schemeClr>
                </a:solidFill>
                <a:latin typeface="Comic Sans MS" panose="030F0702030302020204" pitchFamily="66" charset="0"/>
              </a:rPr>
              <a:t> do?</a:t>
            </a:r>
            <a:endParaRPr lang="en-US" sz="1800" dirty="0">
              <a:solidFill>
                <a:schemeClr val="accent1">
                  <a:lumMod val="75000"/>
                </a:schemeClr>
              </a:solidFill>
              <a:latin typeface="Comic Sans MS" panose="030F0702030302020204" pitchFamily="66" charset="0"/>
            </a:endParaRPr>
          </a:p>
        </p:txBody>
      </p:sp>
      <p:pic>
        <p:nvPicPr>
          <p:cNvPr id="1026" name="Picture 2" descr="chat gpt main scre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84" y="2514600"/>
            <a:ext cx="5791200" cy="4343400"/>
          </a:xfrm>
          <a:prstGeom prst="rect">
            <a:avLst/>
          </a:prstGeom>
          <a:noFill/>
          <a:extLst>
            <a:ext uri="{909E8E84-426E-40DD-AFC4-6F175D3DCCD1}">
              <a14:hiddenFill xmlns:a14="http://schemas.microsoft.com/office/drawing/2010/main">
                <a:solidFill>
                  <a:srgbClr val="FFFFFF"/>
                </a:solidFill>
              </a14:hiddenFill>
            </a:ext>
          </a:extLst>
        </p:spPr>
      </p:pic>
      <p:sp>
        <p:nvSpPr>
          <p:cNvPr id="26627" name="Content Placeholder 2"/>
          <p:cNvSpPr>
            <a:spLocks noGrp="1"/>
          </p:cNvSpPr>
          <p:nvPr>
            <p:ph idx="1"/>
          </p:nvPr>
        </p:nvSpPr>
        <p:spPr>
          <a:xfrm>
            <a:off x="304800" y="1219200"/>
            <a:ext cx="8229600" cy="4572000"/>
          </a:xfrm>
        </p:spPr>
        <p:txBody>
          <a:bodyPr/>
          <a:lstStyle/>
          <a:p>
            <a:pPr marL="0" indent="0" algn="just">
              <a:buNone/>
            </a:pPr>
            <a:r>
              <a:rPr lang="en-US" dirty="0" smtClean="0">
                <a:solidFill>
                  <a:schemeClr val="accent1">
                    <a:lumMod val="75000"/>
                  </a:schemeClr>
                </a:solidFill>
              </a:rPr>
              <a:t>It answer questions efficiently on a wide range of topics.</a:t>
            </a:r>
          </a:p>
          <a:p>
            <a:pPr marL="0" indent="0" algn="just">
              <a:buNone/>
            </a:pPr>
            <a:endParaRPr lang="en-US" dirty="0" smtClean="0">
              <a:solidFill>
                <a:schemeClr val="accent1">
                  <a:lumMod val="75000"/>
                </a:schemeClr>
              </a:solidFill>
            </a:endParaRPr>
          </a:p>
          <a:p>
            <a:pPr lvl="1" algn="just"/>
            <a:r>
              <a:rPr lang="en-US" sz="1600" dirty="0" smtClean="0">
                <a:solidFill>
                  <a:schemeClr val="accent1">
                    <a:lumMod val="75000"/>
                  </a:schemeClr>
                </a:solidFill>
              </a:rPr>
              <a:t>Questions answering</a:t>
            </a:r>
          </a:p>
          <a:p>
            <a:pPr lvl="1" algn="just"/>
            <a:r>
              <a:rPr lang="en-US" sz="1600" dirty="0" smtClean="0">
                <a:solidFill>
                  <a:schemeClr val="accent1">
                    <a:lumMod val="75000"/>
                  </a:schemeClr>
                </a:solidFill>
              </a:rPr>
              <a:t>Conversational modelling</a:t>
            </a:r>
          </a:p>
          <a:p>
            <a:pPr lvl="1" algn="just"/>
            <a:r>
              <a:rPr lang="en-US" sz="1600" dirty="0" smtClean="0">
                <a:solidFill>
                  <a:schemeClr val="accent1">
                    <a:lumMod val="75000"/>
                  </a:schemeClr>
                </a:solidFill>
              </a:rPr>
              <a:t>Text completion</a:t>
            </a:r>
          </a:p>
          <a:p>
            <a:pPr lvl="1" algn="just"/>
            <a:r>
              <a:rPr lang="en-US" sz="1600" dirty="0" smtClean="0">
                <a:solidFill>
                  <a:schemeClr val="accent1">
                    <a:lumMod val="75000"/>
                  </a:schemeClr>
                </a:solidFill>
              </a:rPr>
              <a:t>Text generation</a:t>
            </a:r>
          </a:p>
          <a:p>
            <a:pPr lvl="1" algn="just"/>
            <a:r>
              <a:rPr lang="en-US" sz="1600" dirty="0" smtClean="0">
                <a:solidFill>
                  <a:schemeClr val="accent1">
                    <a:lumMod val="75000"/>
                  </a:schemeClr>
                </a:solidFill>
              </a:rPr>
              <a:t>Transaction</a:t>
            </a:r>
          </a:p>
          <a:p>
            <a:pPr lvl="1" algn="just"/>
            <a:r>
              <a:rPr lang="en-US" sz="1600" dirty="0" smtClean="0">
                <a:solidFill>
                  <a:schemeClr val="accent1">
                    <a:lumMod val="75000"/>
                  </a:schemeClr>
                </a:solidFill>
              </a:rPr>
              <a:t>Sentiment Analysis</a:t>
            </a:r>
            <a:endParaRPr lang="en-US" sz="1600" dirty="0">
              <a:solidFill>
                <a:schemeClr val="accent1">
                  <a:lumMod val="75000"/>
                </a:schemeClr>
              </a:solidFill>
            </a:endParaRPr>
          </a:p>
        </p:txBody>
      </p:sp>
    </p:spTree>
    <p:extLst>
      <p:ext uri="{BB962C8B-B14F-4D97-AF65-F5344CB8AC3E}">
        <p14:creationId xmlns:p14="http://schemas.microsoft.com/office/powerpoint/2010/main" val="15236793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Features of </a:t>
            </a:r>
            <a:r>
              <a:rPr lang="en-US" sz="1800" dirty="0" err="1" smtClean="0">
                <a:solidFill>
                  <a:schemeClr val="accent1">
                    <a:lumMod val="75000"/>
                  </a:schemeClr>
                </a:solidFill>
                <a:latin typeface="Comic Sans MS" panose="030F0702030302020204" pitchFamily="66" charset="0"/>
              </a:rPr>
              <a:t>ChatGPT</a:t>
            </a:r>
            <a:endParaRPr lang="en-US" sz="1800" dirty="0">
              <a:solidFill>
                <a:schemeClr val="accent1">
                  <a:lumMod val="75000"/>
                </a:schemeClr>
              </a:solidFill>
              <a:latin typeface="Comic Sans MS" panose="030F0702030302020204" pitchFamily="66" charset="0"/>
            </a:endParaRPr>
          </a:p>
        </p:txBody>
      </p:sp>
      <p:sp>
        <p:nvSpPr>
          <p:cNvPr id="26627" name="Content Placeholder 2"/>
          <p:cNvSpPr>
            <a:spLocks noGrp="1"/>
          </p:cNvSpPr>
          <p:nvPr>
            <p:ph idx="1"/>
          </p:nvPr>
        </p:nvSpPr>
        <p:spPr>
          <a:xfrm>
            <a:off x="381000" y="1600200"/>
            <a:ext cx="8229600" cy="4572000"/>
          </a:xfrm>
        </p:spPr>
        <p:txBody>
          <a:bodyPr/>
          <a:lstStyle/>
          <a:p>
            <a:pPr algn="just"/>
            <a:r>
              <a:rPr lang="en-US" dirty="0" smtClean="0">
                <a:solidFill>
                  <a:schemeClr val="accent1">
                    <a:lumMod val="75000"/>
                  </a:schemeClr>
                </a:solidFill>
              </a:rPr>
              <a:t>It understand overall context of query or conversation and generate specific response which are relevant to the topic;</a:t>
            </a:r>
          </a:p>
          <a:p>
            <a:pPr algn="just"/>
            <a:r>
              <a:rPr lang="en-US" dirty="0" smtClean="0">
                <a:solidFill>
                  <a:schemeClr val="accent1">
                    <a:lumMod val="75000"/>
                  </a:schemeClr>
                </a:solidFill>
              </a:rPr>
              <a:t>It has ability to learn from previous conversations and utilizes the same to provide relevant responses to any future queries based on learning;</a:t>
            </a:r>
          </a:p>
          <a:p>
            <a:pPr algn="just"/>
            <a:r>
              <a:rPr lang="en-US" dirty="0" smtClean="0">
                <a:solidFill>
                  <a:schemeClr val="accent1">
                    <a:lumMod val="75000"/>
                  </a:schemeClr>
                </a:solidFill>
              </a:rPr>
              <a:t>It continuously improves over time and becomes more effective </a:t>
            </a:r>
            <a:r>
              <a:rPr lang="en-US" dirty="0" err="1" smtClean="0">
                <a:solidFill>
                  <a:schemeClr val="accent1">
                    <a:lumMod val="75000"/>
                  </a:schemeClr>
                </a:solidFill>
              </a:rPr>
              <a:t>Chatbot</a:t>
            </a:r>
            <a:r>
              <a:rPr lang="en-US" dirty="0">
                <a:solidFill>
                  <a:schemeClr val="accent1">
                    <a:lumMod val="75000"/>
                  </a:schemeClr>
                </a:solidFill>
              </a:rPr>
              <a:t>;</a:t>
            </a:r>
            <a:endParaRPr lang="en-US" dirty="0" smtClean="0">
              <a:solidFill>
                <a:schemeClr val="accent1">
                  <a:lumMod val="75000"/>
                </a:schemeClr>
              </a:solidFill>
            </a:endParaRPr>
          </a:p>
          <a:p>
            <a:pPr algn="just"/>
            <a:r>
              <a:rPr lang="en-US" dirty="0" smtClean="0">
                <a:solidFill>
                  <a:schemeClr val="accent1">
                    <a:lumMod val="75000"/>
                  </a:schemeClr>
                </a:solidFill>
              </a:rPr>
              <a:t>It can be used as language learning tool;</a:t>
            </a:r>
          </a:p>
          <a:p>
            <a:pPr algn="just"/>
            <a:r>
              <a:rPr lang="en-US" dirty="0" smtClean="0">
                <a:solidFill>
                  <a:schemeClr val="accent1">
                    <a:lumMod val="75000"/>
                  </a:schemeClr>
                </a:solidFill>
              </a:rPr>
              <a:t>It can be used as language translation tool.</a:t>
            </a:r>
            <a:endParaRPr lang="en-US" dirty="0">
              <a:solidFill>
                <a:schemeClr val="accent1">
                  <a:lumMod val="75000"/>
                </a:schemeClr>
              </a:solidFill>
            </a:endParaRPr>
          </a:p>
          <a:p>
            <a:pPr marL="0" indent="0" algn="just">
              <a:buNone/>
            </a:pPr>
            <a:endParaRPr lang="en-US" dirty="0" smtClean="0">
              <a:solidFill>
                <a:schemeClr val="accent1">
                  <a:lumMod val="75000"/>
                </a:schemeClr>
              </a:solidFill>
            </a:endParaRPr>
          </a:p>
        </p:txBody>
      </p:sp>
    </p:spTree>
    <p:extLst>
      <p:ext uri="{BB962C8B-B14F-4D97-AF65-F5344CB8AC3E}">
        <p14:creationId xmlns:p14="http://schemas.microsoft.com/office/powerpoint/2010/main" val="11610679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Advantages and disadvantages of </a:t>
            </a:r>
            <a:r>
              <a:rPr lang="en-US" sz="1800" dirty="0" err="1" smtClean="0">
                <a:solidFill>
                  <a:schemeClr val="accent1">
                    <a:lumMod val="75000"/>
                  </a:schemeClr>
                </a:solidFill>
                <a:latin typeface="Comic Sans MS" panose="030F0702030302020204" pitchFamily="66" charset="0"/>
              </a:rPr>
              <a:t>ChatGPT</a:t>
            </a:r>
            <a:endParaRPr lang="en-US" sz="1800" dirty="0">
              <a:solidFill>
                <a:schemeClr val="accent1">
                  <a:lumMod val="75000"/>
                </a:schemeClr>
              </a:solidFill>
              <a:latin typeface="Comic Sans MS" panose="030F0702030302020204" pitchFamily="66" charset="0"/>
            </a:endParaRPr>
          </a:p>
        </p:txBody>
      </p:sp>
      <p:sp>
        <p:nvSpPr>
          <p:cNvPr id="26627" name="Content Placeholder 2"/>
          <p:cNvSpPr>
            <a:spLocks noGrp="1"/>
          </p:cNvSpPr>
          <p:nvPr>
            <p:ph idx="1"/>
          </p:nvPr>
        </p:nvSpPr>
        <p:spPr>
          <a:xfrm>
            <a:off x="336755" y="1703832"/>
            <a:ext cx="8229600" cy="4572000"/>
          </a:xfrm>
        </p:spPr>
        <p:txBody>
          <a:bodyPr/>
          <a:lstStyle/>
          <a:p>
            <a:pPr marL="0" indent="0" algn="just">
              <a:buNone/>
            </a:pPr>
            <a:r>
              <a:rPr lang="en-US" b="1" dirty="0" smtClean="0">
                <a:solidFill>
                  <a:schemeClr val="accent1">
                    <a:lumMod val="75000"/>
                  </a:schemeClr>
                </a:solidFill>
                <a:latin typeface="Comic Sans MS" panose="030F0702030302020204" pitchFamily="66" charset="0"/>
              </a:rPr>
              <a:t>Advantages</a:t>
            </a:r>
          </a:p>
          <a:p>
            <a:pPr algn="just"/>
            <a:r>
              <a:rPr lang="en-US" dirty="0" smtClean="0">
                <a:solidFill>
                  <a:schemeClr val="accent1">
                    <a:lumMod val="75000"/>
                  </a:schemeClr>
                </a:solidFill>
              </a:rPr>
              <a:t>It provides specific responses to users queries.</a:t>
            </a:r>
          </a:p>
          <a:p>
            <a:pPr algn="just"/>
            <a:r>
              <a:rPr lang="en-US" dirty="0" smtClean="0">
                <a:solidFill>
                  <a:schemeClr val="accent1">
                    <a:lumMod val="75000"/>
                  </a:schemeClr>
                </a:solidFill>
              </a:rPr>
              <a:t>It remembers the interactions that it had previously with the user in the same prompt tree and utilizes it to provide information surrounding  those responses.</a:t>
            </a:r>
          </a:p>
          <a:p>
            <a:pPr algn="just"/>
            <a:r>
              <a:rPr lang="en-US" dirty="0" smtClean="0">
                <a:solidFill>
                  <a:schemeClr val="accent1">
                    <a:lumMod val="75000"/>
                  </a:schemeClr>
                </a:solidFill>
              </a:rPr>
              <a:t>It allows users to have follow-up corrections until user satisfied with responses.</a:t>
            </a:r>
          </a:p>
          <a:p>
            <a:pPr algn="just"/>
            <a:endParaRPr lang="en-US" dirty="0">
              <a:solidFill>
                <a:schemeClr val="accent1">
                  <a:lumMod val="75000"/>
                </a:schemeClr>
              </a:solidFill>
            </a:endParaRPr>
          </a:p>
          <a:p>
            <a:pPr marL="0" indent="0" algn="just">
              <a:buNone/>
            </a:pPr>
            <a:r>
              <a:rPr lang="en-US" b="1" dirty="0" smtClean="0">
                <a:solidFill>
                  <a:schemeClr val="accent1">
                    <a:lumMod val="75000"/>
                  </a:schemeClr>
                </a:solidFill>
                <a:latin typeface="Comic Sans MS" panose="030F0702030302020204" pitchFamily="66" charset="0"/>
              </a:rPr>
              <a:t>Disadvantages</a:t>
            </a:r>
          </a:p>
          <a:p>
            <a:pPr algn="just"/>
            <a:r>
              <a:rPr lang="en-US" dirty="0" smtClean="0">
                <a:solidFill>
                  <a:schemeClr val="accent1">
                    <a:lumMod val="75000"/>
                  </a:schemeClr>
                </a:solidFill>
              </a:rPr>
              <a:t>It may generate incorrect information occasionally. Hence validate response yourself specifically when it </a:t>
            </a:r>
            <a:r>
              <a:rPr lang="en-US" dirty="0">
                <a:solidFill>
                  <a:schemeClr val="accent1">
                    <a:lumMod val="75000"/>
                  </a:schemeClr>
                </a:solidFill>
              </a:rPr>
              <a:t>i</a:t>
            </a:r>
            <a:r>
              <a:rPr lang="en-US" dirty="0" smtClean="0">
                <a:solidFill>
                  <a:schemeClr val="accent1">
                    <a:lumMod val="75000"/>
                  </a:schemeClr>
                </a:solidFill>
              </a:rPr>
              <a:t>nvolves calculations or formula or language related code examples to specific queries such MATLAB or python codes.</a:t>
            </a:r>
          </a:p>
          <a:p>
            <a:pPr algn="just"/>
            <a:r>
              <a:rPr lang="en-US" dirty="0" smtClean="0">
                <a:solidFill>
                  <a:schemeClr val="accent1">
                    <a:lumMod val="75000"/>
                  </a:schemeClr>
                </a:solidFill>
              </a:rPr>
              <a:t>It can be manipulated to violate the polices and restrictions that has been enforced on it by using cleverly-thought responses.</a:t>
            </a:r>
          </a:p>
          <a:p>
            <a:pPr algn="just"/>
            <a:r>
              <a:rPr lang="en-US" dirty="0" smtClean="0">
                <a:solidFill>
                  <a:schemeClr val="accent1">
                    <a:lumMod val="75000"/>
                  </a:schemeClr>
                </a:solidFill>
              </a:rPr>
              <a:t>It has limited knowledge of latest technologies and events which are yet to be trained on the model.</a:t>
            </a:r>
          </a:p>
        </p:txBody>
      </p:sp>
    </p:spTree>
    <p:extLst>
      <p:ext uri="{BB962C8B-B14F-4D97-AF65-F5344CB8AC3E}">
        <p14:creationId xmlns:p14="http://schemas.microsoft.com/office/powerpoint/2010/main" val="20673343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Way to use </a:t>
            </a:r>
            <a:r>
              <a:rPr lang="en-US" sz="1800" dirty="0" err="1" smtClean="0">
                <a:solidFill>
                  <a:schemeClr val="accent1">
                    <a:lumMod val="75000"/>
                  </a:schemeClr>
                </a:solidFill>
                <a:latin typeface="Comic Sans MS" panose="030F0702030302020204" pitchFamily="66" charset="0"/>
              </a:rPr>
              <a:t>ChatGPT</a:t>
            </a:r>
            <a:r>
              <a:rPr lang="en-US" sz="1800" dirty="0" smtClean="0">
                <a:solidFill>
                  <a:schemeClr val="accent1">
                    <a:lumMod val="75000"/>
                  </a:schemeClr>
                </a:solidFill>
                <a:latin typeface="Comic Sans MS" panose="030F0702030302020204" pitchFamily="66" charset="0"/>
              </a:rPr>
              <a:t>?</a:t>
            </a:r>
            <a:endParaRPr lang="en-US" sz="1800" dirty="0">
              <a:solidFill>
                <a:schemeClr val="accent1">
                  <a:lumMod val="75000"/>
                </a:schemeClr>
              </a:solidFill>
              <a:latin typeface="Comic Sans MS" panose="030F0702030302020204" pitchFamily="66" charset="0"/>
            </a:endParaRPr>
          </a:p>
        </p:txBody>
      </p:sp>
      <p:sp>
        <p:nvSpPr>
          <p:cNvPr id="26627" name="Content Placeholder 2"/>
          <p:cNvSpPr>
            <a:spLocks noGrp="1"/>
          </p:cNvSpPr>
          <p:nvPr>
            <p:ph idx="1"/>
          </p:nvPr>
        </p:nvSpPr>
        <p:spPr>
          <a:xfrm>
            <a:off x="762000" y="1687019"/>
            <a:ext cx="8229600" cy="4572000"/>
          </a:xfrm>
        </p:spPr>
        <p:txBody>
          <a:bodyPr/>
          <a:lstStyle/>
          <a:p>
            <a:r>
              <a:rPr lang="en-US" dirty="0"/>
              <a:t>Instant access to information</a:t>
            </a:r>
          </a:p>
          <a:p>
            <a:r>
              <a:rPr lang="en-US" dirty="0"/>
              <a:t>Encourages active learning</a:t>
            </a:r>
          </a:p>
          <a:p>
            <a:r>
              <a:rPr lang="en-US" dirty="0"/>
              <a:t>Personalize the learning experience.</a:t>
            </a:r>
          </a:p>
          <a:p>
            <a:r>
              <a:rPr lang="en-US" dirty="0"/>
              <a:t>Promotes accessibility and inclusion</a:t>
            </a:r>
          </a:p>
          <a:p>
            <a:pPr algn="just"/>
            <a:r>
              <a:rPr lang="en-US" dirty="0" smtClean="0">
                <a:solidFill>
                  <a:schemeClr val="accent1">
                    <a:lumMod val="75000"/>
                  </a:schemeClr>
                </a:solidFill>
              </a:rPr>
              <a:t>Enhance learning through AI conversation</a:t>
            </a:r>
          </a:p>
          <a:p>
            <a:pPr algn="just"/>
            <a:r>
              <a:rPr lang="en-US" dirty="0" smtClean="0">
                <a:solidFill>
                  <a:schemeClr val="accent1">
                    <a:lumMod val="75000"/>
                  </a:schemeClr>
                </a:solidFill>
              </a:rPr>
              <a:t>Generate ideas for creative stories</a:t>
            </a:r>
          </a:p>
          <a:p>
            <a:pPr algn="just"/>
            <a:r>
              <a:rPr lang="en-US" dirty="0" smtClean="0">
                <a:solidFill>
                  <a:schemeClr val="accent1">
                    <a:lumMod val="75000"/>
                  </a:schemeClr>
                </a:solidFill>
              </a:rPr>
              <a:t>Generate ideas for stories and responses for homework and assignment</a:t>
            </a:r>
          </a:p>
          <a:p>
            <a:pPr algn="just"/>
            <a:r>
              <a:rPr lang="en-US" dirty="0" smtClean="0">
                <a:solidFill>
                  <a:schemeClr val="accent1">
                    <a:lumMod val="75000"/>
                  </a:schemeClr>
                </a:solidFill>
              </a:rPr>
              <a:t>Manage and write applications and mails</a:t>
            </a:r>
          </a:p>
          <a:p>
            <a:pPr algn="just"/>
            <a:r>
              <a:rPr lang="en-US" dirty="0" smtClean="0">
                <a:solidFill>
                  <a:schemeClr val="accent1">
                    <a:lumMod val="75000"/>
                  </a:schemeClr>
                </a:solidFill>
              </a:rPr>
              <a:t>Summarize the class notes</a:t>
            </a:r>
          </a:p>
          <a:p>
            <a:r>
              <a:rPr lang="en-US" dirty="0" smtClean="0">
                <a:solidFill>
                  <a:schemeClr val="accent1">
                    <a:lumMod val="75000"/>
                  </a:schemeClr>
                </a:solidFill>
              </a:rPr>
              <a:t>Use a spelling and grammar checker</a:t>
            </a:r>
          </a:p>
          <a:p>
            <a:pPr algn="just"/>
            <a:endParaRPr lang="en-US" dirty="0" smtClean="0">
              <a:solidFill>
                <a:schemeClr val="accent1">
                  <a:lumMod val="75000"/>
                </a:schemeClr>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5144"/>
            <a:ext cx="9144000" cy="4583875"/>
          </a:xfrm>
          <a:prstGeom prst="rect">
            <a:avLst/>
          </a:prstGeom>
        </p:spPr>
      </p:pic>
    </p:spTree>
    <p:extLst>
      <p:ext uri="{BB962C8B-B14F-4D97-AF65-F5344CB8AC3E}">
        <p14:creationId xmlns:p14="http://schemas.microsoft.com/office/powerpoint/2010/main" val="11642131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sz="1800" dirty="0" smtClean="0">
                <a:solidFill>
                  <a:schemeClr val="accent1">
                    <a:lumMod val="75000"/>
                  </a:schemeClr>
                </a:solidFill>
                <a:latin typeface="Comic Sans MS" panose="030F0702030302020204" pitchFamily="66" charset="0"/>
              </a:rPr>
              <a:t>Way to use </a:t>
            </a:r>
            <a:r>
              <a:rPr lang="en-US" sz="1800" dirty="0" err="1" smtClean="0">
                <a:solidFill>
                  <a:schemeClr val="accent1">
                    <a:lumMod val="75000"/>
                  </a:schemeClr>
                </a:solidFill>
                <a:latin typeface="Comic Sans MS" panose="030F0702030302020204" pitchFamily="66" charset="0"/>
              </a:rPr>
              <a:t>ChatGPT</a:t>
            </a:r>
            <a:r>
              <a:rPr lang="en-US" sz="1800" dirty="0" smtClean="0">
                <a:solidFill>
                  <a:schemeClr val="accent1">
                    <a:lumMod val="75000"/>
                  </a:schemeClr>
                </a:solidFill>
                <a:latin typeface="Comic Sans MS" panose="030F0702030302020204" pitchFamily="66" charset="0"/>
              </a:rPr>
              <a:t>? </a:t>
            </a:r>
            <a:r>
              <a:rPr lang="en-US" sz="1400" b="0" i="1" dirty="0" smtClean="0">
                <a:solidFill>
                  <a:schemeClr val="accent1">
                    <a:lumMod val="75000"/>
                  </a:schemeClr>
                </a:solidFill>
                <a:latin typeface="Comic Sans MS" panose="030F0702030302020204" pitchFamily="66" charset="0"/>
              </a:rPr>
              <a:t>(cont.)</a:t>
            </a:r>
            <a:endParaRPr lang="en-US" sz="1400" b="0" i="1" dirty="0">
              <a:solidFill>
                <a:schemeClr val="accent1">
                  <a:lumMod val="75000"/>
                </a:schemeClr>
              </a:solidFill>
              <a:latin typeface="Comic Sans MS" panose="030F0702030302020204" pitchFamily="66"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1" y="2057400"/>
            <a:ext cx="7866546" cy="3662839"/>
          </a:xfrm>
          <a:prstGeom prst="rect">
            <a:avLst/>
          </a:prstGeom>
        </p:spPr>
      </p:pic>
    </p:spTree>
    <p:extLst>
      <p:ext uri="{BB962C8B-B14F-4D97-AF65-F5344CB8AC3E}">
        <p14:creationId xmlns:p14="http://schemas.microsoft.com/office/powerpoint/2010/main" val="11953211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r>
              <a:rPr lang="en-US" altLang="en-US" sz="1800" dirty="0" smtClean="0">
                <a:solidFill>
                  <a:srgbClr val="C00000"/>
                </a:solidFill>
                <a:latin typeface="Comic Sans MS" panose="030F0702030302020204" pitchFamily="66" charset="0"/>
              </a:rPr>
              <a:t>Exercise: </a:t>
            </a:r>
            <a:r>
              <a:rPr lang="en-US" sz="1800" dirty="0" smtClean="0">
                <a:solidFill>
                  <a:srgbClr val="C00000"/>
                </a:solidFill>
                <a:latin typeface="Comic Sans MS" panose="030F0702030302020204" pitchFamily="66" charset="0"/>
              </a:rPr>
              <a:t>The </a:t>
            </a:r>
            <a:r>
              <a:rPr lang="en-US" sz="1800" dirty="0">
                <a:solidFill>
                  <a:srgbClr val="C00000"/>
                </a:solidFill>
                <a:latin typeface="Comic Sans MS" panose="030F0702030302020204" pitchFamily="66" charset="0"/>
              </a:rPr>
              <a:t>s</a:t>
            </a:r>
            <a:r>
              <a:rPr lang="en-US" sz="1800" dirty="0" smtClean="0">
                <a:solidFill>
                  <a:srgbClr val="C00000"/>
                </a:solidFill>
                <a:latin typeface="Comic Sans MS" panose="030F0702030302020204" pitchFamily="66" charset="0"/>
              </a:rPr>
              <a:t>ynergy </a:t>
            </a:r>
            <a:r>
              <a:rPr lang="en-US" sz="1800" dirty="0">
                <a:solidFill>
                  <a:srgbClr val="C00000"/>
                </a:solidFill>
                <a:latin typeface="Comic Sans MS" panose="030F0702030302020204" pitchFamily="66" charset="0"/>
              </a:rPr>
              <a:t>of </a:t>
            </a:r>
            <a:r>
              <a:rPr lang="en-US" sz="1800" dirty="0" err="1">
                <a:solidFill>
                  <a:srgbClr val="C00000"/>
                </a:solidFill>
                <a:latin typeface="Comic Sans MS" panose="030F0702030302020204" pitchFamily="66" charset="0"/>
              </a:rPr>
              <a:t>ChatGPT</a:t>
            </a:r>
            <a:r>
              <a:rPr lang="en-US" sz="1800" dirty="0">
                <a:solidFill>
                  <a:srgbClr val="C00000"/>
                </a:solidFill>
                <a:latin typeface="Comic Sans MS" panose="030F0702030302020204" pitchFamily="66" charset="0"/>
              </a:rPr>
              <a:t>, Copilot, and Bots</a:t>
            </a:r>
            <a:endParaRPr lang="en-US" sz="1400" dirty="0">
              <a:solidFill>
                <a:srgbClr val="C00000"/>
              </a:solidFill>
              <a:latin typeface="Comic Sans MS" panose="030F0702030302020204" pitchFamily="66" charset="0"/>
            </a:endParaRPr>
          </a:p>
        </p:txBody>
      </p:sp>
      <p:sp>
        <p:nvSpPr>
          <p:cNvPr id="26627" name="Content Placeholder 2"/>
          <p:cNvSpPr>
            <a:spLocks noGrp="1"/>
          </p:cNvSpPr>
          <p:nvPr>
            <p:ph idx="1"/>
          </p:nvPr>
        </p:nvSpPr>
        <p:spPr>
          <a:xfrm>
            <a:off x="304800" y="2667000"/>
            <a:ext cx="8229600" cy="2133600"/>
          </a:xfrm>
        </p:spPr>
        <p:txBody>
          <a:bodyPr/>
          <a:lstStyle/>
          <a:p>
            <a:pPr marL="201448" lvl="1" indent="0" algn="just">
              <a:buNone/>
            </a:pPr>
            <a:r>
              <a:rPr lang="en-US" sz="1600" dirty="0" smtClean="0"/>
              <a:t>Explain how businesses can leverage the strengths of </a:t>
            </a:r>
            <a:r>
              <a:rPr lang="en-US" sz="1600" dirty="0" err="1" smtClean="0"/>
              <a:t>ChatGPT</a:t>
            </a:r>
            <a:r>
              <a:rPr lang="en-US" sz="1600" dirty="0" smtClean="0"/>
              <a:t>, Copilot, and bots together to create a more cohesive and efficient operation by providing an example of how a company might use </a:t>
            </a:r>
            <a:r>
              <a:rPr lang="en-US" sz="1600" dirty="0" err="1" smtClean="0"/>
              <a:t>ChatGPT</a:t>
            </a:r>
            <a:r>
              <a:rPr lang="en-US" sz="1600" dirty="0" smtClean="0"/>
              <a:t> for customer communication, Copilot for software development, and bots for process automation, creating a seamless workflow.</a:t>
            </a:r>
            <a:endParaRPr lang="en-US" sz="1600" dirty="0"/>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19962" y="235211"/>
            <a:ext cx="1514475" cy="1730829"/>
          </a:xfrm>
          <a:prstGeom prst="rect">
            <a:avLst/>
          </a:prstGeom>
        </p:spPr>
      </p:pic>
    </p:spTree>
    <p:extLst>
      <p:ext uri="{BB962C8B-B14F-4D97-AF65-F5344CB8AC3E}">
        <p14:creationId xmlns:p14="http://schemas.microsoft.com/office/powerpoint/2010/main" val="39997593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609600" y="1066800"/>
            <a:ext cx="8001000" cy="5078313"/>
          </a:xfrm>
          <a:prstGeom prst="rect">
            <a:avLst/>
          </a:prstGeom>
        </p:spPr>
        <p:txBody>
          <a:bodyPr wrap="square">
            <a:spAutoFit/>
          </a:bodyPr>
          <a:lstStyle/>
          <a:p>
            <a:pPr algn="ctr"/>
            <a:r>
              <a:rPr lang="en-US" sz="1400" dirty="0" smtClean="0">
                <a:solidFill>
                  <a:schemeClr val="accent1">
                    <a:lumMod val="75000"/>
                  </a:schemeClr>
                </a:solidFill>
              </a:rPr>
              <a:t>Sources:</a:t>
            </a:r>
            <a:endParaRPr lang="en-US" sz="1400" dirty="0">
              <a:solidFill>
                <a:schemeClr val="accent1">
                  <a:lumMod val="75000"/>
                </a:schemeClr>
              </a:solidFill>
            </a:endParaRPr>
          </a:p>
          <a:p>
            <a:pPr algn="ctr"/>
            <a:endParaRPr lang="en-US" sz="1400" dirty="0" smtClean="0">
              <a:solidFill>
                <a:schemeClr val="accent1">
                  <a:lumMod val="75000"/>
                </a:schemeClr>
              </a:solidFill>
              <a:hlinkClick r:id=""/>
            </a:endParaRPr>
          </a:p>
          <a:p>
            <a:pPr algn="ctr">
              <a:spcAft>
                <a:spcPts val="600"/>
              </a:spcAft>
            </a:pPr>
            <a:r>
              <a:rPr lang="en-US" sz="1400" dirty="0" smtClean="0">
                <a:solidFill>
                  <a:schemeClr val="accent1">
                    <a:lumMod val="75000"/>
                  </a:schemeClr>
                </a:solidFill>
                <a:hlinkClick r:id=""/>
              </a:rPr>
              <a:t>https</a:t>
            </a:r>
            <a:r>
              <a:rPr lang="en-US" sz="1400" dirty="0">
                <a:solidFill>
                  <a:schemeClr val="accent1">
                    <a:lumMod val="75000"/>
                  </a:schemeClr>
                </a:solidFill>
                <a:hlinkClick r:id=""/>
              </a:rPr>
              <a:t>://</a:t>
            </a:r>
            <a:r>
              <a:rPr lang="en-US" sz="1400" dirty="0" smtClean="0">
                <a:solidFill>
                  <a:schemeClr val="accent1">
                    <a:lumMod val="75000"/>
                  </a:schemeClr>
                </a:solidFill>
                <a:hlinkClick r:id=""/>
              </a:rPr>
              <a:t>www.techtarget.com/searchenterpriseai/definition/AI-Artificial-Intelligence</a:t>
            </a:r>
          </a:p>
          <a:p>
            <a:pPr algn="ctr">
              <a:spcAft>
                <a:spcPts val="600"/>
              </a:spcAft>
            </a:pPr>
            <a:r>
              <a:rPr lang="en-US" sz="1400" dirty="0" smtClean="0">
                <a:solidFill>
                  <a:schemeClr val="accent1">
                    <a:lumMod val="75000"/>
                  </a:schemeClr>
                </a:solidFill>
                <a:hlinkClick r:id=""/>
              </a:rPr>
              <a:t>https</a:t>
            </a:r>
            <a:r>
              <a:rPr lang="en-US" sz="1400" dirty="0">
                <a:solidFill>
                  <a:schemeClr val="accent1">
                    <a:lumMod val="75000"/>
                  </a:schemeClr>
                </a:solidFill>
                <a:hlinkClick r:id=""/>
              </a:rPr>
              <a:t>://www.analytixlabs.co.in/blog/components-of-artificial-intelligence</a:t>
            </a:r>
            <a:r>
              <a:rPr lang="en-US" sz="1400" dirty="0" smtClean="0">
                <a:solidFill>
                  <a:schemeClr val="accent1">
                    <a:lumMod val="75000"/>
                  </a:schemeClr>
                </a:solidFill>
                <a:hlinkClick r:id=""/>
              </a:rPr>
              <a:t>/</a:t>
            </a:r>
          </a:p>
          <a:p>
            <a:pPr algn="ctr">
              <a:spcAft>
                <a:spcPts val="600"/>
              </a:spcAft>
            </a:pPr>
            <a:r>
              <a:rPr lang="en-US" sz="1400" dirty="0" smtClean="0">
                <a:solidFill>
                  <a:schemeClr val="accent1">
                    <a:lumMod val="75000"/>
                  </a:schemeClr>
                </a:solidFill>
                <a:hlinkClick r:id=""/>
              </a:rPr>
              <a:t>https</a:t>
            </a:r>
            <a:r>
              <a:rPr lang="en-US" sz="1400" dirty="0">
                <a:solidFill>
                  <a:schemeClr val="accent1">
                    <a:lumMod val="75000"/>
                  </a:schemeClr>
                </a:solidFill>
                <a:hlinkClick r:id=""/>
              </a:rPr>
              <a:t>://</a:t>
            </a:r>
            <a:r>
              <a:rPr lang="en-US" sz="1400" dirty="0" smtClean="0">
                <a:solidFill>
                  <a:schemeClr val="accent1">
                    <a:lumMod val="75000"/>
                  </a:schemeClr>
                </a:solidFill>
                <a:hlinkClick r:id=""/>
              </a:rPr>
              <a:t>www.javatpoint.com/artificial-intelligence-interview-questions</a:t>
            </a:r>
          </a:p>
          <a:p>
            <a:pPr algn="ctr">
              <a:spcAft>
                <a:spcPts val="600"/>
              </a:spcAft>
            </a:pPr>
            <a:r>
              <a:rPr lang="en-US" sz="1400" dirty="0" smtClean="0">
                <a:solidFill>
                  <a:schemeClr val="accent1">
                    <a:lumMod val="75000"/>
                  </a:schemeClr>
                </a:solidFill>
                <a:hlinkClick r:id=""/>
              </a:rPr>
              <a:t>https</a:t>
            </a:r>
            <a:r>
              <a:rPr lang="en-US" sz="1400" dirty="0">
                <a:solidFill>
                  <a:schemeClr val="accent1">
                    <a:lumMod val="75000"/>
                  </a:schemeClr>
                </a:solidFill>
                <a:hlinkClick r:id=""/>
              </a:rPr>
              <a:t>://arxiv.org/ftp/arxiv/papers/2304/2304.05436.pdf</a:t>
            </a:r>
            <a:endParaRPr lang="en-US" sz="1400" dirty="0" smtClean="0">
              <a:solidFill>
                <a:schemeClr val="accent1">
                  <a:lumMod val="75000"/>
                </a:schemeClr>
              </a:solidFill>
              <a:hlinkClick r:id=""/>
            </a:endParaRPr>
          </a:p>
          <a:p>
            <a:pPr algn="ctr">
              <a:spcAft>
                <a:spcPts val="600"/>
              </a:spcAft>
            </a:pPr>
            <a:r>
              <a:rPr lang="en-US" sz="1400" dirty="0" smtClean="0">
                <a:hlinkClick r:id="rId2"/>
              </a:rPr>
              <a:t>https</a:t>
            </a:r>
            <a:r>
              <a:rPr lang="en-US" sz="1400" dirty="0">
                <a:hlinkClick r:id="rId2"/>
              </a:rPr>
              <a:t>://www.tidio.com/blog/benefits-of-chatbots/</a:t>
            </a:r>
            <a:endParaRPr lang="en-US" sz="1400" dirty="0"/>
          </a:p>
          <a:p>
            <a:pPr algn="ctr">
              <a:spcAft>
                <a:spcPts val="600"/>
              </a:spcAft>
            </a:pPr>
            <a:r>
              <a:rPr lang="en-US" sz="1400" dirty="0" smtClean="0">
                <a:hlinkClick r:id="rId3"/>
              </a:rPr>
              <a:t>https</a:t>
            </a:r>
            <a:r>
              <a:rPr lang="en-US" sz="1400" dirty="0">
                <a:hlinkClick r:id="rId3"/>
              </a:rPr>
              <a:t>://www.zdnet.com/article/what-is-chatgpt-and-why-does-it-matter-heres-everything-you-need-to-know/</a:t>
            </a:r>
            <a:endParaRPr lang="en-US" sz="1400" dirty="0"/>
          </a:p>
          <a:p>
            <a:endParaRPr lang="en-US" sz="1400" dirty="0"/>
          </a:p>
          <a:p>
            <a:pPr algn="ct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r>
              <a:rPr lang="en-US" sz="1400" dirty="0" smtClean="0">
                <a:solidFill>
                  <a:schemeClr val="accent1">
                    <a:lumMod val="75000"/>
                  </a:schemeClr>
                </a:solidFill>
              </a:rPr>
              <a:t>Videos:</a:t>
            </a:r>
          </a:p>
          <a:p>
            <a:pPr algn="ctr"/>
            <a:endParaRPr lang="en-US" sz="1400" dirty="0">
              <a:solidFill>
                <a:schemeClr val="accent1">
                  <a:lumMod val="75000"/>
                </a:schemeClr>
              </a:solidFill>
            </a:endParaRPr>
          </a:p>
          <a:p>
            <a:pPr algn="ctr"/>
            <a:r>
              <a:rPr lang="en-US" sz="1400" dirty="0" smtClean="0">
                <a:solidFill>
                  <a:schemeClr val="accent1">
                    <a:lumMod val="75000"/>
                  </a:schemeClr>
                </a:solidFill>
              </a:rPr>
              <a:t>Machine </a:t>
            </a:r>
            <a:r>
              <a:rPr lang="en-US" sz="1400" dirty="0">
                <a:solidFill>
                  <a:schemeClr val="accent1">
                    <a:lumMod val="75000"/>
                  </a:schemeClr>
                </a:solidFill>
              </a:rPr>
              <a:t>Learning and Human Bias</a:t>
            </a:r>
          </a:p>
          <a:p>
            <a:pPr algn="ctr"/>
            <a:r>
              <a:rPr lang="en-US" sz="1400" dirty="0">
                <a:solidFill>
                  <a:schemeClr val="accent1">
                    <a:lumMod val="75000"/>
                  </a:schemeClr>
                </a:solidFill>
                <a:hlinkClick r:id=""/>
              </a:rPr>
              <a:t>https://</a:t>
            </a:r>
            <a:r>
              <a:rPr lang="en-US" sz="1400" dirty="0" smtClean="0">
                <a:solidFill>
                  <a:schemeClr val="accent1">
                    <a:lumMod val="75000"/>
                  </a:schemeClr>
                </a:solidFill>
                <a:hlinkClick r:id=""/>
              </a:rPr>
              <a:t>www.youtube.com/watch?v=59bMh59JQDo</a:t>
            </a:r>
          </a:p>
          <a:p>
            <a:pPr algn="ctr"/>
            <a:endParaRPr lang="en-US" sz="1400" dirty="0">
              <a:solidFill>
                <a:schemeClr val="accent1">
                  <a:lumMod val="75000"/>
                </a:schemeClr>
              </a:solidFill>
              <a:hlinkClick r:id=""/>
            </a:endParaRPr>
          </a:p>
          <a:p>
            <a:pPr algn="ctr"/>
            <a:r>
              <a:rPr lang="en-US" sz="1400" dirty="0">
                <a:solidFill>
                  <a:schemeClr val="accent1">
                    <a:lumMod val="75000"/>
                  </a:schemeClr>
                </a:solidFill>
              </a:rPr>
              <a:t>How Cambridge </a:t>
            </a:r>
            <a:r>
              <a:rPr lang="en-US" sz="1400" dirty="0" err="1">
                <a:solidFill>
                  <a:schemeClr val="accent1">
                    <a:lumMod val="75000"/>
                  </a:schemeClr>
                </a:solidFill>
              </a:rPr>
              <a:t>Analytica</a:t>
            </a:r>
            <a:r>
              <a:rPr lang="en-US" sz="1400" dirty="0">
                <a:solidFill>
                  <a:schemeClr val="accent1">
                    <a:lumMod val="75000"/>
                  </a:schemeClr>
                </a:solidFill>
              </a:rPr>
              <a:t> Used Algorithms To Trawl Through Facebook User Data | Mach | NBC News</a:t>
            </a:r>
          </a:p>
          <a:p>
            <a:pPr algn="ctr"/>
            <a:r>
              <a:rPr lang="en-US" sz="1400" dirty="0" smtClean="0">
                <a:solidFill>
                  <a:schemeClr val="accent1">
                    <a:lumMod val="75000"/>
                  </a:schemeClr>
                </a:solidFill>
                <a:hlinkClick r:id=""/>
              </a:rPr>
              <a:t>https</a:t>
            </a:r>
            <a:r>
              <a:rPr lang="en-US" sz="1400" dirty="0">
                <a:solidFill>
                  <a:schemeClr val="accent1">
                    <a:lumMod val="75000"/>
                  </a:schemeClr>
                </a:solidFill>
                <a:hlinkClick r:id=""/>
              </a:rPr>
              <a:t>://</a:t>
            </a:r>
            <a:r>
              <a:rPr lang="en-US" sz="1400" dirty="0" smtClean="0">
                <a:solidFill>
                  <a:schemeClr val="accent1">
                    <a:lumMod val="75000"/>
                  </a:schemeClr>
                </a:solidFill>
                <a:hlinkClick r:id=""/>
              </a:rPr>
              <a:t>www.youtube.com/watch?v=olysFQkYkCA&amp;t=16s</a:t>
            </a:r>
          </a:p>
          <a:p>
            <a:pPr algn="ctr"/>
            <a:endParaRPr lang="en-US" sz="1400" dirty="0">
              <a:solidFill>
                <a:schemeClr val="accent1">
                  <a:lumMod val="75000"/>
                </a:schemeClr>
              </a:solidFill>
              <a:hlinkClick r:id=""/>
            </a:endParaRPr>
          </a:p>
        </p:txBody>
      </p:sp>
    </p:spTree>
    <p:extLst>
      <p:ext uri="{BB962C8B-B14F-4D97-AF65-F5344CB8AC3E}">
        <p14:creationId xmlns:p14="http://schemas.microsoft.com/office/powerpoint/2010/main" val="282663534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53340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22730</TotalTime>
  <Words>2717</Words>
  <Application>Microsoft Office PowerPoint</Application>
  <PresentationFormat>On-screen Show (4:3)</PresentationFormat>
  <Paragraphs>179</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Comic Sans MS</vt:lpstr>
      <vt:lpstr>Times New Roman</vt:lpstr>
      <vt:lpstr>Wingdings 3</vt:lpstr>
      <vt:lpstr>Presentation slides</vt:lpstr>
      <vt:lpstr>PowerPoint Presentation</vt:lpstr>
      <vt:lpstr>PowerPoint Presentation</vt:lpstr>
      <vt:lpstr>PowerPoint Presentation</vt:lpstr>
      <vt:lpstr>PowerPoint Presentation</vt:lpstr>
      <vt:lpstr>What is ChatGPT?</vt:lpstr>
      <vt:lpstr>Practical applications of Chat GPT in business</vt:lpstr>
      <vt:lpstr>Practical applications of Chat GPT in business</vt:lpstr>
      <vt:lpstr>Practical applications of Chat GPT in business</vt:lpstr>
      <vt:lpstr>PowerPoint Presentation</vt:lpstr>
      <vt:lpstr>What is Copilot? </vt:lpstr>
      <vt:lpstr>Practical applications of copilot in business</vt:lpstr>
      <vt:lpstr>Specific use cases for Copilot</vt:lpstr>
      <vt:lpstr>PowerPoint Presentation</vt:lpstr>
      <vt:lpstr>Real-time competitive intelligence</vt:lpstr>
      <vt:lpstr>Comparing AI Chatbots for Business: Copilot and ChatGPT Features</vt:lpstr>
      <vt:lpstr>Copilot vs. ChatGPT for business efficiency (1)</vt:lpstr>
      <vt:lpstr>Copilot vs. ChatGPT for business efficiency (2)</vt:lpstr>
      <vt:lpstr>PowerPoint Presentation</vt:lpstr>
      <vt:lpstr>What are bots?</vt:lpstr>
      <vt:lpstr>Bots in process automation</vt:lpstr>
      <vt:lpstr>What is a Chatbots?</vt:lpstr>
      <vt:lpstr>Types of Chatbots</vt:lpstr>
      <vt:lpstr>Types of Chatbots</vt:lpstr>
      <vt:lpstr>Chatbot benefits for Customers</vt:lpstr>
      <vt:lpstr>Chatbot benefits for Business</vt:lpstr>
      <vt:lpstr>A Summary of well-known Chatbots over time</vt:lpstr>
      <vt:lpstr>What is ChatGPT?</vt:lpstr>
      <vt:lpstr>What can ChatGPT do?</vt:lpstr>
      <vt:lpstr>Features of ChatGPT</vt:lpstr>
      <vt:lpstr>Advantages and disadvantages of ChatGPT</vt:lpstr>
      <vt:lpstr>Way to use ChatGPT?</vt:lpstr>
      <vt:lpstr>Way to use ChatGPT? (cont.)</vt:lpstr>
      <vt:lpstr>Exercise: The synergy of ChatGPT, Copilot, and Bots</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2785</cp:revision>
  <dcterms:created xsi:type="dcterms:W3CDTF">2013-11-13T03:56:02Z</dcterms:created>
  <dcterms:modified xsi:type="dcterms:W3CDTF">2024-09-11T15:30:51Z</dcterms:modified>
</cp:coreProperties>
</file>