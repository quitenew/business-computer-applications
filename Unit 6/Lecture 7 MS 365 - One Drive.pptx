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bookmarkIdSeed="2">
  <p:sldMasterIdLst>
    <p:sldMasterId id="2147483660" r:id="rId1"/>
  </p:sldMasterIdLst>
  <p:notesMasterIdLst>
    <p:notesMasterId r:id="rId22"/>
  </p:notesMasterIdLst>
  <p:sldIdLst>
    <p:sldId id="1086" r:id="rId2"/>
    <p:sldId id="2350" r:id="rId3"/>
    <p:sldId id="2351" r:id="rId4"/>
    <p:sldId id="2295" r:id="rId5"/>
    <p:sldId id="2294" r:id="rId6"/>
    <p:sldId id="2296" r:id="rId7"/>
    <p:sldId id="2297" r:id="rId8"/>
    <p:sldId id="2298" r:id="rId9"/>
    <p:sldId id="2299" r:id="rId10"/>
    <p:sldId id="2300" r:id="rId11"/>
    <p:sldId id="2307" r:id="rId12"/>
    <p:sldId id="2308" r:id="rId13"/>
    <p:sldId id="2309" r:id="rId14"/>
    <p:sldId id="2310" r:id="rId15"/>
    <p:sldId id="2242" r:id="rId16"/>
    <p:sldId id="2243" r:id="rId17"/>
    <p:sldId id="2244" r:id="rId18"/>
    <p:sldId id="2313" r:id="rId19"/>
    <p:sldId id="1985" r:id="rId20"/>
    <p:sldId id="1984" r:id="rId2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16519"/>
    <a:srgbClr val="FAD35B"/>
    <a:srgbClr val="517BA9"/>
    <a:srgbClr val="B40CA0"/>
    <a:srgbClr val="D80EC0"/>
    <a:srgbClr val="F77DEB"/>
    <a:srgbClr val="F2802A"/>
    <a:srgbClr val="F59E5D"/>
    <a:srgbClr val="F2E6BC"/>
    <a:srgbClr val="FAB4E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2832" autoAdjust="0"/>
    <p:restoredTop sz="93673" autoAdjust="0"/>
  </p:normalViewPr>
  <p:slideViewPr>
    <p:cSldViewPr>
      <p:cViewPr varScale="1">
        <p:scale>
          <a:sx n="65" d="100"/>
          <a:sy n="65" d="100"/>
        </p:scale>
        <p:origin x="1044" y="60"/>
      </p:cViewPr>
      <p:guideLst>
        <p:guide orient="horz" pos="2160"/>
        <p:guide pos="2880"/>
      </p:guideLst>
    </p:cSldViewPr>
  </p:slideViewPr>
  <p:notesTextViewPr>
    <p:cViewPr>
      <p:scale>
        <a:sx n="1" d="1"/>
        <a:sy n="1" d="1"/>
      </p:scale>
      <p:origin x="0" y="0"/>
    </p:cViewPr>
  </p:notesTextViewPr>
  <p:sorterViewPr>
    <p:cViewPr varScale="1">
      <p:scale>
        <a:sx n="1" d="1"/>
        <a:sy n="1" d="1"/>
      </p:scale>
      <p:origin x="0" y="-30672"/>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E17AF0F-4442-42BF-B078-989F64832F36}" type="datetimeFigureOut">
              <a:rPr lang="en-US" smtClean="0"/>
              <a:t>9/9/2024</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CE1A061F-D6B6-40D9-9777-425CAAB91A12}" type="slidenum">
              <a:rPr lang="en-US" smtClean="0"/>
              <a:t>‹#›</a:t>
            </a:fld>
            <a:endParaRPr lang="en-US" dirty="0"/>
          </a:p>
        </p:txBody>
      </p:sp>
    </p:spTree>
    <p:extLst>
      <p:ext uri="{BB962C8B-B14F-4D97-AF65-F5344CB8AC3E}">
        <p14:creationId xmlns:p14="http://schemas.microsoft.com/office/powerpoint/2010/main" val="19059738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Tree>
    <p:extLst>
      <p:ext uri="{BB962C8B-B14F-4D97-AF65-F5344CB8AC3E}">
        <p14:creationId xmlns:p14="http://schemas.microsoft.com/office/powerpoint/2010/main" val="293191339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cSld name="ชื่อเรื่องและเนื้อหา">
    <p:spTree>
      <p:nvGrpSpPr>
        <p:cNvPr id="1" name=""/>
        <p:cNvGrpSpPr/>
        <p:nvPr/>
      </p:nvGrpSpPr>
      <p:grpSpPr>
        <a:xfrm>
          <a:off x="0" y="0"/>
          <a:ext cx="0" cy="0"/>
          <a:chOff x="0" y="0"/>
          <a:chExt cx="0" cy="0"/>
        </a:xfrm>
      </p:grpSpPr>
      <p:sp>
        <p:nvSpPr>
          <p:cNvPr id="2" name="ชื่อเรื่อง 1"/>
          <p:cNvSpPr>
            <a:spLocks noGrp="1"/>
          </p:cNvSpPr>
          <p:nvPr>
            <p:ph type="title"/>
          </p:nvPr>
        </p:nvSpPr>
        <p:spPr>
          <a:xfrm>
            <a:off x="457200" y="267494"/>
            <a:ext cx="8229600" cy="1399032"/>
          </a:xfrm>
        </p:spPr>
        <p:txBody>
          <a:bodyPr/>
          <a:lstStyle/>
          <a:p>
            <a:r>
              <a:rPr kumimoji="0" lang="th-TH" smtClean="0"/>
              <a:t>คลิกเพื่อแก้ไขลักษณะชื่อเรื่องต้นแบบ</a:t>
            </a:r>
            <a:endParaRPr kumimoji="0" lang="en-US"/>
          </a:p>
        </p:txBody>
      </p:sp>
      <p:sp>
        <p:nvSpPr>
          <p:cNvPr id="3" name="ตัวยึดเนื้อหา 2"/>
          <p:cNvSpPr>
            <a:spLocks noGrp="1"/>
          </p:cNvSpPr>
          <p:nvPr>
            <p:ph idx="1"/>
          </p:nvPr>
        </p:nvSpPr>
        <p:spPr>
          <a:xfrm>
            <a:off x="457200" y="1882808"/>
            <a:ext cx="8229600" cy="4572000"/>
          </a:xfrm>
        </p:spPr>
        <p:txBody>
          <a:bodyPr/>
          <a:lstStyle/>
          <a:p>
            <a:pPr lvl="0" eaLnBrk="1" latinLnBrk="0" hangingPunct="1"/>
            <a:r>
              <a:rPr lang="th-TH" smtClean="0"/>
              <a:t>คลิกเพื่อแก้ไขลักษณะของข้อความต้นแบบ</a:t>
            </a:r>
          </a:p>
          <a:p>
            <a:pPr lvl="1" eaLnBrk="1" latinLnBrk="0" hangingPunct="1"/>
            <a:r>
              <a:rPr lang="th-TH" smtClean="0"/>
              <a:t>ระดับที่สอง</a:t>
            </a:r>
          </a:p>
          <a:p>
            <a:pPr lvl="2" eaLnBrk="1" latinLnBrk="0" hangingPunct="1"/>
            <a:r>
              <a:rPr lang="th-TH" smtClean="0"/>
              <a:t>ระดับที่สาม</a:t>
            </a:r>
          </a:p>
          <a:p>
            <a:pPr lvl="3" eaLnBrk="1" latinLnBrk="0" hangingPunct="1"/>
            <a:r>
              <a:rPr lang="th-TH" smtClean="0"/>
              <a:t>ระดับที่สี่</a:t>
            </a:r>
          </a:p>
          <a:p>
            <a:pPr lvl="4" eaLnBrk="1" latinLnBrk="0" hangingPunct="1"/>
            <a:r>
              <a:rPr lang="th-TH" smtClean="0"/>
              <a:t>ระดับที่ห้า</a:t>
            </a:r>
            <a:endParaRPr kumimoji="0" lang="en-US"/>
          </a:p>
        </p:txBody>
      </p:sp>
      <p:sp>
        <p:nvSpPr>
          <p:cNvPr id="4" name="ตัวยึดวันที่ 3"/>
          <p:cNvSpPr>
            <a:spLocks noGrp="1"/>
          </p:cNvSpPr>
          <p:nvPr>
            <p:ph type="dt" sz="half" idx="10"/>
          </p:nvPr>
        </p:nvSpPr>
        <p:spPr>
          <a:xfrm>
            <a:off x="4791456" y="6480048"/>
            <a:ext cx="2133600" cy="301752"/>
          </a:xfrm>
        </p:spPr>
        <p:txBody>
          <a:bodyPr/>
          <a:lstStyle/>
          <a:p>
            <a:fld id="{B7C8B310-829C-4548-BECB-84206EE8B18D}" type="datetime1">
              <a:rPr lang="th-TH" smtClean="0"/>
              <a:t>09/09/67</a:t>
            </a:fld>
            <a:endParaRPr lang="th-TH"/>
          </a:p>
        </p:txBody>
      </p:sp>
      <p:sp>
        <p:nvSpPr>
          <p:cNvPr id="5" name="ตัวยึดท้ายกระดาษ 4"/>
          <p:cNvSpPr>
            <a:spLocks noGrp="1"/>
          </p:cNvSpPr>
          <p:nvPr>
            <p:ph type="ftr" sz="quarter" idx="11"/>
          </p:nvPr>
        </p:nvSpPr>
        <p:spPr>
          <a:xfrm>
            <a:off x="457200" y="6480969"/>
            <a:ext cx="4260056" cy="300831"/>
          </a:xfrm>
        </p:spPr>
        <p:txBody>
          <a:bodyPr/>
          <a:lstStyle/>
          <a:p>
            <a:endParaRPr lang="th-TH"/>
          </a:p>
        </p:txBody>
      </p:sp>
      <p:sp>
        <p:nvSpPr>
          <p:cNvPr id="6" name="ตัวยึดหมายเลขภาพนิ่ง 5"/>
          <p:cNvSpPr>
            <a:spLocks noGrp="1"/>
          </p:cNvSpPr>
          <p:nvPr>
            <p:ph type="sldNum" sz="quarter" idx="12"/>
          </p:nvPr>
        </p:nvSpPr>
        <p:spPr/>
        <p:txBody>
          <a:bodyPr/>
          <a:lstStyle/>
          <a:p>
            <a:fld id="{B2F4933C-246D-4C2D-BF23-31330A08DB85}" type="slidenum">
              <a:rPr lang="th-TH" smtClean="0"/>
              <a:pPr/>
              <a:t>‹#›</a:t>
            </a:fld>
            <a:endParaRPr lang="th-TH"/>
          </a:p>
        </p:txBody>
      </p:sp>
    </p:spTree>
    <p:extLst>
      <p:ext uri="{BB962C8B-B14F-4D97-AF65-F5344CB8AC3E}">
        <p14:creationId xmlns:p14="http://schemas.microsoft.com/office/powerpoint/2010/main" val="202445727"/>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94FA441A-F2C1-46D9-A35C-E2269C12AC96}"/>
              </a:ext>
            </a:extLst>
          </p:cNvPr>
          <p:cNvSpPr/>
          <p:nvPr userDrawn="1"/>
        </p:nvSpPr>
        <p:spPr>
          <a:xfrm>
            <a:off x="0" y="0"/>
            <a:ext cx="9144000" cy="980316"/>
          </a:xfrm>
          <a:prstGeom prst="rect">
            <a:avLst/>
          </a:prstGeom>
          <a:solidFill>
            <a:schemeClr val="bg1">
              <a:lumMod val="95000"/>
            </a:schemeClr>
          </a:solidFill>
          <a:ln>
            <a:noFill/>
          </a:ln>
          <a:effectLst/>
        </p:spPr>
        <p:txBody>
          <a:bodyPr lIns="24490" tIns="12245" rIns="24490" bIns="12245" anchor="ctr"/>
          <a:lstStyle/>
          <a:p>
            <a:pPr marL="48906" marR="0" lvl="0" indent="-48906" algn="just" defTabSz="167130" eaLnBrk="1" fontAlgn="base" latinLnBrk="0" hangingPunct="1">
              <a:lnSpc>
                <a:spcPts val="295"/>
              </a:lnSpc>
              <a:spcBef>
                <a:spcPct val="0"/>
              </a:spcBef>
              <a:spcAft>
                <a:spcPct val="0"/>
              </a:spcAft>
              <a:buClr>
                <a:srgbClr val="000000"/>
              </a:buClr>
              <a:buSzTx/>
              <a:buFont typeface="Wingdings 3" pitchFamily="18" charset="2"/>
              <a:buChar char="}"/>
              <a:tabLst/>
              <a:defRPr/>
            </a:pPr>
            <a:endParaRPr kumimoji="0" lang="en-US" sz="321" b="0" i="0" u="none" strike="noStrike" kern="0" cap="none" spc="0" normalizeH="0" baseline="0" noProof="0" dirty="0">
              <a:ln>
                <a:noFill/>
              </a:ln>
              <a:solidFill>
                <a:srgbClr val="FFFFFF"/>
              </a:solidFill>
              <a:effectLst/>
              <a:uLnTx/>
              <a:uFillTx/>
              <a:latin typeface="Arial" charset="0"/>
              <a:cs typeface="Times New Roman" pitchFamily="18" charset="0"/>
            </a:endParaRPr>
          </a:p>
        </p:txBody>
      </p:sp>
    </p:spTree>
    <p:extLst>
      <p:ext uri="{BB962C8B-B14F-4D97-AF65-F5344CB8AC3E}">
        <p14:creationId xmlns:p14="http://schemas.microsoft.com/office/powerpoint/2010/main" val="485703443"/>
      </p:ext>
    </p:extLst>
  </p:cSld>
  <p:clrMap bg1="lt1" tx1="dk1" bg2="lt2" tx2="dk2" accent1="accent1" accent2="accent2" accent3="accent3" accent4="accent4" accent5="accent5" accent6="accent6" hlink="hlink" folHlink="folHlink"/>
  <p:sldLayoutIdLst>
    <p:sldLayoutId id="2147483661" r:id="rId1"/>
    <p:sldLayoutId id="2147483705" r:id="rId2"/>
  </p:sldLayoutIdLst>
  <p:hf sldNum="0" hdr="0" ftr="0" dt="0"/>
  <p:txStyles>
    <p:titleStyle>
      <a:lvl1pPr algn="l" defTabSz="957998" rtl="0" eaLnBrk="1" fontAlgn="base" hangingPunct="1">
        <a:lnSpc>
          <a:spcPct val="100000"/>
        </a:lnSpc>
        <a:spcBef>
          <a:spcPct val="0"/>
        </a:spcBef>
        <a:spcAft>
          <a:spcPct val="0"/>
        </a:spcAft>
        <a:defRPr sz="2000" b="1">
          <a:solidFill>
            <a:schemeClr val="tx2"/>
          </a:solidFill>
          <a:latin typeface="+mj-lt"/>
          <a:ea typeface="+mj-ea"/>
          <a:cs typeface="+mj-cs"/>
        </a:defRPr>
      </a:lvl1pPr>
      <a:lvl2pPr algn="l" defTabSz="957998" rtl="0" eaLnBrk="1" fontAlgn="base" hangingPunct="1">
        <a:lnSpc>
          <a:spcPts val="3196"/>
        </a:lnSpc>
        <a:spcBef>
          <a:spcPct val="0"/>
        </a:spcBef>
        <a:spcAft>
          <a:spcPct val="0"/>
        </a:spcAft>
        <a:defRPr sz="2300" b="1">
          <a:solidFill>
            <a:schemeClr val="tx2"/>
          </a:solidFill>
          <a:latin typeface="Arial" charset="0"/>
        </a:defRPr>
      </a:lvl2pPr>
      <a:lvl3pPr algn="l" defTabSz="957998" rtl="0" eaLnBrk="1" fontAlgn="base" hangingPunct="1">
        <a:lnSpc>
          <a:spcPts val="3196"/>
        </a:lnSpc>
        <a:spcBef>
          <a:spcPct val="0"/>
        </a:spcBef>
        <a:spcAft>
          <a:spcPct val="0"/>
        </a:spcAft>
        <a:defRPr sz="2300" b="1">
          <a:solidFill>
            <a:schemeClr val="tx2"/>
          </a:solidFill>
          <a:latin typeface="Arial" charset="0"/>
        </a:defRPr>
      </a:lvl3pPr>
      <a:lvl4pPr algn="l" defTabSz="957998" rtl="0" eaLnBrk="1" fontAlgn="base" hangingPunct="1">
        <a:lnSpc>
          <a:spcPts val="3196"/>
        </a:lnSpc>
        <a:spcBef>
          <a:spcPct val="0"/>
        </a:spcBef>
        <a:spcAft>
          <a:spcPct val="0"/>
        </a:spcAft>
        <a:defRPr sz="2300" b="1">
          <a:solidFill>
            <a:schemeClr val="tx2"/>
          </a:solidFill>
          <a:latin typeface="Arial" charset="0"/>
        </a:defRPr>
      </a:lvl4pPr>
      <a:lvl5pPr algn="l" defTabSz="957998" rtl="0" eaLnBrk="1" fontAlgn="base" hangingPunct="1">
        <a:lnSpc>
          <a:spcPts val="3196"/>
        </a:lnSpc>
        <a:spcBef>
          <a:spcPct val="0"/>
        </a:spcBef>
        <a:spcAft>
          <a:spcPct val="0"/>
        </a:spcAft>
        <a:defRPr sz="2300" b="1">
          <a:solidFill>
            <a:schemeClr val="tx2"/>
          </a:solidFill>
          <a:latin typeface="Arial" charset="0"/>
        </a:defRPr>
      </a:lvl5pPr>
      <a:lvl6pPr marL="429756" algn="l" defTabSz="957998" rtl="0" eaLnBrk="1" fontAlgn="base" hangingPunct="1">
        <a:lnSpc>
          <a:spcPts val="3196"/>
        </a:lnSpc>
        <a:spcBef>
          <a:spcPct val="0"/>
        </a:spcBef>
        <a:spcAft>
          <a:spcPct val="0"/>
        </a:spcAft>
        <a:defRPr sz="2300" b="1">
          <a:solidFill>
            <a:schemeClr val="tx2"/>
          </a:solidFill>
          <a:latin typeface="Arial" charset="0"/>
        </a:defRPr>
      </a:lvl6pPr>
      <a:lvl7pPr marL="859512" algn="l" defTabSz="957998" rtl="0" eaLnBrk="1" fontAlgn="base" hangingPunct="1">
        <a:lnSpc>
          <a:spcPts val="3196"/>
        </a:lnSpc>
        <a:spcBef>
          <a:spcPct val="0"/>
        </a:spcBef>
        <a:spcAft>
          <a:spcPct val="0"/>
        </a:spcAft>
        <a:defRPr sz="2300" b="1">
          <a:solidFill>
            <a:schemeClr val="tx2"/>
          </a:solidFill>
          <a:latin typeface="Arial" charset="0"/>
        </a:defRPr>
      </a:lvl7pPr>
      <a:lvl8pPr marL="1289268" algn="l" defTabSz="957998" rtl="0" eaLnBrk="1" fontAlgn="base" hangingPunct="1">
        <a:lnSpc>
          <a:spcPts val="3196"/>
        </a:lnSpc>
        <a:spcBef>
          <a:spcPct val="0"/>
        </a:spcBef>
        <a:spcAft>
          <a:spcPct val="0"/>
        </a:spcAft>
        <a:defRPr sz="2300" b="1">
          <a:solidFill>
            <a:schemeClr val="tx2"/>
          </a:solidFill>
          <a:latin typeface="Arial" charset="0"/>
        </a:defRPr>
      </a:lvl8pPr>
      <a:lvl9pPr marL="1719024" algn="l" defTabSz="957998" rtl="0" eaLnBrk="1" fontAlgn="base" hangingPunct="1">
        <a:lnSpc>
          <a:spcPts val="3196"/>
        </a:lnSpc>
        <a:spcBef>
          <a:spcPct val="0"/>
        </a:spcBef>
        <a:spcAft>
          <a:spcPct val="0"/>
        </a:spcAft>
        <a:defRPr sz="2300" b="1">
          <a:solidFill>
            <a:schemeClr val="tx2"/>
          </a:solidFill>
          <a:latin typeface="Arial" charset="0"/>
        </a:defRPr>
      </a:lvl9pPr>
    </p:titleStyle>
    <p:bodyStyle>
      <a:lvl1pPr marL="192496" indent="-192496" algn="l" defTabSz="957998" rtl="0" eaLnBrk="1" fontAlgn="base" hangingPunct="1">
        <a:spcBef>
          <a:spcPts val="300"/>
        </a:spcBef>
        <a:spcAft>
          <a:spcPts val="300"/>
        </a:spcAft>
        <a:buFont typeface="Arial" pitchFamily="34" charset="0"/>
        <a:buChar char="•"/>
        <a:tabLst/>
        <a:defRPr sz="1600">
          <a:solidFill>
            <a:schemeClr val="tx2"/>
          </a:solidFill>
          <a:latin typeface="+mn-lt"/>
          <a:ea typeface="+mn-ea"/>
          <a:cs typeface="+mn-cs"/>
        </a:defRPr>
      </a:lvl1pPr>
      <a:lvl2pPr marL="420803" indent="-219355" algn="l" defTabSz="957998" rtl="0" eaLnBrk="1" fontAlgn="base" hangingPunct="1">
        <a:spcBef>
          <a:spcPts val="300"/>
        </a:spcBef>
        <a:spcAft>
          <a:spcPts val="300"/>
        </a:spcAft>
        <a:buFont typeface="Arial" pitchFamily="34" charset="0"/>
        <a:buChar char="‒"/>
        <a:tabLst/>
        <a:defRPr sz="1400">
          <a:solidFill>
            <a:schemeClr val="tx2"/>
          </a:solidFill>
          <a:latin typeface="+mn-lt"/>
        </a:defRPr>
      </a:lvl2pPr>
      <a:lvl3pPr marL="622252" indent="-183542" algn="l" defTabSz="957998" rtl="0" eaLnBrk="1" fontAlgn="base" hangingPunct="1">
        <a:spcBef>
          <a:spcPts val="300"/>
        </a:spcBef>
        <a:spcAft>
          <a:spcPts val="300"/>
        </a:spcAft>
        <a:buFont typeface="Arial" pitchFamily="34" charset="0"/>
        <a:buChar char="‒"/>
        <a:tabLst/>
        <a:defRPr sz="1200">
          <a:solidFill>
            <a:schemeClr val="tx2"/>
          </a:solidFill>
          <a:latin typeface="+mn-lt"/>
        </a:defRPr>
      </a:lvl3pPr>
      <a:lvl4pPr marL="811761" indent="-193988" algn="l" defTabSz="957998" rtl="0" eaLnBrk="1" fontAlgn="base" hangingPunct="1">
        <a:spcBef>
          <a:spcPts val="300"/>
        </a:spcBef>
        <a:spcAft>
          <a:spcPts val="300"/>
        </a:spcAft>
        <a:buFont typeface="Arial" pitchFamily="34" charset="0"/>
        <a:buChar char="‒"/>
        <a:defRPr sz="1100">
          <a:solidFill>
            <a:schemeClr val="tx2"/>
          </a:solidFill>
          <a:latin typeface="+mn-lt"/>
        </a:defRPr>
      </a:lvl4pPr>
      <a:lvl5pPr marL="1002764" indent="-191002" algn="l" defTabSz="957998" rtl="0" eaLnBrk="1" fontAlgn="base" hangingPunct="1">
        <a:spcBef>
          <a:spcPts val="300"/>
        </a:spcBef>
        <a:spcAft>
          <a:spcPts val="300"/>
        </a:spcAft>
        <a:buFont typeface="Arial" pitchFamily="34" charset="0"/>
        <a:buChar char="‒"/>
        <a:defRPr sz="1100">
          <a:solidFill>
            <a:schemeClr val="tx2"/>
          </a:solidFill>
          <a:latin typeface="+mn-lt"/>
        </a:defRPr>
      </a:lvl5pPr>
      <a:lvl6pPr marL="1175860" indent="-180558" algn="l" defTabSz="957998" rtl="0" eaLnBrk="1" fontAlgn="base" hangingPunct="1">
        <a:spcBef>
          <a:spcPct val="0"/>
        </a:spcBef>
        <a:spcAft>
          <a:spcPts val="564"/>
        </a:spcAft>
        <a:buFont typeface="Arial" charset="0"/>
        <a:buChar char="‒"/>
        <a:defRPr sz="1500">
          <a:solidFill>
            <a:schemeClr val="tx2"/>
          </a:solidFill>
          <a:latin typeface="+mn-lt"/>
        </a:defRPr>
      </a:lvl6pPr>
      <a:lvl7pPr marL="1605616" indent="-180558" algn="l" defTabSz="957998" rtl="0" eaLnBrk="1" fontAlgn="base" hangingPunct="1">
        <a:spcBef>
          <a:spcPct val="0"/>
        </a:spcBef>
        <a:spcAft>
          <a:spcPts val="564"/>
        </a:spcAft>
        <a:buFont typeface="Arial" charset="0"/>
        <a:buChar char="‒"/>
        <a:defRPr sz="1500">
          <a:solidFill>
            <a:schemeClr val="tx2"/>
          </a:solidFill>
          <a:latin typeface="+mn-lt"/>
        </a:defRPr>
      </a:lvl7pPr>
      <a:lvl8pPr marL="2035372" indent="-180558" algn="l" defTabSz="957998" rtl="0" eaLnBrk="1" fontAlgn="base" hangingPunct="1">
        <a:spcBef>
          <a:spcPct val="0"/>
        </a:spcBef>
        <a:spcAft>
          <a:spcPts val="564"/>
        </a:spcAft>
        <a:buFont typeface="Arial" charset="0"/>
        <a:buChar char="‒"/>
        <a:defRPr sz="1500">
          <a:solidFill>
            <a:schemeClr val="tx2"/>
          </a:solidFill>
          <a:latin typeface="+mn-lt"/>
        </a:defRPr>
      </a:lvl8pPr>
      <a:lvl9pPr marL="2465128" indent="-180558" algn="l" defTabSz="957998" rtl="0" eaLnBrk="1" fontAlgn="base" hangingPunct="1">
        <a:spcBef>
          <a:spcPct val="0"/>
        </a:spcBef>
        <a:spcAft>
          <a:spcPts val="564"/>
        </a:spcAft>
        <a:buFont typeface="Arial" charset="0"/>
        <a:buChar char="‒"/>
        <a:defRPr sz="1500">
          <a:solidFill>
            <a:schemeClr val="tx2"/>
          </a:solidFill>
          <a:latin typeface="+mn-lt"/>
        </a:defRPr>
      </a:lvl9pPr>
    </p:bodyStyle>
    <p:otherStyle>
      <a:defPPr>
        <a:defRPr lang="en-US"/>
      </a:defPPr>
      <a:lvl1pPr marL="0" algn="l" defTabSz="859512" rtl="0" eaLnBrk="1" latinLnBrk="0" hangingPunct="1">
        <a:defRPr sz="1700" kern="1200">
          <a:solidFill>
            <a:schemeClr val="tx1"/>
          </a:solidFill>
          <a:latin typeface="+mn-lt"/>
          <a:ea typeface="+mn-ea"/>
          <a:cs typeface="+mn-cs"/>
        </a:defRPr>
      </a:lvl1pPr>
      <a:lvl2pPr marL="429756" algn="l" defTabSz="859512" rtl="0" eaLnBrk="1" latinLnBrk="0" hangingPunct="1">
        <a:defRPr sz="1700" kern="1200">
          <a:solidFill>
            <a:schemeClr val="tx1"/>
          </a:solidFill>
          <a:latin typeface="+mn-lt"/>
          <a:ea typeface="+mn-ea"/>
          <a:cs typeface="+mn-cs"/>
        </a:defRPr>
      </a:lvl2pPr>
      <a:lvl3pPr marL="859512" algn="l" defTabSz="859512" rtl="0" eaLnBrk="1" latinLnBrk="0" hangingPunct="1">
        <a:defRPr sz="1700" kern="1200">
          <a:solidFill>
            <a:schemeClr val="tx1"/>
          </a:solidFill>
          <a:latin typeface="+mn-lt"/>
          <a:ea typeface="+mn-ea"/>
          <a:cs typeface="+mn-cs"/>
        </a:defRPr>
      </a:lvl3pPr>
      <a:lvl4pPr marL="1289268" algn="l" defTabSz="859512" rtl="0" eaLnBrk="1" latinLnBrk="0" hangingPunct="1">
        <a:defRPr sz="1700" kern="1200">
          <a:solidFill>
            <a:schemeClr val="tx1"/>
          </a:solidFill>
          <a:latin typeface="+mn-lt"/>
          <a:ea typeface="+mn-ea"/>
          <a:cs typeface="+mn-cs"/>
        </a:defRPr>
      </a:lvl4pPr>
      <a:lvl5pPr marL="1719024" algn="l" defTabSz="859512" rtl="0" eaLnBrk="1" latinLnBrk="0" hangingPunct="1">
        <a:defRPr sz="1700" kern="1200">
          <a:solidFill>
            <a:schemeClr val="tx1"/>
          </a:solidFill>
          <a:latin typeface="+mn-lt"/>
          <a:ea typeface="+mn-ea"/>
          <a:cs typeface="+mn-cs"/>
        </a:defRPr>
      </a:lvl5pPr>
      <a:lvl6pPr marL="2148780" algn="l" defTabSz="859512" rtl="0" eaLnBrk="1" latinLnBrk="0" hangingPunct="1">
        <a:defRPr sz="1700" kern="1200">
          <a:solidFill>
            <a:schemeClr val="tx1"/>
          </a:solidFill>
          <a:latin typeface="+mn-lt"/>
          <a:ea typeface="+mn-ea"/>
          <a:cs typeface="+mn-cs"/>
        </a:defRPr>
      </a:lvl6pPr>
      <a:lvl7pPr marL="2578536" algn="l" defTabSz="859512" rtl="0" eaLnBrk="1" latinLnBrk="0" hangingPunct="1">
        <a:defRPr sz="1700" kern="1200">
          <a:solidFill>
            <a:schemeClr val="tx1"/>
          </a:solidFill>
          <a:latin typeface="+mn-lt"/>
          <a:ea typeface="+mn-ea"/>
          <a:cs typeface="+mn-cs"/>
        </a:defRPr>
      </a:lvl7pPr>
      <a:lvl8pPr marL="3008291" algn="l" defTabSz="859512" rtl="0" eaLnBrk="1" latinLnBrk="0" hangingPunct="1">
        <a:defRPr sz="1700" kern="1200">
          <a:solidFill>
            <a:schemeClr val="tx1"/>
          </a:solidFill>
          <a:latin typeface="+mn-lt"/>
          <a:ea typeface="+mn-ea"/>
          <a:cs typeface="+mn-cs"/>
        </a:defRPr>
      </a:lvl8pPr>
      <a:lvl9pPr marL="3438048" algn="l" defTabSz="859512" rtl="0" eaLnBrk="1" latinLnBrk="0" hangingPunct="1">
        <a:defRPr sz="17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www.slidebooks.com/"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hyperlink" Target="#bookmark154"/><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slideLayout" Target="../slideLayouts/slideLayout2.xml"/><Relationship Id="rId1" Type="http://schemas.openxmlformats.org/officeDocument/2006/relationships/tags" Target="../tags/tag2.xml"/></Relationships>
</file>

<file path=ppt/slides/_rels/slide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slideLayout" Target="../slideLayouts/slideLayout2.xml"/><Relationship Id="rId1" Type="http://schemas.openxmlformats.org/officeDocument/2006/relationships/tags" Target="../tags/tag3.xml"/></Relationships>
</file>

<file path=ppt/slides/_rels/slide1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slideLayout" Target="../slideLayouts/slideLayout2.xml"/><Relationship Id="rId1" Type="http://schemas.openxmlformats.org/officeDocument/2006/relationships/tags" Target="../tags/tag4.xml"/></Relationships>
</file>

<file path=ppt/slides/_rels/slide19.xml.rels><?xml version="1.0" encoding="UTF-8" standalone="yes"?>
<Relationships xmlns="http://schemas.openxmlformats.org/package/2006/relationships"><Relationship Id="rId3" Type="http://schemas.openxmlformats.org/officeDocument/2006/relationships/hyperlink" Target="https://www.youtube.com/watch?v=jhgZ7cnYQbM" TargetMode="External"/><Relationship Id="rId7" Type="http://schemas.openxmlformats.org/officeDocument/2006/relationships/hyperlink" Target="https://www.microsoft.com/en-us/dynamics-365#modal-2" TargetMode="External"/><Relationship Id="rId2" Type="http://schemas.openxmlformats.org/officeDocument/2006/relationships/hyperlink" Target="https://www.youtube.com/watch?v=x2SuRIFjimI" TargetMode="External"/><Relationship Id="rId1" Type="http://schemas.openxmlformats.org/officeDocument/2006/relationships/slideLayout" Target="../slideLayouts/slideLayout2.xml"/><Relationship Id="rId6" Type="http://schemas.openxmlformats.org/officeDocument/2006/relationships/hyperlink" Target="https://www.microsoft.com/en-us/dynamics-365#modal-12" TargetMode="External"/><Relationship Id="rId5" Type="http://schemas.openxmlformats.org/officeDocument/2006/relationships/hyperlink" Target="https://www.youtube.com/watch?v=xBJByeiLwEQ&amp;list=PLcakwueIHoT-ErQZPP80qNKuEAr0wAAD9&amp;index=2" TargetMode="External"/><Relationship Id="rId4" Type="http://schemas.openxmlformats.org/officeDocument/2006/relationships/hyperlink" Target="https://www.youtube.com/channel/UCJGCg4rB3QSs8y_1FquelBQ"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4BF2711-4A0F-498C-90D2-8CFD2B263A94}"/>
              </a:ext>
            </a:extLst>
          </p:cNvPr>
          <p:cNvSpPr/>
          <p:nvPr/>
        </p:nvSpPr>
        <p:spPr>
          <a:xfrm>
            <a:off x="0" y="-22817"/>
            <a:ext cx="9144000" cy="313552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prstClr val="white"/>
              </a:solidFill>
            </a:endParaRPr>
          </a:p>
        </p:txBody>
      </p:sp>
      <p:sp>
        <p:nvSpPr>
          <p:cNvPr id="3" name="Rectangle 2">
            <a:hlinkClick r:id="rId2"/>
            <a:extLst>
              <a:ext uri="{FF2B5EF4-FFF2-40B4-BE49-F238E27FC236}">
                <a16:creationId xmlns:a16="http://schemas.microsoft.com/office/drawing/2014/main" id="{FD1865EF-0F65-48A6-AE05-15D009823A16}"/>
              </a:ext>
            </a:extLst>
          </p:cNvPr>
          <p:cNvSpPr/>
          <p:nvPr/>
        </p:nvSpPr>
        <p:spPr>
          <a:xfrm>
            <a:off x="0" y="3112706"/>
            <a:ext cx="9144000" cy="1154494"/>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2860" tIns="11430" rIns="22860" bIns="11430" numCol="1" spcCol="0" rtlCol="0" fromWordArt="0" anchor="ctr" anchorCtr="0" forceAA="0" compatLnSpc="1">
            <a:prstTxWarp prst="textNoShape">
              <a:avLst/>
            </a:prstTxWarp>
            <a:noAutofit/>
          </a:bodyPr>
          <a:lstStyle/>
          <a:p>
            <a:pPr algn="ctr" defTabSz="435356"/>
            <a:endParaRPr lang="en-US" sz="857" dirty="0">
              <a:solidFill>
                <a:prstClr val="white"/>
              </a:solidFill>
            </a:endParaRPr>
          </a:p>
        </p:txBody>
      </p:sp>
      <p:sp>
        <p:nvSpPr>
          <p:cNvPr id="4" name="TextBox 3">
            <a:extLst>
              <a:ext uri="{FF2B5EF4-FFF2-40B4-BE49-F238E27FC236}">
                <a16:creationId xmlns:a16="http://schemas.microsoft.com/office/drawing/2014/main" id="{407B1663-578C-4965-803E-6E8177F96AC7}"/>
              </a:ext>
            </a:extLst>
          </p:cNvPr>
          <p:cNvSpPr txBox="1"/>
          <p:nvPr/>
        </p:nvSpPr>
        <p:spPr>
          <a:xfrm>
            <a:off x="111574" y="3285913"/>
            <a:ext cx="8867736" cy="830997"/>
          </a:xfrm>
          <a:prstGeom prst="rect">
            <a:avLst/>
          </a:prstGeom>
          <a:noFill/>
        </p:spPr>
        <p:txBody>
          <a:bodyPr wrap="square" rtlCol="0">
            <a:spAutoFit/>
          </a:bodyPr>
          <a:lstStyle/>
          <a:p>
            <a:r>
              <a:rPr lang="en-GB" sz="2400" b="1" dirty="0">
                <a:solidFill>
                  <a:schemeClr val="bg1"/>
                </a:solidFill>
                <a:latin typeface="Comic Sans MS" panose="030F0702030302020204" pitchFamily="66" charset="0"/>
              </a:rPr>
              <a:t>Integration and collaboration in business environment </a:t>
            </a:r>
            <a:r>
              <a:rPr lang="en-US" sz="2400" b="1" dirty="0">
                <a:solidFill>
                  <a:schemeClr val="bg1"/>
                </a:solidFill>
                <a:latin typeface="Comic Sans MS" panose="030F0702030302020204" pitchFamily="66" charset="0"/>
              </a:rPr>
              <a:t>using Office 365 tools</a:t>
            </a:r>
            <a:endParaRPr lang="en-US" sz="2400" b="1" dirty="0">
              <a:solidFill>
                <a:schemeClr val="bg1"/>
              </a:solidFill>
              <a:latin typeface="Comic Sans MS" panose="030F0702030302020204" pitchFamily="66" charset="0"/>
            </a:endParaRPr>
          </a:p>
        </p:txBody>
      </p:sp>
      <p:sp>
        <p:nvSpPr>
          <p:cNvPr id="6" name="TextBox 5">
            <a:extLst>
              <a:ext uri="{FF2B5EF4-FFF2-40B4-BE49-F238E27FC236}">
                <a16:creationId xmlns:a16="http://schemas.microsoft.com/office/drawing/2014/main" id="{DDFBAF2D-A175-44E7-9B43-AC97CDAEBEA6}"/>
              </a:ext>
            </a:extLst>
          </p:cNvPr>
          <p:cNvSpPr txBox="1"/>
          <p:nvPr/>
        </p:nvSpPr>
        <p:spPr>
          <a:xfrm>
            <a:off x="124648" y="597254"/>
            <a:ext cx="7876352" cy="461665"/>
          </a:xfrm>
          <a:prstGeom prst="rect">
            <a:avLst/>
          </a:prstGeom>
          <a:noFill/>
          <a:ln>
            <a:noFill/>
          </a:ln>
        </p:spPr>
        <p:txBody>
          <a:bodyPr wrap="square" rtlCol="0">
            <a:spAutoFit/>
          </a:bodyPr>
          <a:lstStyle/>
          <a:p>
            <a:pPr defTabSz="435356"/>
            <a:r>
              <a:rPr lang="en-US" sz="2400" b="1" dirty="0" smtClean="0">
                <a:solidFill>
                  <a:srgbClr val="002060"/>
                </a:solidFill>
              </a:rPr>
              <a:t>University American College Skopje</a:t>
            </a:r>
            <a:endParaRPr lang="en-US" sz="2400" b="1" dirty="0">
              <a:solidFill>
                <a:srgbClr val="002060"/>
              </a:solidFill>
            </a:endParaRPr>
          </a:p>
        </p:txBody>
      </p:sp>
      <p:sp>
        <p:nvSpPr>
          <p:cNvPr id="8" name="TextBox 7">
            <a:extLst>
              <a:ext uri="{FF2B5EF4-FFF2-40B4-BE49-F238E27FC236}">
                <a16:creationId xmlns:a16="http://schemas.microsoft.com/office/drawing/2014/main" id="{DDFBAF2D-A175-44E7-9B43-AC97CDAEBEA6}"/>
              </a:ext>
            </a:extLst>
          </p:cNvPr>
          <p:cNvSpPr txBox="1"/>
          <p:nvPr/>
        </p:nvSpPr>
        <p:spPr>
          <a:xfrm>
            <a:off x="124648" y="1448157"/>
            <a:ext cx="7876352" cy="369332"/>
          </a:xfrm>
          <a:prstGeom prst="rect">
            <a:avLst/>
          </a:prstGeom>
          <a:noFill/>
          <a:ln>
            <a:noFill/>
          </a:ln>
        </p:spPr>
        <p:txBody>
          <a:bodyPr wrap="square" rtlCol="0">
            <a:spAutoFit/>
          </a:bodyPr>
          <a:lstStyle/>
          <a:p>
            <a:pPr defTabSz="435356"/>
            <a:r>
              <a:rPr lang="en-US" b="1" dirty="0" smtClean="0">
                <a:solidFill>
                  <a:srgbClr val="002060"/>
                </a:solidFill>
              </a:rPr>
              <a:t>Course: Business Computer Applications</a:t>
            </a:r>
            <a:endParaRPr lang="en-US" b="1" dirty="0">
              <a:solidFill>
                <a:srgbClr val="002060"/>
              </a:solidFill>
            </a:endParaRPr>
          </a:p>
        </p:txBody>
      </p:sp>
      <p:sp>
        <p:nvSpPr>
          <p:cNvPr id="9" name="TextBox 8">
            <a:extLst>
              <a:ext uri="{FF2B5EF4-FFF2-40B4-BE49-F238E27FC236}">
                <a16:creationId xmlns:a16="http://schemas.microsoft.com/office/drawing/2014/main" id="{DDFBAF2D-A175-44E7-9B43-AC97CDAEBEA6}"/>
              </a:ext>
            </a:extLst>
          </p:cNvPr>
          <p:cNvSpPr txBox="1"/>
          <p:nvPr/>
        </p:nvSpPr>
        <p:spPr>
          <a:xfrm>
            <a:off x="111574" y="5410200"/>
            <a:ext cx="7876352" cy="646331"/>
          </a:xfrm>
          <a:prstGeom prst="rect">
            <a:avLst/>
          </a:prstGeom>
          <a:noFill/>
          <a:ln>
            <a:noFill/>
          </a:ln>
        </p:spPr>
        <p:txBody>
          <a:bodyPr wrap="square" rtlCol="0">
            <a:spAutoFit/>
          </a:bodyPr>
          <a:lstStyle/>
          <a:p>
            <a:pPr defTabSz="435356"/>
            <a:endParaRPr lang="en-US" b="1" dirty="0" smtClean="0">
              <a:solidFill>
                <a:srgbClr val="002060"/>
              </a:solidFill>
            </a:endParaRPr>
          </a:p>
          <a:p>
            <a:pPr defTabSz="435356"/>
            <a:r>
              <a:rPr lang="en-US" b="1" dirty="0" smtClean="0">
                <a:solidFill>
                  <a:srgbClr val="002060"/>
                </a:solidFill>
              </a:rPr>
              <a:t>Marija Stanojeska, PhD</a:t>
            </a:r>
          </a:p>
        </p:txBody>
      </p:sp>
    </p:spTree>
    <p:extLst>
      <p:ext uri="{BB962C8B-B14F-4D97-AF65-F5344CB8AC3E}">
        <p14:creationId xmlns:p14="http://schemas.microsoft.com/office/powerpoint/2010/main" val="2995915804"/>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24000" y="2971800"/>
            <a:ext cx="6019800" cy="504625"/>
          </a:xfrm>
          <a:prstGeom prst="rect">
            <a:avLst/>
          </a:prstGeom>
        </p:spPr>
        <p:txBody>
          <a:bodyPr vert="horz" wrap="square" lIns="0" tIns="12065" rIns="0" bIns="0" rtlCol="0">
            <a:spAutoFit/>
          </a:bodyPr>
          <a:lstStyle/>
          <a:p>
            <a:pPr algn="ctr" eaLnBrk="0" hangingPunct="0"/>
            <a:r>
              <a:rPr lang="en-US" sz="3200" b="0" dirty="0" smtClean="0">
                <a:solidFill>
                  <a:srgbClr val="C00000"/>
                </a:solidFill>
                <a:effectLst>
                  <a:outerShdw blurRad="38100" dist="38100" dir="2700000" algn="tl">
                    <a:srgbClr val="000000">
                      <a:alpha val="43137"/>
                    </a:srgbClr>
                  </a:outerShdw>
                </a:effectLst>
                <a:latin typeface="Comic Sans MS" panose="030F0702030302020204" pitchFamily="66" charset="0"/>
              </a:rPr>
              <a:t>Microsoft One Drive</a:t>
            </a:r>
            <a:endParaRPr lang="en-US" sz="3200" b="0" dirty="0">
              <a:solidFill>
                <a:srgbClr val="C00000"/>
              </a:solidFill>
              <a:effectLst>
                <a:outerShdw blurRad="38100" dist="38100" dir="2700000" algn="tl">
                  <a:srgbClr val="000000">
                    <a:alpha val="43137"/>
                  </a:srgbClr>
                </a:outerShdw>
              </a:effectLst>
              <a:latin typeface="Comic Sans MS" panose="030F0702030302020204" pitchFamily="66" charset="0"/>
            </a:endParaRPr>
          </a:p>
        </p:txBody>
      </p:sp>
    </p:spTree>
    <p:extLst>
      <p:ext uri="{BB962C8B-B14F-4D97-AF65-F5344CB8AC3E}">
        <p14:creationId xmlns:p14="http://schemas.microsoft.com/office/powerpoint/2010/main" val="2582024270"/>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04800" y="304800"/>
            <a:ext cx="6019800" cy="319959"/>
          </a:xfrm>
          <a:prstGeom prst="rect">
            <a:avLst/>
          </a:prstGeom>
        </p:spPr>
        <p:txBody>
          <a:bodyPr vert="horz" wrap="square" lIns="0" tIns="12065" rIns="0" bIns="0" rtlCol="0">
            <a:spAutoFit/>
          </a:bodyPr>
          <a:lstStyle/>
          <a:p>
            <a:pPr eaLnBrk="0" hangingPunct="0"/>
            <a:r>
              <a:rPr lang="en-US" dirty="0" smtClean="0">
                <a:latin typeface="Comic Sans MS" panose="030F0702030302020204" pitchFamily="66" charset="0"/>
              </a:rPr>
              <a:t>One Drive</a:t>
            </a:r>
            <a:endParaRPr lang="en-US" dirty="0">
              <a:latin typeface="Comic Sans MS" panose="030F0702030302020204" pitchFamily="66" charset="0"/>
            </a:endParaRPr>
          </a:p>
        </p:txBody>
      </p:sp>
      <p:sp>
        <p:nvSpPr>
          <p:cNvPr id="3" name="object 3"/>
          <p:cNvSpPr txBox="1"/>
          <p:nvPr/>
        </p:nvSpPr>
        <p:spPr>
          <a:xfrm>
            <a:off x="457200" y="1600200"/>
            <a:ext cx="8077200" cy="3890809"/>
          </a:xfrm>
          <a:prstGeom prst="rect">
            <a:avLst/>
          </a:prstGeom>
        </p:spPr>
        <p:txBody>
          <a:bodyPr vert="horz" wrap="square" lIns="0" tIns="12700" rIns="0" bIns="0" rtlCol="0">
            <a:spAutoFit/>
          </a:bodyPr>
          <a:lstStyle/>
          <a:p>
            <a:pPr algn="just" eaLnBrk="0" hangingPunct="0"/>
            <a:r>
              <a:rPr lang="en-US" sz="1400" dirty="0">
                <a:solidFill>
                  <a:schemeClr val="accent1">
                    <a:lumMod val="75000"/>
                  </a:schemeClr>
                </a:solidFill>
              </a:rPr>
              <a:t>OneDrive is a cloud-based file hosting service provided by Microsoft as part of its suite of Office Online </a:t>
            </a:r>
            <a:r>
              <a:rPr lang="en-US" sz="1400" dirty="0" smtClean="0">
                <a:solidFill>
                  <a:schemeClr val="accent1">
                    <a:lumMod val="75000"/>
                  </a:schemeClr>
                </a:solidFill>
              </a:rPr>
              <a:t>services. In essence, OneDrive </a:t>
            </a:r>
            <a:r>
              <a:rPr lang="en-US" sz="1400" dirty="0">
                <a:solidFill>
                  <a:schemeClr val="accent1">
                    <a:lumMod val="75000"/>
                  </a:schemeClr>
                </a:solidFill>
              </a:rPr>
              <a:t>itself is a cloud computing service. </a:t>
            </a:r>
            <a:r>
              <a:rPr lang="en-US" sz="1400" dirty="0" smtClean="0">
                <a:solidFill>
                  <a:schemeClr val="accent1">
                    <a:lumMod val="75000"/>
                  </a:schemeClr>
                </a:solidFill>
              </a:rPr>
              <a:t>The characteristics as follow:</a:t>
            </a:r>
          </a:p>
          <a:p>
            <a:pPr algn="just" eaLnBrk="0" hangingPunct="0"/>
            <a:endParaRPr lang="en-US" sz="1400" dirty="0" smtClean="0">
              <a:solidFill>
                <a:schemeClr val="accent1">
                  <a:lumMod val="75000"/>
                </a:schemeClr>
              </a:solidFill>
            </a:endParaRPr>
          </a:p>
          <a:p>
            <a:pPr marL="285750" indent="-285750" algn="just" eaLnBrk="0" hangingPunct="0">
              <a:buFont typeface="Arial" panose="020B0604020202020204" pitchFamily="34" charset="0"/>
              <a:buChar char="•"/>
            </a:pPr>
            <a:r>
              <a:rPr lang="en-US" sz="1400" dirty="0">
                <a:solidFill>
                  <a:schemeClr val="accent1">
                    <a:lumMod val="75000"/>
                  </a:schemeClr>
                </a:solidFill>
              </a:rPr>
              <a:t>OneDrive is a cloud storage service that allows users to store files and data in the cloud</a:t>
            </a:r>
            <a:r>
              <a:rPr lang="en-US" sz="1400" dirty="0" smtClean="0">
                <a:solidFill>
                  <a:schemeClr val="accent1">
                    <a:lumMod val="75000"/>
                  </a:schemeClr>
                </a:solidFill>
              </a:rPr>
              <a:t>.</a:t>
            </a:r>
          </a:p>
          <a:p>
            <a:pPr marL="285750" indent="-285750" algn="just" eaLnBrk="0" hangingPunct="0">
              <a:buFont typeface="Arial" panose="020B0604020202020204" pitchFamily="34" charset="0"/>
              <a:buChar char="•"/>
            </a:pPr>
            <a:r>
              <a:rPr lang="en-US" sz="1400" dirty="0">
                <a:solidFill>
                  <a:schemeClr val="accent1">
                    <a:lumMod val="75000"/>
                  </a:schemeClr>
                </a:solidFill>
              </a:rPr>
              <a:t>Users can access their files stored on OneDrive from various devices with an internet connection</a:t>
            </a:r>
            <a:r>
              <a:rPr lang="en-US" sz="1400" dirty="0" smtClean="0">
                <a:solidFill>
                  <a:schemeClr val="accent1">
                    <a:lumMod val="75000"/>
                  </a:schemeClr>
                </a:solidFill>
              </a:rPr>
              <a:t>.</a:t>
            </a:r>
          </a:p>
          <a:p>
            <a:pPr marL="285750" indent="-285750" algn="just" eaLnBrk="0" hangingPunct="0">
              <a:buFont typeface="Arial" panose="020B0604020202020204" pitchFamily="34" charset="0"/>
              <a:buChar char="•"/>
            </a:pPr>
            <a:r>
              <a:rPr lang="en-US" sz="1400" dirty="0">
                <a:solidFill>
                  <a:schemeClr val="accent1">
                    <a:lumMod val="75000"/>
                  </a:schemeClr>
                </a:solidFill>
              </a:rPr>
              <a:t>OneDrive offers scalable storage, allowing users to increase or decrease their storage space based on their needs</a:t>
            </a:r>
            <a:r>
              <a:rPr lang="en-US" sz="1400" dirty="0" smtClean="0">
                <a:solidFill>
                  <a:schemeClr val="accent1">
                    <a:lumMod val="75000"/>
                  </a:schemeClr>
                </a:solidFill>
              </a:rPr>
              <a:t>.</a:t>
            </a:r>
          </a:p>
          <a:p>
            <a:pPr marL="285750" indent="-285750" algn="just" eaLnBrk="0" hangingPunct="0">
              <a:buFont typeface="Arial" panose="020B0604020202020204" pitchFamily="34" charset="0"/>
              <a:buChar char="•"/>
            </a:pPr>
            <a:r>
              <a:rPr lang="en-US" sz="1400" dirty="0">
                <a:solidFill>
                  <a:schemeClr val="accent1">
                    <a:lumMod val="75000"/>
                  </a:schemeClr>
                </a:solidFill>
              </a:rPr>
              <a:t>OneDrive supports collaboration by allowing users to share files and folders with others, facilitating real-time collaboration on documents</a:t>
            </a:r>
            <a:r>
              <a:rPr lang="en-US" sz="1400" dirty="0" smtClean="0">
                <a:solidFill>
                  <a:schemeClr val="accent1">
                    <a:lumMod val="75000"/>
                  </a:schemeClr>
                </a:solidFill>
              </a:rPr>
              <a:t>.</a:t>
            </a:r>
          </a:p>
          <a:p>
            <a:pPr marL="285750" indent="-285750" algn="just" eaLnBrk="0" hangingPunct="0">
              <a:buFont typeface="Arial" panose="020B0604020202020204" pitchFamily="34" charset="0"/>
              <a:buChar char="•"/>
            </a:pPr>
            <a:r>
              <a:rPr lang="en-US" sz="1400" dirty="0">
                <a:solidFill>
                  <a:schemeClr val="accent1">
                    <a:lumMod val="75000"/>
                  </a:schemeClr>
                </a:solidFill>
              </a:rPr>
              <a:t>OneDrive provides automatic synchronization of files between devices, ensuring that the latest version of a file is available on all linked devices</a:t>
            </a:r>
            <a:r>
              <a:rPr lang="en-US" sz="1400" dirty="0" smtClean="0">
                <a:solidFill>
                  <a:schemeClr val="accent1">
                    <a:lumMod val="75000"/>
                  </a:schemeClr>
                </a:solidFill>
              </a:rPr>
              <a:t>.</a:t>
            </a:r>
          </a:p>
          <a:p>
            <a:pPr marL="285750" indent="-285750" algn="just" eaLnBrk="0" hangingPunct="0">
              <a:buFont typeface="Arial" panose="020B0604020202020204" pitchFamily="34" charset="0"/>
              <a:buChar char="•"/>
            </a:pPr>
            <a:r>
              <a:rPr lang="en-US" sz="1400" dirty="0">
                <a:solidFill>
                  <a:schemeClr val="accent1">
                    <a:lumMod val="75000"/>
                  </a:schemeClr>
                </a:solidFill>
              </a:rPr>
              <a:t>OneDrive includes security features such as encryption and backup options to protect user data</a:t>
            </a:r>
            <a:r>
              <a:rPr lang="en-US" sz="1400" dirty="0" smtClean="0">
                <a:solidFill>
                  <a:schemeClr val="accent1">
                    <a:lumMod val="75000"/>
                  </a:schemeClr>
                </a:solidFill>
              </a:rPr>
              <a:t>.</a:t>
            </a:r>
          </a:p>
          <a:p>
            <a:pPr marL="285750" indent="-285750" algn="just" eaLnBrk="0" hangingPunct="0">
              <a:buFont typeface="Arial" panose="020B0604020202020204" pitchFamily="34" charset="0"/>
              <a:buChar char="•"/>
            </a:pPr>
            <a:r>
              <a:rPr lang="en-US" sz="1400" dirty="0">
                <a:solidFill>
                  <a:schemeClr val="accent1">
                    <a:lumMod val="75000"/>
                  </a:schemeClr>
                </a:solidFill>
              </a:rPr>
              <a:t>OneDrive is often integrated with other Microsoft cloud services, such as Microsoft 365 (formerly Office 365), providing a seamless experience for users</a:t>
            </a:r>
            <a:r>
              <a:rPr lang="en-US" sz="1400" dirty="0" smtClean="0">
                <a:solidFill>
                  <a:schemeClr val="accent1">
                    <a:lumMod val="75000"/>
                  </a:schemeClr>
                </a:solidFill>
              </a:rPr>
              <a:t>.</a:t>
            </a:r>
          </a:p>
          <a:p>
            <a:pPr marL="285750" indent="-285750" algn="just" eaLnBrk="0" hangingPunct="0">
              <a:buFont typeface="Arial" panose="020B0604020202020204" pitchFamily="34" charset="0"/>
              <a:buChar char="•"/>
            </a:pPr>
            <a:endParaRPr lang="en-US" sz="1400" dirty="0" smtClean="0">
              <a:solidFill>
                <a:schemeClr val="accent1">
                  <a:lumMod val="75000"/>
                </a:schemeClr>
              </a:solidFill>
            </a:endParaRPr>
          </a:p>
          <a:p>
            <a:pPr algn="just" eaLnBrk="0" hangingPunct="0"/>
            <a:r>
              <a:rPr lang="en-US" sz="1400" dirty="0">
                <a:solidFill>
                  <a:schemeClr val="accent1">
                    <a:lumMod val="75000"/>
                  </a:schemeClr>
                </a:solidFill>
              </a:rPr>
              <a:t>OneDrive is an example of how cloud computing is utilized to provide scalable, accessible, and collaborative storage solutions. It illustrates how cloud services can be integrated into daily productivity tools to enhance data management and collaboration capabilities for users and businesses.</a:t>
            </a:r>
          </a:p>
        </p:txBody>
      </p:sp>
    </p:spTree>
    <p:extLst>
      <p:ext uri="{BB962C8B-B14F-4D97-AF65-F5344CB8AC3E}">
        <p14:creationId xmlns:p14="http://schemas.microsoft.com/office/powerpoint/2010/main" val="1924589937"/>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04800" y="304800"/>
            <a:ext cx="6019800" cy="319959"/>
          </a:xfrm>
          <a:prstGeom prst="rect">
            <a:avLst/>
          </a:prstGeom>
        </p:spPr>
        <p:txBody>
          <a:bodyPr vert="horz" wrap="square" lIns="0" tIns="12065" rIns="0" bIns="0" rtlCol="0">
            <a:spAutoFit/>
          </a:bodyPr>
          <a:lstStyle/>
          <a:p>
            <a:pPr eaLnBrk="0" hangingPunct="0"/>
            <a:r>
              <a:rPr lang="en-US" dirty="0">
                <a:latin typeface="Comic Sans MS" panose="030F0702030302020204" pitchFamily="66" charset="0"/>
              </a:rPr>
              <a:t>Saving Oﬃce application ﬁles to the cloud</a:t>
            </a:r>
          </a:p>
        </p:txBody>
      </p:sp>
      <p:sp>
        <p:nvSpPr>
          <p:cNvPr id="3" name="object 3"/>
          <p:cNvSpPr txBox="1"/>
          <p:nvPr/>
        </p:nvSpPr>
        <p:spPr>
          <a:xfrm>
            <a:off x="457200" y="1329458"/>
            <a:ext cx="8077200" cy="1090042"/>
          </a:xfrm>
          <a:prstGeom prst="rect">
            <a:avLst/>
          </a:prstGeom>
        </p:spPr>
        <p:txBody>
          <a:bodyPr vert="horz" wrap="square" lIns="0" tIns="12700" rIns="0" bIns="0" rtlCol="0">
            <a:spAutoFit/>
          </a:bodyPr>
          <a:lstStyle/>
          <a:p>
            <a:pPr algn="just" eaLnBrk="0" hangingPunct="0"/>
            <a:r>
              <a:rPr lang="en-US" sz="1400" dirty="0">
                <a:solidFill>
                  <a:schemeClr val="accent1">
                    <a:lumMod val="75000"/>
                  </a:schemeClr>
                </a:solidFill>
              </a:rPr>
              <a:t>Figure </a:t>
            </a:r>
            <a:r>
              <a:rPr lang="en-US" sz="1400" dirty="0" smtClean="0">
                <a:solidFill>
                  <a:schemeClr val="accent1">
                    <a:lumMod val="75000"/>
                  </a:schemeClr>
                </a:solidFill>
              </a:rPr>
              <a:t>shows </a:t>
            </a:r>
            <a:r>
              <a:rPr lang="en-US" sz="1400" dirty="0">
                <a:solidFill>
                  <a:schemeClr val="accent1">
                    <a:lumMod val="75000"/>
                  </a:schemeClr>
                </a:solidFill>
              </a:rPr>
              <a:t>the Save As page in the Word Backstage. One cloud location, OneDrive </a:t>
            </a:r>
            <a:r>
              <a:rPr lang="en-US" sz="1400" dirty="0" smtClean="0">
                <a:solidFill>
                  <a:schemeClr val="accent1">
                    <a:lumMod val="75000"/>
                  </a:schemeClr>
                </a:solidFill>
              </a:rPr>
              <a:t>– Personal</a:t>
            </a:r>
            <a:r>
              <a:rPr lang="en-US" sz="1400" dirty="0">
                <a:solidFill>
                  <a:schemeClr val="accent1">
                    <a:lumMod val="75000"/>
                  </a:schemeClr>
                </a:solidFill>
              </a:rPr>
              <a:t>, has already been conﬁgured. You can add additional cloud locations, including OneDrive sites and SharePoint sites, by selecting Add A Place. To actually log in to one of the cloud options and add it as a place, select one of the options in the Add A Place list such as Oﬃce 365 SharePoint or </a:t>
            </a:r>
            <a:r>
              <a:rPr lang="en-US" sz="1400" dirty="0" smtClean="0">
                <a:solidFill>
                  <a:schemeClr val="accent1">
                    <a:lumMod val="75000"/>
                  </a:schemeClr>
                </a:solidFill>
              </a:rPr>
              <a:t>OneDrive.</a:t>
            </a:r>
          </a:p>
          <a:p>
            <a:pPr algn="just" eaLnBrk="0" hangingPunct="0"/>
            <a:endParaRPr lang="en-US" sz="1400" dirty="0">
              <a:solidFill>
                <a:schemeClr val="accent1">
                  <a:lumMod val="75000"/>
                </a:schemeClr>
              </a:solidFill>
            </a:endParaRPr>
          </a:p>
        </p:txBody>
      </p:sp>
      <p:pic>
        <p:nvPicPr>
          <p:cNvPr id="1229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44564" y="3124200"/>
            <a:ext cx="6054872" cy="3257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21725000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04800" y="304800"/>
            <a:ext cx="8077200" cy="319959"/>
          </a:xfrm>
          <a:prstGeom prst="rect">
            <a:avLst/>
          </a:prstGeom>
        </p:spPr>
        <p:txBody>
          <a:bodyPr vert="horz" wrap="square" lIns="0" tIns="12065" rIns="0" bIns="0" rtlCol="0">
            <a:spAutoFit/>
          </a:bodyPr>
          <a:lstStyle/>
          <a:p>
            <a:pPr eaLnBrk="0" hangingPunct="0"/>
            <a:r>
              <a:rPr lang="en-US" dirty="0">
                <a:latin typeface="Comic Sans MS" panose="030F0702030302020204" pitchFamily="66" charset="0"/>
              </a:rPr>
              <a:t>Saving Oﬃce application ﬁles to the </a:t>
            </a:r>
            <a:r>
              <a:rPr lang="en-US" dirty="0" smtClean="0">
                <a:latin typeface="Comic Sans MS" panose="030F0702030302020204" pitchFamily="66" charset="0"/>
              </a:rPr>
              <a:t>cloud </a:t>
            </a:r>
            <a:r>
              <a:rPr lang="en-US" sz="1400" b="0" i="1" dirty="0" smtClean="0">
                <a:latin typeface="Comic Sans MS" panose="030F0702030302020204" pitchFamily="66" charset="0"/>
              </a:rPr>
              <a:t>(cont.)</a:t>
            </a:r>
            <a:endParaRPr lang="en-US" sz="1400" b="0" i="1" dirty="0">
              <a:latin typeface="Comic Sans MS" panose="030F0702030302020204" pitchFamily="66" charset="0"/>
            </a:endParaRPr>
          </a:p>
        </p:txBody>
      </p:sp>
      <p:sp>
        <p:nvSpPr>
          <p:cNvPr id="3" name="object 3"/>
          <p:cNvSpPr txBox="1"/>
          <p:nvPr/>
        </p:nvSpPr>
        <p:spPr>
          <a:xfrm>
            <a:off x="533401" y="1295400"/>
            <a:ext cx="8077200" cy="1736373"/>
          </a:xfrm>
          <a:prstGeom prst="rect">
            <a:avLst/>
          </a:prstGeom>
        </p:spPr>
        <p:txBody>
          <a:bodyPr vert="horz" wrap="square" lIns="0" tIns="12700" rIns="0" bIns="0" rtlCol="0">
            <a:spAutoFit/>
          </a:bodyPr>
          <a:lstStyle/>
          <a:p>
            <a:pPr algn="just" eaLnBrk="0" hangingPunct="0"/>
            <a:r>
              <a:rPr lang="en-US" sz="1400" dirty="0" smtClean="0">
                <a:solidFill>
                  <a:schemeClr val="accent1">
                    <a:lumMod val="75000"/>
                  </a:schemeClr>
                </a:solidFill>
              </a:rPr>
              <a:t>When </a:t>
            </a:r>
            <a:r>
              <a:rPr lang="en-US" sz="1400" dirty="0">
                <a:solidFill>
                  <a:schemeClr val="accent1">
                    <a:lumMod val="75000"/>
                  </a:schemeClr>
                </a:solidFill>
              </a:rPr>
              <a:t>you select one of the cloud options, the Add A Service dialog box opens, </a:t>
            </a:r>
            <a:r>
              <a:rPr lang="en-US" sz="1400" dirty="0" smtClean="0">
                <a:solidFill>
                  <a:schemeClr val="accent1">
                    <a:lumMod val="75000"/>
                  </a:schemeClr>
                </a:solidFill>
              </a:rPr>
              <a:t>enter </a:t>
            </a:r>
            <a:r>
              <a:rPr lang="en-US" sz="1400" dirty="0">
                <a:solidFill>
                  <a:schemeClr val="accent1">
                    <a:lumMod val="75000"/>
                  </a:schemeClr>
                </a:solidFill>
              </a:rPr>
              <a:t>the email address that serves as the login name for the service and then select Next. On the next screen, supply the password for the account and then select Sign In. The new service will be added to the list of cloud options on the Save As page</a:t>
            </a:r>
            <a:r>
              <a:rPr lang="en-US" sz="1400" dirty="0" smtClean="0">
                <a:solidFill>
                  <a:schemeClr val="accent1">
                    <a:lumMod val="75000"/>
                  </a:schemeClr>
                </a:solidFill>
              </a:rPr>
              <a:t>. </a:t>
            </a:r>
            <a:r>
              <a:rPr lang="en-US" sz="1400" dirty="0">
                <a:solidFill>
                  <a:schemeClr val="accent1">
                    <a:lumMod val="75000"/>
                  </a:schemeClr>
                </a:solidFill>
              </a:rPr>
              <a:t>When you add a place, such as a OneDrive site, to one of the Oﬃce applications, you are adding it to all the Oﬃce applications. You will ﬁnd that the process for accessing these sites is very consistent and similar across the Oﬃce applications, particularly Word, Excel, and PowerPoint. The process is a little diﬀerent from Oﬃce “standards” such as Word and Excel.</a:t>
            </a:r>
          </a:p>
          <a:p>
            <a:pPr algn="just" eaLnBrk="0" hangingPunct="0"/>
            <a:endParaRPr lang="en-US" sz="1400" dirty="0">
              <a:solidFill>
                <a:schemeClr val="accent1">
                  <a:lumMod val="75000"/>
                </a:schemeClr>
              </a:solidFill>
            </a:endParaRPr>
          </a:p>
        </p:txBody>
      </p:sp>
      <p:pic>
        <p:nvPicPr>
          <p:cNvPr id="12291"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19401" y="3031773"/>
            <a:ext cx="3505200" cy="3826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235834716"/>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04800" y="304800"/>
            <a:ext cx="8077200" cy="319959"/>
          </a:xfrm>
          <a:prstGeom prst="rect">
            <a:avLst/>
          </a:prstGeom>
        </p:spPr>
        <p:txBody>
          <a:bodyPr vert="horz" wrap="square" lIns="0" tIns="12065" rIns="0" bIns="0" rtlCol="0">
            <a:spAutoFit/>
          </a:bodyPr>
          <a:lstStyle/>
          <a:p>
            <a:pPr eaLnBrk="0" hangingPunct="0"/>
            <a:r>
              <a:rPr lang="en-US" dirty="0">
                <a:latin typeface="Comic Sans MS" panose="030F0702030302020204" pitchFamily="66" charset="0"/>
              </a:rPr>
              <a:t>Saving a ﬁle to OneDrive or OneDrive for Business</a:t>
            </a:r>
          </a:p>
        </p:txBody>
      </p:sp>
      <p:sp>
        <p:nvSpPr>
          <p:cNvPr id="3" name="object 3"/>
          <p:cNvSpPr txBox="1"/>
          <p:nvPr/>
        </p:nvSpPr>
        <p:spPr>
          <a:xfrm>
            <a:off x="533401" y="1295400"/>
            <a:ext cx="8077200" cy="2167260"/>
          </a:xfrm>
          <a:prstGeom prst="rect">
            <a:avLst/>
          </a:prstGeom>
        </p:spPr>
        <p:txBody>
          <a:bodyPr vert="horz" wrap="square" lIns="0" tIns="12700" rIns="0" bIns="0" rtlCol="0">
            <a:spAutoFit/>
          </a:bodyPr>
          <a:lstStyle/>
          <a:p>
            <a:pPr algn="just" eaLnBrk="0" hangingPunct="0"/>
            <a:r>
              <a:rPr lang="en-US" sz="1400" dirty="0">
                <a:solidFill>
                  <a:schemeClr val="accent1">
                    <a:lumMod val="75000"/>
                  </a:schemeClr>
                </a:solidFill>
              </a:rPr>
              <a:t>You can select any of the recent folders to open the Save As dialog box. Depending on when you last accessed your OneDrive, </a:t>
            </a:r>
            <a:r>
              <a:rPr lang="en-US" sz="1400" dirty="0" smtClean="0">
                <a:solidFill>
                  <a:schemeClr val="accent1">
                    <a:lumMod val="75000"/>
                  </a:schemeClr>
                </a:solidFill>
              </a:rPr>
              <a:t>you might </a:t>
            </a:r>
            <a:r>
              <a:rPr lang="en-US" sz="1400" dirty="0">
                <a:solidFill>
                  <a:schemeClr val="accent1">
                    <a:lumMod val="75000"/>
                  </a:schemeClr>
                </a:solidFill>
              </a:rPr>
              <a:t>be asked to provide your user email and password to connect to it. Figure </a:t>
            </a:r>
            <a:r>
              <a:rPr lang="en-US" sz="1400" dirty="0" smtClean="0">
                <a:solidFill>
                  <a:schemeClr val="accent1">
                    <a:lumMod val="75000"/>
                  </a:schemeClr>
                </a:solidFill>
              </a:rPr>
              <a:t>shows </a:t>
            </a:r>
            <a:r>
              <a:rPr lang="en-US" sz="1400" dirty="0">
                <a:solidFill>
                  <a:schemeClr val="accent1">
                    <a:lumMod val="75000"/>
                  </a:schemeClr>
                </a:solidFill>
              </a:rPr>
              <a:t>the Excel Save As page and a ﬁle that will be saved to the user’s OneDrive. Notice in the Organize pane (on the left of the Save As dialog box) that the user’s OneDrive appears on the directory tree provided</a:t>
            </a:r>
            <a:r>
              <a:rPr lang="en-US" sz="1400" dirty="0" smtClean="0">
                <a:solidFill>
                  <a:schemeClr val="accent1">
                    <a:lumMod val="75000"/>
                  </a:schemeClr>
                </a:solidFill>
              </a:rPr>
              <a:t>. </a:t>
            </a:r>
            <a:r>
              <a:rPr lang="en-US" sz="1400" dirty="0">
                <a:solidFill>
                  <a:schemeClr val="accent1">
                    <a:lumMod val="75000"/>
                  </a:schemeClr>
                </a:solidFill>
              </a:rPr>
              <a:t>When you have speciﬁed the location in the Save As dialog box for the ﬁle, select Save. The Excel workbook </a:t>
            </a:r>
            <a:r>
              <a:rPr lang="en-US" sz="1400" dirty="0" smtClean="0">
                <a:solidFill>
                  <a:schemeClr val="accent1">
                    <a:lumMod val="75000"/>
                  </a:schemeClr>
                </a:solidFill>
              </a:rPr>
              <a:t>is </a:t>
            </a:r>
            <a:r>
              <a:rPr lang="en-US" sz="1400" dirty="0">
                <a:solidFill>
                  <a:schemeClr val="accent1">
                    <a:lumMod val="75000"/>
                  </a:schemeClr>
                </a:solidFill>
              </a:rPr>
              <a:t>saved to the cloud place. </a:t>
            </a:r>
            <a:endParaRPr lang="en-US" sz="1400" dirty="0" smtClean="0">
              <a:solidFill>
                <a:schemeClr val="accent1">
                  <a:lumMod val="75000"/>
                </a:schemeClr>
              </a:solidFill>
            </a:endParaRPr>
          </a:p>
          <a:p>
            <a:pPr algn="just" eaLnBrk="0" hangingPunct="0"/>
            <a:r>
              <a:rPr lang="en-US" sz="1400" dirty="0" smtClean="0">
                <a:solidFill>
                  <a:schemeClr val="accent1">
                    <a:lumMod val="75000"/>
                  </a:schemeClr>
                </a:solidFill>
              </a:rPr>
              <a:t>Opening </a:t>
            </a:r>
            <a:r>
              <a:rPr lang="en-US" sz="1400" dirty="0">
                <a:solidFill>
                  <a:schemeClr val="accent1">
                    <a:lumMod val="75000"/>
                  </a:schemeClr>
                </a:solidFill>
              </a:rPr>
              <a:t>ﬁles that you saved to your OneDrive or other cloud place is no diﬀerent from opening a ﬁle stored locally. In the Oﬃce application’s Backstage Open page (or the new Start screen provided by the Oﬃce applications), recently saved ﬁles are listed. If you saved a ﬁle to the cloud and it’s listed in the Recent list, select the ﬁle to open it. </a:t>
            </a: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90800" y="3810000"/>
            <a:ext cx="3847177" cy="289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233713113"/>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04800" y="304800"/>
            <a:ext cx="8077200" cy="319959"/>
          </a:xfrm>
          <a:prstGeom prst="rect">
            <a:avLst/>
          </a:prstGeom>
        </p:spPr>
        <p:txBody>
          <a:bodyPr vert="horz" wrap="square" lIns="0" tIns="12065" rIns="0" bIns="0" rtlCol="0">
            <a:spAutoFit/>
          </a:bodyPr>
          <a:lstStyle/>
          <a:p>
            <a:pPr eaLnBrk="0" hangingPunct="0"/>
            <a:r>
              <a:rPr lang="en-US" dirty="0" smtClean="0">
                <a:latin typeface="Comic Sans MS" panose="030F0702030302020204" pitchFamily="66" charset="0"/>
              </a:rPr>
              <a:t>Sharing a file saved to the cloud</a:t>
            </a:r>
            <a:endParaRPr lang="en-US" dirty="0">
              <a:latin typeface="Comic Sans MS" panose="030F0702030302020204" pitchFamily="66" charset="0"/>
            </a:endParaRPr>
          </a:p>
        </p:txBody>
      </p:sp>
      <p:sp>
        <p:nvSpPr>
          <p:cNvPr id="3" name="object 3"/>
          <p:cNvSpPr txBox="1"/>
          <p:nvPr/>
        </p:nvSpPr>
        <p:spPr>
          <a:xfrm>
            <a:off x="533401" y="1295400"/>
            <a:ext cx="8077200" cy="1736373"/>
          </a:xfrm>
          <a:prstGeom prst="rect">
            <a:avLst/>
          </a:prstGeom>
        </p:spPr>
        <p:txBody>
          <a:bodyPr vert="horz" wrap="square" lIns="0" tIns="12700" rIns="0" bIns="0" rtlCol="0">
            <a:spAutoFit/>
          </a:bodyPr>
          <a:lstStyle/>
          <a:p>
            <a:pPr algn="just" eaLnBrk="0" hangingPunct="0"/>
            <a:r>
              <a:rPr lang="en-US" sz="1400" dirty="0" smtClean="0">
                <a:solidFill>
                  <a:schemeClr val="accent1">
                    <a:lumMod val="75000"/>
                  </a:schemeClr>
                </a:solidFill>
              </a:rPr>
              <a:t>Sharing </a:t>
            </a:r>
            <a:r>
              <a:rPr lang="en-US" sz="1400" dirty="0">
                <a:solidFill>
                  <a:schemeClr val="accent1">
                    <a:lumMod val="75000"/>
                  </a:schemeClr>
                </a:solidFill>
              </a:rPr>
              <a:t>a ﬁle via Excel or PowerPoint will use the same process</a:t>
            </a:r>
            <a:r>
              <a:rPr lang="en-US" sz="1400" dirty="0" smtClean="0">
                <a:solidFill>
                  <a:schemeClr val="accent1">
                    <a:lumMod val="75000"/>
                  </a:schemeClr>
                </a:solidFill>
              </a:rPr>
              <a:t>. With </a:t>
            </a:r>
            <a:r>
              <a:rPr lang="en-US" sz="1400" dirty="0">
                <a:solidFill>
                  <a:schemeClr val="accent1">
                    <a:lumMod val="75000"/>
                  </a:schemeClr>
                </a:solidFill>
              </a:rPr>
              <a:t>the document you wish to share open in Word, select the Share icon on the far right of the Word application window (just above and to the right of the Word ribbon). This will open the Share task pane on the right of the Word window. If the document has not been saved to one of your cloud locations, the Share ask pane will provide a Save To Cloud button. When you select this button, you will be taken to the </a:t>
            </a:r>
            <a:r>
              <a:rPr lang="en-US" sz="1400" dirty="0" err="1">
                <a:solidFill>
                  <a:schemeClr val="accent1">
                    <a:lumMod val="75000"/>
                  </a:schemeClr>
                </a:solidFill>
              </a:rPr>
              <a:t>Backstage’s</a:t>
            </a:r>
            <a:r>
              <a:rPr lang="en-US" sz="1400" dirty="0">
                <a:solidFill>
                  <a:schemeClr val="accent1">
                    <a:lumMod val="75000"/>
                  </a:schemeClr>
                </a:solidFill>
              </a:rPr>
              <a:t> Save As page. Save the document to your OneDrive. Once you have the ﬁle saved to your OneDrive and you return to the Word application window, you will ﬁnd that the Share ask pane is now ready to share your document with other </a:t>
            </a:r>
            <a:r>
              <a:rPr lang="en-US" sz="1400" dirty="0" smtClean="0">
                <a:solidFill>
                  <a:schemeClr val="accent1">
                    <a:lumMod val="75000"/>
                  </a:schemeClr>
                </a:solidFill>
              </a:rPr>
              <a:t>users.</a:t>
            </a:r>
            <a:endParaRPr lang="en-US" sz="1400" dirty="0">
              <a:solidFill>
                <a:schemeClr val="accent1">
                  <a:lumMod val="75000"/>
                </a:schemeClr>
              </a:solidFill>
            </a:endParaRPr>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28800" y="3505200"/>
            <a:ext cx="5794221" cy="312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602206144"/>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04800" y="304800"/>
            <a:ext cx="8077200" cy="319959"/>
          </a:xfrm>
          <a:prstGeom prst="rect">
            <a:avLst/>
          </a:prstGeom>
        </p:spPr>
        <p:txBody>
          <a:bodyPr vert="horz" wrap="square" lIns="0" tIns="12065" rIns="0" bIns="0" rtlCol="0">
            <a:spAutoFit/>
          </a:bodyPr>
          <a:lstStyle/>
          <a:p>
            <a:pPr eaLnBrk="0" hangingPunct="0"/>
            <a:r>
              <a:rPr lang="en-US" dirty="0" smtClean="0">
                <a:latin typeface="Comic Sans MS" panose="030F0702030302020204" pitchFamily="66" charset="0"/>
              </a:rPr>
              <a:t>Sharing a file saved to the cloud</a:t>
            </a:r>
            <a:endParaRPr lang="en-US" dirty="0">
              <a:latin typeface="Comic Sans MS" panose="030F0702030302020204" pitchFamily="66" charset="0"/>
            </a:endParaRPr>
          </a:p>
        </p:txBody>
      </p:sp>
      <p:sp>
        <p:nvSpPr>
          <p:cNvPr id="3" name="object 3"/>
          <p:cNvSpPr txBox="1"/>
          <p:nvPr/>
        </p:nvSpPr>
        <p:spPr>
          <a:xfrm>
            <a:off x="533401" y="1295400"/>
            <a:ext cx="8077200" cy="1951816"/>
          </a:xfrm>
          <a:prstGeom prst="rect">
            <a:avLst/>
          </a:prstGeom>
        </p:spPr>
        <p:txBody>
          <a:bodyPr vert="horz" wrap="square" lIns="0" tIns="12700" rIns="0" bIns="0" rtlCol="0">
            <a:spAutoFit/>
          </a:bodyPr>
          <a:lstStyle/>
          <a:p>
            <a:pPr algn="just" eaLnBrk="0" hangingPunct="0"/>
            <a:r>
              <a:rPr lang="en-US" sz="1400" dirty="0">
                <a:solidFill>
                  <a:schemeClr val="accent1">
                    <a:lumMod val="75000"/>
                  </a:schemeClr>
                </a:solidFill>
              </a:rPr>
              <a:t>To share the current document with another user, you can enter an email address in the Invite People box, or you can select the </a:t>
            </a:r>
            <a:r>
              <a:rPr lang="en-US" sz="1400" dirty="0" smtClean="0">
                <a:solidFill>
                  <a:schemeClr val="accent1">
                    <a:lumMod val="75000"/>
                  </a:schemeClr>
                </a:solidFill>
              </a:rPr>
              <a:t>Search. The </a:t>
            </a:r>
            <a:r>
              <a:rPr lang="en-US" sz="1400" dirty="0">
                <a:solidFill>
                  <a:schemeClr val="accent1">
                    <a:lumMod val="75000"/>
                  </a:schemeClr>
                </a:solidFill>
              </a:rPr>
              <a:t>Address Book For Contacts icons to add people from your Outlook Contacts folder (or distribution lists if available). Once you have entered an email address, use the drop-down menu below the email address to determine if the user Can Edit or Can View. A message box is also provided for an optional message to the user. After you are ready to share the document with the individual, select the Share button.</a:t>
            </a:r>
          </a:p>
          <a:p>
            <a:pPr algn="just"/>
            <a:r>
              <a:rPr lang="en-US" sz="1400" dirty="0">
                <a:solidFill>
                  <a:schemeClr val="accent1">
                    <a:lumMod val="75000"/>
                  </a:schemeClr>
                </a:solidFill>
              </a:rPr>
              <a:t>If you would like more sharing options, you need to go to the Backstage Share page (Select File, and then Share) The Word Share page is indicative of what you ﬁnd in the other Oﬃce </a:t>
            </a:r>
            <a:r>
              <a:rPr lang="en-US" sz="1400" dirty="0" smtClean="0">
                <a:solidFill>
                  <a:schemeClr val="accent1">
                    <a:lumMod val="75000"/>
                  </a:schemeClr>
                </a:solidFill>
              </a:rPr>
              <a:t>applications. </a:t>
            </a:r>
            <a:r>
              <a:rPr lang="en-US" sz="1400" dirty="0">
                <a:solidFill>
                  <a:schemeClr val="accent1">
                    <a:lumMod val="75000"/>
                  </a:schemeClr>
                </a:solidFill>
              </a:rPr>
              <a:t>The options </a:t>
            </a:r>
            <a:r>
              <a:rPr lang="en-US" sz="1400" dirty="0" smtClean="0">
                <a:solidFill>
                  <a:schemeClr val="accent1">
                    <a:lumMod val="75000"/>
                  </a:schemeClr>
                </a:solidFill>
              </a:rPr>
              <a:t>are: </a:t>
            </a:r>
            <a:r>
              <a:rPr lang="en-US" sz="1400" dirty="0">
                <a:solidFill>
                  <a:schemeClr val="accent1">
                    <a:lumMod val="75000"/>
                  </a:schemeClr>
                </a:solidFill>
              </a:rPr>
              <a:t>Share With </a:t>
            </a:r>
            <a:r>
              <a:rPr lang="en-US" sz="1400" dirty="0" smtClean="0">
                <a:solidFill>
                  <a:schemeClr val="accent1">
                    <a:lumMod val="75000"/>
                  </a:schemeClr>
                </a:solidFill>
              </a:rPr>
              <a:t>People, Email, </a:t>
            </a:r>
            <a:r>
              <a:rPr lang="en-US" sz="1400" dirty="0">
                <a:solidFill>
                  <a:schemeClr val="accent1">
                    <a:lumMod val="75000"/>
                  </a:schemeClr>
                </a:solidFill>
              </a:rPr>
              <a:t>Present </a:t>
            </a:r>
            <a:r>
              <a:rPr lang="en-US" sz="1400" dirty="0" smtClean="0">
                <a:solidFill>
                  <a:schemeClr val="accent1">
                    <a:lumMod val="75000"/>
                  </a:schemeClr>
                </a:solidFill>
              </a:rPr>
              <a:t>Online, </a:t>
            </a:r>
            <a:r>
              <a:rPr lang="en-US" sz="1400" dirty="0">
                <a:solidFill>
                  <a:schemeClr val="accent1">
                    <a:lumMod val="75000"/>
                  </a:schemeClr>
                </a:solidFill>
              </a:rPr>
              <a:t>Post To </a:t>
            </a:r>
            <a:r>
              <a:rPr lang="en-US" sz="1400" dirty="0" smtClean="0">
                <a:solidFill>
                  <a:schemeClr val="accent1">
                    <a:lumMod val="75000"/>
                  </a:schemeClr>
                </a:solidFill>
              </a:rPr>
              <a:t>Blog, </a:t>
            </a:r>
            <a:endParaRPr lang="en-US" sz="1400" dirty="0">
              <a:solidFill>
                <a:schemeClr val="accent1">
                  <a:lumMod val="75000"/>
                </a:schemeClr>
              </a:solidFill>
            </a:endParaRPr>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05000" y="3657600"/>
            <a:ext cx="5525886" cy="29729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15799257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04800" y="304800"/>
            <a:ext cx="8077200" cy="319959"/>
          </a:xfrm>
          <a:prstGeom prst="rect">
            <a:avLst/>
          </a:prstGeom>
        </p:spPr>
        <p:txBody>
          <a:bodyPr vert="horz" wrap="square" lIns="0" tIns="12065" rIns="0" bIns="0" rtlCol="0">
            <a:spAutoFit/>
          </a:bodyPr>
          <a:lstStyle/>
          <a:p>
            <a:pPr eaLnBrk="0" hangingPunct="0"/>
            <a:r>
              <a:rPr lang="en-US" dirty="0">
                <a:latin typeface="Comic Sans MS" panose="030F0702030302020204" pitchFamily="66" charset="0"/>
              </a:rPr>
              <a:t>Using the Word Online app</a:t>
            </a:r>
          </a:p>
        </p:txBody>
      </p:sp>
      <p:sp>
        <p:nvSpPr>
          <p:cNvPr id="3" name="object 3"/>
          <p:cNvSpPr txBox="1"/>
          <p:nvPr/>
        </p:nvSpPr>
        <p:spPr>
          <a:xfrm>
            <a:off x="457200" y="1828800"/>
            <a:ext cx="8077200" cy="3259867"/>
          </a:xfrm>
          <a:prstGeom prst="rect">
            <a:avLst/>
          </a:prstGeom>
        </p:spPr>
        <p:txBody>
          <a:bodyPr vert="horz" wrap="square" lIns="0" tIns="12700" rIns="0" bIns="0" rtlCol="0">
            <a:spAutoFit/>
          </a:bodyPr>
          <a:lstStyle/>
          <a:p>
            <a:pPr marL="285750" indent="-285750" algn="just" eaLnBrk="0" hangingPunct="0">
              <a:spcBef>
                <a:spcPts val="600"/>
              </a:spcBef>
              <a:buFont typeface="Arial" panose="020B0604020202020204" pitchFamily="34" charset="0"/>
              <a:buChar char="•"/>
            </a:pPr>
            <a:r>
              <a:rPr lang="en-US" sz="1400" dirty="0" smtClean="0">
                <a:solidFill>
                  <a:schemeClr val="accent1">
                    <a:lumMod val="75000"/>
                  </a:schemeClr>
                </a:solidFill>
              </a:rPr>
              <a:t>The </a:t>
            </a:r>
            <a:r>
              <a:rPr lang="en-US" sz="1400" dirty="0">
                <a:solidFill>
                  <a:schemeClr val="accent1">
                    <a:lumMod val="75000"/>
                  </a:schemeClr>
                </a:solidFill>
              </a:rPr>
              <a:t>Word Online app provides you with the ability to edit existing documents (stored in the cloud) and create new documents. It supplies some commands for working with text, including character- formatting and paragraph-formatting attributes. It also provides you with the ability to insert tables and pictures into a document. The document views in the Word Online app are limited to the Editing view and the Reading view.</a:t>
            </a:r>
          </a:p>
          <a:p>
            <a:pPr marL="285750" indent="-285750" algn="just" eaLnBrk="0" hangingPunct="0">
              <a:spcBef>
                <a:spcPts val="600"/>
              </a:spcBef>
              <a:buFont typeface="Arial" panose="020B0604020202020204" pitchFamily="34" charset="0"/>
              <a:buChar char="•"/>
            </a:pPr>
            <a:r>
              <a:rPr lang="en-US" sz="1400" dirty="0" smtClean="0">
                <a:solidFill>
                  <a:schemeClr val="accent1">
                    <a:lumMod val="75000"/>
                  </a:schemeClr>
                </a:solidFill>
              </a:rPr>
              <a:t>You </a:t>
            </a:r>
            <a:r>
              <a:rPr lang="en-US" sz="1400" dirty="0">
                <a:solidFill>
                  <a:schemeClr val="accent1">
                    <a:lumMod val="75000"/>
                  </a:schemeClr>
                </a:solidFill>
              </a:rPr>
              <a:t>can download a copy of your document as a PDF (which is great if a collaborator wants to see the document and doesn’t need to edit it), and you can download the ﬁle as an ODT ﬁle (OpenDocument Text format). This format is supported by Oﬃce (actually 2007 and newer) and is compatible with Word Online. The ﬁle format can give you a little more ﬂexibility in terms of sharing the document with users who don’t have Oﬃce available to them</a:t>
            </a:r>
            <a:r>
              <a:rPr lang="en-US" sz="1400" dirty="0" smtClean="0">
                <a:solidFill>
                  <a:schemeClr val="accent1">
                    <a:lumMod val="75000"/>
                  </a:schemeClr>
                </a:solidFill>
              </a:rPr>
              <a:t>.</a:t>
            </a:r>
          </a:p>
          <a:p>
            <a:pPr marL="285750" indent="-285750" algn="just" eaLnBrk="0" hangingPunct="0">
              <a:spcBef>
                <a:spcPts val="600"/>
              </a:spcBef>
              <a:buFont typeface="Arial" panose="020B0604020202020204" pitchFamily="34" charset="0"/>
              <a:buChar char="•"/>
            </a:pPr>
            <a:r>
              <a:rPr lang="en-US" sz="1400" dirty="0">
                <a:solidFill>
                  <a:schemeClr val="accent1">
                    <a:lumMod val="75000"/>
                  </a:schemeClr>
                </a:solidFill>
              </a:rPr>
              <a:t>The Word Online app provides you with four ribbon tabs: File, Home, Insert, and View. The ribbon also provides a convenient Open in Word command that allows you to open the current document in the installed version of Word if it is present on the device you are using.</a:t>
            </a:r>
          </a:p>
          <a:p>
            <a:pPr marL="285750" indent="-285750" algn="just" eaLnBrk="0" hangingPunct="0">
              <a:spcBef>
                <a:spcPts val="600"/>
              </a:spcBef>
              <a:buFont typeface="Arial" panose="020B0604020202020204" pitchFamily="34" charset="0"/>
              <a:buChar char="•"/>
            </a:pPr>
            <a:endParaRPr lang="en-US" sz="1400" dirty="0">
              <a:solidFill>
                <a:schemeClr val="accent1">
                  <a:lumMod val="75000"/>
                </a:schemeClr>
              </a:solidFill>
            </a:endParaRPr>
          </a:p>
        </p:txBody>
      </p:sp>
    </p:spTree>
    <p:extLst>
      <p:ext uri="{BB962C8B-B14F-4D97-AF65-F5344CB8AC3E}">
        <p14:creationId xmlns:p14="http://schemas.microsoft.com/office/powerpoint/2010/main" val="1748009489"/>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04800" y="304800"/>
            <a:ext cx="8077200" cy="319959"/>
          </a:xfrm>
          <a:prstGeom prst="rect">
            <a:avLst/>
          </a:prstGeom>
        </p:spPr>
        <p:txBody>
          <a:bodyPr vert="horz" wrap="square" lIns="0" tIns="12065" rIns="0" bIns="0" rtlCol="0">
            <a:spAutoFit/>
          </a:bodyPr>
          <a:lstStyle/>
          <a:p>
            <a:pPr eaLnBrk="0" hangingPunct="0"/>
            <a:r>
              <a:rPr lang="en-US" dirty="0">
                <a:latin typeface="Comic Sans MS" panose="030F0702030302020204" pitchFamily="66" charset="0"/>
              </a:rPr>
              <a:t>The Word Online app’ s File tab</a:t>
            </a:r>
          </a:p>
        </p:txBody>
      </p:sp>
      <p:sp>
        <p:nvSpPr>
          <p:cNvPr id="3" name="object 3"/>
          <p:cNvSpPr txBox="1"/>
          <p:nvPr/>
        </p:nvSpPr>
        <p:spPr>
          <a:xfrm>
            <a:off x="598497" y="1447800"/>
            <a:ext cx="8077200" cy="2167260"/>
          </a:xfrm>
          <a:prstGeom prst="rect">
            <a:avLst/>
          </a:prstGeom>
        </p:spPr>
        <p:txBody>
          <a:bodyPr vert="horz" wrap="square" lIns="0" tIns="12700" rIns="0" bIns="0" rtlCol="0">
            <a:spAutoFit/>
          </a:bodyPr>
          <a:lstStyle/>
          <a:p>
            <a:pPr algn="just"/>
            <a:r>
              <a:rPr lang="en-US" sz="1400" dirty="0" smtClean="0">
                <a:solidFill>
                  <a:schemeClr val="accent1">
                    <a:lumMod val="75000"/>
                  </a:schemeClr>
                </a:solidFill>
              </a:rPr>
              <a:t>The </a:t>
            </a:r>
            <a:r>
              <a:rPr lang="en-US" sz="1400" dirty="0">
                <a:solidFill>
                  <a:schemeClr val="accent1">
                    <a:lumMod val="75000"/>
                  </a:schemeClr>
                </a:solidFill>
              </a:rPr>
              <a:t>File tab </a:t>
            </a:r>
            <a:r>
              <a:rPr lang="en-US" sz="1400" dirty="0" smtClean="0">
                <a:solidFill>
                  <a:schemeClr val="accent1">
                    <a:lumMod val="75000"/>
                  </a:schemeClr>
                </a:solidFill>
              </a:rPr>
              <a:t>provides </a:t>
            </a:r>
            <a:r>
              <a:rPr lang="en-US" sz="1400" dirty="0">
                <a:solidFill>
                  <a:schemeClr val="accent1">
                    <a:lumMod val="75000"/>
                  </a:schemeClr>
                </a:solidFill>
              </a:rPr>
              <a:t>you with access to the Word Online app’s Backstage. The Backstage provides you with the ability to open the current document in your installed Word application via the Info tab. It also enables you to save the changes that you have made to the document (Save) and access Save As. The Word Online app’s Save As page is shown </a:t>
            </a:r>
            <a:r>
              <a:rPr lang="en-US" sz="1400" dirty="0" smtClean="0">
                <a:solidFill>
                  <a:schemeClr val="accent1">
                    <a:lumMod val="75000"/>
                  </a:schemeClr>
                </a:solidFill>
              </a:rPr>
              <a:t>in Figure bellow.</a:t>
            </a:r>
            <a:r>
              <a:rPr lang="en-US" sz="1400" dirty="0">
                <a:solidFill>
                  <a:schemeClr val="accent1">
                    <a:lumMod val="75000"/>
                  </a:schemeClr>
                </a:solidFill>
              </a:rPr>
              <a:t> The Word Online app’s Backstage also provides access to a Share page and a Print page. The Sharing options allow you to invite other people to view or edit the document, and you can embed the document in a blog or website to share it</a:t>
            </a:r>
            <a:r>
              <a:rPr lang="en-US" sz="1400" dirty="0" smtClean="0">
                <a:solidFill>
                  <a:schemeClr val="accent1">
                    <a:lumMod val="75000"/>
                  </a:schemeClr>
                </a:solidFill>
              </a:rPr>
              <a:t>.</a:t>
            </a:r>
          </a:p>
          <a:p>
            <a:pPr algn="just"/>
            <a:r>
              <a:rPr lang="en-US" sz="1400" dirty="0">
                <a:solidFill>
                  <a:schemeClr val="accent1">
                    <a:lumMod val="75000"/>
                  </a:schemeClr>
                </a:solidFill>
              </a:rPr>
              <a:t>The Print page doesn’t allow you to send the document to a printer, but it does allow you to create an Adobe Acrobat ﬁle from the ﬁle currently open in the Online app. </a:t>
            </a:r>
          </a:p>
          <a:p>
            <a:pPr algn="just"/>
            <a:endParaRPr lang="en-US" sz="1400" dirty="0">
              <a:solidFill>
                <a:schemeClr val="accent1">
                  <a:lumMod val="75000"/>
                </a:schemeClr>
              </a:solidFill>
            </a:endParaRPr>
          </a:p>
          <a:p>
            <a:pPr algn="just"/>
            <a:endParaRPr lang="en-US" sz="1400" dirty="0">
              <a:solidFill>
                <a:schemeClr val="accent1">
                  <a:lumMod val="75000"/>
                </a:schemeClr>
              </a:solidFill>
            </a:endParaRPr>
          </a:p>
        </p:txBody>
      </p:sp>
      <p:pic>
        <p:nvPicPr>
          <p:cNvPr id="4098"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85800" y="3962400"/>
            <a:ext cx="3720519" cy="19623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800600" y="3962400"/>
            <a:ext cx="3686530" cy="19623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737822334"/>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04800" y="304800"/>
            <a:ext cx="8077200" cy="319959"/>
          </a:xfrm>
          <a:prstGeom prst="rect">
            <a:avLst/>
          </a:prstGeom>
        </p:spPr>
        <p:txBody>
          <a:bodyPr vert="horz" wrap="square" lIns="0" tIns="12065" rIns="0" bIns="0" rtlCol="0">
            <a:spAutoFit/>
          </a:bodyPr>
          <a:lstStyle/>
          <a:p>
            <a:pPr eaLnBrk="0" hangingPunct="0"/>
            <a:r>
              <a:rPr lang="en-US" dirty="0">
                <a:latin typeface="Comic Sans MS" panose="030F0702030302020204" pitchFamily="66" charset="0"/>
              </a:rPr>
              <a:t>Working in the Excel Online app</a:t>
            </a:r>
          </a:p>
        </p:txBody>
      </p:sp>
      <p:sp>
        <p:nvSpPr>
          <p:cNvPr id="3" name="object 3"/>
          <p:cNvSpPr txBox="1"/>
          <p:nvPr/>
        </p:nvSpPr>
        <p:spPr>
          <a:xfrm>
            <a:off x="533400" y="1676400"/>
            <a:ext cx="8077200" cy="3244478"/>
          </a:xfrm>
          <a:prstGeom prst="rect">
            <a:avLst/>
          </a:prstGeom>
        </p:spPr>
        <p:txBody>
          <a:bodyPr vert="horz" wrap="square" lIns="0" tIns="12700" rIns="0" bIns="0" rtlCol="0">
            <a:spAutoFit/>
          </a:bodyPr>
          <a:lstStyle/>
          <a:p>
            <a:pPr algn="just" eaLnBrk="0" hangingPunct="0"/>
            <a:r>
              <a:rPr lang="en-US" sz="1400" dirty="0" smtClean="0">
                <a:solidFill>
                  <a:schemeClr val="accent1">
                    <a:lumMod val="75000"/>
                  </a:schemeClr>
                </a:solidFill>
              </a:rPr>
              <a:t>The </a:t>
            </a:r>
            <a:r>
              <a:rPr lang="en-US" sz="1400" dirty="0">
                <a:solidFill>
                  <a:schemeClr val="accent1">
                    <a:lumMod val="75000"/>
                  </a:schemeClr>
                </a:solidFill>
              </a:rPr>
              <a:t>Excel Online app provides a pretty strong subset of the Excel commands, so you can build sheets that take advantage of Excel’s function library and its ability to manipulate table data as well as visually portray your data in a variety of chart types.</a:t>
            </a:r>
          </a:p>
          <a:p>
            <a:pPr algn="just" eaLnBrk="0" hangingPunct="0"/>
            <a:r>
              <a:rPr lang="en-US" sz="1400" dirty="0">
                <a:solidFill>
                  <a:schemeClr val="accent1">
                    <a:lumMod val="75000"/>
                  </a:schemeClr>
                </a:solidFill>
              </a:rPr>
              <a:t>Basic features are covered in the Excel Online app, and you can adjust row heights and column widths in a worksheet by dragging the row or column border. The Best-Fit column width function (double-clicking a column border) is now also available in the Online app, so you can easily size columns to accommodate the longest entry in a particular column. As already mentioned, you can </a:t>
            </a:r>
            <a:r>
              <a:rPr lang="en-US" sz="1400" dirty="0" smtClean="0">
                <a:solidFill>
                  <a:schemeClr val="accent1">
                    <a:lumMod val="75000"/>
                  </a:schemeClr>
                </a:solidFill>
              </a:rPr>
              <a:t>insert </a:t>
            </a:r>
            <a:r>
              <a:rPr lang="en-US" sz="1400" dirty="0">
                <a:solidFill>
                  <a:schemeClr val="accent1">
                    <a:lumMod val="75000"/>
                  </a:schemeClr>
                </a:solidFill>
              </a:rPr>
              <a:t/>
            </a:r>
            <a:br>
              <a:rPr lang="en-US" sz="1400" dirty="0">
                <a:solidFill>
                  <a:schemeClr val="accent1">
                    <a:lumMod val="75000"/>
                  </a:schemeClr>
                </a:solidFill>
              </a:rPr>
            </a:br>
            <a:r>
              <a:rPr lang="en-US" sz="1400" dirty="0">
                <a:solidFill>
                  <a:schemeClr val="accent1">
                    <a:lumMod val="75000"/>
                  </a:schemeClr>
                </a:solidFill>
              </a:rPr>
              <a:t>new sheets into your workbook, and you can delete a sheet in the workbook by right-clicking the sheet tab and selecting Delete. You can also rename worksheets as needed.</a:t>
            </a:r>
          </a:p>
          <a:p>
            <a:pPr algn="just" eaLnBrk="0" hangingPunct="0"/>
            <a:r>
              <a:rPr lang="en-US" sz="1400" dirty="0">
                <a:solidFill>
                  <a:schemeClr val="accent1">
                    <a:lumMod val="75000"/>
                  </a:schemeClr>
                </a:solidFill>
              </a:rPr>
              <a:t>You can view graphics that you have added to a worksheet created in Excel, such as pictures, clip art, and SmartArt, but you do not have the formatting control over them that you do in the installed version of Excel. You can move a graphic such as a picture on a page in the Online app and resize the picture as needed. You can also remove a picture (or other sheet object) by selecting the object and then pressing Delete on the keyboard.</a:t>
            </a:r>
          </a:p>
          <a:p>
            <a:pPr algn="just" eaLnBrk="0" hangingPunct="0"/>
            <a:r>
              <a:rPr lang="en-US" sz="1400" dirty="0">
                <a:solidFill>
                  <a:schemeClr val="accent1">
                    <a:lumMod val="75000"/>
                  </a:schemeClr>
                </a:solidFill>
              </a:rPr>
              <a:t> </a:t>
            </a:r>
          </a:p>
        </p:txBody>
      </p:sp>
    </p:spTree>
    <p:extLst>
      <p:ext uri="{BB962C8B-B14F-4D97-AF65-F5344CB8AC3E}">
        <p14:creationId xmlns:p14="http://schemas.microsoft.com/office/powerpoint/2010/main" val="3351163898"/>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04800" y="304800"/>
            <a:ext cx="8077200" cy="319959"/>
          </a:xfrm>
          <a:prstGeom prst="rect">
            <a:avLst/>
          </a:prstGeom>
        </p:spPr>
        <p:txBody>
          <a:bodyPr vert="horz" wrap="square" lIns="0" tIns="12065" rIns="0" bIns="0" rtlCol="0">
            <a:spAutoFit/>
          </a:bodyPr>
          <a:lstStyle/>
          <a:p>
            <a:pPr eaLnBrk="0" hangingPunct="0"/>
            <a:r>
              <a:rPr lang="en-US" dirty="0">
                <a:latin typeface="Comic Sans MS" panose="030F0702030302020204" pitchFamily="66" charset="0"/>
              </a:rPr>
              <a:t>Inserting functions and charts in the Excel Online app</a:t>
            </a:r>
          </a:p>
        </p:txBody>
      </p:sp>
      <p:sp>
        <p:nvSpPr>
          <p:cNvPr id="3" name="object 3"/>
          <p:cNvSpPr txBox="1"/>
          <p:nvPr/>
        </p:nvSpPr>
        <p:spPr>
          <a:xfrm>
            <a:off x="533400" y="1295400"/>
            <a:ext cx="8077200" cy="2444259"/>
          </a:xfrm>
          <a:prstGeom prst="rect">
            <a:avLst/>
          </a:prstGeom>
        </p:spPr>
        <p:txBody>
          <a:bodyPr vert="horz" wrap="square" lIns="0" tIns="12700" rIns="0" bIns="0" rtlCol="0">
            <a:spAutoFit/>
          </a:bodyPr>
          <a:lstStyle/>
          <a:p>
            <a:pPr algn="just" eaLnBrk="0" hangingPunct="0"/>
            <a:r>
              <a:rPr lang="en-US" sz="1400" dirty="0" smtClean="0">
                <a:solidFill>
                  <a:schemeClr val="accent1">
                    <a:lumMod val="75000"/>
                  </a:schemeClr>
                </a:solidFill>
              </a:rPr>
              <a:t>Inserting </a:t>
            </a:r>
            <a:r>
              <a:rPr lang="en-US" sz="1400" dirty="0">
                <a:solidFill>
                  <a:schemeClr val="accent1">
                    <a:lumMod val="75000"/>
                  </a:schemeClr>
                </a:solidFill>
              </a:rPr>
              <a:t>functions into a worksheet when you are working in the Excel Online app can be accomplished using the AutoSum drop- down menu provided on the ribbon’s Home tab (in the Formulas group) or the Function command provided on the Insert tab.</a:t>
            </a:r>
          </a:p>
          <a:p>
            <a:pPr algn="just" eaLnBrk="0" hangingPunct="0"/>
            <a:r>
              <a:rPr lang="en-US" sz="1400" dirty="0">
                <a:solidFill>
                  <a:schemeClr val="accent1">
                    <a:lumMod val="75000"/>
                  </a:schemeClr>
                </a:solidFill>
              </a:rPr>
              <a:t>Selecting More Functions on the AutoSum command (on the Home tab) or selecting the Function command (on the Insert tab) opens the Insert Function dialog box, as shown </a:t>
            </a:r>
            <a:r>
              <a:rPr lang="en-US" sz="1400" dirty="0" smtClean="0">
                <a:solidFill>
                  <a:schemeClr val="accent1">
                    <a:lumMod val="75000"/>
                  </a:schemeClr>
                </a:solidFill>
              </a:rPr>
              <a:t>in Figure. </a:t>
            </a:r>
            <a:r>
              <a:rPr lang="en-US" sz="1400" dirty="0">
                <a:solidFill>
                  <a:schemeClr val="accent1">
                    <a:lumMod val="75000"/>
                  </a:schemeClr>
                </a:solidFill>
              </a:rPr>
              <a:t>Select a function category in the Insert Function dialog box and then pick the function you want to insert into the currently selected cell. Click OK, and the function is inserted into the sheet; however, you still need to specify the range of cells to be used by the function. For example, </a:t>
            </a:r>
            <a:r>
              <a:rPr lang="en-US" sz="1400" dirty="0" smtClean="0">
                <a:solidFill>
                  <a:schemeClr val="accent1">
                    <a:lumMod val="75000"/>
                  </a:schemeClr>
                </a:solidFill>
              </a:rPr>
              <a:t>in Figure</a:t>
            </a:r>
            <a:r>
              <a:rPr lang="en-US" sz="1400" dirty="0" smtClean="0">
                <a:solidFill>
                  <a:schemeClr val="accent1">
                    <a:lumMod val="75000"/>
                  </a:schemeClr>
                </a:solidFill>
                <a:hlinkClick r:id="rId2" action="ppaction://hlinkfile"/>
              </a:rPr>
              <a:t> </a:t>
            </a:r>
            <a:r>
              <a:rPr lang="en-US" sz="1400" dirty="0">
                <a:solidFill>
                  <a:schemeClr val="accent1">
                    <a:lumMod val="75000"/>
                  </a:schemeClr>
                </a:solidFill>
              </a:rPr>
              <a:t>the </a:t>
            </a:r>
            <a:r>
              <a:rPr lang="en-US" sz="1400" dirty="0" smtClean="0">
                <a:solidFill>
                  <a:schemeClr val="accent1">
                    <a:lumMod val="75000"/>
                  </a:schemeClr>
                </a:solidFill>
              </a:rPr>
              <a:t>MAX function </a:t>
            </a:r>
            <a:r>
              <a:rPr lang="en-US" sz="1400" dirty="0">
                <a:solidFill>
                  <a:schemeClr val="accent1">
                    <a:lumMod val="75000"/>
                  </a:schemeClr>
                </a:solidFill>
              </a:rPr>
              <a:t>is used to compute the maximum salary in a range of salary data. Simply select the range of cells that you want the function to act upon.</a:t>
            </a:r>
          </a:p>
          <a:p>
            <a:pPr eaLnBrk="0" hangingPunct="0"/>
            <a:endParaRPr lang="en-US" dirty="0"/>
          </a:p>
        </p:txBody>
      </p:sp>
      <p:pic>
        <p:nvPicPr>
          <p:cNvPr id="717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81200" y="3886200"/>
            <a:ext cx="5334000" cy="27736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442590115"/>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04800" y="304800"/>
            <a:ext cx="8077200" cy="319959"/>
          </a:xfrm>
          <a:prstGeom prst="rect">
            <a:avLst/>
          </a:prstGeom>
        </p:spPr>
        <p:txBody>
          <a:bodyPr vert="horz" wrap="square" lIns="0" tIns="12065" rIns="0" bIns="0" rtlCol="0">
            <a:spAutoFit/>
          </a:bodyPr>
          <a:lstStyle/>
          <a:p>
            <a:pPr eaLnBrk="0" hangingPunct="0"/>
            <a:r>
              <a:rPr lang="en-US" dirty="0">
                <a:latin typeface="Comic Sans MS" panose="030F0702030302020204" pitchFamily="66" charset="0"/>
              </a:rPr>
              <a:t>Inserting functions and charts in the Excel Online </a:t>
            </a:r>
            <a:r>
              <a:rPr lang="en-US" dirty="0" smtClean="0">
                <a:latin typeface="Comic Sans MS" panose="030F0702030302020204" pitchFamily="66" charset="0"/>
              </a:rPr>
              <a:t>app </a:t>
            </a:r>
            <a:r>
              <a:rPr lang="en-US" sz="1400" b="0" i="1" dirty="0" smtClean="0">
                <a:latin typeface="Comic Sans MS" panose="030F0702030302020204" pitchFamily="66" charset="0"/>
              </a:rPr>
              <a:t>(cont.)</a:t>
            </a:r>
            <a:endParaRPr lang="en-US" sz="1400" b="0" i="1" dirty="0">
              <a:latin typeface="Comic Sans MS" panose="030F0702030302020204" pitchFamily="66" charset="0"/>
            </a:endParaRPr>
          </a:p>
        </p:txBody>
      </p:sp>
      <p:sp>
        <p:nvSpPr>
          <p:cNvPr id="3" name="object 3"/>
          <p:cNvSpPr txBox="1"/>
          <p:nvPr/>
        </p:nvSpPr>
        <p:spPr>
          <a:xfrm>
            <a:off x="533400" y="1295400"/>
            <a:ext cx="8077200" cy="1736373"/>
          </a:xfrm>
          <a:prstGeom prst="rect">
            <a:avLst/>
          </a:prstGeom>
        </p:spPr>
        <p:txBody>
          <a:bodyPr vert="horz" wrap="square" lIns="0" tIns="12700" rIns="0" bIns="0" rtlCol="0">
            <a:spAutoFit/>
          </a:bodyPr>
          <a:lstStyle/>
          <a:p>
            <a:pPr algn="just" eaLnBrk="0" hangingPunct="0"/>
            <a:r>
              <a:rPr lang="en-US" sz="1400" dirty="0" smtClean="0">
                <a:solidFill>
                  <a:schemeClr val="accent1">
                    <a:lumMod val="75000"/>
                  </a:schemeClr>
                </a:solidFill>
              </a:rPr>
              <a:t>You </a:t>
            </a:r>
            <a:r>
              <a:rPr lang="en-US" sz="1400" dirty="0">
                <a:solidFill>
                  <a:schemeClr val="accent1">
                    <a:lumMod val="75000"/>
                  </a:schemeClr>
                </a:solidFill>
              </a:rPr>
              <a:t>can also add your own formulas to a sheet when you are working in the Excel Online app. To add a formula, type the equals sign (=) and then specify the cell addresses and the operators required for the formula. You can use the mouse to specify the cell addresses that appear in the formula as you would in Excel. When the formula is complete, press the Enter key.</a:t>
            </a:r>
          </a:p>
          <a:p>
            <a:pPr algn="just" eaLnBrk="0" hangingPunct="0"/>
            <a:r>
              <a:rPr lang="en-US" sz="1400" dirty="0" smtClean="0">
                <a:solidFill>
                  <a:schemeClr val="accent1">
                    <a:lumMod val="75000"/>
                  </a:schemeClr>
                </a:solidFill>
              </a:rPr>
              <a:t>You </a:t>
            </a:r>
            <a:r>
              <a:rPr lang="en-US" sz="1400" dirty="0">
                <a:solidFill>
                  <a:schemeClr val="accent1">
                    <a:lumMod val="75000"/>
                  </a:schemeClr>
                </a:solidFill>
              </a:rPr>
              <a:t>can also insert charts into your sheets when you are using the Excel Online app. Select the cells that will serve as the chart data. On the Insert tab, select one of the chart types. Each chart </a:t>
            </a:r>
            <a:r>
              <a:rPr lang="en-US" sz="1400" dirty="0" smtClean="0">
                <a:solidFill>
                  <a:schemeClr val="accent1">
                    <a:lumMod val="75000"/>
                  </a:schemeClr>
                </a:solidFill>
              </a:rPr>
              <a:t>type provides </a:t>
            </a:r>
            <a:r>
              <a:rPr lang="en-US" sz="1400" dirty="0">
                <a:solidFill>
                  <a:schemeClr val="accent1">
                    <a:lumMod val="75000"/>
                  </a:schemeClr>
                </a:solidFill>
              </a:rPr>
              <a:t>chart subtypes. Select one of the subtypes, and the chart is inserted into the </a:t>
            </a:r>
            <a:r>
              <a:rPr lang="en-US" sz="1400" dirty="0" smtClean="0">
                <a:solidFill>
                  <a:schemeClr val="accent1">
                    <a:lumMod val="75000"/>
                  </a:schemeClr>
                </a:solidFill>
              </a:rPr>
              <a:t>sheet. </a:t>
            </a:r>
            <a:r>
              <a:rPr lang="en-US" sz="1400" dirty="0">
                <a:solidFill>
                  <a:schemeClr val="accent1">
                    <a:lumMod val="75000"/>
                  </a:schemeClr>
                </a:solidFill>
              </a:rPr>
              <a:t>When the chart is selected, the Chart Tools are available on the ribbon.</a:t>
            </a:r>
          </a:p>
        </p:txBody>
      </p:sp>
      <p:pic>
        <p:nvPicPr>
          <p:cNvPr id="819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0" y="3702414"/>
            <a:ext cx="5988435" cy="2816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662803238"/>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04800" y="304800"/>
            <a:ext cx="8077200" cy="319959"/>
          </a:xfrm>
          <a:prstGeom prst="rect">
            <a:avLst/>
          </a:prstGeom>
        </p:spPr>
        <p:txBody>
          <a:bodyPr vert="horz" wrap="square" lIns="0" tIns="12065" rIns="0" bIns="0" rtlCol="0">
            <a:spAutoFit/>
          </a:bodyPr>
          <a:lstStyle/>
          <a:p>
            <a:pPr eaLnBrk="0" hangingPunct="0"/>
            <a:r>
              <a:rPr lang="en-US" dirty="0">
                <a:latin typeface="Comic Sans MS" panose="030F0702030302020204" pitchFamily="66" charset="0"/>
              </a:rPr>
              <a:t>Inserting functions and charts in the Excel Online app</a:t>
            </a:r>
          </a:p>
        </p:txBody>
      </p:sp>
      <p:sp>
        <p:nvSpPr>
          <p:cNvPr id="3" name="object 3"/>
          <p:cNvSpPr txBox="1"/>
          <p:nvPr/>
        </p:nvSpPr>
        <p:spPr>
          <a:xfrm>
            <a:off x="533400" y="1295400"/>
            <a:ext cx="8077200" cy="1305486"/>
          </a:xfrm>
          <a:prstGeom prst="rect">
            <a:avLst/>
          </a:prstGeom>
        </p:spPr>
        <p:txBody>
          <a:bodyPr vert="horz" wrap="square" lIns="0" tIns="12700" rIns="0" bIns="0" rtlCol="0">
            <a:spAutoFit/>
          </a:bodyPr>
          <a:lstStyle/>
          <a:p>
            <a:pPr algn="just" eaLnBrk="0" hangingPunct="0"/>
            <a:r>
              <a:rPr lang="en-US" sz="1400" dirty="0">
                <a:solidFill>
                  <a:schemeClr val="accent1">
                    <a:lumMod val="75000"/>
                  </a:schemeClr>
                </a:solidFill>
              </a:rPr>
              <a:t>The PowerPoint Online app provides you with a solid collection of commands for creating a new presentation or editing an existing presentation that you have saved to your OneDrive or SharePoint site library. To assign a theme to the new presentation (which opens with a title slide), select the ribbon’s Design tab and then choose one of the themes from the Themes gallery. You can also use the Variants gallery to ﬁne-tune your selected theme.</a:t>
            </a:r>
          </a:p>
          <a:p>
            <a:pPr algn="just" eaLnBrk="0" hangingPunct="0"/>
            <a:endParaRPr lang="en-US" sz="1400" dirty="0">
              <a:solidFill>
                <a:schemeClr val="accent1">
                  <a:lumMod val="75000"/>
                </a:schemeClr>
              </a:solidFill>
            </a:endParaRPr>
          </a:p>
        </p:txBody>
      </p:sp>
      <p:pic>
        <p:nvPicPr>
          <p:cNvPr id="9223" name="Picture 7"/>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85801" y="3603089"/>
            <a:ext cx="3733800" cy="1942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00600" y="3048000"/>
            <a:ext cx="3730625" cy="3052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597391014"/>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304800"/>
            <a:ext cx="8229600" cy="1399032"/>
          </a:xfrm>
        </p:spPr>
        <p:txBody>
          <a:bodyPr/>
          <a:lstStyle/>
          <a:p>
            <a:r>
              <a:rPr lang="en-US" sz="1800" dirty="0" smtClean="0">
                <a:solidFill>
                  <a:srgbClr val="C00000"/>
                </a:solidFill>
                <a:latin typeface="Comic Sans MS" panose="030F0702030302020204" pitchFamily="66" charset="0"/>
              </a:rPr>
              <a:t>Quick “In class Mock test”</a:t>
            </a:r>
            <a:endParaRPr lang="en-US" sz="1800" dirty="0">
              <a:solidFill>
                <a:srgbClr val="C00000"/>
              </a:solidFill>
              <a:latin typeface="Comic Sans MS" panose="030F0702030302020204" pitchFamily="66" charset="0"/>
            </a:endParaRPr>
          </a:p>
        </p:txBody>
      </p:sp>
      <p:pic>
        <p:nvPicPr>
          <p:cNvPr id="4" name="Picture 3">
            <a:extLst>
              <a:ext uri="{FF2B5EF4-FFF2-40B4-BE49-F238E27FC236}">
                <a16:creationId xmlns:a16="http://schemas.microsoft.com/office/drawing/2014/main" id="{E7591D7E-A1FF-427B-B0E9-2DF81BE31B86}"/>
              </a:ext>
            </a:extLst>
          </p:cNvPr>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7650975" y="161204"/>
            <a:ext cx="1410161" cy="1611612"/>
          </a:xfrm>
          <a:prstGeom prst="rect">
            <a:avLst/>
          </a:prstGeom>
        </p:spPr>
      </p:pic>
      <p:sp>
        <p:nvSpPr>
          <p:cNvPr id="5" name="Rectangle 4"/>
          <p:cNvSpPr/>
          <p:nvPr/>
        </p:nvSpPr>
        <p:spPr>
          <a:xfrm>
            <a:off x="609600" y="2438400"/>
            <a:ext cx="7924800" cy="1775935"/>
          </a:xfrm>
          <a:prstGeom prst="rect">
            <a:avLst/>
          </a:prstGeom>
        </p:spPr>
        <p:txBody>
          <a:bodyPr wrap="square">
            <a:spAutoFit/>
          </a:bodyPr>
          <a:lstStyle/>
          <a:p>
            <a:pPr algn="just"/>
            <a:r>
              <a:rPr lang="en-US" sz="1400" dirty="0">
                <a:solidFill>
                  <a:schemeClr val="accent1">
                    <a:lumMod val="75000"/>
                  </a:schemeClr>
                </a:solidFill>
              </a:rPr>
              <a:t>What is a free online storage space you can use as your own personal hard </a:t>
            </a:r>
            <a:r>
              <a:rPr lang="en-US" sz="1400" dirty="0" smtClean="0">
                <a:solidFill>
                  <a:schemeClr val="accent1">
                    <a:lumMod val="75000"/>
                  </a:schemeClr>
                </a:solidFill>
              </a:rPr>
              <a:t>drive?</a:t>
            </a:r>
          </a:p>
          <a:p>
            <a:pPr algn="just"/>
            <a:endParaRPr lang="en-US" sz="1400" dirty="0">
              <a:solidFill>
                <a:schemeClr val="accent1">
                  <a:lumMod val="75000"/>
                </a:schemeClr>
              </a:solidFill>
            </a:endParaRPr>
          </a:p>
          <a:p>
            <a:pPr marL="800100" lvl="1" indent="-342900" algn="just">
              <a:lnSpc>
                <a:spcPct val="150000"/>
              </a:lnSpc>
              <a:buFont typeface="+mj-lt"/>
              <a:buAutoNum type="alphaLcParenR"/>
            </a:pPr>
            <a:r>
              <a:rPr lang="en-US" sz="1400" dirty="0" smtClean="0">
                <a:solidFill>
                  <a:schemeClr val="accent1">
                    <a:lumMod val="75000"/>
                  </a:schemeClr>
                </a:solidFill>
              </a:rPr>
              <a:t>One </a:t>
            </a:r>
            <a:r>
              <a:rPr lang="en-US" sz="1400" dirty="0">
                <a:solidFill>
                  <a:schemeClr val="accent1">
                    <a:lumMod val="75000"/>
                  </a:schemeClr>
                </a:solidFill>
              </a:rPr>
              <a:t>Drive</a:t>
            </a:r>
          </a:p>
          <a:p>
            <a:pPr marL="800100" lvl="1" indent="-342900" algn="just">
              <a:lnSpc>
                <a:spcPct val="150000"/>
              </a:lnSpc>
              <a:buFont typeface="+mj-lt"/>
              <a:buAutoNum type="alphaLcParenR"/>
            </a:pPr>
            <a:r>
              <a:rPr lang="en-US" sz="1400" dirty="0">
                <a:solidFill>
                  <a:schemeClr val="accent1">
                    <a:lumMod val="75000"/>
                  </a:schemeClr>
                </a:solidFill>
              </a:rPr>
              <a:t>One Note</a:t>
            </a:r>
          </a:p>
          <a:p>
            <a:pPr marL="800100" lvl="1" indent="-342900" algn="just">
              <a:lnSpc>
                <a:spcPct val="150000"/>
              </a:lnSpc>
              <a:buFont typeface="+mj-lt"/>
              <a:buAutoNum type="alphaLcParenR"/>
            </a:pPr>
            <a:r>
              <a:rPr lang="en-US" sz="1400" dirty="0">
                <a:solidFill>
                  <a:schemeClr val="accent1">
                    <a:lumMod val="75000"/>
                  </a:schemeClr>
                </a:solidFill>
              </a:rPr>
              <a:t>Hard Drive</a:t>
            </a:r>
          </a:p>
          <a:p>
            <a:pPr marL="800100" lvl="1" indent="-342900" algn="just">
              <a:lnSpc>
                <a:spcPct val="150000"/>
              </a:lnSpc>
              <a:buFont typeface="+mj-lt"/>
              <a:buAutoNum type="alphaLcParenR"/>
            </a:pPr>
            <a:r>
              <a:rPr lang="en-US" sz="1400" dirty="0">
                <a:solidFill>
                  <a:schemeClr val="accent1">
                    <a:lumMod val="75000"/>
                  </a:schemeClr>
                </a:solidFill>
              </a:rPr>
              <a:t>Email</a:t>
            </a:r>
          </a:p>
        </p:txBody>
      </p:sp>
    </p:spTree>
    <p:custDataLst>
      <p:tags r:id="rId1"/>
    </p:custDataLst>
    <p:extLst>
      <p:ext uri="{BB962C8B-B14F-4D97-AF65-F5344CB8AC3E}">
        <p14:creationId xmlns:p14="http://schemas.microsoft.com/office/powerpoint/2010/main" val="509269748"/>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304800"/>
            <a:ext cx="8229600" cy="1399032"/>
          </a:xfrm>
        </p:spPr>
        <p:txBody>
          <a:bodyPr/>
          <a:lstStyle/>
          <a:p>
            <a:r>
              <a:rPr lang="en-US" sz="1800" dirty="0" smtClean="0">
                <a:solidFill>
                  <a:srgbClr val="C00000"/>
                </a:solidFill>
                <a:latin typeface="Comic Sans MS" panose="030F0702030302020204" pitchFamily="66" charset="0"/>
              </a:rPr>
              <a:t>Quick “In class Mock test”</a:t>
            </a:r>
            <a:endParaRPr lang="en-US" sz="1800" dirty="0">
              <a:solidFill>
                <a:srgbClr val="C00000"/>
              </a:solidFill>
              <a:latin typeface="Comic Sans MS" panose="030F0702030302020204" pitchFamily="66" charset="0"/>
            </a:endParaRPr>
          </a:p>
        </p:txBody>
      </p:sp>
      <p:pic>
        <p:nvPicPr>
          <p:cNvPr id="4" name="Picture 3">
            <a:extLst>
              <a:ext uri="{FF2B5EF4-FFF2-40B4-BE49-F238E27FC236}">
                <a16:creationId xmlns:a16="http://schemas.microsoft.com/office/drawing/2014/main" id="{E7591D7E-A1FF-427B-B0E9-2DF81BE31B86}"/>
              </a:ext>
            </a:extLst>
          </p:cNvPr>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7650975" y="161204"/>
            <a:ext cx="1410161" cy="1611612"/>
          </a:xfrm>
          <a:prstGeom prst="rect">
            <a:avLst/>
          </a:prstGeom>
        </p:spPr>
      </p:pic>
      <p:sp>
        <p:nvSpPr>
          <p:cNvPr id="5" name="Rectangle 4"/>
          <p:cNvSpPr/>
          <p:nvPr/>
        </p:nvSpPr>
        <p:spPr>
          <a:xfrm>
            <a:off x="609600" y="2438400"/>
            <a:ext cx="7924800" cy="2294795"/>
          </a:xfrm>
          <a:prstGeom prst="rect">
            <a:avLst/>
          </a:prstGeom>
        </p:spPr>
        <p:txBody>
          <a:bodyPr wrap="square">
            <a:spAutoFit/>
          </a:bodyPr>
          <a:lstStyle/>
          <a:p>
            <a:pPr marL="914400" marR="0" algn="just">
              <a:lnSpc>
                <a:spcPct val="107000"/>
              </a:lnSpc>
              <a:spcBef>
                <a:spcPts val="0"/>
              </a:spcBef>
              <a:spcAft>
                <a:spcPts val="0"/>
              </a:spcAft>
            </a:pPr>
            <a:r>
              <a:rPr lang="mk-MK" sz="1600" dirty="0">
                <a:solidFill>
                  <a:schemeClr val="accent1">
                    <a:lumMod val="75000"/>
                  </a:schemeClr>
                </a:solidFill>
                <a:latin typeface="Comic Sans MS" panose="030F0702030302020204" pitchFamily="66" charset="0"/>
                <a:ea typeface="Calibri" panose="020F0502020204030204" pitchFamily="34" charset="0"/>
                <a:cs typeface="Times New Roman" panose="02020603050405020304" pitchFamily="18" charset="0"/>
              </a:rPr>
              <a:t> </a:t>
            </a:r>
            <a:endParaRPr lang="en-US" sz="1600" dirty="0">
              <a:solidFill>
                <a:schemeClr val="accent1">
                  <a:lumMod val="75000"/>
                </a:schemeClr>
              </a:solidFill>
              <a:latin typeface="Comic Sans MS" panose="030F0702030302020204" pitchFamily="66" charset="0"/>
              <a:ea typeface="Calibri" panose="020F0502020204030204" pitchFamily="34" charset="0"/>
              <a:cs typeface="Times New Roman" panose="02020603050405020304" pitchFamily="18" charset="0"/>
            </a:endParaRPr>
          </a:p>
          <a:p>
            <a:pPr algn="just"/>
            <a:r>
              <a:rPr lang="en-US" sz="1400" dirty="0">
                <a:solidFill>
                  <a:schemeClr val="accent1">
                    <a:lumMod val="75000"/>
                  </a:schemeClr>
                </a:solidFill>
              </a:rPr>
              <a:t>What is a suite of online applications that lets you create Word documents, Excel spreadsheets, and more?</a:t>
            </a:r>
          </a:p>
          <a:p>
            <a:pPr algn="just"/>
            <a:endParaRPr lang="en-US" sz="1400" dirty="0" smtClean="0">
              <a:solidFill>
                <a:schemeClr val="accent1">
                  <a:lumMod val="75000"/>
                </a:schemeClr>
              </a:solidFill>
            </a:endParaRPr>
          </a:p>
          <a:p>
            <a:pPr marL="800100" lvl="1" indent="-342900" algn="just">
              <a:lnSpc>
                <a:spcPct val="150000"/>
              </a:lnSpc>
              <a:buFont typeface="+mj-lt"/>
              <a:buAutoNum type="alphaLcParenR"/>
            </a:pPr>
            <a:r>
              <a:rPr lang="en-US" sz="1400" dirty="0" smtClean="0">
                <a:solidFill>
                  <a:schemeClr val="accent1">
                    <a:lumMod val="75000"/>
                  </a:schemeClr>
                </a:solidFill>
              </a:rPr>
              <a:t>Microsoft </a:t>
            </a:r>
            <a:r>
              <a:rPr lang="en-US" sz="1400" dirty="0">
                <a:solidFill>
                  <a:schemeClr val="accent1">
                    <a:lumMod val="75000"/>
                  </a:schemeClr>
                </a:solidFill>
              </a:rPr>
              <a:t>Office Online</a:t>
            </a:r>
          </a:p>
          <a:p>
            <a:pPr marL="800100" lvl="1" indent="-342900" algn="just">
              <a:lnSpc>
                <a:spcPct val="150000"/>
              </a:lnSpc>
              <a:buFont typeface="+mj-lt"/>
              <a:buAutoNum type="alphaLcParenR"/>
            </a:pPr>
            <a:r>
              <a:rPr lang="en-US" sz="1400" dirty="0">
                <a:solidFill>
                  <a:schemeClr val="accent1">
                    <a:lumMod val="75000"/>
                  </a:schemeClr>
                </a:solidFill>
              </a:rPr>
              <a:t>Web Email</a:t>
            </a:r>
          </a:p>
          <a:p>
            <a:pPr marL="800100" lvl="1" indent="-342900" algn="just">
              <a:lnSpc>
                <a:spcPct val="150000"/>
              </a:lnSpc>
              <a:buFont typeface="+mj-lt"/>
              <a:buAutoNum type="alphaLcParenR"/>
            </a:pPr>
            <a:r>
              <a:rPr lang="en-US" sz="1400" dirty="0">
                <a:solidFill>
                  <a:schemeClr val="accent1">
                    <a:lumMod val="75000"/>
                  </a:schemeClr>
                </a:solidFill>
              </a:rPr>
              <a:t>Google Chrome</a:t>
            </a:r>
          </a:p>
          <a:p>
            <a:pPr marL="800100" lvl="1" indent="-342900" algn="just">
              <a:lnSpc>
                <a:spcPct val="150000"/>
              </a:lnSpc>
              <a:buFont typeface="+mj-lt"/>
              <a:buAutoNum type="alphaLcParenR"/>
            </a:pPr>
            <a:r>
              <a:rPr lang="en-US" sz="1400" dirty="0">
                <a:solidFill>
                  <a:schemeClr val="accent1">
                    <a:lumMod val="75000"/>
                  </a:schemeClr>
                </a:solidFill>
              </a:rPr>
              <a:t>Microsoft Word</a:t>
            </a:r>
          </a:p>
        </p:txBody>
      </p:sp>
    </p:spTree>
    <p:custDataLst>
      <p:tags r:id="rId1"/>
    </p:custDataLst>
    <p:extLst>
      <p:ext uri="{BB962C8B-B14F-4D97-AF65-F5344CB8AC3E}">
        <p14:creationId xmlns:p14="http://schemas.microsoft.com/office/powerpoint/2010/main" val="1158050976"/>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304800"/>
            <a:ext cx="8229600" cy="1399032"/>
          </a:xfrm>
        </p:spPr>
        <p:txBody>
          <a:bodyPr/>
          <a:lstStyle/>
          <a:p>
            <a:r>
              <a:rPr lang="en-US" sz="1800" dirty="0" smtClean="0">
                <a:solidFill>
                  <a:srgbClr val="C00000"/>
                </a:solidFill>
                <a:latin typeface="Comic Sans MS" panose="030F0702030302020204" pitchFamily="66" charset="0"/>
              </a:rPr>
              <a:t>Quick “In class Mock test”</a:t>
            </a:r>
            <a:endParaRPr lang="en-US" sz="1800" dirty="0">
              <a:solidFill>
                <a:srgbClr val="C00000"/>
              </a:solidFill>
              <a:latin typeface="Comic Sans MS" panose="030F0702030302020204" pitchFamily="66" charset="0"/>
            </a:endParaRPr>
          </a:p>
        </p:txBody>
      </p:sp>
      <p:pic>
        <p:nvPicPr>
          <p:cNvPr id="4" name="Picture 3">
            <a:extLst>
              <a:ext uri="{FF2B5EF4-FFF2-40B4-BE49-F238E27FC236}">
                <a16:creationId xmlns:a16="http://schemas.microsoft.com/office/drawing/2014/main" id="{E7591D7E-A1FF-427B-B0E9-2DF81BE31B86}"/>
              </a:ext>
            </a:extLst>
          </p:cNvPr>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7650975" y="161204"/>
            <a:ext cx="1410161" cy="1611612"/>
          </a:xfrm>
          <a:prstGeom prst="rect">
            <a:avLst/>
          </a:prstGeom>
        </p:spPr>
      </p:pic>
      <p:sp>
        <p:nvSpPr>
          <p:cNvPr id="5" name="Rectangle 4"/>
          <p:cNvSpPr/>
          <p:nvPr/>
        </p:nvSpPr>
        <p:spPr>
          <a:xfrm>
            <a:off x="609600" y="2438400"/>
            <a:ext cx="7924800" cy="1775935"/>
          </a:xfrm>
          <a:prstGeom prst="rect">
            <a:avLst/>
          </a:prstGeom>
        </p:spPr>
        <p:txBody>
          <a:bodyPr wrap="square">
            <a:spAutoFit/>
          </a:bodyPr>
          <a:lstStyle/>
          <a:p>
            <a:pPr algn="just"/>
            <a:r>
              <a:rPr lang="en-US" sz="1400" dirty="0">
                <a:solidFill>
                  <a:schemeClr val="accent1">
                    <a:lumMod val="75000"/>
                  </a:schemeClr>
                </a:solidFill>
              </a:rPr>
              <a:t>Where will a document created with Office Online be saved</a:t>
            </a:r>
            <a:r>
              <a:rPr lang="en-US" sz="1400" dirty="0" smtClean="0">
                <a:solidFill>
                  <a:schemeClr val="accent1">
                    <a:lumMod val="75000"/>
                  </a:schemeClr>
                </a:solidFill>
              </a:rPr>
              <a:t>?</a:t>
            </a:r>
          </a:p>
          <a:p>
            <a:pPr algn="just"/>
            <a:endParaRPr lang="en-US" sz="1400" dirty="0">
              <a:solidFill>
                <a:schemeClr val="accent1">
                  <a:lumMod val="75000"/>
                </a:schemeClr>
              </a:solidFill>
            </a:endParaRPr>
          </a:p>
          <a:p>
            <a:pPr marL="800100" lvl="1" indent="-342900" algn="just">
              <a:lnSpc>
                <a:spcPct val="150000"/>
              </a:lnSpc>
              <a:buFont typeface="+mj-lt"/>
              <a:buAutoNum type="alphaLcParenR"/>
            </a:pPr>
            <a:r>
              <a:rPr lang="en-US" sz="1400" dirty="0" smtClean="0">
                <a:solidFill>
                  <a:schemeClr val="accent1">
                    <a:lumMod val="75000"/>
                  </a:schemeClr>
                </a:solidFill>
              </a:rPr>
              <a:t>Hard </a:t>
            </a:r>
            <a:r>
              <a:rPr lang="en-US" sz="1400" dirty="0">
                <a:solidFill>
                  <a:schemeClr val="accent1">
                    <a:lumMod val="75000"/>
                  </a:schemeClr>
                </a:solidFill>
              </a:rPr>
              <a:t>Drive</a:t>
            </a:r>
          </a:p>
          <a:p>
            <a:pPr marL="800100" lvl="1" indent="-342900" algn="just">
              <a:lnSpc>
                <a:spcPct val="150000"/>
              </a:lnSpc>
              <a:buFont typeface="+mj-lt"/>
              <a:buAutoNum type="alphaLcParenR"/>
            </a:pPr>
            <a:r>
              <a:rPr lang="en-US" sz="1400" dirty="0">
                <a:solidFill>
                  <a:schemeClr val="accent1">
                    <a:lumMod val="75000"/>
                  </a:schemeClr>
                </a:solidFill>
              </a:rPr>
              <a:t>Email</a:t>
            </a:r>
          </a:p>
          <a:p>
            <a:pPr marL="800100" lvl="1" indent="-342900" algn="just">
              <a:lnSpc>
                <a:spcPct val="150000"/>
              </a:lnSpc>
              <a:buFont typeface="+mj-lt"/>
              <a:buAutoNum type="alphaLcParenR"/>
            </a:pPr>
            <a:r>
              <a:rPr lang="en-US" sz="1400" dirty="0">
                <a:solidFill>
                  <a:schemeClr val="accent1">
                    <a:lumMod val="75000"/>
                  </a:schemeClr>
                </a:solidFill>
              </a:rPr>
              <a:t>Documents</a:t>
            </a:r>
          </a:p>
          <a:p>
            <a:pPr marL="800100" lvl="1" indent="-342900" algn="just">
              <a:lnSpc>
                <a:spcPct val="150000"/>
              </a:lnSpc>
              <a:buFont typeface="+mj-lt"/>
              <a:buAutoNum type="alphaLcParenR"/>
            </a:pPr>
            <a:r>
              <a:rPr lang="en-US" sz="1400" dirty="0">
                <a:solidFill>
                  <a:schemeClr val="accent1">
                    <a:lumMod val="75000"/>
                  </a:schemeClr>
                </a:solidFill>
              </a:rPr>
              <a:t>One Drive</a:t>
            </a:r>
          </a:p>
        </p:txBody>
      </p:sp>
    </p:spTree>
    <p:custDataLst>
      <p:tags r:id="rId1"/>
    </p:custDataLst>
    <p:extLst>
      <p:ext uri="{BB962C8B-B14F-4D97-AF65-F5344CB8AC3E}">
        <p14:creationId xmlns:p14="http://schemas.microsoft.com/office/powerpoint/2010/main" val="632202770"/>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304800"/>
            <a:ext cx="8229600" cy="1399032"/>
          </a:xfrm>
        </p:spPr>
        <p:txBody>
          <a:bodyPr/>
          <a:lstStyle/>
          <a:p>
            <a:r>
              <a:rPr lang="en-US" sz="1800" dirty="0" smtClean="0">
                <a:solidFill>
                  <a:srgbClr val="C00000"/>
                </a:solidFill>
                <a:latin typeface="Comic Sans MS" panose="030F0702030302020204" pitchFamily="66" charset="0"/>
              </a:rPr>
              <a:t>Quick “In class Mock test”</a:t>
            </a:r>
            <a:endParaRPr lang="en-US" sz="1800" dirty="0">
              <a:solidFill>
                <a:srgbClr val="C00000"/>
              </a:solidFill>
              <a:latin typeface="Comic Sans MS" panose="030F0702030302020204" pitchFamily="66" charset="0"/>
            </a:endParaRPr>
          </a:p>
        </p:txBody>
      </p:sp>
      <p:pic>
        <p:nvPicPr>
          <p:cNvPr id="4" name="Picture 3">
            <a:extLst>
              <a:ext uri="{FF2B5EF4-FFF2-40B4-BE49-F238E27FC236}">
                <a16:creationId xmlns:a16="http://schemas.microsoft.com/office/drawing/2014/main" id="{E7591D7E-A1FF-427B-B0E9-2DF81BE31B86}"/>
              </a:ext>
            </a:extLst>
          </p:cNvPr>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7650975" y="161204"/>
            <a:ext cx="1410161" cy="1611612"/>
          </a:xfrm>
          <a:prstGeom prst="rect">
            <a:avLst/>
          </a:prstGeom>
        </p:spPr>
      </p:pic>
      <p:sp>
        <p:nvSpPr>
          <p:cNvPr id="5" name="Rectangle 4"/>
          <p:cNvSpPr/>
          <p:nvPr/>
        </p:nvSpPr>
        <p:spPr>
          <a:xfrm>
            <a:off x="609600" y="2438400"/>
            <a:ext cx="7924800" cy="1775935"/>
          </a:xfrm>
          <a:prstGeom prst="rect">
            <a:avLst/>
          </a:prstGeom>
        </p:spPr>
        <p:txBody>
          <a:bodyPr wrap="square">
            <a:spAutoFit/>
          </a:bodyPr>
          <a:lstStyle/>
          <a:p>
            <a:pPr algn="just"/>
            <a:r>
              <a:rPr lang="en-US" sz="1400" dirty="0">
                <a:solidFill>
                  <a:schemeClr val="accent1">
                    <a:lumMod val="75000"/>
                  </a:schemeClr>
                </a:solidFill>
              </a:rPr>
              <a:t>What are </a:t>
            </a:r>
            <a:r>
              <a:rPr lang="en-US" sz="1400" dirty="0" smtClean="0">
                <a:solidFill>
                  <a:schemeClr val="accent1">
                    <a:lumMod val="75000"/>
                  </a:schemeClr>
                </a:solidFill>
              </a:rPr>
              <a:t>the </a:t>
            </a:r>
            <a:r>
              <a:rPr lang="en-US" sz="1400" dirty="0">
                <a:solidFill>
                  <a:schemeClr val="accent1">
                    <a:lumMod val="75000"/>
                  </a:schemeClr>
                </a:solidFill>
              </a:rPr>
              <a:t>advantages of One Drive</a:t>
            </a:r>
            <a:r>
              <a:rPr lang="en-US" sz="1400" dirty="0" smtClean="0">
                <a:solidFill>
                  <a:schemeClr val="accent1">
                    <a:lumMod val="75000"/>
                  </a:schemeClr>
                </a:solidFill>
              </a:rPr>
              <a:t>?</a:t>
            </a:r>
          </a:p>
          <a:p>
            <a:pPr algn="just"/>
            <a:endParaRPr lang="en-US" sz="1400" dirty="0">
              <a:solidFill>
                <a:schemeClr val="accent1">
                  <a:lumMod val="75000"/>
                </a:schemeClr>
              </a:solidFill>
            </a:endParaRPr>
          </a:p>
          <a:p>
            <a:pPr marL="800100" lvl="1" indent="-342900" algn="just">
              <a:lnSpc>
                <a:spcPct val="150000"/>
              </a:lnSpc>
              <a:buFont typeface="+mj-lt"/>
              <a:buAutoNum type="alphaLcParenR"/>
            </a:pPr>
            <a:r>
              <a:rPr lang="en-US" sz="1400" dirty="0" smtClean="0">
                <a:solidFill>
                  <a:schemeClr val="accent1">
                    <a:lumMod val="75000"/>
                  </a:schemeClr>
                </a:solidFill>
              </a:rPr>
              <a:t>Download </a:t>
            </a:r>
            <a:r>
              <a:rPr lang="en-US" sz="1400" dirty="0">
                <a:solidFill>
                  <a:schemeClr val="accent1">
                    <a:lumMod val="75000"/>
                  </a:schemeClr>
                </a:solidFill>
              </a:rPr>
              <a:t>Files</a:t>
            </a:r>
          </a:p>
          <a:p>
            <a:pPr marL="800100" lvl="1" indent="-342900" algn="just">
              <a:lnSpc>
                <a:spcPct val="150000"/>
              </a:lnSpc>
              <a:buFont typeface="+mj-lt"/>
              <a:buAutoNum type="alphaLcParenR"/>
            </a:pPr>
            <a:r>
              <a:rPr lang="en-US" sz="1400" dirty="0">
                <a:solidFill>
                  <a:schemeClr val="accent1">
                    <a:lumMod val="75000"/>
                  </a:schemeClr>
                </a:solidFill>
              </a:rPr>
              <a:t>Upload Files</a:t>
            </a:r>
          </a:p>
          <a:p>
            <a:pPr marL="800100" lvl="1" indent="-342900" algn="just">
              <a:lnSpc>
                <a:spcPct val="150000"/>
              </a:lnSpc>
              <a:buFont typeface="+mj-lt"/>
              <a:buAutoNum type="alphaLcParenR"/>
            </a:pPr>
            <a:r>
              <a:rPr lang="en-US" sz="1400" dirty="0">
                <a:solidFill>
                  <a:schemeClr val="accent1">
                    <a:lumMod val="75000"/>
                  </a:schemeClr>
                </a:solidFill>
              </a:rPr>
              <a:t>Create Documents Online</a:t>
            </a:r>
          </a:p>
          <a:p>
            <a:pPr marL="800100" lvl="1" indent="-342900" algn="just">
              <a:lnSpc>
                <a:spcPct val="150000"/>
              </a:lnSpc>
              <a:buFont typeface="+mj-lt"/>
              <a:buAutoNum type="alphaLcParenR"/>
            </a:pPr>
            <a:r>
              <a:rPr lang="en-US" sz="1400" dirty="0">
                <a:solidFill>
                  <a:schemeClr val="accent1">
                    <a:lumMod val="75000"/>
                  </a:schemeClr>
                </a:solidFill>
              </a:rPr>
              <a:t>Edit &amp; Share without having to download</a:t>
            </a:r>
          </a:p>
        </p:txBody>
      </p:sp>
    </p:spTree>
    <p:custDataLst>
      <p:tags r:id="rId1"/>
    </p:custDataLst>
    <p:extLst>
      <p:ext uri="{BB962C8B-B14F-4D97-AF65-F5344CB8AC3E}">
        <p14:creationId xmlns:p14="http://schemas.microsoft.com/office/powerpoint/2010/main" val="3483912697"/>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Rot="1" noChangeArrowheads="1"/>
          </p:cNvSpPr>
          <p:nvPr>
            <p:ph type="title"/>
          </p:nvPr>
        </p:nvSpPr>
        <p:spPr>
          <a:xfrm>
            <a:off x="304800" y="304800"/>
            <a:ext cx="8229600" cy="494506"/>
          </a:xfrm>
        </p:spPr>
        <p:txBody>
          <a:bodyPr/>
          <a:lstStyle/>
          <a:p>
            <a:pPr>
              <a:defRPr/>
            </a:pPr>
            <a:r>
              <a:rPr lang="en-US" sz="1800" dirty="0" smtClean="0">
                <a:solidFill>
                  <a:srgbClr val="C00000"/>
                </a:solidFill>
                <a:latin typeface="Comic Sans MS" panose="030F0702030302020204" pitchFamily="66" charset="0"/>
              </a:rPr>
              <a:t>Useful links</a:t>
            </a:r>
            <a:endParaRPr lang="en-US" sz="1800" b="1" u="sng" dirty="0" smtClean="0">
              <a:solidFill>
                <a:srgbClr val="C00000"/>
              </a:solidFill>
              <a:latin typeface="Comic Sans MS" panose="030F0702030302020204" pitchFamily="66" charset="0"/>
            </a:endParaRPr>
          </a:p>
        </p:txBody>
      </p:sp>
      <p:sp>
        <p:nvSpPr>
          <p:cNvPr id="2" name="Rectangle 1"/>
          <p:cNvSpPr/>
          <p:nvPr/>
        </p:nvSpPr>
        <p:spPr>
          <a:xfrm>
            <a:off x="990600" y="1524000"/>
            <a:ext cx="7010400" cy="4185761"/>
          </a:xfrm>
          <a:prstGeom prst="rect">
            <a:avLst/>
          </a:prstGeom>
        </p:spPr>
        <p:txBody>
          <a:bodyPr wrap="square">
            <a:spAutoFit/>
          </a:bodyPr>
          <a:lstStyle/>
          <a:p>
            <a:endParaRPr lang="en-US" sz="1400" dirty="0">
              <a:solidFill>
                <a:schemeClr val="accent1">
                  <a:lumMod val="75000"/>
                </a:schemeClr>
              </a:solidFill>
              <a:hlinkClick r:id=""/>
            </a:endParaRPr>
          </a:p>
          <a:p>
            <a:pPr algn="ctr"/>
            <a:endParaRPr lang="en-US" sz="1400" b="1" dirty="0" smtClean="0"/>
          </a:p>
          <a:p>
            <a:pPr algn="ctr"/>
            <a:r>
              <a:rPr lang="en-US" sz="1400" b="1" dirty="0" smtClean="0">
                <a:solidFill>
                  <a:schemeClr val="accent1">
                    <a:lumMod val="75000"/>
                  </a:schemeClr>
                </a:solidFill>
              </a:rPr>
              <a:t>Basics </a:t>
            </a:r>
            <a:r>
              <a:rPr lang="en-US" sz="1400" b="1" dirty="0">
                <a:solidFill>
                  <a:schemeClr val="accent1">
                    <a:lumMod val="75000"/>
                  </a:schemeClr>
                </a:solidFill>
              </a:rPr>
              <a:t>of </a:t>
            </a:r>
            <a:r>
              <a:rPr lang="en-US" sz="1400" b="1" dirty="0" err="1">
                <a:solidFill>
                  <a:schemeClr val="accent1">
                    <a:lumMod val="75000"/>
                  </a:schemeClr>
                </a:solidFill>
              </a:rPr>
              <a:t>Zoho</a:t>
            </a:r>
            <a:r>
              <a:rPr lang="en-US" sz="1400" b="1" dirty="0">
                <a:solidFill>
                  <a:schemeClr val="accent1">
                    <a:lumMod val="75000"/>
                  </a:schemeClr>
                </a:solidFill>
              </a:rPr>
              <a:t> </a:t>
            </a:r>
            <a:r>
              <a:rPr lang="en-US" sz="1400" b="1" dirty="0" smtClean="0">
                <a:solidFill>
                  <a:schemeClr val="accent1">
                    <a:lumMod val="75000"/>
                  </a:schemeClr>
                </a:solidFill>
              </a:rPr>
              <a:t>CRM</a:t>
            </a:r>
          </a:p>
          <a:p>
            <a:pPr algn="ctr"/>
            <a:endParaRPr lang="en-US" sz="1400" b="1" dirty="0">
              <a:solidFill>
                <a:schemeClr val="accent1">
                  <a:lumMod val="75000"/>
                </a:schemeClr>
              </a:solidFill>
            </a:endParaRPr>
          </a:p>
          <a:p>
            <a:pPr algn="ctr"/>
            <a:r>
              <a:rPr lang="en-US" sz="1400" dirty="0" smtClean="0">
                <a:solidFill>
                  <a:schemeClr val="accent1">
                    <a:lumMod val="75000"/>
                  </a:schemeClr>
                </a:solidFill>
                <a:hlinkClick r:id="rId2"/>
              </a:rPr>
              <a:t>https</a:t>
            </a:r>
            <a:r>
              <a:rPr lang="en-US" sz="1400" dirty="0">
                <a:solidFill>
                  <a:schemeClr val="accent1">
                    <a:lumMod val="75000"/>
                  </a:schemeClr>
                </a:solidFill>
                <a:hlinkClick r:id="rId2"/>
              </a:rPr>
              <a:t>://</a:t>
            </a:r>
            <a:r>
              <a:rPr lang="en-US" sz="1400" dirty="0" smtClean="0">
                <a:solidFill>
                  <a:schemeClr val="accent1">
                    <a:lumMod val="75000"/>
                  </a:schemeClr>
                </a:solidFill>
                <a:hlinkClick r:id="rId2"/>
              </a:rPr>
              <a:t>www.youtube.com/watch?v=x2SuRIFjimI</a:t>
            </a:r>
            <a:endParaRPr lang="en-US" sz="1400" dirty="0" smtClean="0">
              <a:solidFill>
                <a:schemeClr val="accent1">
                  <a:lumMod val="75000"/>
                </a:schemeClr>
              </a:solidFill>
            </a:endParaRPr>
          </a:p>
          <a:p>
            <a:pPr algn="ctr"/>
            <a:endParaRPr lang="en-US" sz="1400" dirty="0">
              <a:solidFill>
                <a:schemeClr val="accent1">
                  <a:lumMod val="75000"/>
                </a:schemeClr>
              </a:solidFill>
            </a:endParaRPr>
          </a:p>
          <a:p>
            <a:pPr algn="ctr"/>
            <a:endParaRPr lang="en-US" sz="1400" dirty="0" smtClean="0">
              <a:solidFill>
                <a:schemeClr val="accent1">
                  <a:lumMod val="75000"/>
                </a:schemeClr>
              </a:solidFill>
            </a:endParaRPr>
          </a:p>
          <a:p>
            <a:pPr algn="ctr"/>
            <a:r>
              <a:rPr lang="en-US" sz="1400" dirty="0">
                <a:solidFill>
                  <a:schemeClr val="accent1">
                    <a:lumMod val="75000"/>
                  </a:schemeClr>
                </a:solidFill>
                <a:hlinkClick r:id="rId3"/>
              </a:rPr>
              <a:t>Microsoft Copilot for </a:t>
            </a:r>
            <a:r>
              <a:rPr lang="en-US" sz="1400" dirty="0" smtClean="0">
                <a:solidFill>
                  <a:schemeClr val="accent1">
                    <a:lumMod val="75000"/>
                  </a:schemeClr>
                </a:solidFill>
                <a:hlinkClick r:id="rId3"/>
              </a:rPr>
              <a:t>Service</a:t>
            </a:r>
            <a:endParaRPr lang="en-US" sz="1400" dirty="0">
              <a:solidFill>
                <a:schemeClr val="accent1">
                  <a:lumMod val="75000"/>
                </a:schemeClr>
              </a:solidFill>
            </a:endParaRPr>
          </a:p>
          <a:p>
            <a:pPr algn="ctr"/>
            <a:r>
              <a:rPr lang="en-US" sz="1400" dirty="0" smtClean="0">
                <a:solidFill>
                  <a:schemeClr val="accent1">
                    <a:lumMod val="75000"/>
                  </a:schemeClr>
                </a:solidFill>
                <a:hlinkClick r:id="rId4"/>
              </a:rPr>
              <a:t>https</a:t>
            </a:r>
            <a:r>
              <a:rPr lang="en-US" sz="1400" dirty="0">
                <a:solidFill>
                  <a:schemeClr val="accent1">
                    <a:lumMod val="75000"/>
                  </a:schemeClr>
                </a:solidFill>
                <a:hlinkClick r:id="rId4"/>
              </a:rPr>
              <a:t>://</a:t>
            </a:r>
            <a:r>
              <a:rPr lang="en-US" sz="1400" dirty="0" smtClean="0">
                <a:solidFill>
                  <a:schemeClr val="accent1">
                    <a:lumMod val="75000"/>
                  </a:schemeClr>
                </a:solidFill>
                <a:hlinkClick r:id="rId4"/>
              </a:rPr>
              <a:t>www.youtube.com/channel/UCJGCg4rB3QSs8y_1FquelBQ</a:t>
            </a:r>
            <a:endParaRPr lang="en-US" sz="1400" dirty="0" smtClean="0">
              <a:solidFill>
                <a:schemeClr val="accent1">
                  <a:lumMod val="75000"/>
                </a:schemeClr>
              </a:solidFill>
            </a:endParaRPr>
          </a:p>
          <a:p>
            <a:pPr algn="ctr"/>
            <a:endParaRPr lang="en-US" sz="1400" dirty="0" smtClean="0">
              <a:solidFill>
                <a:schemeClr val="accent1">
                  <a:lumMod val="75000"/>
                </a:schemeClr>
              </a:solidFill>
            </a:endParaRPr>
          </a:p>
          <a:p>
            <a:pPr algn="ctr"/>
            <a:r>
              <a:rPr lang="en-US" sz="1400" b="1" dirty="0" smtClean="0">
                <a:solidFill>
                  <a:schemeClr val="accent1">
                    <a:lumMod val="75000"/>
                  </a:schemeClr>
                </a:solidFill>
              </a:rPr>
              <a:t>Microsoft </a:t>
            </a:r>
            <a:r>
              <a:rPr lang="en-US" sz="1400" b="1" dirty="0">
                <a:solidFill>
                  <a:schemeClr val="accent1">
                    <a:lumMod val="75000"/>
                  </a:schemeClr>
                </a:solidFill>
              </a:rPr>
              <a:t>Viva Sales generative AI </a:t>
            </a:r>
            <a:r>
              <a:rPr lang="en-US" sz="1400" b="1" dirty="0" smtClean="0">
                <a:solidFill>
                  <a:schemeClr val="accent1">
                    <a:lumMod val="75000"/>
                  </a:schemeClr>
                </a:solidFill>
              </a:rPr>
              <a:t>experience</a:t>
            </a:r>
          </a:p>
          <a:p>
            <a:pPr algn="ctr"/>
            <a:endParaRPr lang="en-US" sz="1400" dirty="0">
              <a:solidFill>
                <a:schemeClr val="accent1">
                  <a:lumMod val="75000"/>
                </a:schemeClr>
              </a:solidFill>
            </a:endParaRPr>
          </a:p>
          <a:p>
            <a:pPr algn="ctr"/>
            <a:r>
              <a:rPr lang="en-US" sz="1400" dirty="0" smtClean="0">
                <a:solidFill>
                  <a:schemeClr val="accent1">
                    <a:lumMod val="75000"/>
                  </a:schemeClr>
                </a:solidFill>
                <a:hlinkClick r:id="rId5"/>
              </a:rPr>
              <a:t>https</a:t>
            </a:r>
            <a:r>
              <a:rPr lang="en-US" sz="1400" dirty="0">
                <a:solidFill>
                  <a:schemeClr val="accent1">
                    <a:lumMod val="75000"/>
                  </a:schemeClr>
                </a:solidFill>
                <a:hlinkClick r:id="rId5"/>
              </a:rPr>
              <a:t>://</a:t>
            </a:r>
            <a:r>
              <a:rPr lang="en-US" sz="1400" dirty="0" smtClean="0">
                <a:solidFill>
                  <a:schemeClr val="accent1">
                    <a:lumMod val="75000"/>
                  </a:schemeClr>
                </a:solidFill>
                <a:hlinkClick r:id="rId5"/>
              </a:rPr>
              <a:t>www.youtube.com/watch?v=xBJByeiLwEQ&amp;list=PLcakwueIHoT-ErQZPP80qNKuEAr0wAAD9&amp;index=2</a:t>
            </a:r>
            <a:endParaRPr lang="en-US" sz="1400" dirty="0" smtClean="0">
              <a:solidFill>
                <a:schemeClr val="accent1">
                  <a:lumMod val="75000"/>
                </a:schemeClr>
              </a:solidFill>
            </a:endParaRPr>
          </a:p>
          <a:p>
            <a:pPr algn="ctr"/>
            <a:endParaRPr lang="en-US" sz="1400" dirty="0" smtClean="0">
              <a:solidFill>
                <a:schemeClr val="accent1">
                  <a:lumMod val="75000"/>
                </a:schemeClr>
              </a:solidFill>
            </a:endParaRPr>
          </a:p>
          <a:p>
            <a:pPr algn="ctr"/>
            <a:r>
              <a:rPr lang="en-US" sz="1400" dirty="0">
                <a:solidFill>
                  <a:schemeClr val="accent1">
                    <a:lumMod val="75000"/>
                  </a:schemeClr>
                </a:solidFill>
                <a:hlinkClick r:id="rId6"/>
              </a:rPr>
              <a:t>https://</a:t>
            </a:r>
            <a:r>
              <a:rPr lang="en-US" sz="1400" dirty="0" smtClean="0">
                <a:solidFill>
                  <a:schemeClr val="accent1">
                    <a:lumMod val="75000"/>
                  </a:schemeClr>
                </a:solidFill>
                <a:hlinkClick r:id="rId6"/>
              </a:rPr>
              <a:t>www.microsoft.com/en-us/dynamics-365#modal-12</a:t>
            </a:r>
            <a:endParaRPr lang="en-US" sz="1400" dirty="0" smtClean="0">
              <a:solidFill>
                <a:schemeClr val="accent1">
                  <a:lumMod val="75000"/>
                </a:schemeClr>
              </a:solidFill>
            </a:endParaRPr>
          </a:p>
          <a:p>
            <a:pPr algn="ctr"/>
            <a:endParaRPr lang="en-US" sz="1400" dirty="0">
              <a:solidFill>
                <a:schemeClr val="accent1">
                  <a:lumMod val="75000"/>
                </a:schemeClr>
              </a:solidFill>
            </a:endParaRPr>
          </a:p>
          <a:p>
            <a:pPr algn="ctr"/>
            <a:r>
              <a:rPr lang="en-US" sz="1400" dirty="0">
                <a:solidFill>
                  <a:schemeClr val="accent1">
                    <a:lumMod val="75000"/>
                  </a:schemeClr>
                </a:solidFill>
                <a:hlinkClick r:id="rId7"/>
              </a:rPr>
              <a:t>https://www.microsoft.com/en-us/dynamics-365#modal-2</a:t>
            </a:r>
            <a:endParaRPr lang="en-US" sz="1400" dirty="0">
              <a:solidFill>
                <a:schemeClr val="accent1">
                  <a:lumMod val="75000"/>
                </a:schemeClr>
              </a:solidFill>
            </a:endParaRPr>
          </a:p>
          <a:p>
            <a:pPr algn="ctr"/>
            <a:endParaRPr lang="en-US" sz="1400" dirty="0">
              <a:solidFill>
                <a:schemeClr val="accent1">
                  <a:lumMod val="75000"/>
                </a:schemeClr>
              </a:solidFill>
            </a:endParaRPr>
          </a:p>
        </p:txBody>
      </p:sp>
    </p:spTree>
    <p:extLst>
      <p:ext uri="{BB962C8B-B14F-4D97-AF65-F5344CB8AC3E}">
        <p14:creationId xmlns:p14="http://schemas.microsoft.com/office/powerpoint/2010/main" val="282663534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Rectangle 3"/>
          <p:cNvSpPr>
            <a:spLocks noGrp="1" noRot="1" noChangeArrowheads="1"/>
          </p:cNvSpPr>
          <p:nvPr>
            <p:ph type="body" idx="1"/>
          </p:nvPr>
        </p:nvSpPr>
        <p:spPr>
          <a:xfrm>
            <a:off x="698090" y="3124200"/>
            <a:ext cx="8001000" cy="1143000"/>
          </a:xfrm>
        </p:spPr>
        <p:txBody>
          <a:bodyPr/>
          <a:lstStyle/>
          <a:p>
            <a:pPr marL="0" indent="0" algn="ctr">
              <a:buNone/>
            </a:pPr>
            <a:r>
              <a:rPr lang="en-US" sz="1400" b="1" dirty="0" smtClean="0"/>
              <a:t>Thank </a:t>
            </a:r>
            <a:r>
              <a:rPr lang="en-US" sz="1400" b="1" dirty="0"/>
              <a:t>y</a:t>
            </a:r>
            <a:r>
              <a:rPr lang="en-US" sz="1400" b="1" dirty="0" smtClean="0"/>
              <a:t>ou for your attention!</a:t>
            </a:r>
            <a:endParaRPr lang="en-US" sz="1400" b="1" dirty="0"/>
          </a:p>
        </p:txBody>
      </p:sp>
    </p:spTree>
    <p:extLst>
      <p:ext uri="{BB962C8B-B14F-4D97-AF65-F5344CB8AC3E}">
        <p14:creationId xmlns:p14="http://schemas.microsoft.com/office/powerpoint/2010/main" val="2929430128"/>
      </p:ext>
    </p:extLst>
  </p:cSld>
  <p:clrMapOvr>
    <a:masterClrMapping/>
  </p:clrMapOvr>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Presentation slides">
  <a:themeElements>
    <a:clrScheme name="Deloitte 2008">
      <a:dk1>
        <a:srgbClr val="000000"/>
      </a:dk1>
      <a:lt1>
        <a:srgbClr val="FFFFFF"/>
      </a:lt1>
      <a:dk2>
        <a:srgbClr val="002776"/>
      </a:dk2>
      <a:lt2>
        <a:srgbClr val="FFFFFF"/>
      </a:lt2>
      <a:accent1>
        <a:srgbClr val="002776"/>
      </a:accent1>
      <a:accent2>
        <a:srgbClr val="92D400"/>
      </a:accent2>
      <a:accent3>
        <a:srgbClr val="00A1DE"/>
      </a:accent3>
      <a:accent4>
        <a:srgbClr val="3C8A2E"/>
      </a:accent4>
      <a:accent5>
        <a:srgbClr val="72C7E7"/>
      </a:accent5>
      <a:accent6>
        <a:srgbClr val="C9DD03"/>
      </a:accent6>
      <a:hlink>
        <a:srgbClr val="00A1DE"/>
      </a:hlink>
      <a:folHlink>
        <a:srgbClr val="72C7E7"/>
      </a:folHlink>
    </a:clrScheme>
    <a:fontScheme name="18_Blank">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rgbClr val="FFFFFF">
            <a:lumMod val="95000"/>
          </a:srgbClr>
        </a:solidFill>
        <a:ln>
          <a:solidFill>
            <a:srgbClr val="FFFFFF">
              <a:lumMod val="75000"/>
            </a:srgbClr>
          </a:solidFill>
        </a:ln>
      </a:spPr>
      <a:bodyPr wrap="square" lIns="91428" tIns="45715" rIns="91428" bIns="45715" rtlCol="0">
        <a:noAutofit/>
      </a:bodyPr>
      <a:lstStyle>
        <a:defPPr marL="182553" indent="-182553" algn="just" defTabSz="623853" rtl="0" fontAlgn="base">
          <a:lnSpc>
            <a:spcPts val="1100"/>
          </a:lnSpc>
          <a:spcBef>
            <a:spcPct val="0"/>
          </a:spcBef>
          <a:spcAft>
            <a:spcPct val="0"/>
          </a:spcAft>
          <a:buClr>
            <a:srgbClr val="000000"/>
          </a:buClr>
          <a:buFont typeface="Wingdings 3" pitchFamily="18" charset="2"/>
          <a:buChar char="}"/>
          <a:defRPr sz="1200" kern="1200" dirty="0">
            <a:solidFill>
              <a:srgbClr val="0C2870"/>
            </a:solidFill>
            <a:latin typeface="Arial" charset="0"/>
            <a:ea typeface="+mn-ea"/>
            <a:cs typeface="Times New Roman" pitchFamily="18" charset="0"/>
          </a:defRPr>
        </a:defPPr>
      </a:lstStyle>
    </a:spDef>
  </a:objectDefaults>
  <a:extraClrSchemeLst>
    <a:extraClrScheme>
      <a:clrScheme name="18_Blank 1">
        <a:dk1>
          <a:srgbClr val="000000"/>
        </a:dk1>
        <a:lt1>
          <a:srgbClr val="FFFFFF"/>
        </a:lt1>
        <a:dk2>
          <a:srgbClr val="002776"/>
        </a:dk2>
        <a:lt2>
          <a:srgbClr val="FFFFFF"/>
        </a:lt2>
        <a:accent1>
          <a:srgbClr val="002776"/>
        </a:accent1>
        <a:accent2>
          <a:srgbClr val="92D400"/>
        </a:accent2>
        <a:accent3>
          <a:srgbClr val="FFFFFF"/>
        </a:accent3>
        <a:accent4>
          <a:srgbClr val="000000"/>
        </a:accent4>
        <a:accent5>
          <a:srgbClr val="AAACBD"/>
        </a:accent5>
        <a:accent6>
          <a:srgbClr val="84C000"/>
        </a:accent6>
        <a:hlink>
          <a:srgbClr val="00A1DE"/>
        </a:hlink>
        <a:folHlink>
          <a:srgbClr val="72C7E7"/>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23970</TotalTime>
  <Words>2247</Words>
  <Application>Microsoft Office PowerPoint</Application>
  <PresentationFormat>On-screen Show (4:3)</PresentationFormat>
  <Paragraphs>98</Paragraphs>
  <Slides>20</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20</vt:i4>
      </vt:variant>
    </vt:vector>
  </HeadingPairs>
  <TitlesOfParts>
    <vt:vector size="26" baseType="lpstr">
      <vt:lpstr>Arial</vt:lpstr>
      <vt:lpstr>Calibri</vt:lpstr>
      <vt:lpstr>Comic Sans MS</vt:lpstr>
      <vt:lpstr>Times New Roman</vt:lpstr>
      <vt:lpstr>Wingdings 3</vt:lpstr>
      <vt:lpstr>Presentation slides</vt:lpstr>
      <vt:lpstr>PowerPoint Presentation</vt:lpstr>
      <vt:lpstr>Microsoft One Drive</vt:lpstr>
      <vt:lpstr>One Drive</vt:lpstr>
      <vt:lpstr>Saving Oﬃce application ﬁles to the cloud</vt:lpstr>
      <vt:lpstr>Saving Oﬃce application ﬁles to the cloud (cont.)</vt:lpstr>
      <vt:lpstr>Saving a ﬁle to OneDrive or OneDrive for Business</vt:lpstr>
      <vt:lpstr>Sharing a file saved to the cloud</vt:lpstr>
      <vt:lpstr>Sharing a file saved to the cloud</vt:lpstr>
      <vt:lpstr>Using the Word Online app</vt:lpstr>
      <vt:lpstr>The Word Online app’ s File tab</vt:lpstr>
      <vt:lpstr>Working in the Excel Online app</vt:lpstr>
      <vt:lpstr>Inserting functions and charts in the Excel Online app</vt:lpstr>
      <vt:lpstr>Inserting functions and charts in the Excel Online app (cont.)</vt:lpstr>
      <vt:lpstr>Inserting functions and charts in the Excel Online app</vt:lpstr>
      <vt:lpstr>Quick “In class Mock test”</vt:lpstr>
      <vt:lpstr>Quick “In class Mock test”</vt:lpstr>
      <vt:lpstr>Quick “In class Mock test”</vt:lpstr>
      <vt:lpstr>Quick “In class Mock test”</vt:lpstr>
      <vt:lpstr>Useful links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Aurelien</dc:creator>
  <cp:lastModifiedBy>MS</cp:lastModifiedBy>
  <cp:revision>2936</cp:revision>
  <dcterms:created xsi:type="dcterms:W3CDTF">2013-11-13T03:56:02Z</dcterms:created>
  <dcterms:modified xsi:type="dcterms:W3CDTF">2024-09-08T22:12:21Z</dcterms:modified>
</cp:coreProperties>
</file>