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33"/>
  </p:notesMasterIdLst>
  <p:handoutMasterIdLst>
    <p:handoutMasterId r:id="rId34"/>
  </p:handoutMasterIdLst>
  <p:sldIdLst>
    <p:sldId id="1086" r:id="rId2"/>
    <p:sldId id="1754" r:id="rId3"/>
    <p:sldId id="2316" r:id="rId4"/>
    <p:sldId id="2362" r:id="rId5"/>
    <p:sldId id="2417" r:id="rId6"/>
    <p:sldId id="2418" r:id="rId7"/>
    <p:sldId id="2364" r:id="rId8"/>
    <p:sldId id="2419" r:id="rId9"/>
    <p:sldId id="2420" r:id="rId10"/>
    <p:sldId id="2363" r:id="rId11"/>
    <p:sldId id="2421" r:id="rId12"/>
    <p:sldId id="2438" r:id="rId13"/>
    <p:sldId id="2422" r:id="rId14"/>
    <p:sldId id="2439" r:id="rId15"/>
    <p:sldId id="2368" r:id="rId16"/>
    <p:sldId id="2423" r:id="rId17"/>
    <p:sldId id="2424" r:id="rId18"/>
    <p:sldId id="2369" r:id="rId19"/>
    <p:sldId id="2426" r:id="rId20"/>
    <p:sldId id="2427" r:id="rId21"/>
    <p:sldId id="2428" r:id="rId22"/>
    <p:sldId id="2429" r:id="rId23"/>
    <p:sldId id="2430" r:id="rId24"/>
    <p:sldId id="2260" r:id="rId25"/>
    <p:sldId id="2436" r:id="rId26"/>
    <p:sldId id="2370" r:id="rId27"/>
    <p:sldId id="2317" r:id="rId28"/>
    <p:sldId id="2343" r:id="rId29"/>
    <p:sldId id="2372" r:id="rId30"/>
    <p:sldId id="2360" r:id="rId31"/>
    <p:sldId id="1984"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0CA0"/>
    <a:srgbClr val="FFFFFF"/>
    <a:srgbClr val="ECFFC3"/>
    <a:srgbClr val="E16519"/>
    <a:srgbClr val="FAD35B"/>
    <a:srgbClr val="517BA9"/>
    <a:srgbClr val="D80EC0"/>
    <a:srgbClr val="F77DEB"/>
    <a:srgbClr val="F2802A"/>
    <a:srgbClr val="F59E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63" autoAdjust="0"/>
    <p:restoredTop sz="93673" autoAdjust="0"/>
  </p:normalViewPr>
  <p:slideViewPr>
    <p:cSldViewPr>
      <p:cViewPr varScale="1">
        <p:scale>
          <a:sx n="63" d="100"/>
          <a:sy n="63" d="100"/>
        </p:scale>
        <p:origin x="1104" y="5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p:cViewPr varScale="1">
        <p:scale>
          <a:sx n="50" d="100"/>
          <a:sy n="50" d="100"/>
        </p:scale>
        <p:origin x="2708" y="2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73AB8F-406F-4E8A-8176-5DB14D789022}" type="datetimeFigureOut">
              <a:rPr lang="en-US" smtClean="0"/>
              <a:t>9/8/2024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000F6F-FCC4-40B4-A776-0656D3559D45}" type="slidenum">
              <a:rPr lang="en-US" smtClean="0"/>
              <a:t>‹#›</a:t>
            </a:fld>
            <a:endParaRPr lang="en-US"/>
          </a:p>
        </p:txBody>
      </p:sp>
    </p:spTree>
    <p:extLst>
      <p:ext uri="{BB962C8B-B14F-4D97-AF65-F5344CB8AC3E}">
        <p14:creationId xmlns:p14="http://schemas.microsoft.com/office/powerpoint/2010/main" val="194478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t>9/8/2024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t>08/09/67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ODZfwD39gGE"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support.office.com/en-us/article/video-use-conditional-formatting-03ab07da-1564-4913-b69f-2b1a370c8910" TargetMode="External"/><Relationship Id="rId2" Type="http://schemas.openxmlformats.org/officeDocument/2006/relationships/hyperlink" Target="https://support.office.com/en-us/article/video-sort-data-in-a-range-or-table-ffb9fcb0-b9cb-48bf-a15c-8bec9fd3a472" TargetMode="External"/><Relationship Id="rId1" Type="http://schemas.openxmlformats.org/officeDocument/2006/relationships/slideLayout" Target="../slideLayouts/slideLayout2.xml"/><Relationship Id="rId4" Type="http://schemas.openxmlformats.org/officeDocument/2006/relationships/hyperlink" Target="https://support.office.com/en-us/article/video-vlookup-when-and-how-to-use-it-9a86157a-5542-4148-a536-724823014785"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24648" y="3422596"/>
            <a:ext cx="8867736" cy="523220"/>
          </a:xfrm>
          <a:prstGeom prst="rect">
            <a:avLst/>
          </a:prstGeom>
          <a:noFill/>
        </p:spPr>
        <p:txBody>
          <a:bodyPr wrap="square" rtlCol="0">
            <a:spAutoFit/>
          </a:bodyPr>
          <a:lstStyle/>
          <a:p>
            <a:pPr eaLnBrk="0" hangingPunct="0"/>
            <a:r>
              <a:rPr lang="en-US" sz="2800" b="1" dirty="0">
                <a:solidFill>
                  <a:schemeClr val="bg1"/>
                </a:solidFill>
                <a:latin typeface="Comic Sans MS" panose="030F0702030302020204" pitchFamily="66" charset="0"/>
              </a:rPr>
              <a:t>Getting the most from </a:t>
            </a:r>
            <a:r>
              <a:rPr lang="en-US" sz="2800" b="1" dirty="0" smtClean="0">
                <a:solidFill>
                  <a:schemeClr val="bg1"/>
                </a:solidFill>
                <a:latin typeface="Comic Sans MS" panose="030F0702030302020204" pitchFamily="66" charset="0"/>
              </a:rPr>
              <a:t>Excel </a:t>
            </a:r>
            <a:r>
              <a:rPr lang="en-US" sz="1600" b="1" i="1" dirty="0" smtClean="0">
                <a:solidFill>
                  <a:schemeClr val="bg1"/>
                </a:solidFill>
                <a:latin typeface="Comic Sans MS" panose="030F0702030302020204" pitchFamily="66" charset="0"/>
              </a:rPr>
              <a:t>– level II</a:t>
            </a:r>
            <a:endParaRPr lang="en-US" sz="1600" i="1" dirty="0">
              <a:solidFill>
                <a:schemeClr val="bg1"/>
              </a:solidFill>
              <a:latin typeface="Comic Sans MS" panose="030F0702030302020204" pitchFamily="66" charset="0"/>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a:t>
            </a:r>
            <a:r>
              <a:rPr lang="en-US" b="1" smtClean="0">
                <a:solidFill>
                  <a:srgbClr val="002060"/>
                </a:solidFill>
              </a:rPr>
              <a:t>: Business 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11574" y="5410200"/>
            <a:ext cx="7876352" cy="646331"/>
          </a:xfrm>
          <a:prstGeom prst="rect">
            <a:avLst/>
          </a:prstGeom>
          <a:noFill/>
          <a:ln>
            <a:noFill/>
          </a:ln>
        </p:spPr>
        <p:txBody>
          <a:bodyPr wrap="square" rtlCol="0">
            <a:spAutoFit/>
          </a:bodyPr>
          <a:lstStyle/>
          <a:p>
            <a:pPr defTabSz="435356"/>
            <a:endParaRPr lang="en-US" b="1" dirty="0" smtClean="0">
              <a:solidFill>
                <a:srgbClr val="002060"/>
              </a:solidFill>
            </a:endParaRPr>
          </a:p>
          <a:p>
            <a:pPr defTabSz="435356"/>
            <a:r>
              <a:rPr lang="en-US" b="1" dirty="0" smtClean="0">
                <a:solidFill>
                  <a:srgbClr val="002060"/>
                </a:solidFill>
              </a:rPr>
              <a:t>Marija Stanojeska, PhD</a:t>
            </a:r>
          </a:p>
        </p:txBody>
      </p:sp>
    </p:spTree>
    <p:extLst>
      <p:ext uri="{BB962C8B-B14F-4D97-AF65-F5344CB8AC3E}">
        <p14:creationId xmlns:p14="http://schemas.microsoft.com/office/powerpoint/2010/main" val="2995915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228600"/>
            <a:ext cx="9144000" cy="523220"/>
          </a:xfrm>
          <a:prstGeom prst="rect">
            <a:avLst/>
          </a:prstGeom>
          <a:solidFill>
            <a:schemeClr val="bg1">
              <a:lumMod val="95000"/>
            </a:schemeClr>
          </a:solidFill>
        </p:spPr>
        <p:txBody>
          <a:bodyPr wrap="square">
            <a:spAutoFit/>
          </a:bodyPr>
          <a:lstStyle/>
          <a:p>
            <a:pPr algn="ctr"/>
            <a:r>
              <a:rPr lang="en-US" sz="1400" i="1" dirty="0">
                <a:solidFill>
                  <a:schemeClr val="accent1">
                    <a:lumMod val="75000"/>
                  </a:schemeClr>
                </a:solidFill>
              </a:rPr>
              <a:t>Based on the </a:t>
            </a:r>
            <a:r>
              <a:rPr lang="en-US" sz="1400" i="1" dirty="0" smtClean="0">
                <a:solidFill>
                  <a:schemeClr val="accent1">
                    <a:lumMod val="75000"/>
                  </a:schemeClr>
                </a:solidFill>
              </a:rPr>
              <a:t>textbook: </a:t>
            </a:r>
            <a:endParaRPr lang="en-US" sz="1400" i="1" dirty="0">
              <a:solidFill>
                <a:schemeClr val="accent1">
                  <a:lumMod val="75000"/>
                </a:schemeClr>
              </a:solidFill>
            </a:endParaRPr>
          </a:p>
          <a:p>
            <a:pPr algn="ctr"/>
            <a:r>
              <a:rPr lang="en-US" sz="1400" dirty="0">
                <a:solidFill>
                  <a:schemeClr val="accent1">
                    <a:lumMod val="75000"/>
                  </a:schemeClr>
                </a:solidFill>
              </a:rPr>
              <a:t>Microsoft Office Inside Out (Office 2021 and Microsoft 365), J. </a:t>
            </a:r>
            <a:r>
              <a:rPr lang="en-US" sz="1400" dirty="0" err="1">
                <a:solidFill>
                  <a:schemeClr val="accent1">
                    <a:lumMod val="75000"/>
                  </a:schemeClr>
                </a:solidFill>
              </a:rPr>
              <a:t>Habraken</a:t>
            </a:r>
            <a:r>
              <a:rPr lang="en-US" sz="1400" dirty="0">
                <a:solidFill>
                  <a:schemeClr val="accent1">
                    <a:lumMod val="75000"/>
                  </a:schemeClr>
                </a:solidFill>
              </a:rPr>
              <a:t>, Pearson Education, Inc., </a:t>
            </a:r>
            <a:r>
              <a:rPr lang="en-US" sz="1400" dirty="0" smtClean="0">
                <a:solidFill>
                  <a:schemeClr val="accent1">
                    <a:lumMod val="75000"/>
                  </a:schemeClr>
                </a:solidFill>
              </a:rPr>
              <a:t>2022. </a:t>
            </a:r>
            <a:endParaRPr lang="en-US" sz="1400" dirty="0">
              <a:solidFill>
                <a:schemeClr val="accent1">
                  <a:lumMod val="75000"/>
                </a:schemeClr>
              </a:solidFill>
            </a:endParaRPr>
          </a:p>
        </p:txBody>
      </p:sp>
      <p:pic>
        <p:nvPicPr>
          <p:cNvPr id="1026" name="Picture 2" descr="How to use Excel: A beginner's guide | Zap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6553201" cy="327660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Performing calculations in Excel worksheets</a:t>
            </a:r>
          </a:p>
        </p:txBody>
      </p:sp>
      <p:sp>
        <p:nvSpPr>
          <p:cNvPr id="3" name="object 3"/>
          <p:cNvSpPr txBox="1"/>
          <p:nvPr/>
        </p:nvSpPr>
        <p:spPr>
          <a:xfrm>
            <a:off x="609600" y="1447800"/>
            <a:ext cx="7924800" cy="2813591"/>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Excel provides you with two diﬀerent ways to do calculation in your worksheets: formulas and functions. Formulas are do-it- yourself math. You specify the cells to be referenced in the calculation, and you also provide the operators, which determine what kinds of calculations actually take place.</a:t>
            </a:r>
          </a:p>
          <a:p>
            <a:pPr algn="just"/>
            <a:r>
              <a:rPr lang="en-US" sz="1600" dirty="0">
                <a:solidFill>
                  <a:schemeClr val="accent1">
                    <a:lumMod val="75000"/>
                  </a:schemeClr>
                </a:solidFill>
              </a:rPr>
              <a:t>Formulas are best reserved for simple calculations, such as subtraction, multiplication, and division</a:t>
            </a:r>
            <a:r>
              <a:rPr lang="en-US" sz="1600" dirty="0" smtClean="0">
                <a:solidFill>
                  <a:schemeClr val="accent1">
                    <a:lumMod val="75000"/>
                  </a:schemeClr>
                </a:solidFill>
              </a:rPr>
              <a:t>.</a:t>
            </a:r>
            <a:r>
              <a:rPr lang="en-US" sz="1600" dirty="0">
                <a:solidFill>
                  <a:schemeClr val="accent1">
                    <a:lumMod val="75000"/>
                  </a:schemeClr>
                </a:solidFill>
              </a:rPr>
              <a:t> You can show the formulas and/or functions in a sheet by selecting the Show Formulas command. The command is found in the Formula Auditing group on the ribbon’s Formulas tab.</a:t>
            </a:r>
          </a:p>
          <a:p>
            <a:pPr algn="just"/>
            <a:r>
              <a:rPr lang="en-US" sz="1600" dirty="0" smtClean="0">
                <a:solidFill>
                  <a:schemeClr val="accent1">
                    <a:lumMod val="75000"/>
                  </a:schemeClr>
                </a:solidFill>
              </a:rPr>
              <a:t>A </a:t>
            </a:r>
            <a:r>
              <a:rPr lang="en-US" sz="1600" dirty="0">
                <a:solidFill>
                  <a:schemeClr val="accent1">
                    <a:lumMod val="75000"/>
                  </a:schemeClr>
                </a:solidFill>
              </a:rPr>
              <a:t>subtraction formula that subtracts the payment to the instructor (G10) from the Tuition Total for that class (D10).</a:t>
            </a:r>
          </a:p>
          <a:p>
            <a:endParaRPr lang="en-US" altLang="en-US" sz="1600" dirty="0">
              <a:solidFill>
                <a:schemeClr val="accent1">
                  <a:lumMod val="75000"/>
                </a:schemeClr>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112" y="4261391"/>
            <a:ext cx="7459776" cy="2141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88834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Performing calculations in Excel </a:t>
            </a:r>
            <a:r>
              <a:rPr lang="en-US" dirty="0" smtClean="0">
                <a:latin typeface="Comic Sans MS" panose="030F0702030302020204" pitchFamily="66" charset="0"/>
              </a:rPr>
              <a:t>worksheets </a:t>
            </a:r>
            <a:r>
              <a:rPr lang="en-US" sz="1400" b="0" i="1" dirty="0" smtClean="0">
                <a:latin typeface="Comic Sans MS" panose="030F0702030302020204" pitchFamily="66" charset="0"/>
              </a:rPr>
              <a:t>(cont.)</a:t>
            </a:r>
            <a:endParaRPr lang="en-US" sz="1400" b="0" i="1" dirty="0">
              <a:solidFill>
                <a:schemeClr val="accent1">
                  <a:lumMod val="75000"/>
                </a:schemeClr>
              </a:solidFill>
              <a:latin typeface="Comic Sans MS" panose="030F0702030302020204" pitchFamily="66" charset="0"/>
            </a:endParaRPr>
          </a:p>
        </p:txBody>
      </p:sp>
      <p:sp>
        <p:nvSpPr>
          <p:cNvPr id="3" name="object 3"/>
          <p:cNvSpPr txBox="1"/>
          <p:nvPr/>
        </p:nvSpPr>
        <p:spPr>
          <a:xfrm>
            <a:off x="685800" y="1371600"/>
            <a:ext cx="7924800" cy="1490152"/>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Functions, on the other hand, are built-in formulas provided by Excel. The Excel Function Library is huge; it provides nearly 500 functions, grouped into categories that include date and time functions, engineering functions, ﬁnancial functions, math and trigonometry functions, statistical functions, and even text functions. Figure </a:t>
            </a:r>
            <a:r>
              <a:rPr lang="en-US" sz="1600" dirty="0" smtClean="0">
                <a:solidFill>
                  <a:schemeClr val="accent1">
                    <a:lumMod val="75000"/>
                  </a:schemeClr>
                </a:solidFill>
              </a:rPr>
              <a:t>shows </a:t>
            </a:r>
            <a:r>
              <a:rPr lang="en-US" sz="1600" dirty="0">
                <a:solidFill>
                  <a:schemeClr val="accent1">
                    <a:lumMod val="75000"/>
                  </a:schemeClr>
                </a:solidFill>
              </a:rPr>
              <a:t>the PMT function, which is an Excel function used to determine the periodic payment on a loan that has a ﬁxed interest rate.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505200"/>
            <a:ext cx="5181600" cy="2362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66024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Relative </a:t>
            </a:r>
            <a:r>
              <a:rPr lang="en-US" dirty="0" smtClean="0">
                <a:latin typeface="Comic Sans MS" panose="030F0702030302020204" pitchFamily="66" charset="0"/>
              </a:rPr>
              <a:t>referencing</a:t>
            </a:r>
            <a:endParaRPr lang="en-US" dirty="0">
              <a:latin typeface="Comic Sans MS" panose="030F0702030302020204" pitchFamily="66" charset="0"/>
            </a:endParaRPr>
          </a:p>
        </p:txBody>
      </p:sp>
      <p:sp>
        <p:nvSpPr>
          <p:cNvPr id="3" name="object 3"/>
          <p:cNvSpPr txBox="1"/>
          <p:nvPr/>
        </p:nvSpPr>
        <p:spPr>
          <a:xfrm>
            <a:off x="609600" y="1524000"/>
            <a:ext cx="7924800" cy="997709"/>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When </a:t>
            </a:r>
            <a:r>
              <a:rPr lang="en-US" sz="1600" dirty="0">
                <a:solidFill>
                  <a:schemeClr val="accent1">
                    <a:lumMod val="75000"/>
                  </a:schemeClr>
                </a:solidFill>
              </a:rPr>
              <a:t>you create a formula or function and designate cell references, Excel uses a form of referencing called </a:t>
            </a:r>
            <a:r>
              <a:rPr lang="en-US" sz="1600" b="1" dirty="0">
                <a:solidFill>
                  <a:schemeClr val="accent1">
                    <a:lumMod val="75000"/>
                  </a:schemeClr>
                </a:solidFill>
              </a:rPr>
              <a:t>relative referencing</a:t>
            </a:r>
            <a:r>
              <a:rPr lang="en-US" sz="1600" dirty="0">
                <a:solidFill>
                  <a:schemeClr val="accent1">
                    <a:lumMod val="75000"/>
                  </a:schemeClr>
                </a:solidFill>
              </a:rPr>
              <a:t>. When you copy a formula or a function from one cell to another cell, the cell references in the formula or </a:t>
            </a:r>
            <a:r>
              <a:rPr lang="en-US" sz="1600" dirty="0" smtClean="0">
                <a:solidFill>
                  <a:schemeClr val="accent1">
                    <a:lumMod val="75000"/>
                  </a:schemeClr>
                </a:solidFill>
              </a:rPr>
              <a:t>function are rewritten to adjust to its new location.</a:t>
            </a:r>
            <a:endParaRPr lang="en-US" sz="1600" dirty="0">
              <a:solidFill>
                <a:schemeClr val="accent1">
                  <a:lumMod val="75000"/>
                </a:schemeClr>
              </a:solidFill>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276600"/>
            <a:ext cx="7315200" cy="172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03591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Absolute </a:t>
            </a:r>
            <a:r>
              <a:rPr lang="en-US" dirty="0">
                <a:latin typeface="Comic Sans MS" panose="030F0702030302020204" pitchFamily="66" charset="0"/>
              </a:rPr>
              <a:t>referencing</a:t>
            </a:r>
          </a:p>
        </p:txBody>
      </p:sp>
      <p:sp>
        <p:nvSpPr>
          <p:cNvPr id="3" name="object 3"/>
          <p:cNvSpPr txBox="1"/>
          <p:nvPr/>
        </p:nvSpPr>
        <p:spPr>
          <a:xfrm>
            <a:off x="457200" y="1536835"/>
            <a:ext cx="8191500" cy="751488"/>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In some situations, you need to override Excel’s relative referencing so that a formula or function does not change all the cell references when you copy it to a new location. This is where </a:t>
            </a:r>
            <a:r>
              <a:rPr lang="en-US" sz="1600" b="1" dirty="0">
                <a:solidFill>
                  <a:schemeClr val="accent1">
                    <a:lumMod val="75000"/>
                  </a:schemeClr>
                </a:solidFill>
              </a:rPr>
              <a:t>absolute referencing </a:t>
            </a:r>
            <a:r>
              <a:rPr lang="en-US" sz="1600" dirty="0">
                <a:solidFill>
                  <a:schemeClr val="accent1">
                    <a:lumMod val="75000"/>
                  </a:schemeClr>
                </a:solidFill>
              </a:rPr>
              <a:t>comes in.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307" y="3200400"/>
            <a:ext cx="7150693"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153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296172"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Creating and editing formulas</a:t>
            </a:r>
          </a:p>
        </p:txBody>
      </p:sp>
      <p:sp>
        <p:nvSpPr>
          <p:cNvPr id="3" name="object 3"/>
          <p:cNvSpPr txBox="1"/>
          <p:nvPr/>
        </p:nvSpPr>
        <p:spPr>
          <a:xfrm>
            <a:off x="445008" y="1331572"/>
            <a:ext cx="8143772" cy="2228815"/>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Creating formulas in Excel is really straightforward. You specify the cell addresses of the values that you want in the formula </a:t>
            </a:r>
            <a:r>
              <a:rPr lang="en-US" sz="1600" dirty="0" smtClean="0">
                <a:solidFill>
                  <a:schemeClr val="accent1">
                    <a:lumMod val="75000"/>
                  </a:schemeClr>
                </a:solidFill>
              </a:rPr>
              <a:t>and </a:t>
            </a:r>
            <a:r>
              <a:rPr lang="en-US" sz="1600" dirty="0">
                <a:solidFill>
                  <a:schemeClr val="accent1">
                    <a:lumMod val="75000"/>
                  </a:schemeClr>
                </a:solidFill>
              </a:rPr>
              <a:t>then the values in the formula (speciﬁed by cell addresses) are then acted on by the operator or operators that you specify in the formula. When you begin a new formula in a cell, you </a:t>
            </a:r>
            <a:r>
              <a:rPr lang="en-US" sz="1600" dirty="0" smtClean="0">
                <a:solidFill>
                  <a:schemeClr val="accent1">
                    <a:lumMod val="75000"/>
                  </a:schemeClr>
                </a:solidFill>
              </a:rPr>
              <a:t>start </a:t>
            </a:r>
            <a:r>
              <a:rPr lang="en-US" sz="1600" dirty="0">
                <a:solidFill>
                  <a:schemeClr val="accent1">
                    <a:lumMod val="75000"/>
                  </a:schemeClr>
                </a:solidFill>
              </a:rPr>
              <a:t>the formula’s notation with the = sign. This lets Excel know that you are entering a formula. You can then specify the cell addresses for the formula and the required operators.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are specifying that Excel should take the value in C6 and subtract it from the value in B6. The result is returned in the cell where you entered the formula. </a:t>
            </a:r>
            <a:r>
              <a:rPr lang="en-US" sz="1600" dirty="0" smtClean="0">
                <a:solidFill>
                  <a:schemeClr val="accent1">
                    <a:lumMod val="75000"/>
                  </a:schemeClr>
                </a:solidFill>
              </a:rPr>
              <a:t>Table shows </a:t>
            </a:r>
            <a:r>
              <a:rPr lang="en-US" sz="1600" dirty="0">
                <a:solidFill>
                  <a:schemeClr val="accent1">
                    <a:lumMod val="75000"/>
                  </a:schemeClr>
                </a:solidFill>
              </a:rPr>
              <a:t>some of the common arithmetic operators used in Excel formulas.</a:t>
            </a:r>
          </a:p>
        </p:txBody>
      </p:sp>
      <p:graphicFrame>
        <p:nvGraphicFramePr>
          <p:cNvPr id="6" name="Table 5"/>
          <p:cNvGraphicFramePr>
            <a:graphicFrameLocks noGrp="1"/>
          </p:cNvGraphicFramePr>
          <p:nvPr>
            <p:extLst>
              <p:ext uri="{D42A27DB-BD31-4B8C-83A1-F6EECF244321}">
                <p14:modId xmlns:p14="http://schemas.microsoft.com/office/powerpoint/2010/main" val="3306824004"/>
              </p:ext>
            </p:extLst>
          </p:nvPr>
        </p:nvGraphicFramePr>
        <p:xfrm>
          <a:off x="1905000" y="4038600"/>
          <a:ext cx="5410200" cy="223774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227582456"/>
                    </a:ext>
                  </a:extLst>
                </a:gridCol>
                <a:gridCol w="2164537">
                  <a:extLst>
                    <a:ext uri="{9D8B030D-6E8A-4147-A177-3AD203B41FA5}">
                      <a16:colId xmlns:a16="http://schemas.microsoft.com/office/drawing/2014/main" val="2903238835"/>
                    </a:ext>
                  </a:extLst>
                </a:gridCol>
                <a:gridCol w="2026463">
                  <a:extLst>
                    <a:ext uri="{9D8B030D-6E8A-4147-A177-3AD203B41FA5}">
                      <a16:colId xmlns:a16="http://schemas.microsoft.com/office/drawing/2014/main" val="624567422"/>
                    </a:ext>
                  </a:extLst>
                </a:gridCol>
              </a:tblGrid>
              <a:tr h="533400">
                <a:tc>
                  <a:txBody>
                    <a:bodyPr/>
                    <a:lstStyle/>
                    <a:p>
                      <a:pPr marL="5715" marR="0" algn="ctr" eaLnBrk="0" hangingPunct="0">
                        <a:lnSpc>
                          <a:spcPct val="107000"/>
                        </a:lnSpc>
                        <a:spcBef>
                          <a:spcPts val="520"/>
                        </a:spcBef>
                        <a:spcAft>
                          <a:spcPts val="0"/>
                        </a:spcAft>
                      </a:pPr>
                      <a:r>
                        <a:rPr lang="en-US" sz="1400" b="1" dirty="0">
                          <a:solidFill>
                            <a:srgbClr val="C00000"/>
                          </a:solidFill>
                          <a:effectLst/>
                          <a:latin typeface="Comic Sans MS" panose="030F0702030302020204" pitchFamily="66" charset="0"/>
                        </a:rPr>
                        <a:t>Operator</a:t>
                      </a:r>
                      <a:endParaRPr lang="en-US" sz="1200" b="1" dirty="0">
                        <a:solidFill>
                          <a:srgbClr val="C00000"/>
                        </a:solidFill>
                        <a:effectLst/>
                        <a:latin typeface="Comic Sans MS" panose="030F0702030302020204" pitchFamily="66"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0"/>
                        </a:spcBef>
                        <a:spcAft>
                          <a:spcPts val="0"/>
                        </a:spcAft>
                      </a:pPr>
                      <a:r>
                        <a:rPr lang="en-US" sz="1400" b="1" dirty="0">
                          <a:solidFill>
                            <a:srgbClr val="C00000"/>
                          </a:solidFill>
                          <a:effectLst/>
                          <a:latin typeface="Comic Sans MS" panose="030F0702030302020204" pitchFamily="66" charset="0"/>
                        </a:rPr>
                        <a:t>Performs</a:t>
                      </a:r>
                      <a:endParaRPr lang="en-US" sz="1200" b="1" dirty="0">
                        <a:solidFill>
                          <a:srgbClr val="C00000"/>
                        </a:solidFill>
                        <a:effectLst/>
                        <a:latin typeface="Comic Sans MS" panose="030F0702030302020204" pitchFamily="66"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0"/>
                        </a:spcBef>
                        <a:spcAft>
                          <a:spcPts val="0"/>
                        </a:spcAft>
                      </a:pPr>
                      <a:r>
                        <a:rPr lang="en-US" sz="1400" b="1" dirty="0">
                          <a:solidFill>
                            <a:srgbClr val="C00000"/>
                          </a:solidFill>
                          <a:effectLst/>
                          <a:latin typeface="Comic Sans MS" panose="030F0702030302020204" pitchFamily="66" charset="0"/>
                        </a:rPr>
                        <a:t>Example</a:t>
                      </a:r>
                      <a:endParaRPr lang="en-US" sz="1200" b="1" dirty="0">
                        <a:solidFill>
                          <a:srgbClr val="C00000"/>
                        </a:solidFill>
                        <a:effectLst/>
                        <a:latin typeface="Comic Sans MS" panose="030F0702030302020204" pitchFamily="66"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3939434550"/>
                  </a:ext>
                </a:extLst>
              </a:tr>
              <a:tr h="340995">
                <a:tc>
                  <a:txBody>
                    <a:bodyPr/>
                    <a:lstStyle/>
                    <a:p>
                      <a:pPr marL="5715" marR="0" algn="ctr" eaLnBrk="0" hangingPunct="0">
                        <a:lnSpc>
                          <a:spcPct val="107000"/>
                        </a:lnSpc>
                        <a:spcBef>
                          <a:spcPts val="525"/>
                        </a:spcBef>
                        <a:spcAft>
                          <a:spcPts val="0"/>
                        </a:spcAft>
                      </a:pPr>
                      <a:r>
                        <a:rPr lang="en-US" sz="1400" dirty="0">
                          <a:solidFill>
                            <a:schemeClr val="accent1">
                              <a:lumMod val="75000"/>
                            </a:schemeClr>
                          </a:solidFill>
                          <a:effectLst/>
                        </a:rPr>
                        <a:t>+</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Addition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=A1+B1</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26028825"/>
                  </a:ext>
                </a:extLst>
              </a:tr>
              <a:tr h="340995">
                <a:tc>
                  <a:txBody>
                    <a:bodyPr/>
                    <a:lstStyle/>
                    <a:p>
                      <a:pPr marL="5715" marR="0" algn="ctr" eaLnBrk="0" hangingPunct="0">
                        <a:lnSpc>
                          <a:spcPct val="107000"/>
                        </a:lnSpc>
                        <a:spcBef>
                          <a:spcPts val="525"/>
                        </a:spcBef>
                        <a:spcAft>
                          <a:spcPts val="0"/>
                        </a:spcAft>
                      </a:pPr>
                      <a:r>
                        <a:rPr lang="en-US" sz="1400" dirty="0">
                          <a:solidFill>
                            <a:schemeClr val="accent1">
                              <a:lumMod val="75000"/>
                            </a:schemeClr>
                          </a:solidFill>
                          <a:effectLst/>
                        </a:rPr>
                        <a:t>−</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Subtraction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=A1-B1</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3379503114"/>
                  </a:ext>
                </a:extLst>
              </a:tr>
              <a:tr h="340995">
                <a:tc>
                  <a:txBody>
                    <a:bodyPr/>
                    <a:lstStyle/>
                    <a:p>
                      <a:pPr marL="5715" marR="0" algn="ctr" eaLnBrk="0" hangingPunct="0">
                        <a:lnSpc>
                          <a:spcPct val="107000"/>
                        </a:lnSpc>
                        <a:spcBef>
                          <a:spcPts val="525"/>
                        </a:spcBef>
                        <a:spcAft>
                          <a:spcPts val="0"/>
                        </a:spcAft>
                      </a:pPr>
                      <a:r>
                        <a:rPr lang="en-US" sz="1400" dirty="0">
                          <a:solidFill>
                            <a:schemeClr val="accent1">
                              <a:lumMod val="75000"/>
                            </a:schemeClr>
                          </a:solidFill>
                          <a:effectLst/>
                        </a:rPr>
                        <a:t>*</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Multiplication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=A1*C12</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224294792"/>
                  </a:ext>
                </a:extLst>
              </a:tr>
              <a:tr h="340995">
                <a:tc>
                  <a:txBody>
                    <a:bodyPr/>
                    <a:lstStyle/>
                    <a:p>
                      <a:pPr marL="5715" marR="0" algn="ctr" eaLnBrk="0" hangingPunct="0">
                        <a:lnSpc>
                          <a:spcPct val="107000"/>
                        </a:lnSpc>
                        <a:spcBef>
                          <a:spcPts val="525"/>
                        </a:spcBef>
                        <a:spcAft>
                          <a:spcPts val="0"/>
                        </a:spcAft>
                      </a:pPr>
                      <a:r>
                        <a:rPr lang="en-US" sz="1400" dirty="0">
                          <a:solidFill>
                            <a:schemeClr val="accent1">
                              <a:lumMod val="75000"/>
                            </a:schemeClr>
                          </a:solidFill>
                          <a:effectLst/>
                        </a:rPr>
                        <a:t>/</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Division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=A1/B3</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760341951"/>
                  </a:ext>
                </a:extLst>
              </a:tr>
              <a:tr h="340360">
                <a:tc>
                  <a:txBody>
                    <a:bodyPr/>
                    <a:lstStyle/>
                    <a:p>
                      <a:pPr marL="5715" marR="0" algn="ctr" eaLnBrk="0" hangingPunct="0">
                        <a:lnSpc>
                          <a:spcPct val="107000"/>
                        </a:lnSpc>
                        <a:spcBef>
                          <a:spcPts val="525"/>
                        </a:spcBef>
                        <a:spcAft>
                          <a:spcPts val="0"/>
                        </a:spcAft>
                      </a:pPr>
                      <a:r>
                        <a:rPr lang="en-US" sz="1400" dirty="0">
                          <a:solidFill>
                            <a:schemeClr val="accent1">
                              <a:lumMod val="75000"/>
                            </a:schemeClr>
                          </a:solidFill>
                          <a:effectLst/>
                        </a:rPr>
                        <a:t>^</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Exponentiation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=A1^2</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2653737932"/>
                  </a:ext>
                </a:extLst>
              </a:tr>
            </a:tbl>
          </a:graphicData>
        </a:graphic>
      </p:graphicFrame>
    </p:spTree>
    <p:extLst>
      <p:ext uri="{BB962C8B-B14F-4D97-AF65-F5344CB8AC3E}">
        <p14:creationId xmlns:p14="http://schemas.microsoft.com/office/powerpoint/2010/main" val="17572554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8296172"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Comparison operators</a:t>
            </a:r>
            <a:endParaRPr lang="en-US" dirty="0">
              <a:latin typeface="Comic Sans MS" panose="030F0702030302020204" pitchFamily="66" charset="0"/>
            </a:endParaRPr>
          </a:p>
        </p:txBody>
      </p:sp>
      <p:sp>
        <p:nvSpPr>
          <p:cNvPr id="3" name="object 3"/>
          <p:cNvSpPr txBox="1"/>
          <p:nvPr/>
        </p:nvSpPr>
        <p:spPr>
          <a:xfrm>
            <a:off x="500114" y="1484686"/>
            <a:ext cx="8143772" cy="505267"/>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Excel also provides other operators that are referred to as comparison operators. These operators can compare two cells and return one of two logical values: TRUE or FALSE. </a:t>
            </a:r>
            <a:endParaRPr lang="en-US" sz="1600" b="1" dirty="0">
              <a:solidFill>
                <a:schemeClr val="accent1">
                  <a:lumMod val="7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52587377"/>
              </p:ext>
            </p:extLst>
          </p:nvPr>
        </p:nvGraphicFramePr>
        <p:xfrm>
          <a:off x="1333500" y="2819400"/>
          <a:ext cx="6477000" cy="2636150"/>
        </p:xfrm>
        <a:graphic>
          <a:graphicData uri="http://schemas.openxmlformats.org/drawingml/2006/table">
            <a:tbl>
              <a:tblPr>
                <a:tableStyleId>{5C22544A-7EE6-4342-B048-85BDC9FD1C3A}</a:tableStyleId>
              </a:tblPr>
              <a:tblGrid>
                <a:gridCol w="1249873">
                  <a:extLst>
                    <a:ext uri="{9D8B030D-6E8A-4147-A177-3AD203B41FA5}">
                      <a16:colId xmlns:a16="http://schemas.microsoft.com/office/drawing/2014/main" val="1222111002"/>
                    </a:ext>
                  </a:extLst>
                </a:gridCol>
                <a:gridCol w="2910861">
                  <a:extLst>
                    <a:ext uri="{9D8B030D-6E8A-4147-A177-3AD203B41FA5}">
                      <a16:colId xmlns:a16="http://schemas.microsoft.com/office/drawing/2014/main" val="3817757130"/>
                    </a:ext>
                  </a:extLst>
                </a:gridCol>
                <a:gridCol w="2316266">
                  <a:extLst>
                    <a:ext uri="{9D8B030D-6E8A-4147-A177-3AD203B41FA5}">
                      <a16:colId xmlns:a16="http://schemas.microsoft.com/office/drawing/2014/main" val="27629947"/>
                    </a:ext>
                  </a:extLst>
                </a:gridCol>
              </a:tblGrid>
              <a:tr h="609600">
                <a:tc>
                  <a:txBody>
                    <a:bodyPr/>
                    <a:lstStyle/>
                    <a:p>
                      <a:pPr marL="5715" marR="0" algn="ctr" eaLnBrk="0" hangingPunct="0">
                        <a:lnSpc>
                          <a:spcPct val="107000"/>
                        </a:lnSpc>
                        <a:spcBef>
                          <a:spcPts val="520"/>
                        </a:spcBef>
                        <a:spcAft>
                          <a:spcPts val="0"/>
                        </a:spcAft>
                      </a:pPr>
                      <a:r>
                        <a:rPr lang="en-US" sz="1400" b="1" dirty="0">
                          <a:solidFill>
                            <a:srgbClr val="C00000"/>
                          </a:solidFill>
                          <a:effectLst/>
                          <a:latin typeface="Comic Sans MS" panose="030F0702030302020204" pitchFamily="66" charset="0"/>
                        </a:rPr>
                        <a:t>Operator</a:t>
                      </a:r>
                      <a:endParaRPr lang="en-US" sz="1200" b="1" dirty="0">
                        <a:solidFill>
                          <a:srgbClr val="C00000"/>
                        </a:solidFill>
                        <a:effectLst/>
                        <a:latin typeface="Comic Sans MS" panose="030F0702030302020204" pitchFamily="66"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0"/>
                        </a:spcBef>
                        <a:spcAft>
                          <a:spcPts val="0"/>
                        </a:spcAft>
                      </a:pPr>
                      <a:r>
                        <a:rPr lang="en-US" sz="1400" b="1" dirty="0">
                          <a:solidFill>
                            <a:srgbClr val="C00000"/>
                          </a:solidFill>
                          <a:effectLst/>
                          <a:latin typeface="Comic Sans MS" panose="030F0702030302020204" pitchFamily="66" charset="0"/>
                        </a:rPr>
                        <a:t>Comparison</a:t>
                      </a:r>
                      <a:endParaRPr lang="en-US" sz="1200" b="1" dirty="0">
                        <a:solidFill>
                          <a:srgbClr val="C00000"/>
                        </a:solidFill>
                        <a:effectLst/>
                        <a:latin typeface="Comic Sans MS" panose="030F0702030302020204" pitchFamily="66"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0"/>
                        </a:spcBef>
                        <a:spcAft>
                          <a:spcPts val="0"/>
                        </a:spcAft>
                      </a:pPr>
                      <a:r>
                        <a:rPr lang="en-US" sz="1400" b="1" dirty="0">
                          <a:solidFill>
                            <a:srgbClr val="C00000"/>
                          </a:solidFill>
                          <a:effectLst/>
                          <a:latin typeface="Comic Sans MS" panose="030F0702030302020204" pitchFamily="66" charset="0"/>
                        </a:rPr>
                        <a:t>Example</a:t>
                      </a:r>
                      <a:endParaRPr lang="en-US" sz="1200" b="1" dirty="0">
                        <a:solidFill>
                          <a:srgbClr val="C00000"/>
                        </a:solidFill>
                        <a:effectLst/>
                        <a:latin typeface="Comic Sans MS" panose="030F0702030302020204" pitchFamily="66"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2970351659"/>
                  </a:ext>
                </a:extLst>
              </a:tr>
              <a:tr h="405461">
                <a:tc>
                  <a:txBody>
                    <a:bodyPr/>
                    <a:lstStyle/>
                    <a:p>
                      <a:pPr marL="5715" marR="0" algn="ctr" eaLnBrk="0" hangingPunct="0">
                        <a:lnSpc>
                          <a:spcPct val="107000"/>
                        </a:lnSpc>
                        <a:spcBef>
                          <a:spcPts val="525"/>
                        </a:spcBef>
                        <a:spcAft>
                          <a:spcPts val="0"/>
                        </a:spcAft>
                      </a:pPr>
                      <a:r>
                        <a:rPr lang="en-US" sz="1400">
                          <a:solidFill>
                            <a:schemeClr val="accent1">
                              <a:lumMod val="75000"/>
                            </a:schemeClr>
                          </a:solidFill>
                          <a:effectLst/>
                        </a:rPr>
                        <a:t>=</a:t>
                      </a:r>
                      <a:endParaRPr lang="en-US" sz="120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Equal</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=A1=B1</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2990357553"/>
                  </a:ext>
                </a:extLst>
              </a:tr>
              <a:tr h="405461">
                <a:tc>
                  <a:txBody>
                    <a:bodyPr/>
                    <a:lstStyle/>
                    <a:p>
                      <a:pPr marL="5715" marR="0" algn="ctr" eaLnBrk="0" hangingPunct="0">
                        <a:lnSpc>
                          <a:spcPct val="107000"/>
                        </a:lnSpc>
                        <a:spcBef>
                          <a:spcPts val="525"/>
                        </a:spcBef>
                        <a:spcAft>
                          <a:spcPts val="0"/>
                        </a:spcAft>
                      </a:pPr>
                      <a:r>
                        <a:rPr lang="en-US" sz="1400">
                          <a:solidFill>
                            <a:schemeClr val="accent1">
                              <a:lumMod val="75000"/>
                            </a:schemeClr>
                          </a:solidFill>
                          <a:effectLst/>
                        </a:rPr>
                        <a:t>&gt; </a:t>
                      </a:r>
                      <a:endParaRPr lang="en-US" sz="120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Greater than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=A1&gt;B1</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579471014"/>
                  </a:ext>
                </a:extLst>
              </a:tr>
              <a:tr h="405461">
                <a:tc>
                  <a:txBody>
                    <a:bodyPr/>
                    <a:lstStyle/>
                    <a:p>
                      <a:pPr marL="5715" marR="0" algn="ctr" eaLnBrk="0" hangingPunct="0">
                        <a:lnSpc>
                          <a:spcPct val="107000"/>
                        </a:lnSpc>
                        <a:spcBef>
                          <a:spcPts val="525"/>
                        </a:spcBef>
                        <a:spcAft>
                          <a:spcPts val="0"/>
                        </a:spcAft>
                      </a:pPr>
                      <a:r>
                        <a:rPr lang="en-US" sz="1400">
                          <a:solidFill>
                            <a:schemeClr val="accent1">
                              <a:lumMod val="75000"/>
                            </a:schemeClr>
                          </a:solidFill>
                          <a:effectLst/>
                        </a:rPr>
                        <a:t>&lt; </a:t>
                      </a:r>
                      <a:endParaRPr lang="en-US" sz="120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Less than</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=A1&lt;C12</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1953405764"/>
                  </a:ext>
                </a:extLst>
              </a:tr>
              <a:tr h="405461">
                <a:tc>
                  <a:txBody>
                    <a:bodyPr/>
                    <a:lstStyle/>
                    <a:p>
                      <a:pPr marL="5715" marR="0" algn="ctr" eaLnBrk="0" hangingPunct="0">
                        <a:lnSpc>
                          <a:spcPct val="107000"/>
                        </a:lnSpc>
                        <a:spcBef>
                          <a:spcPts val="525"/>
                        </a:spcBef>
                        <a:spcAft>
                          <a:spcPts val="0"/>
                        </a:spcAft>
                      </a:pPr>
                      <a:r>
                        <a:rPr lang="en-US" sz="1400">
                          <a:solidFill>
                            <a:schemeClr val="accent1">
                              <a:lumMod val="75000"/>
                            </a:schemeClr>
                          </a:solidFill>
                          <a:effectLst/>
                        </a:rPr>
                        <a:t>&gt;=</a:t>
                      </a:r>
                      <a:endParaRPr lang="en-US" sz="120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Greater than or equal to</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=A1&gt;=B3</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1147930703"/>
                  </a:ext>
                </a:extLst>
              </a:tr>
              <a:tr h="404706">
                <a:tc>
                  <a:txBody>
                    <a:bodyPr/>
                    <a:lstStyle/>
                    <a:p>
                      <a:pPr marL="5715" marR="0" algn="ctr" eaLnBrk="0" hangingPunct="0">
                        <a:lnSpc>
                          <a:spcPct val="107000"/>
                        </a:lnSpc>
                        <a:spcBef>
                          <a:spcPts val="525"/>
                        </a:spcBef>
                        <a:spcAft>
                          <a:spcPts val="0"/>
                        </a:spcAft>
                      </a:pPr>
                      <a:r>
                        <a:rPr lang="en-US" sz="1400">
                          <a:solidFill>
                            <a:schemeClr val="accent1">
                              <a:lumMod val="75000"/>
                            </a:schemeClr>
                          </a:solidFill>
                          <a:effectLst/>
                        </a:rPr>
                        <a:t>&lt;=</a:t>
                      </a:r>
                      <a:endParaRPr lang="en-US" sz="120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Less than or equal to</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tc>
                  <a:txBody>
                    <a:bodyPr/>
                    <a:lstStyle/>
                    <a:p>
                      <a:pPr marL="0" marR="0" algn="ctr" eaLnBrk="0" hangingPunct="0">
                        <a:lnSpc>
                          <a:spcPct val="107000"/>
                        </a:lnSpc>
                        <a:spcBef>
                          <a:spcPts val="525"/>
                        </a:spcBef>
                        <a:spcAft>
                          <a:spcPts val="0"/>
                        </a:spcAft>
                      </a:pPr>
                      <a:r>
                        <a:rPr lang="en-US" sz="1400" dirty="0">
                          <a:solidFill>
                            <a:schemeClr val="accent1">
                              <a:lumMod val="75000"/>
                            </a:schemeClr>
                          </a:solidFill>
                          <a:effectLst/>
                        </a:rPr>
                        <a:t>=A1&lt;=2</a:t>
                      </a:r>
                      <a:endParaRPr lang="en-US" sz="1200" dirty="0">
                        <a:solidFill>
                          <a:schemeClr val="accent1">
                            <a:lumMod val="75000"/>
                          </a:schemeClr>
                        </a:solidFill>
                        <a:effectLst/>
                        <a:latin typeface="Trebuchet MS" panose="020B0603020202020204" pitchFamily="34" charset="0"/>
                        <a:ea typeface="Times New Roman" panose="02020603050405020304" pitchFamily="18" charset="0"/>
                        <a:cs typeface="Trebuchet MS" panose="020B0603020202020204" pitchFamily="34" charset="0"/>
                      </a:endParaRPr>
                    </a:p>
                  </a:txBody>
                  <a:tcPr marL="0" marR="0" marT="0" marB="0" anchor="ctr"/>
                </a:tc>
                <a:extLst>
                  <a:ext uri="{0D108BD9-81ED-4DB2-BD59-A6C34878D82A}">
                    <a16:rowId xmlns:a16="http://schemas.microsoft.com/office/drawing/2014/main" val="1660043509"/>
                  </a:ext>
                </a:extLst>
              </a:tr>
            </a:tbl>
          </a:graphicData>
        </a:graphic>
      </p:graphicFrame>
    </p:spTree>
    <p:extLst>
      <p:ext uri="{BB962C8B-B14F-4D97-AF65-F5344CB8AC3E}">
        <p14:creationId xmlns:p14="http://schemas.microsoft.com/office/powerpoint/2010/main" val="28356847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Understanding operator precedence</a:t>
            </a:r>
          </a:p>
        </p:txBody>
      </p:sp>
      <p:sp>
        <p:nvSpPr>
          <p:cNvPr id="3" name="object 3"/>
          <p:cNvSpPr txBox="1"/>
          <p:nvPr/>
        </p:nvSpPr>
        <p:spPr>
          <a:xfrm>
            <a:off x="533400" y="1524000"/>
            <a:ext cx="8077200" cy="4691028"/>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An </a:t>
            </a:r>
            <a:r>
              <a:rPr lang="en-US" sz="1600" dirty="0">
                <a:solidFill>
                  <a:schemeClr val="accent1">
                    <a:lumMod val="75000"/>
                  </a:schemeClr>
                </a:solidFill>
              </a:rPr>
              <a:t>important part of creating formulas relates to operator precedence. In the simplest terms, operator precedence means that certain operations in a formula take precedence over (or take place before) other operations in a formula. For example, in the formula =B2+B3*C2, the multiplication of B3*C2 takes precedence, so B3 is multiplied by C2, and then B2 is added to that result. The order of operator precedence is as follows</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marL="800100" lvl="1" indent="-342900" algn="just" eaLnBrk="0" hangingPunct="0">
              <a:buFont typeface="+mj-lt"/>
              <a:buAutoNum type="arabicPeriod"/>
            </a:pPr>
            <a:r>
              <a:rPr lang="en-US" sz="1600" dirty="0">
                <a:solidFill>
                  <a:schemeClr val="accent1">
                    <a:lumMod val="75000"/>
                  </a:schemeClr>
                </a:solidFill>
              </a:rPr>
              <a:t>Parentheses ()</a:t>
            </a:r>
          </a:p>
          <a:p>
            <a:pPr marL="800100" lvl="1" indent="-342900" algn="just" eaLnBrk="0" hangingPunct="0">
              <a:buFont typeface="+mj-lt"/>
              <a:buAutoNum type="arabicPeriod"/>
            </a:pPr>
            <a:r>
              <a:rPr lang="en-US" sz="1600" dirty="0">
                <a:solidFill>
                  <a:schemeClr val="accent1">
                    <a:lumMod val="75000"/>
                  </a:schemeClr>
                </a:solidFill>
              </a:rPr>
              <a:t>Exponent </a:t>
            </a:r>
            <a:r>
              <a:rPr lang="en-US" sz="1600" dirty="0" smtClean="0">
                <a:solidFill>
                  <a:schemeClr val="accent1">
                    <a:lumMod val="75000"/>
                  </a:schemeClr>
                </a:solidFill>
              </a:rPr>
              <a:t>^</a:t>
            </a:r>
            <a:endParaRPr lang="en-US" sz="1600" dirty="0">
              <a:solidFill>
                <a:schemeClr val="accent1">
                  <a:lumMod val="75000"/>
                </a:schemeClr>
              </a:solidFill>
            </a:endParaRPr>
          </a:p>
          <a:p>
            <a:pPr marL="800100" lvl="1" indent="-342900" algn="just" eaLnBrk="0" hangingPunct="0">
              <a:buFont typeface="+mj-lt"/>
              <a:buAutoNum type="arabicPeriod"/>
            </a:pPr>
            <a:r>
              <a:rPr lang="en-US" sz="1600" dirty="0" smtClean="0">
                <a:solidFill>
                  <a:schemeClr val="accent1">
                    <a:lumMod val="75000"/>
                  </a:schemeClr>
                </a:solidFill>
              </a:rPr>
              <a:t>Multiplication  </a:t>
            </a:r>
            <a:r>
              <a:rPr lang="en-US" sz="1600" dirty="0">
                <a:solidFill>
                  <a:schemeClr val="accent1">
                    <a:lumMod val="75000"/>
                  </a:schemeClr>
                </a:solidFill>
              </a:rPr>
              <a:t>*,  Division  /</a:t>
            </a:r>
          </a:p>
          <a:p>
            <a:pPr marL="800100" lvl="1" indent="-342900" algn="just" eaLnBrk="0" hangingPunct="0">
              <a:buFont typeface="+mj-lt"/>
              <a:buAutoNum type="arabicPeriod"/>
            </a:pPr>
            <a:r>
              <a:rPr lang="en-US" sz="1600" dirty="0">
                <a:solidFill>
                  <a:schemeClr val="accent1">
                    <a:lumMod val="75000"/>
                  </a:schemeClr>
                </a:solidFill>
              </a:rPr>
              <a:t>Addition +, Subtraction −</a:t>
            </a:r>
          </a:p>
          <a:p>
            <a:pPr marL="800100" lvl="1" indent="-342900" algn="just" eaLnBrk="0" hangingPunct="0">
              <a:buFont typeface="+mj-lt"/>
              <a:buAutoNum type="arabicPeriod"/>
            </a:pPr>
            <a:r>
              <a:rPr lang="en-US" sz="1600" dirty="0">
                <a:solidFill>
                  <a:schemeClr val="accent1">
                    <a:lumMod val="75000"/>
                  </a:schemeClr>
                </a:solidFill>
              </a:rPr>
              <a:t>Equal to =, Less than &lt;, Greater than </a:t>
            </a:r>
            <a:r>
              <a:rPr lang="en-US" sz="1600" dirty="0" smtClean="0">
                <a:solidFill>
                  <a:schemeClr val="accent1">
                    <a:lumMod val="75000"/>
                  </a:schemeClr>
                </a:solidFill>
              </a:rPr>
              <a:t>&gt;</a:t>
            </a:r>
          </a:p>
          <a:p>
            <a:pPr marL="342900" lvl="0" indent="-342900" algn="just" eaLnBrk="0" hangingPunct="0">
              <a:buFont typeface="+mj-lt"/>
              <a:buAutoNum type="arabicPeriod"/>
            </a:pPr>
            <a:endParaRPr lang="en-US" sz="1600" dirty="0">
              <a:solidFill>
                <a:schemeClr val="accent1">
                  <a:lumMod val="75000"/>
                </a:schemeClr>
              </a:solidFill>
            </a:endParaRPr>
          </a:p>
          <a:p>
            <a:pPr algn="just" eaLnBrk="0" hangingPunct="0"/>
            <a:r>
              <a:rPr lang="en-US" sz="1600" dirty="0">
                <a:solidFill>
                  <a:schemeClr val="accent1">
                    <a:lumMod val="75000"/>
                  </a:schemeClr>
                </a:solidFill>
              </a:rPr>
              <a:t>In the case of the formula =B2+B3*C2, if you want the formula to add B2+B3 before multiplying the result by C2, you would have to write the formula </a:t>
            </a:r>
            <a:r>
              <a:rPr lang="en-US" sz="1600" dirty="0" smtClean="0">
                <a:solidFill>
                  <a:schemeClr val="accent1">
                    <a:lumMod val="75000"/>
                  </a:schemeClr>
                </a:solidFill>
              </a:rPr>
              <a:t>as</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=(B2+B3)*</a:t>
            </a:r>
            <a:r>
              <a:rPr lang="en-US" sz="1600" dirty="0" smtClean="0">
                <a:solidFill>
                  <a:schemeClr val="accent1">
                    <a:lumMod val="75000"/>
                  </a:schemeClr>
                </a:solidFill>
              </a:rPr>
              <a:t>C2</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Operations enclosed in parentheses take precedence over operations that are not in parentheses.</a:t>
            </a:r>
          </a:p>
        </p:txBody>
      </p:sp>
    </p:spTree>
    <p:extLst>
      <p:ext uri="{BB962C8B-B14F-4D97-AF65-F5344CB8AC3E}">
        <p14:creationId xmlns:p14="http://schemas.microsoft.com/office/powerpoint/2010/main" val="23212439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Entering formulas</a:t>
            </a:r>
          </a:p>
        </p:txBody>
      </p:sp>
      <p:sp>
        <p:nvSpPr>
          <p:cNvPr id="3" name="object 3"/>
          <p:cNvSpPr txBox="1"/>
          <p:nvPr/>
        </p:nvSpPr>
        <p:spPr>
          <a:xfrm>
            <a:off x="533400" y="1524000"/>
            <a:ext cx="8077200" cy="5152693"/>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enter formulas in one of two ways: by typing the entire formula, including the cell addresses, or by typing the formula operators and selecting the cell references. Because many of the errors found in Excel typically relate to incorrectly entered information, it makes sense to point to the cells or cell ranges that are included in a formula. This makes it less likely for an incorrect cell address or range to be placed in the formula.</a:t>
            </a:r>
          </a:p>
          <a:p>
            <a:pPr algn="just" eaLnBrk="0" hangingPunct="0"/>
            <a:r>
              <a:rPr lang="en-US" sz="1600" dirty="0">
                <a:solidFill>
                  <a:schemeClr val="accent1">
                    <a:lumMod val="75000"/>
                  </a:schemeClr>
                </a:solidFill>
              </a:rPr>
              <a:t>Follow these steps to enter a formula</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marL="342900" lvl="0" indent="-342900" algn="just" eaLnBrk="0" hangingPunct="0">
              <a:spcAft>
                <a:spcPts val="600"/>
              </a:spcAft>
              <a:buFont typeface="+mj-lt"/>
              <a:buAutoNum type="arabicPeriod"/>
            </a:pPr>
            <a:r>
              <a:rPr lang="en-US" sz="1600" dirty="0">
                <a:solidFill>
                  <a:schemeClr val="accent1">
                    <a:lumMod val="75000"/>
                  </a:schemeClr>
                </a:solidFill>
              </a:rPr>
              <a:t>Select the cell that will hold the formula. Type </a:t>
            </a:r>
            <a:r>
              <a:rPr lang="en-US" sz="1600" b="1" dirty="0">
                <a:solidFill>
                  <a:schemeClr val="accent1">
                    <a:lumMod val="75000"/>
                  </a:schemeClr>
                </a:solidFill>
              </a:rPr>
              <a:t>=	</a:t>
            </a:r>
            <a:r>
              <a:rPr lang="en-US" sz="1600" dirty="0">
                <a:solidFill>
                  <a:schemeClr val="accent1">
                    <a:lumMod val="75000"/>
                  </a:schemeClr>
                </a:solidFill>
              </a:rPr>
              <a:t>to begin the formula.</a:t>
            </a:r>
          </a:p>
          <a:p>
            <a:pPr marL="342900" lvl="0" indent="-342900" algn="just" eaLnBrk="0" hangingPunct="0">
              <a:spcAft>
                <a:spcPts val="600"/>
              </a:spcAft>
              <a:buFont typeface="+mj-lt"/>
              <a:buAutoNum type="arabicPeriod"/>
            </a:pPr>
            <a:r>
              <a:rPr lang="en-US" sz="1600" dirty="0">
                <a:solidFill>
                  <a:schemeClr val="accent1">
                    <a:lumMod val="75000"/>
                  </a:schemeClr>
                </a:solidFill>
              </a:rPr>
              <a:t>Click the ﬁrst cell that will be referenced in the formula. The cell address is entered in the formula in the formula bar.</a:t>
            </a:r>
          </a:p>
          <a:p>
            <a:pPr marL="342900" lvl="0" indent="-342900" algn="just" eaLnBrk="0" hangingPunct="0">
              <a:spcAft>
                <a:spcPts val="600"/>
              </a:spcAft>
              <a:buFont typeface="+mj-lt"/>
              <a:buAutoNum type="arabicPeriod"/>
            </a:pPr>
            <a:r>
              <a:rPr lang="en-US" sz="1600" dirty="0">
                <a:solidFill>
                  <a:schemeClr val="accent1">
                    <a:lumMod val="75000"/>
                  </a:schemeClr>
                </a:solidFill>
              </a:rPr>
              <a:t>Enter the appropriate arithmetic operator after the cell address of the value to indicate the operation you want to perform.</a:t>
            </a:r>
          </a:p>
          <a:p>
            <a:pPr marL="342900" lvl="0" indent="-342900" algn="just" eaLnBrk="0" hangingPunct="0">
              <a:spcAft>
                <a:spcPts val="600"/>
              </a:spcAft>
              <a:buFont typeface="+mj-lt"/>
              <a:buAutoNum type="arabicPeriod"/>
            </a:pPr>
            <a:r>
              <a:rPr lang="en-US" sz="1600" dirty="0">
                <a:solidFill>
                  <a:schemeClr val="accent1">
                    <a:lumMod val="75000"/>
                  </a:schemeClr>
                </a:solidFill>
              </a:rPr>
              <a:t>Click the next cell that will be referenced in the formula.</a:t>
            </a:r>
          </a:p>
          <a:p>
            <a:pPr marL="342900" lvl="0" indent="-342900" algn="just" eaLnBrk="0" hangingPunct="0">
              <a:spcAft>
                <a:spcPts val="600"/>
              </a:spcAft>
              <a:buFont typeface="+mj-lt"/>
              <a:buAutoNum type="arabicPeriod"/>
            </a:pPr>
            <a:r>
              <a:rPr lang="en-US" sz="1600" dirty="0">
                <a:solidFill>
                  <a:schemeClr val="accent1">
                    <a:lumMod val="75000"/>
                  </a:schemeClr>
                </a:solidFill>
              </a:rPr>
              <a:t>Repeat steps 3 and 4, if necessary. You can also enter constants into the formula as needed.</a:t>
            </a:r>
          </a:p>
          <a:p>
            <a:pPr marL="342900" lvl="0" indent="-342900" algn="just" eaLnBrk="0" hangingPunct="0">
              <a:spcAft>
                <a:spcPts val="600"/>
              </a:spcAft>
              <a:buFont typeface="+mj-lt"/>
              <a:buAutoNum type="arabicPeriod"/>
            </a:pPr>
            <a:r>
              <a:rPr lang="en-US" sz="1600" dirty="0">
                <a:solidFill>
                  <a:schemeClr val="accent1">
                    <a:lumMod val="75000"/>
                  </a:schemeClr>
                </a:solidFill>
              </a:rPr>
              <a:t>When the formula is complete, click the Enter button on the formula bar or press Enter. The formula is entered in the current cell.</a:t>
            </a:r>
          </a:p>
          <a:p>
            <a:pPr algn="just" eaLnBrk="0" hangingPunct="0"/>
            <a:r>
              <a:rPr lang="en-US" sz="1600" dirty="0">
                <a:solidFill>
                  <a:schemeClr val="accent1">
                    <a:lumMod val="75000"/>
                  </a:schemeClr>
                </a:solidFill>
              </a:rPr>
              <a:t/>
            </a:r>
            <a:br>
              <a:rPr lang="en-US" sz="1600" dirty="0">
                <a:solidFill>
                  <a:schemeClr val="accent1">
                    <a:lumMod val="75000"/>
                  </a:schemeClr>
                </a:solidFill>
              </a:rPr>
            </a:br>
            <a:endParaRPr lang="en-US" sz="1600" dirty="0">
              <a:solidFill>
                <a:schemeClr val="accent1">
                  <a:lumMod val="75000"/>
                </a:schemeClr>
              </a:solidFill>
            </a:endParaRPr>
          </a:p>
        </p:txBody>
      </p:sp>
    </p:spTree>
    <p:extLst>
      <p:ext uri="{BB962C8B-B14F-4D97-AF65-F5344CB8AC3E}">
        <p14:creationId xmlns:p14="http://schemas.microsoft.com/office/powerpoint/2010/main" val="18458910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Editing formulas</a:t>
            </a:r>
          </a:p>
        </p:txBody>
      </p:sp>
      <p:sp>
        <p:nvSpPr>
          <p:cNvPr id="3" name="object 3"/>
          <p:cNvSpPr txBox="1"/>
          <p:nvPr/>
        </p:nvSpPr>
        <p:spPr>
          <a:xfrm>
            <a:off x="457200" y="1752600"/>
            <a:ext cx="8077200" cy="2475037"/>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Editing </a:t>
            </a:r>
            <a:r>
              <a:rPr lang="en-US" sz="1600" dirty="0">
                <a:solidFill>
                  <a:schemeClr val="accent1">
                    <a:lumMod val="75000"/>
                  </a:schemeClr>
                </a:solidFill>
              </a:rPr>
              <a:t>formulas in Excel is straightforward. You can edit a formula in the formula bar or directly in the cell. To edit the formula in the formula bar, select the cell containing the formula; then place the insertion point into the formula (in the formula bar) and edit as needed. As soon as you place the insertion point in the formula bar, the range ﬁnder highlights the cells referenced in the formula</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You  can use the arrow keys to move within the formula bar. To  go to the beginning of the formula in the formula bar, press the Home key; the End key takes you to the end of the formula. You can also do in-cell editing: Double-click a cell to place the insertion point into the contents of the cell, such as a formula.</a:t>
            </a:r>
          </a:p>
        </p:txBody>
      </p:sp>
    </p:spTree>
    <p:extLst>
      <p:ext uri="{BB962C8B-B14F-4D97-AF65-F5344CB8AC3E}">
        <p14:creationId xmlns:p14="http://schemas.microsoft.com/office/powerpoint/2010/main" val="35885480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Working with Excel functions</a:t>
            </a:r>
          </a:p>
        </p:txBody>
      </p:sp>
      <p:sp>
        <p:nvSpPr>
          <p:cNvPr id="3" name="object 3"/>
          <p:cNvSpPr txBox="1"/>
          <p:nvPr/>
        </p:nvSpPr>
        <p:spPr>
          <a:xfrm>
            <a:off x="533400" y="1275908"/>
            <a:ext cx="8077200" cy="542969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Functions </a:t>
            </a:r>
            <a:r>
              <a:rPr lang="en-US" sz="1600" dirty="0">
                <a:solidFill>
                  <a:schemeClr val="accent1">
                    <a:lumMod val="75000"/>
                  </a:schemeClr>
                </a:solidFill>
              </a:rPr>
              <a:t>consist of two parts: the </a:t>
            </a:r>
            <a:r>
              <a:rPr lang="en-US" sz="1600" b="1" dirty="0">
                <a:solidFill>
                  <a:schemeClr val="accent1">
                    <a:lumMod val="75000"/>
                  </a:schemeClr>
                </a:solidFill>
              </a:rPr>
              <a:t>function name </a:t>
            </a:r>
            <a:r>
              <a:rPr lang="en-US" sz="1600" dirty="0">
                <a:solidFill>
                  <a:schemeClr val="accent1">
                    <a:lumMod val="75000"/>
                  </a:schemeClr>
                </a:solidFill>
              </a:rPr>
              <a:t>and the </a:t>
            </a:r>
            <a:r>
              <a:rPr lang="en-US" sz="1600" b="1" dirty="0">
                <a:solidFill>
                  <a:schemeClr val="accent1">
                    <a:lumMod val="75000"/>
                  </a:schemeClr>
                </a:solidFill>
              </a:rPr>
              <a:t>cell addresses </a:t>
            </a:r>
            <a:r>
              <a:rPr lang="en-US" sz="1600" dirty="0">
                <a:solidFill>
                  <a:schemeClr val="accent1">
                    <a:lumMod val="75000"/>
                  </a:schemeClr>
                </a:solidFill>
              </a:rPr>
              <a:t>that are to be acted upon.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These </a:t>
            </a:r>
            <a:r>
              <a:rPr lang="en-US" sz="1600" dirty="0">
                <a:solidFill>
                  <a:schemeClr val="accent1">
                    <a:lumMod val="75000"/>
                  </a:schemeClr>
                </a:solidFill>
              </a:rPr>
              <a:t>cell ranges or individual cell addresses are also referred to as the function’s </a:t>
            </a:r>
            <a:r>
              <a:rPr lang="en-US" sz="1600" b="1" dirty="0">
                <a:solidFill>
                  <a:schemeClr val="accent1">
                    <a:lumMod val="75000"/>
                  </a:schemeClr>
                </a:solidFill>
              </a:rPr>
              <a:t>arguments</a:t>
            </a:r>
            <a:r>
              <a:rPr lang="en-US" sz="1600" i="1" dirty="0">
                <a:solidFill>
                  <a:schemeClr val="accent1">
                    <a:lumMod val="75000"/>
                  </a:schemeClr>
                </a:solidFill>
              </a:rPr>
              <a:t> </a:t>
            </a:r>
            <a:r>
              <a:rPr lang="en-US" sz="1600" dirty="0">
                <a:solidFill>
                  <a:schemeClr val="accent1">
                    <a:lumMod val="75000"/>
                  </a:schemeClr>
                </a:solidFill>
              </a:rPr>
              <a:t>because they are used by the function to arrive at an answer. One of the most common functions used is the SUM </a:t>
            </a:r>
            <a:r>
              <a:rPr lang="en-US" sz="1600" dirty="0" smtClean="0">
                <a:solidFill>
                  <a:schemeClr val="accent1">
                    <a:lumMod val="75000"/>
                  </a:schemeClr>
                </a:solidFill>
              </a:rPr>
              <a:t>function. It </a:t>
            </a:r>
            <a:r>
              <a:rPr lang="en-US" sz="1600" dirty="0">
                <a:solidFill>
                  <a:schemeClr val="accent1">
                    <a:lumMod val="75000"/>
                  </a:schemeClr>
                </a:solidFill>
              </a:rPr>
              <a:t>is designed to quickly add a range of numbers. </a:t>
            </a:r>
            <a:r>
              <a:rPr lang="en-US" sz="1600" dirty="0" smtClean="0">
                <a:solidFill>
                  <a:schemeClr val="accent1">
                    <a:lumMod val="75000"/>
                  </a:schemeClr>
                </a:solidFill>
              </a:rPr>
              <a:t>The </a:t>
            </a:r>
            <a:r>
              <a:rPr lang="en-US" sz="1600" dirty="0">
                <a:solidFill>
                  <a:schemeClr val="accent1">
                    <a:lumMod val="75000"/>
                  </a:schemeClr>
                </a:solidFill>
              </a:rPr>
              <a:t>SUM function might look like this in a worksheet</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ctr" eaLnBrk="0" hangingPunct="0"/>
            <a:r>
              <a:rPr lang="en-US" sz="1600" b="1" dirty="0">
                <a:solidFill>
                  <a:srgbClr val="C00000"/>
                </a:solidFill>
              </a:rPr>
              <a:t>=SUM(B4:D4</a:t>
            </a:r>
            <a:r>
              <a:rPr lang="en-US" sz="1600" b="1" dirty="0" smtClean="0">
                <a:solidFill>
                  <a:srgbClr val="C00000"/>
                </a:solidFill>
              </a:rPr>
              <a:t>)</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where the argument is the range of cells B4 to D4, which will be added by the SUM function. The SUM function can also add cells that are not in a contiguous range using the syntax =SUM(B3, C6, D12). Individual cell addresses serve as the arguments in the function and are separated by commas. The number of arguments (or cell addresses) that can be placed in the SUM function is endless, meaning that many functions do not control the number of legal arguments speciﬁed in the function</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Some functions do not have any arguments. For example, </a:t>
            </a:r>
            <a:r>
              <a:rPr lang="en-US" sz="1600" dirty="0" smtClean="0">
                <a:solidFill>
                  <a:schemeClr val="accent1">
                    <a:lumMod val="75000"/>
                  </a:schemeClr>
                </a:solidFill>
              </a:rPr>
              <a:t>the</a:t>
            </a:r>
          </a:p>
          <a:p>
            <a:pPr algn="just" eaLnBrk="0" hangingPunct="0"/>
            <a:endParaRPr lang="en-US" sz="1600" dirty="0">
              <a:solidFill>
                <a:schemeClr val="accent1">
                  <a:lumMod val="75000"/>
                </a:schemeClr>
              </a:solidFill>
            </a:endParaRPr>
          </a:p>
          <a:p>
            <a:pPr algn="ctr" eaLnBrk="0" hangingPunct="0"/>
            <a:r>
              <a:rPr lang="en-US" sz="1600" b="1" dirty="0">
                <a:solidFill>
                  <a:srgbClr val="C00000"/>
                </a:solidFill>
              </a:rPr>
              <a:t>=NOW() </a:t>
            </a:r>
            <a:r>
              <a:rPr lang="en-US" sz="1600" b="1" dirty="0" smtClean="0">
                <a:solidFill>
                  <a:srgbClr val="C00000"/>
                </a:solidFill>
              </a:rPr>
              <a:t>function</a:t>
            </a:r>
            <a:endParaRPr lang="en-US" sz="1600" b="1" dirty="0">
              <a:solidFill>
                <a:srgbClr val="C00000"/>
              </a:solidFill>
            </a:endParaRPr>
          </a:p>
          <a:p>
            <a:pPr algn="ctr" eaLnBrk="0" hangingPunct="0"/>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which </a:t>
            </a:r>
            <a:r>
              <a:rPr lang="en-US" sz="1600" dirty="0">
                <a:solidFill>
                  <a:schemeClr val="accent1">
                    <a:lumMod val="75000"/>
                  </a:schemeClr>
                </a:solidFill>
              </a:rPr>
              <a:t>is a date function, returns the current date and time formatted as a date and time. It does not require an argument in the parentheses to work.</a:t>
            </a:r>
          </a:p>
        </p:txBody>
      </p:sp>
    </p:spTree>
    <p:extLst>
      <p:ext uri="{BB962C8B-B14F-4D97-AF65-F5344CB8AC3E}">
        <p14:creationId xmlns:p14="http://schemas.microsoft.com/office/powerpoint/2010/main" val="6711524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Entering a function in a cell</a:t>
            </a:r>
          </a:p>
        </p:txBody>
      </p:sp>
      <p:sp>
        <p:nvSpPr>
          <p:cNvPr id="3" name="object 3"/>
          <p:cNvSpPr txBox="1"/>
          <p:nvPr/>
        </p:nvSpPr>
        <p:spPr>
          <a:xfrm>
            <a:off x="476544" y="1143000"/>
            <a:ext cx="8182770" cy="4198585"/>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There </a:t>
            </a:r>
            <a:r>
              <a:rPr lang="en-US" sz="1600" dirty="0">
                <a:solidFill>
                  <a:schemeClr val="accent1">
                    <a:lumMod val="75000"/>
                  </a:schemeClr>
                </a:solidFill>
              </a:rPr>
              <a:t>are two methods for inserting </a:t>
            </a:r>
            <a:r>
              <a:rPr lang="en-US" sz="1600" dirty="0" smtClean="0">
                <a:solidFill>
                  <a:schemeClr val="accent1">
                    <a:lumMod val="75000"/>
                  </a:schemeClr>
                </a:solidFill>
              </a:rPr>
              <a:t>functions:</a:t>
            </a:r>
          </a:p>
          <a:p>
            <a:pPr lvl="1" algn="just" eaLnBrk="0" hangingPunct="0"/>
            <a:endParaRPr lang="en-US" sz="1600" dirty="0" smtClean="0">
              <a:solidFill>
                <a:schemeClr val="accent1">
                  <a:lumMod val="75000"/>
                </a:schemeClr>
              </a:solidFill>
            </a:endParaRP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The </a:t>
            </a:r>
            <a:r>
              <a:rPr lang="en-US" sz="1600" b="1" dirty="0">
                <a:solidFill>
                  <a:srgbClr val="C00000"/>
                </a:solidFill>
              </a:rPr>
              <a:t>Insert Function </a:t>
            </a:r>
            <a:r>
              <a:rPr lang="en-US" sz="1600" dirty="0">
                <a:solidFill>
                  <a:schemeClr val="accent1">
                    <a:lumMod val="75000"/>
                  </a:schemeClr>
                </a:solidFill>
              </a:rPr>
              <a:t>dialog </a:t>
            </a:r>
            <a:r>
              <a:rPr lang="en-US" sz="1600" dirty="0" smtClean="0">
                <a:solidFill>
                  <a:schemeClr val="accent1">
                    <a:lumMod val="75000"/>
                  </a:schemeClr>
                </a:solidFill>
              </a:rPr>
              <a:t>box. </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The </a:t>
            </a:r>
            <a:r>
              <a:rPr lang="en-US" sz="1600" dirty="0">
                <a:solidFill>
                  <a:schemeClr val="accent1">
                    <a:lumMod val="75000"/>
                  </a:schemeClr>
                </a:solidFill>
              </a:rPr>
              <a:t>category commands provided in the </a:t>
            </a:r>
            <a:r>
              <a:rPr lang="en-US" sz="1600" b="1" dirty="0">
                <a:solidFill>
                  <a:srgbClr val="C00000"/>
                </a:solidFill>
              </a:rPr>
              <a:t>Function Library</a:t>
            </a:r>
            <a:r>
              <a:rPr lang="en-US" sz="1600" dirty="0">
                <a:solidFill>
                  <a:schemeClr val="accent1">
                    <a:lumMod val="75000"/>
                  </a:schemeClr>
                </a:solidFill>
              </a:rPr>
              <a:t>. </a:t>
            </a:r>
            <a:endParaRPr lang="en-US" sz="1600" dirty="0" smtClean="0">
              <a:solidFill>
                <a:schemeClr val="accent1">
                  <a:lumMod val="75000"/>
                </a:schemeClr>
              </a:solidFill>
            </a:endParaRPr>
          </a:p>
          <a:p>
            <a:pPr algn="just" eaLnBrk="0" hangingPunct="0"/>
            <a:endParaRPr lang="en-US" sz="1600" dirty="0">
              <a:solidFill>
                <a:schemeClr val="accent1">
                  <a:lumMod val="75000"/>
                </a:schemeClr>
              </a:solidFill>
            </a:endParaRPr>
          </a:p>
          <a:p>
            <a:pPr algn="just" eaLnBrk="0" hangingPunct="0"/>
            <a:r>
              <a:rPr lang="en-US" sz="1600" dirty="0" smtClean="0">
                <a:solidFill>
                  <a:schemeClr val="accent1">
                    <a:lumMod val="75000"/>
                  </a:schemeClr>
                </a:solidFill>
              </a:rPr>
              <a:t>Both </a:t>
            </a:r>
            <a:r>
              <a:rPr lang="en-US" sz="1600" dirty="0">
                <a:solidFill>
                  <a:schemeClr val="accent1">
                    <a:lumMod val="75000"/>
                  </a:schemeClr>
                </a:solidFill>
              </a:rPr>
              <a:t>avenues get you to the same </a:t>
            </a:r>
            <a:r>
              <a:rPr lang="en-US" sz="1600" dirty="0" smtClean="0">
                <a:solidFill>
                  <a:schemeClr val="accent1">
                    <a:lumMod val="75000"/>
                  </a:schemeClr>
                </a:solidFill>
              </a:rPr>
              <a:t>place - the </a:t>
            </a:r>
            <a:r>
              <a:rPr lang="en-US" sz="1600" dirty="0">
                <a:solidFill>
                  <a:schemeClr val="accent1">
                    <a:lumMod val="75000"/>
                  </a:schemeClr>
                </a:solidFill>
              </a:rPr>
              <a:t>Function Arguments dialog box. The Function Arguments dialog box enables you to specify the arguments to be used by the function. This can require that you specify a range of cells or individual cell addresses. Because the Function Arguments dialog box provides separate input boxes for the required arguments for the function, you can use the mouse to easily specify the arguments directly on the worksheet. This can greatly cut down on the possibility of specifying the wrong range or cell address in the function</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algn="just" eaLnBrk="0" hangingPunct="0"/>
            <a:r>
              <a:rPr lang="en-US" sz="1600" dirty="0">
                <a:solidFill>
                  <a:schemeClr val="accent1">
                    <a:lumMod val="75000"/>
                  </a:schemeClr>
                </a:solidFill>
              </a:rPr>
              <a:t>Although using the Function Arguments dialog box is relatively straightforward, some of the more commonly used functions, such as SUM, AVERAGE, and other statistical functions such as MAX (maximum) and MIN (minimum), can be inserted in a more direct way via the </a:t>
            </a:r>
            <a:r>
              <a:rPr lang="en-US" sz="1600" b="1" dirty="0">
                <a:solidFill>
                  <a:srgbClr val="C00000"/>
                </a:solidFill>
              </a:rPr>
              <a:t>AutoSum command</a:t>
            </a:r>
            <a:r>
              <a:rPr lang="en-US" sz="1600" dirty="0">
                <a:solidFill>
                  <a:schemeClr val="accent1">
                    <a:lumMod val="75000"/>
                  </a:schemeClr>
                </a:solidFill>
              </a:rPr>
              <a:t>. </a:t>
            </a: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333" y="5562600"/>
            <a:ext cx="8168981" cy="962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55067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AutoSum</a:t>
            </a:r>
          </a:p>
        </p:txBody>
      </p:sp>
      <p:sp>
        <p:nvSpPr>
          <p:cNvPr id="3" name="object 3"/>
          <p:cNvSpPr txBox="1"/>
          <p:nvPr/>
        </p:nvSpPr>
        <p:spPr>
          <a:xfrm>
            <a:off x="457200" y="1905000"/>
            <a:ext cx="3657600" cy="3952364"/>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insert the SUM function into a worksheet using the AutoSum command on the ribbon’s Home tab or the AutoSum command in the Function Library group of the ribbon’s Formulas tab. Select the cell where you want to place the SUM function.</a:t>
            </a:r>
          </a:p>
          <a:p>
            <a:pPr algn="just" eaLnBrk="0" hangingPunct="0"/>
            <a:r>
              <a:rPr lang="en-US" sz="1600" dirty="0">
                <a:solidFill>
                  <a:schemeClr val="accent1">
                    <a:lumMod val="75000"/>
                  </a:schemeClr>
                </a:solidFill>
              </a:rPr>
              <a:t>Typically, you choose a cell that is at the bottom of a column of values or at the end of a row of data. </a:t>
            </a:r>
            <a:endParaRPr lang="en-US" sz="1600" dirty="0" smtClean="0">
              <a:solidFill>
                <a:schemeClr val="accent1">
                  <a:lumMod val="75000"/>
                </a:schemeClr>
              </a:solidFill>
            </a:endParaRPr>
          </a:p>
          <a:p>
            <a:pPr algn="just" eaLnBrk="0" hangingPunct="0"/>
            <a:r>
              <a:rPr lang="en-US" sz="1600" dirty="0" smtClean="0">
                <a:solidFill>
                  <a:schemeClr val="accent1">
                    <a:lumMod val="75000"/>
                  </a:schemeClr>
                </a:solidFill>
              </a:rPr>
              <a:t>When </a:t>
            </a:r>
            <a:r>
              <a:rPr lang="en-US" sz="1600" dirty="0">
                <a:solidFill>
                  <a:schemeClr val="accent1">
                    <a:lumMod val="75000"/>
                  </a:schemeClr>
                </a:solidFill>
              </a:rPr>
              <a:t>you select the AutoSum command, AutoSum </a:t>
            </a:r>
            <a:r>
              <a:rPr lang="en-US" sz="1600" dirty="0" smtClean="0">
                <a:solidFill>
                  <a:schemeClr val="accent1">
                    <a:lumMod val="75000"/>
                  </a:schemeClr>
                </a:solidFill>
              </a:rPr>
              <a:t>inserts</a:t>
            </a:r>
          </a:p>
          <a:p>
            <a:pPr algn="just" eaLnBrk="0" hangingPunct="0"/>
            <a:r>
              <a:rPr lang="en-US" sz="1600" b="1" dirty="0" smtClean="0">
                <a:solidFill>
                  <a:schemeClr val="accent1">
                    <a:lumMod val="75000"/>
                  </a:schemeClr>
                </a:solidFill>
              </a:rPr>
              <a:t>=</a:t>
            </a:r>
            <a:r>
              <a:rPr lang="en-US" sz="1600" b="1" dirty="0">
                <a:solidFill>
                  <a:schemeClr val="accent1">
                    <a:lumMod val="75000"/>
                  </a:schemeClr>
                </a:solidFill>
              </a:rPr>
              <a:t>SUM </a:t>
            </a:r>
            <a:endParaRPr lang="en-US" sz="1600" b="1" dirty="0" smtClean="0">
              <a:solidFill>
                <a:schemeClr val="accent1">
                  <a:lumMod val="75000"/>
                </a:schemeClr>
              </a:solidFill>
            </a:endParaRPr>
          </a:p>
          <a:p>
            <a:pPr algn="just" eaLnBrk="0" hangingPunct="0"/>
            <a:r>
              <a:rPr lang="en-US" sz="1600" dirty="0" smtClean="0">
                <a:solidFill>
                  <a:schemeClr val="accent1">
                    <a:lumMod val="75000"/>
                  </a:schemeClr>
                </a:solidFill>
              </a:rPr>
              <a:t>and </a:t>
            </a:r>
            <a:r>
              <a:rPr lang="en-US" sz="1600" dirty="0">
                <a:solidFill>
                  <a:schemeClr val="accent1">
                    <a:lumMod val="75000"/>
                  </a:schemeClr>
                </a:solidFill>
              </a:rPr>
              <a:t>selects the range of cells to be included in the function. The range is also speciﬁed in the </a:t>
            </a:r>
            <a:r>
              <a:rPr lang="en-US" sz="1600" dirty="0" smtClean="0">
                <a:solidFill>
                  <a:schemeClr val="accent1">
                    <a:lumMod val="75000"/>
                  </a:schemeClr>
                </a:solidFill>
              </a:rPr>
              <a:t>function.</a:t>
            </a:r>
            <a:endParaRPr lang="en-US" sz="1600" dirty="0">
              <a:solidFill>
                <a:schemeClr val="accent1">
                  <a:lumMod val="75000"/>
                </a:schemeClr>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538826"/>
            <a:ext cx="4227512" cy="46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21137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Insert Function dialog box</a:t>
            </a:r>
          </a:p>
        </p:txBody>
      </p:sp>
      <p:sp>
        <p:nvSpPr>
          <p:cNvPr id="3" name="object 3"/>
          <p:cNvSpPr txBox="1"/>
          <p:nvPr/>
        </p:nvSpPr>
        <p:spPr bwMode="gray">
          <a:xfrm>
            <a:off x="533399" y="1295400"/>
            <a:ext cx="8188325" cy="1243930"/>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The </a:t>
            </a:r>
            <a:r>
              <a:rPr lang="en-US" sz="1600" dirty="0">
                <a:solidFill>
                  <a:schemeClr val="accent1">
                    <a:lumMod val="75000"/>
                  </a:schemeClr>
                </a:solidFill>
              </a:rPr>
              <a:t>Insert Function dialog box can be accessed via the AutoSum drop-down menu; select the </a:t>
            </a:r>
            <a:r>
              <a:rPr lang="en-US" sz="1600" b="1" dirty="0">
                <a:solidFill>
                  <a:schemeClr val="accent1">
                    <a:lumMod val="75000"/>
                  </a:schemeClr>
                </a:solidFill>
              </a:rPr>
              <a:t>AutoSum</a:t>
            </a:r>
            <a:r>
              <a:rPr lang="en-US" sz="1600" dirty="0">
                <a:solidFill>
                  <a:schemeClr val="accent1">
                    <a:lumMod val="75000"/>
                  </a:schemeClr>
                </a:solidFill>
              </a:rPr>
              <a:t> drop-down arrow on the Home tab of the ribbon and then select </a:t>
            </a:r>
            <a:r>
              <a:rPr lang="en-US" sz="1600" b="1" dirty="0">
                <a:solidFill>
                  <a:schemeClr val="accent1">
                    <a:lumMod val="75000"/>
                  </a:schemeClr>
                </a:solidFill>
              </a:rPr>
              <a:t>More Functions. </a:t>
            </a:r>
            <a:endParaRPr lang="en-US" sz="1600" b="1" dirty="0" smtClean="0">
              <a:solidFill>
                <a:schemeClr val="accent1">
                  <a:lumMod val="75000"/>
                </a:schemeClr>
              </a:solidFill>
            </a:endParaRPr>
          </a:p>
          <a:p>
            <a:pPr algn="just"/>
            <a:r>
              <a:rPr lang="en-US" sz="1600" dirty="0" smtClean="0">
                <a:solidFill>
                  <a:schemeClr val="accent1">
                    <a:lumMod val="75000"/>
                  </a:schemeClr>
                </a:solidFill>
              </a:rPr>
              <a:t>You </a:t>
            </a:r>
            <a:r>
              <a:rPr lang="en-US" sz="1600" dirty="0">
                <a:solidFill>
                  <a:schemeClr val="accent1">
                    <a:lumMod val="75000"/>
                  </a:schemeClr>
                </a:solidFill>
              </a:rPr>
              <a:t>can also access the Insert Function dialog box from the </a:t>
            </a:r>
            <a:r>
              <a:rPr lang="en-US" sz="1600" b="1" dirty="0">
                <a:solidFill>
                  <a:schemeClr val="accent1">
                    <a:lumMod val="75000"/>
                  </a:schemeClr>
                </a:solidFill>
              </a:rPr>
              <a:t>Insert Function command on the ribbon’s Formulas tab</a:t>
            </a:r>
            <a:r>
              <a:rPr lang="en-US" sz="1600" dirty="0">
                <a:solidFill>
                  <a:schemeClr val="accent1">
                    <a:lumMod val="75000"/>
                  </a:schemeClr>
                </a:solidFill>
              </a:rPr>
              <a:t>. In either case, the Insert Function dialog box opens</a:t>
            </a:r>
            <a:endParaRPr lang="en-US" sz="1600" b="1" dirty="0" smtClean="0">
              <a:solidFill>
                <a:schemeClr val="accent1">
                  <a:lumMod val="75000"/>
                </a:schemeClr>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895600"/>
            <a:ext cx="4412192"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16400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Function Library</a:t>
            </a:r>
          </a:p>
        </p:txBody>
      </p:sp>
      <p:sp>
        <p:nvSpPr>
          <p:cNvPr id="3" name="object 3"/>
          <p:cNvSpPr txBox="1"/>
          <p:nvPr/>
        </p:nvSpPr>
        <p:spPr bwMode="gray">
          <a:xfrm>
            <a:off x="457200" y="1600200"/>
            <a:ext cx="8188325" cy="321370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Another </a:t>
            </a:r>
            <a:r>
              <a:rPr lang="en-US" sz="1600" dirty="0">
                <a:solidFill>
                  <a:schemeClr val="accent1">
                    <a:lumMod val="75000"/>
                  </a:schemeClr>
                </a:solidFill>
              </a:rPr>
              <a:t>alternative for inserting a function into a sheet is to use the function category commands that are provided in the Function Library group on the ribbon’s Formulas tab. The Function Library group also provides access to  the  </a:t>
            </a:r>
            <a:r>
              <a:rPr lang="en-US" sz="1600" b="1" dirty="0">
                <a:solidFill>
                  <a:schemeClr val="accent1">
                    <a:lumMod val="75000"/>
                  </a:schemeClr>
                </a:solidFill>
              </a:rPr>
              <a:t>Recently Used command</a:t>
            </a:r>
            <a:r>
              <a:rPr lang="en-US" sz="1600" dirty="0">
                <a:solidFill>
                  <a:schemeClr val="accent1">
                    <a:lumMod val="75000"/>
                  </a:schemeClr>
                </a:solidFill>
              </a:rPr>
              <a:t>, which lists recently used functions as well as  the Insert Function command and </a:t>
            </a:r>
            <a:r>
              <a:rPr lang="en-US" sz="1600" dirty="0" smtClean="0">
                <a:solidFill>
                  <a:schemeClr val="accent1">
                    <a:lumMod val="75000"/>
                  </a:schemeClr>
                </a:solidFill>
              </a:rPr>
              <a:t>the </a:t>
            </a:r>
            <a:r>
              <a:rPr lang="en-US" sz="1600" dirty="0">
                <a:solidFill>
                  <a:schemeClr val="accent1">
                    <a:lumMod val="75000"/>
                  </a:schemeClr>
                </a:solidFill>
              </a:rPr>
              <a:t>AutoSum  command, which has a drop-down menu that includes other statistical functions, such as AVERAGE and MIN.</a:t>
            </a:r>
          </a:p>
          <a:p>
            <a:pPr eaLnBrk="0" hangingPunct="0"/>
            <a:r>
              <a:rPr lang="en-US" sz="1600" dirty="0">
                <a:solidFill>
                  <a:schemeClr val="accent1">
                    <a:lumMod val="75000"/>
                  </a:schemeClr>
                </a:solidFill>
              </a:rPr>
              <a:t>Each of the Function Library categories provides access to an entire category of functions. The command groups on the Formulas tab are as follows</a:t>
            </a:r>
            <a:r>
              <a:rPr lang="en-US" sz="1600" dirty="0" smtClean="0">
                <a:solidFill>
                  <a:schemeClr val="accent1">
                    <a:lumMod val="75000"/>
                  </a:schemeClr>
                </a:solidFill>
              </a:rPr>
              <a:t>:</a:t>
            </a:r>
          </a:p>
          <a:p>
            <a:pPr lvl="1" eaLnBrk="0" hangingPunct="0"/>
            <a:endParaRPr lang="en-US" sz="1600" dirty="0" smtClean="0">
              <a:solidFill>
                <a:schemeClr val="accent1">
                  <a:lumMod val="75000"/>
                </a:schemeClr>
              </a:solidFill>
            </a:endParaRPr>
          </a:p>
          <a:p>
            <a:pPr marL="742950" lvl="1" indent="-285750" eaLnBrk="0" hangingPunct="0">
              <a:buFont typeface="Arial" panose="020B0604020202020204" pitchFamily="34" charset="0"/>
              <a:buChar char="•"/>
            </a:pPr>
            <a:r>
              <a:rPr lang="en-US" sz="1600" dirty="0">
                <a:solidFill>
                  <a:schemeClr val="accent1">
                    <a:lumMod val="75000"/>
                  </a:schemeClr>
                </a:solidFill>
              </a:rPr>
              <a:t>Function </a:t>
            </a:r>
            <a:r>
              <a:rPr lang="en-US" sz="1600" dirty="0" smtClean="0">
                <a:solidFill>
                  <a:schemeClr val="accent1">
                    <a:lumMod val="75000"/>
                  </a:schemeClr>
                </a:solidFill>
              </a:rPr>
              <a:t>Library</a:t>
            </a:r>
            <a:endParaRPr lang="en-US" sz="1600" dirty="0">
              <a:solidFill>
                <a:schemeClr val="accent1">
                  <a:lumMod val="75000"/>
                </a:schemeClr>
              </a:solidFill>
            </a:endParaRPr>
          </a:p>
          <a:p>
            <a:pPr marL="742950" lvl="1" indent="-285750" eaLnBrk="0" hangingPunct="0">
              <a:buFont typeface="Arial" panose="020B0604020202020204" pitchFamily="34" charset="0"/>
              <a:buChar char="•"/>
            </a:pPr>
            <a:r>
              <a:rPr lang="en-US" sz="1600" dirty="0">
                <a:solidFill>
                  <a:schemeClr val="accent1">
                    <a:lumMod val="75000"/>
                  </a:schemeClr>
                </a:solidFill>
              </a:rPr>
              <a:t>Deﬁned </a:t>
            </a:r>
            <a:r>
              <a:rPr lang="en-US" sz="1600" dirty="0" smtClean="0">
                <a:solidFill>
                  <a:schemeClr val="accent1">
                    <a:lumMod val="75000"/>
                  </a:schemeClr>
                </a:solidFill>
              </a:rPr>
              <a:t>Names</a:t>
            </a:r>
            <a:endParaRPr lang="en-US" sz="1600" dirty="0">
              <a:solidFill>
                <a:schemeClr val="accent1">
                  <a:lumMod val="75000"/>
                </a:schemeClr>
              </a:solidFill>
            </a:endParaRPr>
          </a:p>
          <a:p>
            <a:pPr marL="742950" lvl="1" indent="-285750" eaLnBrk="0" hangingPunct="0">
              <a:buFont typeface="Arial" panose="020B0604020202020204" pitchFamily="34" charset="0"/>
              <a:buChar char="•"/>
            </a:pPr>
            <a:r>
              <a:rPr lang="en-US" sz="1600" dirty="0">
                <a:solidFill>
                  <a:schemeClr val="accent1">
                    <a:lumMod val="75000"/>
                  </a:schemeClr>
                </a:solidFill>
              </a:rPr>
              <a:t>Formula </a:t>
            </a:r>
            <a:r>
              <a:rPr lang="en-US" sz="1600" dirty="0" smtClean="0">
                <a:solidFill>
                  <a:schemeClr val="accent1">
                    <a:lumMod val="75000"/>
                  </a:schemeClr>
                </a:solidFill>
              </a:rPr>
              <a:t>Auditing</a:t>
            </a:r>
            <a:endParaRPr lang="en-US" sz="1600" dirty="0">
              <a:solidFill>
                <a:schemeClr val="accent1">
                  <a:lumMod val="75000"/>
                </a:schemeClr>
              </a:solidFill>
            </a:endParaRPr>
          </a:p>
          <a:p>
            <a:pPr marL="742950" lvl="1" indent="-285750" eaLnBrk="0" hangingPunct="0">
              <a:buFont typeface="Arial" panose="020B0604020202020204" pitchFamily="34" charset="0"/>
              <a:buChar char="•"/>
            </a:pPr>
            <a:r>
              <a:rPr lang="en-US" sz="1600" dirty="0" smtClean="0">
                <a:solidFill>
                  <a:schemeClr val="accent1">
                    <a:lumMod val="75000"/>
                  </a:schemeClr>
                </a:solidFill>
              </a:rPr>
              <a:t>Calculation</a:t>
            </a:r>
            <a:endParaRPr lang="en-US" sz="1600" dirty="0">
              <a:solidFill>
                <a:schemeClr val="accent1">
                  <a:lumMod val="75000"/>
                </a:schemeClr>
              </a:solidFill>
            </a:endParaRPr>
          </a:p>
        </p:txBody>
      </p:sp>
      <p:pic>
        <p:nvPicPr>
          <p:cNvPr id="512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544" y="5257800"/>
            <a:ext cx="8168981" cy="962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44484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a:t>
            </a:r>
            <a:r>
              <a:rPr lang="en-US" dirty="0" smtClean="0">
                <a:latin typeface="Comic Sans MS" panose="030F0702030302020204" pitchFamily="66" charset="0"/>
              </a:rPr>
              <a:t>Function Library </a:t>
            </a:r>
            <a:r>
              <a:rPr lang="en-US" sz="1400" b="0" i="1" dirty="0" smtClean="0">
                <a:latin typeface="Comic Sans MS" panose="030F0702030302020204" pitchFamily="66" charset="0"/>
              </a:rPr>
              <a:t>(cont.)</a:t>
            </a:r>
            <a:endParaRPr lang="en-US" sz="1400" b="0" i="1" dirty="0">
              <a:latin typeface="Comic Sans MS" panose="030F0702030302020204" pitchFamily="66" charset="0"/>
            </a:endParaRPr>
          </a:p>
        </p:txBody>
      </p:sp>
      <p:sp>
        <p:nvSpPr>
          <p:cNvPr id="3" name="object 3"/>
          <p:cNvSpPr txBox="1"/>
          <p:nvPr/>
        </p:nvSpPr>
        <p:spPr bwMode="gray">
          <a:xfrm>
            <a:off x="457200" y="1371600"/>
            <a:ext cx="8188325" cy="751488"/>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To take advantage of the Function Library, select a function category to view the functions in that category. Place the mouse on a function (in a </a:t>
            </a:r>
            <a:r>
              <a:rPr lang="en-US" sz="1600" b="1" dirty="0">
                <a:solidFill>
                  <a:schemeClr val="accent1">
                    <a:lumMod val="75000"/>
                  </a:schemeClr>
                </a:solidFill>
              </a:rPr>
              <a:t>category list</a:t>
            </a:r>
            <a:r>
              <a:rPr lang="en-US" sz="1600" dirty="0">
                <a:solidFill>
                  <a:schemeClr val="accent1">
                    <a:lumMod val="75000"/>
                  </a:schemeClr>
                </a:solidFill>
              </a:rPr>
              <a:t>). A ScreenTip appears that provides you with a brief description of the function.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599" y="2590801"/>
            <a:ext cx="4532337"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32638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Copying, moving, and deleting cell contents</a:t>
            </a:r>
          </a:p>
        </p:txBody>
      </p:sp>
      <p:sp>
        <p:nvSpPr>
          <p:cNvPr id="3" name="object 3"/>
          <p:cNvSpPr txBox="1"/>
          <p:nvPr/>
        </p:nvSpPr>
        <p:spPr bwMode="gray">
          <a:xfrm>
            <a:off x="533400" y="1295400"/>
            <a:ext cx="7924800" cy="1982594"/>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After you locate the function that you want to insert into the worksheet, select the function in the gallery. The Function Arguments dialog box </a:t>
            </a:r>
            <a:r>
              <a:rPr lang="en-US" sz="1600" dirty="0" smtClean="0">
                <a:solidFill>
                  <a:schemeClr val="accent1">
                    <a:lumMod val="75000"/>
                  </a:schemeClr>
                </a:solidFill>
              </a:rPr>
              <a:t>opens. In Figure, the IF function is shown, which requires that a logical test </a:t>
            </a:r>
            <a:r>
              <a:rPr lang="en-US" sz="1600" dirty="0">
                <a:solidFill>
                  <a:schemeClr val="accent1">
                    <a:lumMod val="75000"/>
                  </a:schemeClr>
                </a:solidFill>
              </a:rPr>
              <a:t>be provided along with a value if true and a value if false. The logical test can include cell addresses, operators, and a  constant, if needed. The value if true can be a calculation, a cell address, or a text string. When you include text strings in functions, you need to place quotation marks around the text.</a:t>
            </a:r>
          </a:p>
          <a:p>
            <a:pPr algn="just" eaLnBrk="0" hangingPunct="0"/>
            <a:endParaRPr lang="en-US" sz="1600" b="1" dirty="0">
              <a:solidFill>
                <a:schemeClr val="accent1">
                  <a:lumMod val="75000"/>
                </a:schemeClr>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733800"/>
            <a:ext cx="7467600" cy="249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13739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535403"/>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Inserting a range name into a formula</a:t>
            </a:r>
            <a:r>
              <a:rPr lang="en-US" dirty="0"/>
              <a:t/>
            </a:r>
            <a:br>
              <a:rPr lang="en-US" dirty="0"/>
            </a:br>
            <a:endParaRPr lang="en-US" sz="1400" b="0" i="1" dirty="0">
              <a:latin typeface="Comic Sans MS" panose="030F0702030302020204" pitchFamily="66" charset="0"/>
            </a:endParaRPr>
          </a:p>
        </p:txBody>
      </p:sp>
      <p:sp>
        <p:nvSpPr>
          <p:cNvPr id="3" name="object 3"/>
          <p:cNvSpPr txBox="1"/>
          <p:nvPr/>
        </p:nvSpPr>
        <p:spPr bwMode="gray">
          <a:xfrm>
            <a:off x="533400" y="1371600"/>
            <a:ext cx="8077200" cy="2752035"/>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You </a:t>
            </a:r>
            <a:r>
              <a:rPr lang="en-US" sz="1600" dirty="0">
                <a:solidFill>
                  <a:schemeClr val="accent1">
                    <a:lumMod val="75000"/>
                  </a:schemeClr>
                </a:solidFill>
              </a:rPr>
              <a:t>can insert range names into your formulas as you create them in a cell. Begin the formula by typing the equal sign ( </a:t>
            </a:r>
            <a:r>
              <a:rPr lang="en-US" sz="1600" b="1" dirty="0" smtClean="0">
                <a:solidFill>
                  <a:schemeClr val="accent1">
                    <a:lumMod val="75000"/>
                  </a:schemeClr>
                </a:solidFill>
              </a:rPr>
              <a:t>= </a:t>
            </a:r>
            <a:r>
              <a:rPr lang="en-US" sz="1600" dirty="0" smtClean="0">
                <a:solidFill>
                  <a:schemeClr val="accent1">
                    <a:lumMod val="75000"/>
                  </a:schemeClr>
                </a:solidFill>
              </a:rPr>
              <a:t>); </a:t>
            </a:r>
            <a:r>
              <a:rPr lang="en-US" sz="1600" dirty="0">
                <a:solidFill>
                  <a:schemeClr val="accent1">
                    <a:lumMod val="75000"/>
                  </a:schemeClr>
                </a:solidFill>
              </a:rPr>
              <a:t>specify any cell addresses to be included in the formula by clicking that cell or selecting the cell range. Add operators as needed to the formula. When you want to specify an argument by range name, select the </a:t>
            </a:r>
            <a:r>
              <a:rPr lang="en-US" sz="1600" b="1" dirty="0">
                <a:solidFill>
                  <a:schemeClr val="accent1">
                    <a:lumMod val="75000"/>
                  </a:schemeClr>
                </a:solidFill>
              </a:rPr>
              <a:t>Use In Formula command </a:t>
            </a:r>
            <a:r>
              <a:rPr lang="en-US" sz="1600" dirty="0">
                <a:solidFill>
                  <a:schemeClr val="accent1">
                    <a:lumMod val="75000"/>
                  </a:schemeClr>
                </a:solidFill>
              </a:rPr>
              <a:t>and select the range name from the list provided. </a:t>
            </a:r>
            <a:r>
              <a:rPr lang="en-US" sz="1600" dirty="0" smtClean="0">
                <a:solidFill>
                  <a:schemeClr val="accent1">
                    <a:lumMod val="75000"/>
                  </a:schemeClr>
                </a:solidFill>
              </a:rPr>
              <a:t>The </a:t>
            </a:r>
            <a:r>
              <a:rPr lang="en-US" sz="1600" dirty="0">
                <a:solidFill>
                  <a:schemeClr val="accent1">
                    <a:lumMod val="75000"/>
                  </a:schemeClr>
                </a:solidFill>
              </a:rPr>
              <a:t>Commission Percentage range name, which is the range name for cell F18 (the commission percentage value), is pasted into the formula</a:t>
            </a:r>
            <a:r>
              <a:rPr lang="en-US" sz="1600" dirty="0" smtClean="0">
                <a:solidFill>
                  <a:schemeClr val="accent1">
                    <a:lumMod val="75000"/>
                  </a:schemeClr>
                </a:solidFill>
              </a:rPr>
              <a:t>.</a:t>
            </a:r>
            <a:r>
              <a:rPr lang="en-US" dirty="0"/>
              <a:t> </a:t>
            </a:r>
            <a:r>
              <a:rPr lang="en-US" sz="1600" dirty="0">
                <a:solidFill>
                  <a:schemeClr val="accent1">
                    <a:lumMod val="75000"/>
                  </a:schemeClr>
                </a:solidFill>
              </a:rPr>
              <a:t>If you need to paste additional range names into the formula, repeat the process using the Use In Formula command. Press Enter when you have ﬁnished creating the formula.</a:t>
            </a:r>
          </a:p>
          <a:p>
            <a:pPr algn="just" eaLnBrk="0" hangingPunct="0"/>
            <a:endParaRPr lang="en-US" sz="1600" dirty="0">
              <a:solidFill>
                <a:schemeClr val="accent1">
                  <a:lumMod val="75000"/>
                </a:schemeClr>
              </a:solidFill>
            </a:endParaRPr>
          </a:p>
          <a:p>
            <a:pPr algn="just" eaLnBrk="0" hangingPunct="0"/>
            <a:endParaRPr lang="en-US" sz="1600" b="1" dirty="0">
              <a:solidFill>
                <a:schemeClr val="accent1">
                  <a:lumMod val="75000"/>
                </a:schemeClr>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6296" y="3886200"/>
            <a:ext cx="5503041"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12234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Referencing cells or ranges on other worksheets</a:t>
            </a:r>
          </a:p>
        </p:txBody>
      </p:sp>
      <p:sp>
        <p:nvSpPr>
          <p:cNvPr id="3" name="object 3"/>
          <p:cNvSpPr txBox="1"/>
          <p:nvPr/>
        </p:nvSpPr>
        <p:spPr bwMode="gray">
          <a:xfrm>
            <a:off x="609600" y="1219200"/>
            <a:ext cx="8001000" cy="2228815"/>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When </a:t>
            </a:r>
            <a:r>
              <a:rPr lang="en-US" sz="1600" dirty="0">
                <a:solidFill>
                  <a:schemeClr val="accent1">
                    <a:lumMod val="75000"/>
                  </a:schemeClr>
                </a:solidFill>
              </a:rPr>
              <a:t>you work in situations where data that spans more than one sheet in an Excel workbook must be summarized, you need to include cell references in a formula or function that consist of cell addresses or ranges that are not on the current worksheet (the worksheet that contains the formula or function). </a:t>
            </a:r>
            <a:r>
              <a:rPr lang="en-US" sz="1600" dirty="0" smtClean="0">
                <a:solidFill>
                  <a:schemeClr val="accent1">
                    <a:lumMod val="75000"/>
                  </a:schemeClr>
                </a:solidFill>
              </a:rPr>
              <a:t>Here </a:t>
            </a:r>
            <a:r>
              <a:rPr lang="en-US" sz="1600" dirty="0">
                <a:solidFill>
                  <a:schemeClr val="accent1">
                    <a:lumMod val="75000"/>
                  </a:schemeClr>
                </a:solidFill>
              </a:rPr>
              <a:t>is the syntax for a cell reference on a worksheet that is in the same workbook as the sheet you are working on:</a:t>
            </a:r>
          </a:p>
          <a:p>
            <a:pPr algn="just" eaLnBrk="0" hangingPunct="0"/>
            <a:r>
              <a:rPr lang="en-US" sz="1600" b="1" dirty="0">
                <a:solidFill>
                  <a:schemeClr val="accent1">
                    <a:lumMod val="75000"/>
                  </a:schemeClr>
                </a:solidFill>
              </a:rPr>
              <a:t>'sheet name'! cell </a:t>
            </a:r>
            <a:r>
              <a:rPr lang="en-US" sz="1600" b="1" dirty="0" smtClean="0">
                <a:solidFill>
                  <a:schemeClr val="accent1">
                    <a:lumMod val="75000"/>
                  </a:schemeClr>
                </a:solidFill>
              </a:rPr>
              <a:t>address.</a:t>
            </a:r>
            <a:endParaRPr lang="en-US" sz="1600" b="1" dirty="0">
              <a:solidFill>
                <a:schemeClr val="accent1">
                  <a:lumMod val="75000"/>
                </a:schemeClr>
              </a:solidFill>
            </a:endParaRPr>
          </a:p>
          <a:p>
            <a:pPr algn="just" eaLnBrk="0" hangingPunct="0"/>
            <a:r>
              <a:rPr lang="en-US" sz="1600" dirty="0" smtClean="0">
                <a:solidFill>
                  <a:schemeClr val="accent1">
                    <a:lumMod val="75000"/>
                  </a:schemeClr>
                </a:solidFill>
              </a:rPr>
              <a:t>Figure shows </a:t>
            </a:r>
            <a:r>
              <a:rPr lang="en-US" sz="1600" dirty="0">
                <a:solidFill>
                  <a:schemeClr val="accent1">
                    <a:lumMod val="75000"/>
                  </a:schemeClr>
                </a:solidFill>
              </a:rPr>
              <a:t>a function and a formula that reference cell addresses on other worksheets in the workbook. Specifying </a:t>
            </a:r>
            <a:r>
              <a:rPr lang="en-US" sz="1600" dirty="0" smtClean="0">
                <a:solidFill>
                  <a:schemeClr val="accent1">
                    <a:lumMod val="75000"/>
                  </a:schemeClr>
                </a:solidFill>
              </a:rPr>
              <a:t>these </a:t>
            </a:r>
            <a:r>
              <a:rPr lang="en-US" sz="1600" dirty="0">
                <a:solidFill>
                  <a:schemeClr val="accent1">
                    <a:lumMod val="75000"/>
                  </a:schemeClr>
                </a:solidFill>
              </a:rPr>
              <a:t>addresses using the point-and-click method  is  much easier than trying to type the cell references into the formula or function.</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154" y="3886200"/>
            <a:ext cx="6305892"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46047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Choosing the right function</a:t>
            </a:r>
            <a:endParaRPr lang="en-US" dirty="0">
              <a:latin typeface="Comic Sans MS" panose="030F0702030302020204" pitchFamily="66" charset="0"/>
            </a:endParaRPr>
          </a:p>
        </p:txBody>
      </p:sp>
      <p:sp>
        <p:nvSpPr>
          <p:cNvPr id="3" name="object 3"/>
          <p:cNvSpPr txBox="1"/>
          <p:nvPr/>
        </p:nvSpPr>
        <p:spPr bwMode="gray">
          <a:xfrm>
            <a:off x="457200" y="1752600"/>
            <a:ext cx="8153400" cy="2628925"/>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Excel </a:t>
            </a:r>
            <a:r>
              <a:rPr lang="en-US" sz="1600" dirty="0">
                <a:solidFill>
                  <a:schemeClr val="accent1">
                    <a:lumMod val="75000"/>
                  </a:schemeClr>
                </a:solidFill>
              </a:rPr>
              <a:t>functions provide you with ready-made formulas for just about any type of calculation you want to undertake. Statistical, Financial, and Math &amp; Trig  are all examples of function categories that supply functions that perform calculations</a:t>
            </a:r>
            <a:r>
              <a:rPr lang="en-US" sz="1600" dirty="0" smtClean="0">
                <a:solidFill>
                  <a:schemeClr val="accent1">
                    <a:lumMod val="75000"/>
                  </a:schemeClr>
                </a:solidFill>
              </a:rPr>
              <a:t>.</a:t>
            </a:r>
          </a:p>
          <a:p>
            <a:pPr algn="just" eaLnBrk="0" hangingPunct="0"/>
            <a:endParaRPr lang="en-US" sz="1600" dirty="0">
              <a:solidFill>
                <a:schemeClr val="accent1">
                  <a:lumMod val="75000"/>
                </a:schemeClr>
              </a:solidFill>
            </a:endParaRPr>
          </a:p>
          <a:p>
            <a:pPr marL="285750" indent="-285750" algn="just">
              <a:spcAft>
                <a:spcPts val="600"/>
              </a:spcAft>
              <a:buFont typeface="Arial" panose="020B0604020202020204" pitchFamily="34" charset="0"/>
              <a:buChar char="•"/>
            </a:pPr>
            <a:r>
              <a:rPr lang="en-US" sz="1600" dirty="0">
                <a:solidFill>
                  <a:schemeClr val="accent1">
                    <a:lumMod val="75000"/>
                  </a:schemeClr>
                </a:solidFill>
              </a:rPr>
              <a:t>Statistical functions, such as COUNT and AVERAGE, are designed for doing statistical analysis. </a:t>
            </a:r>
            <a:endParaRPr lang="en-US" sz="1600" dirty="0" smtClean="0">
              <a:solidFill>
                <a:schemeClr val="accent1">
                  <a:lumMod val="75000"/>
                </a:schemeClr>
              </a:solidFill>
            </a:endParaRPr>
          </a:p>
          <a:p>
            <a:pPr marL="285750" indent="-285750" algn="just">
              <a:spcAft>
                <a:spcPts val="600"/>
              </a:spcAft>
              <a:buFont typeface="Arial" panose="020B0604020202020204" pitchFamily="34" charset="0"/>
              <a:buChar char="•"/>
            </a:pPr>
            <a:r>
              <a:rPr lang="en-US" sz="1600" dirty="0" smtClean="0">
                <a:solidFill>
                  <a:schemeClr val="accent1">
                    <a:lumMod val="75000"/>
                  </a:schemeClr>
                </a:solidFill>
              </a:rPr>
              <a:t>Financial </a:t>
            </a:r>
            <a:r>
              <a:rPr lang="en-US" sz="1600" dirty="0">
                <a:solidFill>
                  <a:schemeClr val="accent1">
                    <a:lumMod val="75000"/>
                  </a:schemeClr>
                </a:solidFill>
              </a:rPr>
              <a:t>functions, such as PMT and FV, compute the monthly payment on a car or house and the return on an investment, respectively. </a:t>
            </a:r>
            <a:endParaRPr lang="en-US" sz="1600" dirty="0" smtClean="0">
              <a:solidFill>
                <a:schemeClr val="accent1">
                  <a:lumMod val="75000"/>
                </a:schemeClr>
              </a:solidFill>
            </a:endParaRPr>
          </a:p>
          <a:p>
            <a:pPr marL="285750" indent="-285750" algn="just">
              <a:spcAft>
                <a:spcPts val="600"/>
              </a:spcAft>
              <a:buFont typeface="Arial" panose="020B0604020202020204" pitchFamily="34" charset="0"/>
              <a:buChar char="•"/>
            </a:pPr>
            <a:r>
              <a:rPr lang="en-US" sz="1600" dirty="0" smtClean="0">
                <a:solidFill>
                  <a:schemeClr val="accent1">
                    <a:lumMod val="75000"/>
                  </a:schemeClr>
                </a:solidFill>
              </a:rPr>
              <a:t>Math </a:t>
            </a:r>
            <a:r>
              <a:rPr lang="en-US" sz="1600" dirty="0">
                <a:solidFill>
                  <a:schemeClr val="accent1">
                    <a:lumMod val="75000"/>
                  </a:schemeClr>
                </a:solidFill>
              </a:rPr>
              <a:t>&amp; Trig functions, such as SINE and COS, return the sine and cosine of an angle, </a:t>
            </a:r>
            <a:r>
              <a:rPr lang="en-US" sz="1600" dirty="0" smtClean="0">
                <a:solidFill>
                  <a:schemeClr val="accent1">
                    <a:lumMod val="75000"/>
                  </a:schemeClr>
                </a:solidFill>
              </a:rPr>
              <a:t>respectively.</a:t>
            </a:r>
            <a:endParaRPr lang="en-US" sz="1600" dirty="0">
              <a:solidFill>
                <a:schemeClr val="accent1">
                  <a:lumMod val="75000"/>
                </a:schemeClr>
              </a:solidFill>
            </a:endParaRPr>
          </a:p>
        </p:txBody>
      </p:sp>
    </p:spTree>
    <p:extLst>
      <p:ext uri="{BB962C8B-B14F-4D97-AF65-F5344CB8AC3E}">
        <p14:creationId xmlns:p14="http://schemas.microsoft.com/office/powerpoint/2010/main" val="8154274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Financial functions</a:t>
            </a:r>
          </a:p>
        </p:txBody>
      </p:sp>
      <p:sp>
        <p:nvSpPr>
          <p:cNvPr id="3" name="object 3"/>
          <p:cNvSpPr txBox="1"/>
          <p:nvPr/>
        </p:nvSpPr>
        <p:spPr bwMode="gray">
          <a:xfrm>
            <a:off x="609600" y="1295400"/>
            <a:ext cx="8001000" cy="3459922"/>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The </a:t>
            </a:r>
            <a:r>
              <a:rPr lang="en-US" sz="1600" dirty="0">
                <a:solidFill>
                  <a:schemeClr val="accent1">
                    <a:lumMod val="75000"/>
                  </a:schemeClr>
                </a:solidFill>
              </a:rPr>
              <a:t>ﬁnancial functions provide you with the ability to do all sorts of diﬀerent ﬁnancial calculations; there are depreciation functions, ﬁnancial functions (related to securities), and investment and annuity functions. Many of these functions are related to ﬁnancial and accounting principles that require a  solid knowledge base to use them correctly. However, there are other simpler ﬁnancial functions that just about anyone can </a:t>
            </a:r>
            <a:r>
              <a:rPr lang="en-US" sz="1600" dirty="0" smtClean="0">
                <a:solidFill>
                  <a:schemeClr val="accent1">
                    <a:lumMod val="75000"/>
                  </a:schemeClr>
                </a:solidFill>
              </a:rPr>
              <a:t>take </a:t>
            </a:r>
            <a:r>
              <a:rPr lang="en-US" sz="1600" dirty="0">
                <a:solidFill>
                  <a:schemeClr val="accent1">
                    <a:lumMod val="75000"/>
                  </a:schemeClr>
                </a:solidFill>
              </a:rPr>
              <a:t>advantage of. For example, you can easily calculate the monthly payments on loans, compute the present value of an investment, and determine the future value of an investment.</a:t>
            </a:r>
          </a:p>
          <a:p>
            <a:pPr algn="just" eaLnBrk="0" hangingPunct="0"/>
            <a:r>
              <a:rPr lang="en-US" sz="1600" dirty="0" smtClean="0">
                <a:solidFill>
                  <a:schemeClr val="accent1">
                    <a:lumMod val="75000"/>
                  </a:schemeClr>
                </a:solidFill>
              </a:rPr>
              <a:t>Another </a:t>
            </a:r>
            <a:r>
              <a:rPr lang="en-US" sz="1600" dirty="0">
                <a:solidFill>
                  <a:schemeClr val="accent1">
                    <a:lumMod val="75000"/>
                  </a:schemeClr>
                </a:solidFill>
              </a:rPr>
              <a:t>piece of information that you need to supply to a ﬁnancial function such as PV is the total number of payment periods in the investment, or </a:t>
            </a:r>
            <a:r>
              <a:rPr lang="en-US" sz="1600" dirty="0" err="1">
                <a:solidFill>
                  <a:schemeClr val="accent1">
                    <a:lumMod val="75000"/>
                  </a:schemeClr>
                </a:solidFill>
              </a:rPr>
              <a:t>Nper</a:t>
            </a:r>
            <a:r>
              <a:rPr lang="en-US" sz="1600" dirty="0">
                <a:solidFill>
                  <a:schemeClr val="accent1">
                    <a:lumMod val="75000"/>
                  </a:schemeClr>
                </a:solidFill>
              </a:rPr>
              <a:t>; the </a:t>
            </a:r>
            <a:r>
              <a:rPr lang="en-US" sz="1600" dirty="0" err="1">
                <a:solidFill>
                  <a:schemeClr val="accent1">
                    <a:lumMod val="75000"/>
                  </a:schemeClr>
                </a:solidFill>
              </a:rPr>
              <a:t>Nper</a:t>
            </a:r>
            <a:r>
              <a:rPr lang="en-US" sz="1600" dirty="0">
                <a:solidFill>
                  <a:schemeClr val="accent1">
                    <a:lumMod val="75000"/>
                  </a:schemeClr>
                </a:solidFill>
              </a:rPr>
              <a:t> is based on the number of payments you make annually. So, if you make monthly payments on the investment for ﬁve years, the </a:t>
            </a:r>
            <a:r>
              <a:rPr lang="en-US" sz="1600" dirty="0" err="1">
                <a:solidFill>
                  <a:schemeClr val="accent1">
                    <a:lumMod val="75000"/>
                  </a:schemeClr>
                </a:solidFill>
              </a:rPr>
              <a:t>Nper</a:t>
            </a:r>
            <a:r>
              <a:rPr lang="en-US" sz="1600" dirty="0">
                <a:solidFill>
                  <a:schemeClr val="accent1">
                    <a:lumMod val="75000"/>
                  </a:schemeClr>
                </a:solidFill>
              </a:rPr>
              <a:t> is 60 (5*12).</a:t>
            </a:r>
          </a:p>
          <a:p>
            <a:pPr algn="just" eaLnBrk="0" hangingPunct="0"/>
            <a:r>
              <a:rPr lang="en-US" sz="1600" dirty="0">
                <a:solidFill>
                  <a:schemeClr val="accent1">
                    <a:lumMod val="75000"/>
                  </a:schemeClr>
                </a:solidFill>
              </a:rPr>
              <a:t>The PV function also needs to know how much the payment was each period. For PV to work, the payment must be the same for each period during the life of the investment. </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953000"/>
            <a:ext cx="5584825"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85002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76962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Lookup &amp; reference functions</a:t>
            </a:r>
          </a:p>
        </p:txBody>
      </p:sp>
      <p:sp>
        <p:nvSpPr>
          <p:cNvPr id="3" name="object 3"/>
          <p:cNvSpPr txBox="1"/>
          <p:nvPr/>
        </p:nvSpPr>
        <p:spPr bwMode="gray">
          <a:xfrm>
            <a:off x="533400" y="1676400"/>
            <a:ext cx="8001000" cy="4444807"/>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The Lookup &amp; reference functions provide a number of diﬀerent functions, such as HYPERLINK (enables you to specify a link to a local or remote ﬁle), TRANSPOSE (converts a vertical range to a horizontal range, or vice versa), and the Lookup </a:t>
            </a:r>
            <a:r>
              <a:rPr lang="en-US" sz="1600" dirty="0" smtClean="0">
                <a:solidFill>
                  <a:schemeClr val="accent1">
                    <a:lumMod val="75000"/>
                  </a:schemeClr>
                </a:solidFill>
              </a:rPr>
              <a:t>functions</a:t>
            </a:r>
          </a:p>
          <a:p>
            <a:pPr algn="just" eaLnBrk="0" hangingPunct="0"/>
            <a:r>
              <a:rPr lang="en-US" sz="1600" dirty="0" smtClean="0">
                <a:solidFill>
                  <a:schemeClr val="accent1">
                    <a:lumMod val="75000"/>
                  </a:schemeClr>
                </a:solidFill>
              </a:rPr>
              <a:t> </a:t>
            </a: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VLOOKUP </a:t>
            </a:r>
            <a:r>
              <a:rPr lang="en-US" sz="1600" dirty="0">
                <a:solidFill>
                  <a:schemeClr val="accent1">
                    <a:lumMod val="75000"/>
                  </a:schemeClr>
                </a:solidFill>
              </a:rPr>
              <a:t>and </a:t>
            </a:r>
            <a:endParaRPr lang="en-US" sz="1600" dirty="0" smtClean="0">
              <a:solidFill>
                <a:schemeClr val="accent1">
                  <a:lumMod val="75000"/>
                </a:schemeClr>
              </a:solidFill>
            </a:endParaRPr>
          </a:p>
          <a:p>
            <a:pPr marL="742950" lvl="1" indent="-285750" algn="just" eaLnBrk="0" hangingPunct="0">
              <a:buFont typeface="Arial" panose="020B0604020202020204" pitchFamily="34" charset="0"/>
              <a:buChar char="•"/>
            </a:pPr>
            <a:r>
              <a:rPr lang="en-US" sz="1600" dirty="0" smtClean="0">
                <a:solidFill>
                  <a:schemeClr val="accent1">
                    <a:lumMod val="75000"/>
                  </a:schemeClr>
                </a:solidFill>
              </a:rPr>
              <a:t>HLOOKUP</a:t>
            </a:r>
            <a:endParaRPr lang="en-US" sz="1600" dirty="0">
              <a:solidFill>
                <a:schemeClr val="accent1">
                  <a:lumMod val="75000"/>
                </a:schemeClr>
              </a:solidFill>
            </a:endParaRPr>
          </a:p>
          <a:p>
            <a:pPr lvl="1" algn="just" eaLnBrk="0" hangingPunct="0"/>
            <a:r>
              <a:rPr lang="en-US" sz="1600" dirty="0" smtClean="0">
                <a:solidFill>
                  <a:schemeClr val="accent1">
                    <a:lumMod val="75000"/>
                  </a:schemeClr>
                </a:solidFill>
              </a:rPr>
              <a:t> </a:t>
            </a:r>
          </a:p>
          <a:p>
            <a:pPr algn="just" eaLnBrk="0" hangingPunct="0"/>
            <a:r>
              <a:rPr lang="en-US" sz="1600" dirty="0" smtClean="0">
                <a:solidFill>
                  <a:schemeClr val="accent1">
                    <a:lumMod val="75000"/>
                  </a:schemeClr>
                </a:solidFill>
              </a:rPr>
              <a:t>VLOOKUP </a:t>
            </a:r>
            <a:r>
              <a:rPr lang="en-US" sz="1600" dirty="0">
                <a:solidFill>
                  <a:schemeClr val="accent1">
                    <a:lumMod val="75000"/>
                  </a:schemeClr>
                </a:solidFill>
              </a:rPr>
              <a:t>does a vertical lookup and returns a value from an array (which is just another word for a multicolumn lookup table) based on the search criterion. For example, you can create a four-column array that contains employees’ last names in the ﬁrst column, their ﬁrst names in the second column, their departments in the third column, and the phone extension of each employee in the fourth column. It is this fourth column that serves as the information that VLOOKUP inserts into the worksheet.</a:t>
            </a:r>
          </a:p>
          <a:p>
            <a:pPr algn="just" eaLnBrk="0" hangingPunct="0"/>
            <a:r>
              <a:rPr lang="en-US" sz="1600" dirty="0">
                <a:solidFill>
                  <a:schemeClr val="accent1">
                    <a:lumMod val="75000"/>
                  </a:schemeClr>
                </a:solidFill>
              </a:rPr>
              <a:t>Place the VLOOKUP function in the Extension column of the sheet (directly to the right of the employee name column); the function then automatically looks up the phone extension based on the information in the employee name column</a:t>
            </a:r>
            <a:r>
              <a:rPr lang="en-US" sz="1600" dirty="0" smtClean="0">
                <a:solidFill>
                  <a:schemeClr val="accent1">
                    <a:lumMod val="75000"/>
                  </a:schemeClr>
                </a:solidFill>
              </a:rPr>
              <a:t>.</a:t>
            </a:r>
          </a:p>
          <a:p>
            <a:pPr algn="just" eaLnBrk="0" hangingPunct="0"/>
            <a:r>
              <a:rPr lang="en-US" sz="1600" dirty="0" smtClean="0">
                <a:solidFill>
                  <a:schemeClr val="accent1">
                    <a:lumMod val="75000"/>
                  </a:schemeClr>
                </a:solidFill>
              </a:rPr>
              <a:t> </a:t>
            </a:r>
            <a:r>
              <a:rPr lang="en-US" sz="1600" dirty="0">
                <a:solidFill>
                  <a:schemeClr val="accent1">
                    <a:lumMod val="75000"/>
                  </a:schemeClr>
                </a:solidFill>
              </a:rPr>
              <a:t/>
            </a:r>
            <a:br>
              <a:rPr lang="en-US" sz="1600" dirty="0">
                <a:solidFill>
                  <a:schemeClr val="accent1">
                    <a:lumMod val="75000"/>
                  </a:schemeClr>
                </a:solidFill>
              </a:rPr>
            </a:br>
            <a:endParaRPr lang="en-US" sz="1600" dirty="0">
              <a:solidFill>
                <a:schemeClr val="accent1">
                  <a:lumMod val="75000"/>
                </a:schemeClr>
              </a:solidFill>
            </a:endParaRPr>
          </a:p>
        </p:txBody>
      </p:sp>
    </p:spTree>
    <p:extLst>
      <p:ext uri="{BB962C8B-B14F-4D97-AF65-F5344CB8AC3E}">
        <p14:creationId xmlns:p14="http://schemas.microsoft.com/office/powerpoint/2010/main" val="29577334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solidFill>
                  <a:schemeClr val="accent1">
                    <a:lumMod val="75000"/>
                  </a:schemeClr>
                </a:solidFill>
                <a:latin typeface="Comic Sans MS" panose="030F0702030302020204" pitchFamily="66" charset="0"/>
              </a:rPr>
              <a:t>VLOOKUP function</a:t>
            </a:r>
            <a:endParaRPr lang="en-US" dirty="0">
              <a:latin typeface="Comic Sans MS" panose="030F0702030302020204" pitchFamily="66" charset="0"/>
            </a:endParaRP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038600"/>
            <a:ext cx="5181600" cy="268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457200" y="1219200"/>
            <a:ext cx="8229600" cy="3118803"/>
          </a:xfrm>
          <a:prstGeom prst="rect">
            <a:avLst/>
          </a:prstGeom>
        </p:spPr>
        <p:txBody>
          <a:bodyPr wrap="square">
            <a:spAutoFit/>
          </a:bodyPr>
          <a:lstStyle/>
          <a:p>
            <a:pPr algn="just" eaLnBrk="0" hangingPunct="0"/>
            <a:r>
              <a:rPr lang="en-US" sz="1600" dirty="0" smtClean="0">
                <a:solidFill>
                  <a:schemeClr val="accent1">
                    <a:lumMod val="75000"/>
                  </a:schemeClr>
                </a:solidFill>
              </a:rPr>
              <a:t>Figure shows </a:t>
            </a:r>
            <a:r>
              <a:rPr lang="en-US" sz="1600" dirty="0">
                <a:solidFill>
                  <a:schemeClr val="accent1">
                    <a:lumMod val="75000"/>
                  </a:schemeClr>
                </a:solidFill>
              </a:rPr>
              <a:t>a VLOOKUP function that looks up the phone extension for each employee as his or her name is entered in the ﬁrst column of the Function Results table. The Table array is in the range of A20:D26. When you specify the array in the VLOOKUP function, you do not include the column </a:t>
            </a:r>
            <a:r>
              <a:rPr lang="en-US" sz="1600" dirty="0" smtClean="0">
                <a:solidFill>
                  <a:schemeClr val="accent1">
                    <a:lumMod val="75000"/>
                  </a:schemeClr>
                </a:solidFill>
              </a:rPr>
              <a:t>headings. </a:t>
            </a:r>
            <a:r>
              <a:rPr lang="en-US" sz="1600" dirty="0" smtClean="0">
                <a:solidFill>
                  <a:schemeClr val="accent1">
                    <a:lumMod val="75000"/>
                  </a:schemeClr>
                </a:solidFill>
                <a:ea typeface="Times New Roman" panose="02020603050405020304" pitchFamily="18" charset="0"/>
                <a:cs typeface="Trebuchet MS" panose="020B0603020202020204" pitchFamily="34" charset="0"/>
              </a:rPr>
              <a:t>The </a:t>
            </a:r>
            <a:r>
              <a:rPr lang="en-US" sz="1600" dirty="0">
                <a:solidFill>
                  <a:schemeClr val="accent1">
                    <a:lumMod val="75000"/>
                  </a:schemeClr>
                </a:solidFill>
                <a:ea typeface="Times New Roman" panose="02020603050405020304" pitchFamily="18" charset="0"/>
                <a:cs typeface="Trebuchet MS" panose="020B0603020202020204" pitchFamily="34" charset="0"/>
              </a:rPr>
              <a:t>syntax for </a:t>
            </a:r>
            <a:r>
              <a:rPr lang="en-US" sz="1600" dirty="0">
                <a:solidFill>
                  <a:schemeClr val="accent1">
                    <a:lumMod val="75000"/>
                  </a:schemeClr>
                </a:solidFill>
                <a:ea typeface="Times New Roman" panose="02020603050405020304" pitchFamily="18" charset="0"/>
                <a:cs typeface="Lucida Console" panose="020B0609040504020204" pitchFamily="49" charset="0"/>
              </a:rPr>
              <a:t>VLOOKUP</a:t>
            </a:r>
            <a:r>
              <a:rPr lang="en-US" sz="1600" spc="-350" dirty="0">
                <a:solidFill>
                  <a:schemeClr val="accent1">
                    <a:lumMod val="75000"/>
                  </a:schemeClr>
                </a:solidFill>
                <a:ea typeface="Times New Roman" panose="02020603050405020304" pitchFamily="18" charset="0"/>
                <a:cs typeface="Lucida Console" panose="020B0609040504020204" pitchFamily="49" charset="0"/>
              </a:rPr>
              <a:t> </a:t>
            </a:r>
            <a:r>
              <a:rPr lang="en-US" sz="1600" dirty="0">
                <a:solidFill>
                  <a:schemeClr val="accent1">
                    <a:lumMod val="75000"/>
                  </a:schemeClr>
                </a:solidFill>
                <a:ea typeface="Times New Roman" panose="02020603050405020304" pitchFamily="18" charset="0"/>
                <a:cs typeface="Trebuchet MS" panose="020B0603020202020204" pitchFamily="34" charset="0"/>
              </a:rPr>
              <a:t>is as follows:</a:t>
            </a:r>
          </a:p>
          <a:p>
            <a:pPr marR="0" algn="just" eaLnBrk="0" hangingPunct="0">
              <a:spcBef>
                <a:spcPts val="1060"/>
              </a:spcBef>
              <a:spcAft>
                <a:spcPts val="0"/>
              </a:spcAft>
            </a:pPr>
            <a:r>
              <a:rPr lang="en-US" sz="1600" dirty="0" smtClean="0">
                <a:solidFill>
                  <a:schemeClr val="accent1">
                    <a:lumMod val="75000"/>
                  </a:schemeClr>
                </a:solidFill>
                <a:ea typeface="Times New Roman" panose="02020603050405020304" pitchFamily="18" charset="0"/>
                <a:cs typeface="Lucida Console" panose="020B0609040504020204" pitchFamily="49" charset="0"/>
              </a:rPr>
              <a:t>=VLOOKUP(</a:t>
            </a:r>
            <a:r>
              <a:rPr lang="en-US" sz="1600" dirty="0" err="1" smtClean="0">
                <a:solidFill>
                  <a:schemeClr val="accent1">
                    <a:lumMod val="75000"/>
                  </a:schemeClr>
                </a:solidFill>
                <a:ea typeface="Times New Roman" panose="02020603050405020304" pitchFamily="18" charset="0"/>
                <a:cs typeface="Lucida Console" panose="020B0609040504020204" pitchFamily="49" charset="0"/>
              </a:rPr>
              <a:t>Lookup_value,Table_array,Col_index_num</a:t>
            </a:r>
            <a:r>
              <a:rPr lang="en-US" sz="1600" dirty="0" smtClean="0">
                <a:solidFill>
                  <a:schemeClr val="accent1">
                    <a:lumMod val="75000"/>
                  </a:schemeClr>
                </a:solidFill>
                <a:ea typeface="Times New Roman" panose="02020603050405020304" pitchFamily="18" charset="0"/>
                <a:cs typeface="Lucida Console" panose="020B0609040504020204" pitchFamily="49" charset="0"/>
              </a:rPr>
              <a:t>)</a:t>
            </a:r>
          </a:p>
          <a:p>
            <a:pPr algn="just" eaLnBrk="0" hangingPunct="0">
              <a:spcBef>
                <a:spcPts val="1060"/>
              </a:spcBef>
            </a:pPr>
            <a:r>
              <a:rPr lang="en-US" sz="1600" dirty="0">
                <a:solidFill>
                  <a:schemeClr val="accent1">
                    <a:lumMod val="75000"/>
                  </a:schemeClr>
                </a:solidFill>
              </a:rPr>
              <a:t>The VLOOKUP function can be accessed via the Lookup &amp; Reference command on the ribbon’s Formulas tab. If your information is in rows rather than columns, you can use HLOOKUP, which is set up in a very similar manner to VLOOKUP</a:t>
            </a:r>
            <a:r>
              <a:rPr lang="en-US" sz="1600" dirty="0" smtClean="0">
                <a:solidFill>
                  <a:schemeClr val="accent1">
                    <a:lumMod val="75000"/>
                  </a:schemeClr>
                </a:solidFill>
              </a:rPr>
              <a:t>.</a:t>
            </a:r>
          </a:p>
          <a:p>
            <a:pPr algn="just" eaLnBrk="0" hangingPunct="0">
              <a:spcBef>
                <a:spcPts val="1060"/>
              </a:spcBef>
            </a:pPr>
            <a:r>
              <a:rPr lang="en-US" sz="1400" i="1" dirty="0">
                <a:solidFill>
                  <a:schemeClr val="accent1">
                    <a:lumMod val="75000"/>
                  </a:schemeClr>
                </a:solidFill>
                <a:hlinkClick r:id="rId3"/>
              </a:rPr>
              <a:t>https://</a:t>
            </a:r>
            <a:r>
              <a:rPr lang="en-US" sz="1400" i="1" dirty="0" smtClean="0">
                <a:solidFill>
                  <a:schemeClr val="accent1">
                    <a:lumMod val="75000"/>
                  </a:schemeClr>
                </a:solidFill>
                <a:hlinkClick r:id="rId3"/>
              </a:rPr>
              <a:t>www.youtube.com/watch?v=ODZfwD39gGE</a:t>
            </a:r>
            <a:endParaRPr lang="en-US" sz="1400" i="1" dirty="0" smtClean="0">
              <a:solidFill>
                <a:schemeClr val="accent1">
                  <a:lumMod val="75000"/>
                </a:schemeClr>
              </a:solidFill>
            </a:endParaRPr>
          </a:p>
          <a:p>
            <a:pPr algn="just" eaLnBrk="0" hangingPunct="0">
              <a:spcBef>
                <a:spcPts val="1060"/>
              </a:spcBef>
            </a:pPr>
            <a:endParaRPr lang="en-US" sz="1400" i="1" dirty="0">
              <a:solidFill>
                <a:schemeClr val="accent1">
                  <a:lumMod val="75000"/>
                </a:schemeClr>
              </a:solidFill>
            </a:endParaRPr>
          </a:p>
        </p:txBody>
      </p:sp>
    </p:spTree>
    <p:extLst>
      <p:ext uri="{BB962C8B-B14F-4D97-AF65-F5344CB8AC3E}">
        <p14:creationId xmlns:p14="http://schemas.microsoft.com/office/powerpoint/2010/main" val="33040304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Other function categories</a:t>
            </a:r>
          </a:p>
        </p:txBody>
      </p:sp>
      <p:sp>
        <p:nvSpPr>
          <p:cNvPr id="3" name="object 3"/>
          <p:cNvSpPr txBox="1"/>
          <p:nvPr/>
        </p:nvSpPr>
        <p:spPr>
          <a:xfrm>
            <a:off x="457200" y="1295400"/>
            <a:ext cx="8229600" cy="5645135"/>
          </a:xfrm>
          <a:prstGeom prst="rect">
            <a:avLst/>
          </a:prstGeom>
        </p:spPr>
        <p:txBody>
          <a:bodyPr vert="horz" wrap="square" lIns="0" tIns="12700" rIns="0" bIns="0" rtlCol="0">
            <a:spAutoFit/>
          </a:bodyPr>
          <a:lstStyle/>
          <a:p>
            <a:pPr algn="just">
              <a:spcAft>
                <a:spcPts val="600"/>
              </a:spcAft>
            </a:pPr>
            <a:r>
              <a:rPr lang="en-US" sz="1600" dirty="0" smtClean="0">
                <a:solidFill>
                  <a:schemeClr val="accent1">
                    <a:lumMod val="75000"/>
                  </a:schemeClr>
                </a:solidFill>
              </a:rPr>
              <a:t>Excel </a:t>
            </a:r>
            <a:r>
              <a:rPr lang="en-US" sz="1600" dirty="0">
                <a:solidFill>
                  <a:schemeClr val="accent1">
                    <a:lumMod val="75000"/>
                  </a:schemeClr>
                </a:solidFill>
              </a:rPr>
              <a:t>also contains other function categories than those we have discussed thus far. </a:t>
            </a:r>
            <a:r>
              <a:rPr lang="en-US" sz="1600" dirty="0" smtClean="0">
                <a:solidFill>
                  <a:schemeClr val="accent1">
                    <a:lumMod val="75000"/>
                  </a:schemeClr>
                </a:solidFill>
              </a:rPr>
              <a:t>When </a:t>
            </a:r>
            <a:r>
              <a:rPr lang="en-US" sz="1600" dirty="0">
                <a:solidFill>
                  <a:schemeClr val="accent1">
                    <a:lumMod val="75000"/>
                  </a:schemeClr>
                </a:solidFill>
              </a:rPr>
              <a:t>you select the More Functions command, several function categories are listed, such as Statistical, Engineering, and so on</a:t>
            </a:r>
            <a:r>
              <a:rPr lang="en-US" sz="1600" dirty="0" smtClean="0">
                <a:solidFill>
                  <a:schemeClr val="accent1">
                    <a:lumMod val="75000"/>
                  </a:schemeClr>
                </a:solidFill>
              </a:rPr>
              <a:t>.</a:t>
            </a:r>
          </a:p>
          <a:p>
            <a:pPr algn="just">
              <a:spcAft>
                <a:spcPts val="600"/>
              </a:spcAft>
            </a:pPr>
            <a:r>
              <a:rPr lang="en-US" sz="1600" b="1" dirty="0">
                <a:solidFill>
                  <a:schemeClr val="accent1">
                    <a:lumMod val="75000"/>
                  </a:schemeClr>
                </a:solidFill>
              </a:rPr>
              <a:t>Math &amp; Trig: </a:t>
            </a:r>
            <a:r>
              <a:rPr lang="en-US" sz="1600" dirty="0">
                <a:solidFill>
                  <a:schemeClr val="accent1">
                    <a:lumMod val="75000"/>
                  </a:schemeClr>
                </a:solidFill>
              </a:rPr>
              <a:t>This group provides a combination of useful mathematical and trigonometric functions. Functions such as COS (cosine), SIN (sine), and TAN (tangent) are used in computations related to a right-angled triangle</a:t>
            </a:r>
            <a:r>
              <a:rPr lang="en-US" sz="1600" dirty="0" smtClean="0">
                <a:solidFill>
                  <a:schemeClr val="accent1">
                    <a:lumMod val="75000"/>
                  </a:schemeClr>
                </a:solidFill>
              </a:rPr>
              <a:t>.</a:t>
            </a:r>
          </a:p>
          <a:p>
            <a:pPr algn="just">
              <a:spcAft>
                <a:spcPts val="600"/>
              </a:spcAft>
            </a:pPr>
            <a:r>
              <a:rPr lang="en-US" sz="1600" b="1" dirty="0">
                <a:solidFill>
                  <a:schemeClr val="accent1">
                    <a:lumMod val="75000"/>
                  </a:schemeClr>
                </a:solidFill>
              </a:rPr>
              <a:t>Engineering: </a:t>
            </a:r>
            <a:r>
              <a:rPr lang="en-US" sz="1600" dirty="0" smtClean="0">
                <a:solidFill>
                  <a:schemeClr val="accent1">
                    <a:lumMod val="75000"/>
                  </a:schemeClr>
                </a:solidFill>
              </a:rPr>
              <a:t>For </a:t>
            </a:r>
            <a:r>
              <a:rPr lang="en-US" sz="1600" dirty="0">
                <a:solidFill>
                  <a:schemeClr val="accent1">
                    <a:lumMod val="75000"/>
                  </a:schemeClr>
                </a:solidFill>
              </a:rPr>
              <a:t>example, there is CONVERT, which converts measurements from one system to another (such as miles to kilometers). Another conversion function provided in this category is the BIN2HEX function, which can be used to convert binary numbers to </a:t>
            </a:r>
            <a:r>
              <a:rPr lang="en-US" sz="1600" dirty="0" smtClean="0">
                <a:solidFill>
                  <a:schemeClr val="accent1">
                    <a:lumMod val="75000"/>
                  </a:schemeClr>
                </a:solidFill>
              </a:rPr>
              <a:t>hexadecimal.</a:t>
            </a:r>
          </a:p>
          <a:p>
            <a:pPr algn="just">
              <a:spcAft>
                <a:spcPts val="600"/>
              </a:spcAft>
            </a:pPr>
            <a:r>
              <a:rPr lang="en-US" sz="1600" b="1" dirty="0">
                <a:solidFill>
                  <a:schemeClr val="accent1">
                    <a:lumMod val="75000"/>
                  </a:schemeClr>
                </a:solidFill>
              </a:rPr>
              <a:t>Cube: </a:t>
            </a:r>
            <a:r>
              <a:rPr lang="en-US" sz="1600" dirty="0">
                <a:solidFill>
                  <a:schemeClr val="accent1">
                    <a:lumMod val="75000"/>
                  </a:schemeClr>
                </a:solidFill>
              </a:rPr>
              <a:t>The cube functions are used to interact with external data that is derived from an analysis services cube. The data is served up from a Microsoft SQL Server that provides the analysis </a:t>
            </a:r>
            <a:r>
              <a:rPr lang="en-US" sz="1600" dirty="0" smtClean="0">
                <a:solidFill>
                  <a:schemeClr val="accent1">
                    <a:lumMod val="75000"/>
                  </a:schemeClr>
                </a:solidFill>
              </a:rPr>
              <a:t>services.</a:t>
            </a:r>
          </a:p>
          <a:p>
            <a:pPr algn="just" eaLnBrk="0" hangingPunct="0">
              <a:spcAft>
                <a:spcPts val="600"/>
              </a:spcAft>
            </a:pPr>
            <a:r>
              <a:rPr lang="en-US" sz="1600" b="1" dirty="0" smtClean="0">
                <a:solidFill>
                  <a:schemeClr val="accent1">
                    <a:lumMod val="75000"/>
                  </a:schemeClr>
                </a:solidFill>
              </a:rPr>
              <a:t>Information: </a:t>
            </a:r>
            <a:r>
              <a:rPr lang="en-US" sz="1600" dirty="0">
                <a:solidFill>
                  <a:schemeClr val="accent1">
                    <a:lumMod val="75000"/>
                  </a:schemeClr>
                </a:solidFill>
              </a:rPr>
              <a:t>These functions enable you to derive information concerning a cell, such as the content or formatting of a cell. For example, the ISERR function returns TRUE if an error exists in a cell (meaning an </a:t>
            </a:r>
            <a:r>
              <a:rPr lang="en-US" sz="1600" dirty="0" smtClean="0">
                <a:solidFill>
                  <a:schemeClr val="accent1">
                    <a:lumMod val="75000"/>
                  </a:schemeClr>
                </a:solidFill>
              </a:rPr>
              <a:t>incorrectly designed </a:t>
            </a:r>
            <a:r>
              <a:rPr lang="en-US" sz="1600" dirty="0">
                <a:solidFill>
                  <a:schemeClr val="accent1">
                    <a:lumMod val="75000"/>
                  </a:schemeClr>
                </a:solidFill>
              </a:rPr>
              <a:t>formula or function) or FALSE if there is no error in a cell. ISBLANK is similar in that it returns either TRUE or FALSE based on whether or not a cell is blank</a:t>
            </a:r>
            <a:r>
              <a:rPr lang="en-US" sz="1600" dirty="0" smtClean="0">
                <a:solidFill>
                  <a:schemeClr val="accent1">
                    <a:lumMod val="75000"/>
                  </a:schemeClr>
                </a:solidFill>
              </a:rPr>
              <a:t>.</a:t>
            </a:r>
          </a:p>
          <a:p>
            <a:pPr algn="just" eaLnBrk="0" hangingPunct="0">
              <a:spcAft>
                <a:spcPts val="600"/>
              </a:spcAft>
            </a:pPr>
            <a:r>
              <a:rPr lang="en-US" sz="1600" b="1" dirty="0">
                <a:solidFill>
                  <a:schemeClr val="accent1">
                    <a:lumMod val="75000"/>
                  </a:schemeClr>
                </a:solidFill>
              </a:rPr>
              <a:t>Compatibility: </a:t>
            </a:r>
            <a:r>
              <a:rPr lang="en-US" sz="1600" dirty="0">
                <a:solidFill>
                  <a:schemeClr val="accent1">
                    <a:lumMod val="75000"/>
                  </a:schemeClr>
                </a:solidFill>
              </a:rPr>
              <a:t>This category consists of functions that were native to earlier versions of Excel </a:t>
            </a:r>
            <a:r>
              <a:rPr lang="en-US" sz="1600" dirty="0" smtClean="0">
                <a:solidFill>
                  <a:schemeClr val="accent1">
                    <a:lumMod val="75000"/>
                  </a:schemeClr>
                </a:solidFill>
              </a:rPr>
              <a:t>but </a:t>
            </a:r>
            <a:r>
              <a:rPr lang="en-US" sz="1600" dirty="0">
                <a:solidFill>
                  <a:schemeClr val="accent1">
                    <a:lumMod val="75000"/>
                  </a:schemeClr>
                </a:solidFill>
              </a:rPr>
              <a:t>have been replaced by new functions in the current version of Excel. </a:t>
            </a:r>
          </a:p>
          <a:p>
            <a:endParaRPr lang="en-US" sz="1600" b="1" dirty="0">
              <a:solidFill>
                <a:schemeClr val="accent1">
                  <a:lumMod val="75000"/>
                </a:schemeClr>
              </a:solidFill>
            </a:endParaRPr>
          </a:p>
        </p:txBody>
      </p:sp>
    </p:spTree>
    <p:extLst>
      <p:ext uri="{BB962C8B-B14F-4D97-AF65-F5344CB8AC3E}">
        <p14:creationId xmlns:p14="http://schemas.microsoft.com/office/powerpoint/2010/main" val="20673574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Common error messages</a:t>
            </a:r>
          </a:p>
        </p:txBody>
      </p:sp>
      <p:sp>
        <p:nvSpPr>
          <p:cNvPr id="3" name="object 3"/>
          <p:cNvSpPr txBox="1"/>
          <p:nvPr/>
        </p:nvSpPr>
        <p:spPr>
          <a:xfrm>
            <a:off x="457200" y="1219200"/>
            <a:ext cx="8153400" cy="751488"/>
          </a:xfrm>
          <a:prstGeom prst="rect">
            <a:avLst/>
          </a:prstGeom>
        </p:spPr>
        <p:txBody>
          <a:bodyPr vert="horz" wrap="square" lIns="0" tIns="12700" rIns="0" bIns="0" rtlCol="0">
            <a:spAutoFit/>
          </a:bodyPr>
          <a:lstStyle/>
          <a:p>
            <a:pPr algn="just"/>
            <a:r>
              <a:rPr lang="en-US" sz="1600" dirty="0" smtClean="0">
                <a:solidFill>
                  <a:schemeClr val="accent1">
                    <a:lumMod val="75000"/>
                  </a:schemeClr>
                </a:solidFill>
              </a:rPr>
              <a:t>Excel </a:t>
            </a:r>
            <a:r>
              <a:rPr lang="en-US" sz="1600" dirty="0">
                <a:solidFill>
                  <a:schemeClr val="accent1">
                    <a:lumMod val="75000"/>
                  </a:schemeClr>
                </a:solidFill>
              </a:rPr>
              <a:t>seems to have an endless supply of error messages, and it does have your back when a formula or function contains an egregious error. Excel ﬂags the problem formula or function with a speciﬁc error message. </a:t>
            </a:r>
            <a:endParaRPr lang="en-US" sz="1600" b="1" dirty="0">
              <a:solidFill>
                <a:schemeClr val="accent1">
                  <a:lumMod val="7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856778020"/>
              </p:ext>
            </p:extLst>
          </p:nvPr>
        </p:nvGraphicFramePr>
        <p:xfrm>
          <a:off x="914400" y="2667000"/>
          <a:ext cx="7391400" cy="3672840"/>
        </p:xfrm>
        <a:graphic>
          <a:graphicData uri="http://schemas.openxmlformats.org/drawingml/2006/table">
            <a:tbl>
              <a:tblPr firstRow="1" bandRow="1">
                <a:effectLst>
                  <a:outerShdw blurRad="50800" dist="38100" dir="5400000" algn="t" rotWithShape="0">
                    <a:prstClr val="black">
                      <a:alpha val="40000"/>
                    </a:prstClr>
                  </a:outerShdw>
                </a:effectLst>
                <a:tableStyleId>{5940675A-B579-460E-94D1-54222C63F5DA}</a:tableStyleId>
              </a:tblPr>
              <a:tblGrid>
                <a:gridCol w="1600200">
                  <a:extLst>
                    <a:ext uri="{9D8B030D-6E8A-4147-A177-3AD203B41FA5}">
                      <a16:colId xmlns:a16="http://schemas.microsoft.com/office/drawing/2014/main" val="53673240"/>
                    </a:ext>
                  </a:extLst>
                </a:gridCol>
                <a:gridCol w="5791200">
                  <a:extLst>
                    <a:ext uri="{9D8B030D-6E8A-4147-A177-3AD203B41FA5}">
                      <a16:colId xmlns:a16="http://schemas.microsoft.com/office/drawing/2014/main" val="387528549"/>
                    </a:ext>
                  </a:extLst>
                </a:gridCol>
              </a:tblGrid>
              <a:tr h="533400">
                <a:tc>
                  <a:txBody>
                    <a:bodyPr/>
                    <a:lstStyle/>
                    <a:p>
                      <a:pPr marL="81280" marR="0" eaLnBrk="0" hangingPunct="0">
                        <a:lnSpc>
                          <a:spcPct val="105000"/>
                        </a:lnSpc>
                        <a:spcBef>
                          <a:spcPts val="375"/>
                        </a:spcBef>
                        <a:spcAft>
                          <a:spcPts val="0"/>
                        </a:spcAft>
                      </a:pPr>
                      <a:r>
                        <a:rPr lang="en-US" sz="1400" b="1" dirty="0" smtClean="0">
                          <a:solidFill>
                            <a:srgbClr val="C00000"/>
                          </a:solidFill>
                          <a:effectLst>
                            <a:outerShdw blurRad="38100" dist="38100" dir="2700000" algn="tl">
                              <a:srgbClr val="000000">
                                <a:alpha val="43137"/>
                              </a:srgbClr>
                            </a:outerShdw>
                          </a:effectLst>
                          <a:latin typeface="Comic Sans MS" panose="030F0702030302020204" pitchFamily="66" charset="0"/>
                          <a:ea typeface="Times New Roman" panose="02020603050405020304" pitchFamily="18" charset="0"/>
                          <a:cs typeface="Trebuchet MS" panose="020B0603020202020204" pitchFamily="34" charset="0"/>
                        </a:rPr>
                        <a:t>Error Message</a:t>
                      </a:r>
                      <a:endParaRPr lang="en-US" sz="1400" dirty="0" smtClean="0">
                        <a:solidFill>
                          <a:srgbClr val="C00000"/>
                        </a:solidFill>
                        <a:effectLst>
                          <a:outerShdw blurRad="38100" dist="38100" dir="2700000" algn="tl">
                            <a:srgbClr val="000000">
                              <a:alpha val="43137"/>
                            </a:srgbClr>
                          </a:outerShdw>
                        </a:effectLst>
                        <a:latin typeface="Comic Sans MS" panose="030F0702030302020204" pitchFamily="66" charset="0"/>
                        <a:ea typeface="Times New Roman" panose="02020603050405020304" pitchFamily="18" charset="0"/>
                        <a:cs typeface="Trebuchet MS" panose="020B0603020202020204" pitchFamily="34" charset="0"/>
                      </a:endParaRPr>
                    </a:p>
                  </a:txBody>
                  <a:tcPr anchor="ctr"/>
                </a:tc>
                <a:tc>
                  <a:txBody>
                    <a:bodyPr/>
                    <a:lstStyle/>
                    <a:p>
                      <a:pPr marL="0" marR="0" eaLnBrk="0" hangingPunct="0">
                        <a:spcBef>
                          <a:spcPts val="375"/>
                        </a:spcBef>
                        <a:spcAft>
                          <a:spcPts val="0"/>
                        </a:spcAft>
                      </a:pPr>
                      <a:r>
                        <a:rPr lang="en-US" sz="1400" b="1" dirty="0" smtClean="0">
                          <a:solidFill>
                            <a:srgbClr val="C00000"/>
                          </a:solidFill>
                          <a:effectLst>
                            <a:outerShdw blurRad="38100" dist="38100" dir="2700000" algn="tl">
                              <a:srgbClr val="000000">
                                <a:alpha val="43137"/>
                              </a:srgbClr>
                            </a:outerShdw>
                          </a:effectLst>
                          <a:latin typeface="Comic Sans MS" panose="030F0702030302020204" pitchFamily="66" charset="0"/>
                          <a:ea typeface="Times New Roman" panose="02020603050405020304" pitchFamily="18" charset="0"/>
                          <a:cs typeface="Trebuchet MS" panose="020B0603020202020204" pitchFamily="34" charset="0"/>
                        </a:rPr>
                        <a:t>Description</a:t>
                      </a:r>
                      <a:endParaRPr lang="en-US" sz="1400" dirty="0">
                        <a:solidFill>
                          <a:srgbClr val="C00000"/>
                        </a:solidFill>
                        <a:effectLst>
                          <a:outerShdw blurRad="38100" dist="38100" dir="2700000" algn="tl">
                            <a:srgbClr val="000000">
                              <a:alpha val="43137"/>
                            </a:srgbClr>
                          </a:outerShdw>
                        </a:effectLst>
                        <a:latin typeface="Comic Sans MS" panose="030F0702030302020204" pitchFamily="66" charset="0"/>
                        <a:ea typeface="Times New Roman" panose="02020603050405020304" pitchFamily="18" charset="0"/>
                        <a:cs typeface="Trebuchet MS" panose="020B0603020202020204" pitchFamily="34" charset="0"/>
                      </a:endParaRPr>
                    </a:p>
                  </a:txBody>
                  <a:tcPr anchor="ctr"/>
                </a:tc>
                <a:extLst>
                  <a:ext uri="{0D108BD9-81ED-4DB2-BD59-A6C34878D82A}">
                    <a16:rowId xmlns:a16="http://schemas.microsoft.com/office/drawing/2014/main" val="443905354"/>
                  </a:ext>
                </a:extLst>
              </a:tr>
              <a:tr h="624840">
                <a:tc>
                  <a:txBody>
                    <a:bodyPr/>
                    <a:lstStyle/>
                    <a:p>
                      <a:r>
                        <a:rPr lang="en-US" sz="1400" kern="1200" dirty="0" smtClean="0">
                          <a:solidFill>
                            <a:schemeClr val="accent1">
                              <a:lumMod val="75000"/>
                            </a:schemeClr>
                          </a:solidFill>
                          <a:effectLst/>
                          <a:latin typeface="+mn-lt"/>
                          <a:ea typeface="+mn-ea"/>
                          <a:cs typeface="+mn-cs"/>
                        </a:rPr>
                        <a:t>#REF</a:t>
                      </a:r>
                      <a:endParaRPr lang="en-US" sz="1400" dirty="0">
                        <a:solidFill>
                          <a:schemeClr val="accent1">
                            <a:lumMod val="75000"/>
                          </a:schemeClr>
                        </a:solidFill>
                        <a:latin typeface="+mn-lt"/>
                      </a:endParaRPr>
                    </a:p>
                  </a:txBody>
                  <a:tcPr anchor="ct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lang="en-US" sz="1400" kern="1200" dirty="0" smtClean="0">
                          <a:solidFill>
                            <a:schemeClr val="accent1">
                              <a:lumMod val="75000"/>
                            </a:schemeClr>
                          </a:solidFill>
                          <a:effectLst/>
                          <a:latin typeface="+mn-lt"/>
                          <a:ea typeface="+mn-ea"/>
                          <a:cs typeface="+mn-cs"/>
                        </a:rPr>
                        <a:t>A cell referenced in the formula or function cannot be found. This can be the result of an incorrect range name or specifying a range that no longer exists.</a:t>
                      </a:r>
                    </a:p>
                  </a:txBody>
                  <a:tcPr anchor="ctr"/>
                </a:tc>
                <a:extLst>
                  <a:ext uri="{0D108BD9-81ED-4DB2-BD59-A6C34878D82A}">
                    <a16:rowId xmlns:a16="http://schemas.microsoft.com/office/drawing/2014/main" val="1241579548"/>
                  </a:ext>
                </a:extLst>
              </a:tr>
              <a:tr h="624840">
                <a:tc>
                  <a:txBody>
                    <a:bodyPr/>
                    <a:lstStyle/>
                    <a:p>
                      <a:r>
                        <a:rPr lang="en-US" sz="1400" kern="1200" dirty="0" smtClean="0">
                          <a:solidFill>
                            <a:schemeClr val="accent1">
                              <a:lumMod val="75000"/>
                            </a:schemeClr>
                          </a:solidFill>
                          <a:effectLst/>
                          <a:latin typeface="+mn-lt"/>
                          <a:ea typeface="+mn-ea"/>
                          <a:cs typeface="+mn-cs"/>
                        </a:rPr>
                        <a:t>#NAME?</a:t>
                      </a:r>
                      <a:endParaRPr lang="en-US" sz="1400" dirty="0">
                        <a:solidFill>
                          <a:schemeClr val="accent1">
                            <a:lumMod val="75000"/>
                          </a:schemeClr>
                        </a:solidFill>
                        <a:latin typeface="+mn-lt"/>
                      </a:endParaRPr>
                    </a:p>
                  </a:txBody>
                  <a:tcPr anchor="ct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lang="en-US" sz="1400" kern="1200" dirty="0" smtClean="0">
                          <a:solidFill>
                            <a:schemeClr val="accent1">
                              <a:lumMod val="75000"/>
                            </a:schemeClr>
                          </a:solidFill>
                          <a:effectLst/>
                          <a:latin typeface="+mn-lt"/>
                          <a:ea typeface="+mn-ea"/>
                          <a:cs typeface="+mn-cs"/>
                        </a:rPr>
                        <a:t>Excel does not recognize text included in a formula or function such as a range name. This can be a syntax error (an incorrectly spelled function name) or a problem with a range name speciﬁed in the function.</a:t>
                      </a:r>
                    </a:p>
                  </a:txBody>
                  <a:tcPr anchor="ctr"/>
                </a:tc>
                <a:extLst>
                  <a:ext uri="{0D108BD9-81ED-4DB2-BD59-A6C34878D82A}">
                    <a16:rowId xmlns:a16="http://schemas.microsoft.com/office/drawing/2014/main" val="2818931892"/>
                  </a:ext>
                </a:extLst>
              </a:tr>
              <a:tr h="624840">
                <a:tc>
                  <a:txBody>
                    <a:bodyPr/>
                    <a:lstStyle/>
                    <a:p>
                      <a:r>
                        <a:rPr lang="en-US" sz="1400" kern="1200" dirty="0" smtClean="0">
                          <a:solidFill>
                            <a:schemeClr val="accent1">
                              <a:lumMod val="75000"/>
                            </a:schemeClr>
                          </a:solidFill>
                          <a:effectLst/>
                          <a:latin typeface="+mn-lt"/>
                          <a:ea typeface="+mn-ea"/>
                          <a:cs typeface="+mn-cs"/>
                        </a:rPr>
                        <a:t>#DIV/0!</a:t>
                      </a:r>
                      <a:endParaRPr lang="en-US" sz="1400" dirty="0">
                        <a:solidFill>
                          <a:schemeClr val="accent1">
                            <a:lumMod val="75000"/>
                          </a:schemeClr>
                        </a:solidFill>
                        <a:latin typeface="+mn-lt"/>
                      </a:endParaRPr>
                    </a:p>
                  </a:txBody>
                  <a:tcPr anchor="ctr"/>
                </a:tc>
                <a:tc>
                  <a:txBody>
                    <a:bodyPr/>
                    <a:lstStyle/>
                    <a:p>
                      <a:r>
                        <a:rPr lang="en-US" sz="1400" kern="1200" dirty="0" smtClean="0">
                          <a:solidFill>
                            <a:schemeClr val="accent1">
                              <a:lumMod val="75000"/>
                            </a:schemeClr>
                          </a:solidFill>
                          <a:effectLst/>
                          <a:latin typeface="+mn-lt"/>
                          <a:ea typeface="+mn-ea"/>
                          <a:cs typeface="+mn-cs"/>
                        </a:rPr>
                        <a:t>The formula or function is attempting to divide by 0. This is typically due to an incorrectly referenced cell in the formula or function (a cell that does not contain a value).</a:t>
                      </a:r>
                      <a:endParaRPr lang="en-US" sz="1400" dirty="0">
                        <a:solidFill>
                          <a:schemeClr val="accent1">
                            <a:lumMod val="75000"/>
                          </a:schemeClr>
                        </a:solidFill>
                        <a:latin typeface="+mn-lt"/>
                      </a:endParaRPr>
                    </a:p>
                  </a:txBody>
                  <a:tcPr anchor="ctr"/>
                </a:tc>
                <a:extLst>
                  <a:ext uri="{0D108BD9-81ED-4DB2-BD59-A6C34878D82A}">
                    <a16:rowId xmlns:a16="http://schemas.microsoft.com/office/drawing/2014/main" val="709920537"/>
                  </a:ext>
                </a:extLst>
              </a:tr>
              <a:tr h="624840">
                <a:tc>
                  <a:txBody>
                    <a:bodyPr/>
                    <a:lstStyle/>
                    <a:p>
                      <a:r>
                        <a:rPr lang="en-US" sz="1400" kern="1200" dirty="0" smtClean="0">
                          <a:solidFill>
                            <a:schemeClr val="accent1">
                              <a:lumMod val="75000"/>
                            </a:schemeClr>
                          </a:solidFill>
                          <a:effectLst/>
                          <a:latin typeface="+mn-lt"/>
                          <a:ea typeface="+mn-ea"/>
                          <a:cs typeface="+mn-cs"/>
                        </a:rPr>
                        <a:t>#VALUE</a:t>
                      </a:r>
                      <a:endParaRPr lang="en-US" sz="1400" dirty="0">
                        <a:solidFill>
                          <a:schemeClr val="accent1">
                            <a:lumMod val="75000"/>
                          </a:schemeClr>
                        </a:solidFill>
                        <a:latin typeface="+mn-lt"/>
                      </a:endParaRPr>
                    </a:p>
                  </a:txBody>
                  <a:tcPr anchor="ct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lang="en-US" sz="1400" kern="1200" dirty="0" smtClean="0">
                          <a:solidFill>
                            <a:schemeClr val="accent1">
                              <a:lumMod val="75000"/>
                            </a:schemeClr>
                          </a:solidFill>
                          <a:effectLst/>
                          <a:latin typeface="+mn-lt"/>
                          <a:ea typeface="+mn-ea"/>
                          <a:cs typeface="+mn-cs"/>
                        </a:rPr>
                        <a:t>An incorrect argument is present in the formula or function. This can be caused by referring to both text and value entries in the same formula or function.</a:t>
                      </a:r>
                    </a:p>
                  </a:txBody>
                  <a:tcPr anchor="ctr"/>
                </a:tc>
                <a:extLst>
                  <a:ext uri="{0D108BD9-81ED-4DB2-BD59-A6C34878D82A}">
                    <a16:rowId xmlns:a16="http://schemas.microsoft.com/office/drawing/2014/main" val="423656596"/>
                  </a:ext>
                </a:extLst>
              </a:tr>
            </a:tbl>
          </a:graphicData>
        </a:graphic>
      </p:graphicFrame>
    </p:spTree>
    <p:extLst>
      <p:ext uri="{BB962C8B-B14F-4D97-AF65-F5344CB8AC3E}">
        <p14:creationId xmlns:p14="http://schemas.microsoft.com/office/powerpoint/2010/main" val="6396731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auditing tools</a:t>
            </a:r>
          </a:p>
        </p:txBody>
      </p:sp>
      <p:sp>
        <p:nvSpPr>
          <p:cNvPr id="3" name="object 3"/>
          <p:cNvSpPr txBox="1"/>
          <p:nvPr/>
        </p:nvSpPr>
        <p:spPr>
          <a:xfrm>
            <a:off x="533400" y="1371600"/>
            <a:ext cx="8001000" cy="1243930"/>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Two </a:t>
            </a:r>
            <a:r>
              <a:rPr lang="en-US" sz="1600" dirty="0">
                <a:solidFill>
                  <a:schemeClr val="accent1">
                    <a:lumMod val="75000"/>
                  </a:schemeClr>
                </a:solidFill>
              </a:rPr>
              <a:t>extremely useful formula-auditing commands are Trace Precedents and Trace Dependents. To display the cells that are referenced by a particular formula or </a:t>
            </a:r>
            <a:r>
              <a:rPr lang="en-US" sz="1600" dirty="0" smtClean="0">
                <a:solidFill>
                  <a:schemeClr val="accent1">
                    <a:lumMod val="75000"/>
                  </a:schemeClr>
                </a:solidFill>
              </a:rPr>
              <a:t>function - the precedents - </a:t>
            </a:r>
            <a:r>
              <a:rPr lang="en-US" sz="1600" b="1" dirty="0" smtClean="0">
                <a:solidFill>
                  <a:schemeClr val="accent1">
                    <a:lumMod val="75000"/>
                  </a:schemeClr>
                </a:solidFill>
              </a:rPr>
              <a:t>select </a:t>
            </a:r>
            <a:r>
              <a:rPr lang="en-US" sz="1600" b="1" dirty="0">
                <a:solidFill>
                  <a:schemeClr val="accent1">
                    <a:lumMod val="75000"/>
                  </a:schemeClr>
                </a:solidFill>
              </a:rPr>
              <a:t>a formula or function in the worksheet and then select the Trace Precedents command</a:t>
            </a:r>
            <a:r>
              <a:rPr lang="en-US" sz="1600" dirty="0">
                <a:solidFill>
                  <a:schemeClr val="accent1">
                    <a:lumMod val="75000"/>
                  </a:schemeClr>
                </a:solidFill>
              </a:rPr>
              <a:t>. Blue arrows are drawn from </a:t>
            </a:r>
            <a:r>
              <a:rPr lang="en-US" sz="1600" dirty="0" smtClean="0">
                <a:solidFill>
                  <a:schemeClr val="accent1">
                    <a:lumMod val="75000"/>
                  </a:schemeClr>
                </a:solidFill>
              </a:rPr>
              <a:t>the precedents </a:t>
            </a:r>
            <a:r>
              <a:rPr lang="en-US" sz="1600" dirty="0">
                <a:solidFill>
                  <a:schemeClr val="accent1">
                    <a:lumMod val="75000"/>
                  </a:schemeClr>
                </a:solidFill>
              </a:rPr>
              <a:t>for the currently selected function or </a:t>
            </a:r>
            <a:r>
              <a:rPr lang="en-US" sz="1600" dirty="0" smtClean="0">
                <a:solidFill>
                  <a:schemeClr val="accent1">
                    <a:lumMod val="75000"/>
                  </a:schemeClr>
                </a:solidFill>
              </a:rPr>
              <a:t>formula.</a:t>
            </a:r>
            <a:endParaRPr lang="en-US" sz="1600" dirty="0">
              <a:solidFill>
                <a:schemeClr val="accent1">
                  <a:lumMod val="75000"/>
                </a:schemeClr>
              </a:solidFill>
            </a:endParaRP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48000"/>
            <a:ext cx="6400800" cy="3393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61560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04800"/>
            <a:ext cx="6019800" cy="319959"/>
          </a:xfrm>
          <a:prstGeom prst="rect">
            <a:avLst/>
          </a:prstGeom>
        </p:spPr>
        <p:txBody>
          <a:bodyPr vert="horz" wrap="square" lIns="0" tIns="12065" rIns="0" bIns="0" rtlCol="0">
            <a:spAutoFit/>
          </a:bodyPr>
          <a:lstStyle/>
          <a:p>
            <a:pPr eaLnBrk="0" hangingPunct="0"/>
            <a:r>
              <a:rPr lang="en-US" dirty="0" smtClean="0">
                <a:latin typeface="Comic Sans MS" panose="030F0702030302020204" pitchFamily="66" charset="0"/>
              </a:rPr>
              <a:t>Using data bars</a:t>
            </a:r>
            <a:endParaRPr lang="en-US" dirty="0">
              <a:latin typeface="Comic Sans MS" panose="030F0702030302020204" pitchFamily="66" charset="0"/>
            </a:endParaRPr>
          </a:p>
        </p:txBody>
      </p:sp>
      <p:sp>
        <p:nvSpPr>
          <p:cNvPr id="3" name="object 3"/>
          <p:cNvSpPr txBox="1"/>
          <p:nvPr/>
        </p:nvSpPr>
        <p:spPr>
          <a:xfrm>
            <a:off x="533400" y="1371600"/>
            <a:ext cx="8153400" cy="2505814"/>
          </a:xfrm>
          <a:prstGeom prst="rect">
            <a:avLst/>
          </a:prstGeom>
        </p:spPr>
        <p:txBody>
          <a:bodyPr vert="horz" wrap="square" lIns="0" tIns="12700" rIns="0" bIns="0" rtlCol="0">
            <a:spAutoFit/>
          </a:bodyPr>
          <a:lstStyle/>
          <a:p>
            <a:pPr algn="just" eaLnBrk="0" hangingPunct="0"/>
            <a:r>
              <a:rPr lang="en-US" sz="1600" dirty="0">
                <a:solidFill>
                  <a:schemeClr val="accent1">
                    <a:lumMod val="75000"/>
                  </a:schemeClr>
                </a:solidFill>
              </a:rPr>
              <a:t>Another useful auditing command is the Error Checking command. It can be used when a cell contains an </a:t>
            </a:r>
            <a:r>
              <a:rPr lang="en-US" sz="1600" dirty="0" smtClean="0">
                <a:solidFill>
                  <a:schemeClr val="accent1">
                    <a:lumMod val="75000"/>
                  </a:schemeClr>
                </a:solidFill>
              </a:rPr>
              <a:t>error message</a:t>
            </a:r>
            <a:r>
              <a:rPr lang="en-US" sz="1600" dirty="0">
                <a:solidFill>
                  <a:schemeClr val="accent1">
                    <a:lumMod val="75000"/>
                  </a:schemeClr>
                </a:solidFill>
              </a:rPr>
              <a:t>. The Error Checking command (in the </a:t>
            </a:r>
            <a:r>
              <a:rPr lang="en-US" sz="1600" b="1" dirty="0">
                <a:solidFill>
                  <a:schemeClr val="accent1">
                    <a:lumMod val="75000"/>
                  </a:schemeClr>
                </a:solidFill>
              </a:rPr>
              <a:t>Formula Auditing group</a:t>
            </a:r>
            <a:r>
              <a:rPr lang="en-US" sz="1600" dirty="0">
                <a:solidFill>
                  <a:schemeClr val="accent1">
                    <a:lumMod val="75000"/>
                  </a:schemeClr>
                </a:solidFill>
              </a:rPr>
              <a:t>) opens the Error Checking dialog </a:t>
            </a:r>
            <a:r>
              <a:rPr lang="en-US" sz="1600" dirty="0" smtClean="0">
                <a:solidFill>
                  <a:schemeClr val="accent1">
                    <a:lumMod val="75000"/>
                  </a:schemeClr>
                </a:solidFill>
              </a:rPr>
              <a:t>box. </a:t>
            </a:r>
            <a:r>
              <a:rPr lang="en-US" sz="1600" dirty="0">
                <a:solidFill>
                  <a:schemeClr val="accent1">
                    <a:lumMod val="75000"/>
                  </a:schemeClr>
                </a:solidFill>
              </a:rPr>
              <a:t>The Error Checking dialog box enables you to access help in the Excel Help window related to the type of error present in the cell. It also enables you to show the calculation steps and evaluate the formula. When you select Show Calculation Steps, the Evaluate Formula dialog box opens. Select Evaluate to begin evaluating the formula or function. You can also step in and out on the diﬀerent portions of the formula or function until you ﬁnd the portion of the formula or function that is causing the error.</a:t>
            </a:r>
          </a:p>
          <a:p>
            <a:pPr eaLnBrk="0" hangingPunct="0"/>
            <a:endParaRPr lang="en-US" dirty="0"/>
          </a:p>
        </p:txBody>
      </p:sp>
      <p:pic>
        <p:nvPicPr>
          <p:cNvPr id="1843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3962400"/>
            <a:ext cx="6705600" cy="2713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6469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 y="289641"/>
            <a:ext cx="6019800" cy="319959"/>
          </a:xfrm>
          <a:prstGeom prst="rect">
            <a:avLst/>
          </a:prstGeom>
        </p:spPr>
        <p:txBody>
          <a:bodyPr vert="horz" wrap="square" lIns="0" tIns="12065" rIns="0" bIns="0" rtlCol="0">
            <a:spAutoFit/>
          </a:bodyPr>
          <a:lstStyle/>
          <a:p>
            <a:pPr eaLnBrk="0" hangingPunct="0"/>
            <a:r>
              <a:rPr lang="en-US" dirty="0">
                <a:latin typeface="Comic Sans MS" panose="030F0702030302020204" pitchFamily="66" charset="0"/>
              </a:rPr>
              <a:t>Using the Watch Window</a:t>
            </a:r>
          </a:p>
        </p:txBody>
      </p:sp>
      <p:sp>
        <p:nvSpPr>
          <p:cNvPr id="3" name="object 3"/>
          <p:cNvSpPr txBox="1"/>
          <p:nvPr/>
        </p:nvSpPr>
        <p:spPr>
          <a:xfrm>
            <a:off x="533400" y="1295400"/>
            <a:ext cx="8077200" cy="1982594"/>
          </a:xfrm>
          <a:prstGeom prst="rect">
            <a:avLst/>
          </a:prstGeom>
        </p:spPr>
        <p:txBody>
          <a:bodyPr vert="horz" wrap="square" lIns="0" tIns="12700" rIns="0" bIns="0" rtlCol="0">
            <a:spAutoFit/>
          </a:bodyPr>
          <a:lstStyle/>
          <a:p>
            <a:pPr algn="just" eaLnBrk="0" hangingPunct="0"/>
            <a:r>
              <a:rPr lang="en-US" sz="1600" dirty="0" smtClean="0">
                <a:solidFill>
                  <a:schemeClr val="accent1">
                    <a:lumMod val="75000"/>
                  </a:schemeClr>
                </a:solidFill>
              </a:rPr>
              <a:t>Although </a:t>
            </a:r>
            <a:r>
              <a:rPr lang="en-US" sz="1600" dirty="0">
                <a:solidFill>
                  <a:schemeClr val="accent1">
                    <a:lumMod val="75000"/>
                  </a:schemeClr>
                </a:solidFill>
              </a:rPr>
              <a:t>it is not an auditing tool per se, the Watch Window can be a useful tool in monitoring certain cells in a worksheet in terms of how the entering of </a:t>
            </a:r>
            <a:r>
              <a:rPr lang="en-US" sz="1600" dirty="0" smtClean="0">
                <a:solidFill>
                  <a:schemeClr val="accent1">
                    <a:lumMod val="75000"/>
                  </a:schemeClr>
                </a:solidFill>
              </a:rPr>
              <a:t>worksheet </a:t>
            </a:r>
            <a:r>
              <a:rPr lang="en-US" sz="1600" dirty="0">
                <a:solidFill>
                  <a:schemeClr val="accent1">
                    <a:lumMod val="75000"/>
                  </a:schemeClr>
                </a:solidFill>
              </a:rPr>
              <a:t>data or the editing of worksheet data aﬀects those cells. To open the Watch Window, select the </a:t>
            </a:r>
            <a:r>
              <a:rPr lang="en-US" sz="1600" b="1" dirty="0">
                <a:solidFill>
                  <a:schemeClr val="accent1">
                    <a:lumMod val="75000"/>
                  </a:schemeClr>
                </a:solidFill>
              </a:rPr>
              <a:t>Watch Window command in the Formula Auditing </a:t>
            </a:r>
            <a:r>
              <a:rPr lang="en-US" sz="1600" b="1" dirty="0" smtClean="0">
                <a:solidFill>
                  <a:schemeClr val="accent1">
                    <a:lumMod val="75000"/>
                  </a:schemeClr>
                </a:solidFill>
              </a:rPr>
              <a:t>group</a:t>
            </a:r>
            <a:r>
              <a:rPr lang="en-US" sz="1600" dirty="0" smtClean="0">
                <a:solidFill>
                  <a:schemeClr val="accent1">
                    <a:lumMod val="75000"/>
                  </a:schemeClr>
                </a:solidFill>
              </a:rPr>
              <a:t>. </a:t>
            </a:r>
            <a:r>
              <a:rPr lang="en-US" sz="1600" dirty="0">
                <a:solidFill>
                  <a:schemeClr val="accent1">
                    <a:lumMod val="75000"/>
                  </a:schemeClr>
                </a:solidFill>
              </a:rPr>
              <a:t>To add a cell to the Watch Window, </a:t>
            </a:r>
            <a:r>
              <a:rPr lang="en-US" sz="1600" b="1" dirty="0">
                <a:solidFill>
                  <a:schemeClr val="accent1">
                    <a:lumMod val="75000"/>
                  </a:schemeClr>
                </a:solidFill>
              </a:rPr>
              <a:t>navigate to the sheet that contains the cell or a cell range and then select Add Watch in the Watch Window</a:t>
            </a:r>
            <a:r>
              <a:rPr lang="en-US" sz="1600" dirty="0">
                <a:solidFill>
                  <a:schemeClr val="accent1">
                    <a:lumMod val="75000"/>
                  </a:schemeClr>
                </a:solidFill>
              </a:rPr>
              <a:t>. The Add Watch dialog box opens. Select the cell or cell range, and the reference is added to the Add Watch dialog box. When you click Add and return to the Watch  Window, the cell reference is listed.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3657600"/>
            <a:ext cx="6172200" cy="281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40926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304800" y="304800"/>
            <a:ext cx="8229600" cy="494506"/>
          </a:xfrm>
        </p:spPr>
        <p:txBody>
          <a:bodyPr/>
          <a:lstStyle/>
          <a:p>
            <a:pPr>
              <a:defRPr/>
            </a:pPr>
            <a:r>
              <a:rPr lang="en-US" sz="1800" dirty="0" smtClean="0">
                <a:solidFill>
                  <a:srgbClr val="C00000"/>
                </a:solidFill>
                <a:latin typeface="Comic Sans MS" panose="030F0702030302020204" pitchFamily="66" charset="0"/>
              </a:rPr>
              <a:t>Useful links</a:t>
            </a:r>
            <a:endParaRPr lang="en-US" sz="1800" b="1" u="sng" dirty="0" smtClean="0">
              <a:solidFill>
                <a:srgbClr val="C00000"/>
              </a:solidFill>
              <a:latin typeface="Comic Sans MS" panose="030F0702030302020204" pitchFamily="66" charset="0"/>
            </a:endParaRPr>
          </a:p>
        </p:txBody>
      </p:sp>
      <p:sp>
        <p:nvSpPr>
          <p:cNvPr id="2" name="Rectangle 1"/>
          <p:cNvSpPr/>
          <p:nvPr/>
        </p:nvSpPr>
        <p:spPr>
          <a:xfrm>
            <a:off x="1066800" y="2344341"/>
            <a:ext cx="7010400" cy="2677656"/>
          </a:xfrm>
          <a:prstGeom prst="rect">
            <a:avLst/>
          </a:prstGeom>
        </p:spPr>
        <p:txBody>
          <a:bodyPr wrap="square">
            <a:spAutoFit/>
          </a:bodyPr>
          <a:lstStyle/>
          <a:p>
            <a:endParaRPr lang="en-US" sz="1400" dirty="0">
              <a:solidFill>
                <a:schemeClr val="accent1">
                  <a:lumMod val="75000"/>
                </a:schemeClr>
              </a:solidFill>
              <a:hlinkClick r:id=""/>
            </a:endParaRPr>
          </a:p>
          <a:p>
            <a:pPr algn="ctr"/>
            <a:r>
              <a:rPr lang="en-US" sz="1400" dirty="0">
                <a:solidFill>
                  <a:schemeClr val="accent1">
                    <a:lumMod val="75000"/>
                  </a:schemeClr>
                </a:solidFill>
                <a:hlinkClick r:id="rId2"/>
              </a:rPr>
              <a:t>https://</a:t>
            </a:r>
            <a:r>
              <a:rPr lang="en-US" sz="1400" dirty="0" smtClean="0">
                <a:solidFill>
                  <a:schemeClr val="accent1">
                    <a:lumMod val="75000"/>
                  </a:schemeClr>
                </a:solidFill>
                <a:hlinkClick r:id="rId2"/>
              </a:rPr>
              <a:t>support.office.com/en-us/article/video-sort-data-in-a-range-or-table-ffb9fcb0-b9cb-48bf-a15c-8bec9fd3a472</a:t>
            </a:r>
            <a:endParaRPr lang="en-US" sz="1400" dirty="0" smtClean="0">
              <a:solidFill>
                <a:schemeClr val="accent1">
                  <a:lumMod val="75000"/>
                </a:schemeClr>
              </a:solidFill>
            </a:endParaRPr>
          </a:p>
          <a:p>
            <a:pPr algn="ctr"/>
            <a:endParaRPr lang="en-US" sz="1400" dirty="0">
              <a:solidFill>
                <a:schemeClr val="accent1">
                  <a:lumMod val="75000"/>
                </a:schemeClr>
              </a:solidFill>
            </a:endParaRPr>
          </a:p>
          <a:p>
            <a:pPr algn="ctr"/>
            <a:r>
              <a:rPr lang="pt-BR" sz="1400" dirty="0">
                <a:solidFill>
                  <a:schemeClr val="accent1">
                    <a:lumMod val="75000"/>
                  </a:schemeClr>
                </a:solidFill>
                <a:hlinkClick r:id="rId3"/>
              </a:rPr>
              <a:t>https://</a:t>
            </a:r>
            <a:r>
              <a:rPr lang="pt-BR" sz="1400" dirty="0" smtClean="0">
                <a:solidFill>
                  <a:schemeClr val="accent1">
                    <a:lumMod val="75000"/>
                  </a:schemeClr>
                </a:solidFill>
                <a:hlinkClick r:id="rId3"/>
              </a:rPr>
              <a:t>support.office.com/en-us/article/video-use-conditional-formatting-03ab07da-1564-4913-b69f-2b1a370c8910</a:t>
            </a:r>
            <a:endParaRPr lang="pt-BR" sz="1400" dirty="0" smtClean="0">
              <a:solidFill>
                <a:schemeClr val="accent1">
                  <a:lumMod val="75000"/>
                </a:schemeClr>
              </a:solidFill>
            </a:endParaRPr>
          </a:p>
          <a:p>
            <a:pPr algn="ctr"/>
            <a:endParaRPr lang="pt-BR" sz="1400" dirty="0">
              <a:solidFill>
                <a:schemeClr val="accent1">
                  <a:lumMod val="75000"/>
                </a:schemeClr>
              </a:solidFill>
            </a:endParaRPr>
          </a:p>
          <a:p>
            <a:pPr algn="ctr"/>
            <a:r>
              <a:rPr lang="pt-BR" sz="1400" dirty="0">
                <a:solidFill>
                  <a:schemeClr val="accent1">
                    <a:lumMod val="75000"/>
                  </a:schemeClr>
                </a:solidFill>
                <a:hlinkClick r:id="rId4"/>
              </a:rPr>
              <a:t>https://</a:t>
            </a:r>
            <a:r>
              <a:rPr lang="pt-BR" sz="1400" dirty="0" smtClean="0">
                <a:solidFill>
                  <a:schemeClr val="accent1">
                    <a:lumMod val="75000"/>
                  </a:schemeClr>
                </a:solidFill>
                <a:hlinkClick r:id="rId4"/>
              </a:rPr>
              <a:t>support.office.com/en-us/article/video-vlookup-when-and-how-to-use-it-9a86157a-5542-4148-a536-724823014785</a:t>
            </a:r>
            <a:endParaRPr lang="pt-BR" sz="1400" dirty="0" smtClean="0">
              <a:solidFill>
                <a:schemeClr val="accent1">
                  <a:lumMod val="75000"/>
                </a:schemeClr>
              </a:solidFill>
            </a:endParaRPr>
          </a:p>
          <a:p>
            <a:pPr algn="ctr"/>
            <a:endParaRPr lang="pt-BR" sz="1400" dirty="0">
              <a:solidFill>
                <a:schemeClr val="accent1">
                  <a:lumMod val="75000"/>
                </a:schemeClr>
              </a:solidFill>
            </a:endParaRPr>
          </a:p>
          <a:p>
            <a:pPr algn="ctr"/>
            <a:endParaRPr lang="pt-BR" sz="1400" dirty="0" smtClean="0">
              <a:solidFill>
                <a:schemeClr val="accent1">
                  <a:lumMod val="75000"/>
                </a:schemeClr>
              </a:solidFill>
            </a:endParaRPr>
          </a:p>
          <a:p>
            <a:pPr algn="ctr"/>
            <a:r>
              <a:rPr lang="en-US" sz="1400" dirty="0" smtClean="0">
                <a:solidFill>
                  <a:schemeClr val="accent1">
                    <a:lumMod val="75000"/>
                  </a:schemeClr>
                </a:solidFill>
              </a:rPr>
              <a:t>MS Excel </a:t>
            </a:r>
            <a:r>
              <a:rPr lang="en-US" sz="1400" dirty="0">
                <a:solidFill>
                  <a:schemeClr val="accent1">
                    <a:lumMod val="75000"/>
                  </a:schemeClr>
                </a:solidFill>
              </a:rPr>
              <a:t>Tutorial</a:t>
            </a:r>
          </a:p>
        </p:txBody>
      </p:sp>
    </p:spTree>
    <p:extLst>
      <p:ext uri="{BB962C8B-B14F-4D97-AF65-F5344CB8AC3E}">
        <p14:creationId xmlns:p14="http://schemas.microsoft.com/office/powerpoint/2010/main" val="1259820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b="1" dirty="0" smtClean="0"/>
              <a:t>Thank </a:t>
            </a:r>
            <a:r>
              <a:rPr lang="en-US" sz="1400" b="1" dirty="0"/>
              <a:t>y</a:t>
            </a:r>
            <a:r>
              <a:rPr lang="en-US" sz="1400" b="1" dirty="0" smtClean="0"/>
              <a:t>ou for your attention!</a:t>
            </a:r>
            <a:endParaRPr lang="en-US" sz="1400" b="1" dirty="0"/>
          </a:p>
        </p:txBody>
      </p:sp>
    </p:spTree>
    <p:extLst>
      <p:ext uri="{BB962C8B-B14F-4D97-AF65-F5344CB8AC3E}">
        <p14:creationId xmlns:p14="http://schemas.microsoft.com/office/powerpoint/2010/main" val="2929430128"/>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26871</TotalTime>
  <Words>3754</Words>
  <Application>Microsoft Office PowerPoint</Application>
  <PresentationFormat>On-screen Show (4:3)</PresentationFormat>
  <Paragraphs>196</Paragraphs>
  <Slides>31</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Comic Sans MS</vt:lpstr>
      <vt:lpstr>Lucida Console</vt:lpstr>
      <vt:lpstr>Times New Roman</vt:lpstr>
      <vt:lpstr>Trebuchet MS</vt:lpstr>
      <vt:lpstr>Wingdings 3</vt:lpstr>
      <vt:lpstr>Presentation slides</vt:lpstr>
      <vt:lpstr>PowerPoint Presentation</vt:lpstr>
      <vt:lpstr>PowerPoint Presentation</vt:lpstr>
      <vt:lpstr>Performing calculations in Excel worksheets</vt:lpstr>
      <vt:lpstr>Performing calculations in Excel worksheets (cont.)</vt:lpstr>
      <vt:lpstr>Relative referencing</vt:lpstr>
      <vt:lpstr>Absolute referencing</vt:lpstr>
      <vt:lpstr>Creating and editing formulas</vt:lpstr>
      <vt:lpstr>Comparison operators</vt:lpstr>
      <vt:lpstr>Understanding operator precedence</vt:lpstr>
      <vt:lpstr>Entering formulas</vt:lpstr>
      <vt:lpstr>Editing formulas</vt:lpstr>
      <vt:lpstr>Working with Excel functions</vt:lpstr>
      <vt:lpstr>Entering a function in a cell</vt:lpstr>
      <vt:lpstr>Using AutoSum</vt:lpstr>
      <vt:lpstr>Using the Insert Function dialog box</vt:lpstr>
      <vt:lpstr>Using the Function Library</vt:lpstr>
      <vt:lpstr>Using the Function Library (cont.)</vt:lpstr>
      <vt:lpstr>Copying, moving, and deleting cell contents</vt:lpstr>
      <vt:lpstr>Inserting a range name into a formula </vt:lpstr>
      <vt:lpstr>Referencing cells or ranges on other worksheets</vt:lpstr>
      <vt:lpstr>Choosing the right function</vt:lpstr>
      <vt:lpstr>Financial functions</vt:lpstr>
      <vt:lpstr>Lookup &amp; reference functions</vt:lpstr>
      <vt:lpstr>VLOOKUP function</vt:lpstr>
      <vt:lpstr>Other function categories</vt:lpstr>
      <vt:lpstr>Common error messages</vt:lpstr>
      <vt:lpstr>Using the auditing tools</vt:lpstr>
      <vt:lpstr>Using data bars</vt:lpstr>
      <vt:lpstr>Using the Watch Window</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3454</cp:revision>
  <dcterms:created xsi:type="dcterms:W3CDTF">2013-11-13T03:56:02Z</dcterms:created>
  <dcterms:modified xsi:type="dcterms:W3CDTF">2024-09-08T17:48:13Z</dcterms:modified>
</cp:coreProperties>
</file>