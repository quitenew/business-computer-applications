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60" r:id="rId1"/>
  </p:sldMasterIdLst>
  <p:notesMasterIdLst>
    <p:notesMasterId r:id="rId39"/>
  </p:notesMasterIdLst>
  <p:handoutMasterIdLst>
    <p:handoutMasterId r:id="rId40"/>
  </p:handoutMasterIdLst>
  <p:sldIdLst>
    <p:sldId id="1086" r:id="rId2"/>
    <p:sldId id="1754" r:id="rId3"/>
    <p:sldId id="2373" r:id="rId4"/>
    <p:sldId id="2376" r:id="rId5"/>
    <p:sldId id="2440" r:id="rId6"/>
    <p:sldId id="2441" r:id="rId7"/>
    <p:sldId id="2374" r:id="rId8"/>
    <p:sldId id="2377" r:id="rId9"/>
    <p:sldId id="2437" r:id="rId10"/>
    <p:sldId id="2442" r:id="rId11"/>
    <p:sldId id="2443" r:id="rId12"/>
    <p:sldId id="2470" r:id="rId13"/>
    <p:sldId id="2444" r:id="rId14"/>
    <p:sldId id="2445" r:id="rId15"/>
    <p:sldId id="2446" r:id="rId16"/>
    <p:sldId id="2447" r:id="rId17"/>
    <p:sldId id="2448" r:id="rId18"/>
    <p:sldId id="2449" r:id="rId19"/>
    <p:sldId id="2450" r:id="rId20"/>
    <p:sldId id="2451" r:id="rId21"/>
    <p:sldId id="2452" r:id="rId22"/>
    <p:sldId id="2453" r:id="rId23"/>
    <p:sldId id="2454" r:id="rId24"/>
    <p:sldId id="2455" r:id="rId25"/>
    <p:sldId id="2456" r:id="rId26"/>
    <p:sldId id="2457" r:id="rId27"/>
    <p:sldId id="2459" r:id="rId28"/>
    <p:sldId id="2471" r:id="rId29"/>
    <p:sldId id="2460" r:id="rId30"/>
    <p:sldId id="2461" r:id="rId31"/>
    <p:sldId id="2462" r:id="rId32"/>
    <p:sldId id="2463" r:id="rId33"/>
    <p:sldId id="2464" r:id="rId34"/>
    <p:sldId id="2465" r:id="rId35"/>
    <p:sldId id="2466" r:id="rId36"/>
    <p:sldId id="2360" r:id="rId37"/>
    <p:sldId id="1984"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0CA0"/>
    <a:srgbClr val="FFFFFF"/>
    <a:srgbClr val="ECFFC3"/>
    <a:srgbClr val="E16519"/>
    <a:srgbClr val="FAD35B"/>
    <a:srgbClr val="517BA9"/>
    <a:srgbClr val="D80EC0"/>
    <a:srgbClr val="F77DEB"/>
    <a:srgbClr val="F2802A"/>
    <a:srgbClr val="F59E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63" autoAdjust="0"/>
    <p:restoredTop sz="93673" autoAdjust="0"/>
  </p:normalViewPr>
  <p:slideViewPr>
    <p:cSldViewPr>
      <p:cViewPr varScale="1">
        <p:scale>
          <a:sx n="61" d="100"/>
          <a:sy n="61" d="100"/>
        </p:scale>
        <p:origin x="1136" y="5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p:cViewPr varScale="1">
        <p:scale>
          <a:sx n="50" d="100"/>
          <a:sy n="50" d="100"/>
        </p:scale>
        <p:origin x="2708" y="2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73AB8F-406F-4E8A-8176-5DB14D789022}" type="datetimeFigureOut">
              <a:rPr lang="en-US" smtClean="0"/>
              <a:t>11/23/2023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000F6F-FCC4-40B4-A776-0656D3559D45}" type="slidenum">
              <a:rPr lang="en-US" smtClean="0"/>
              <a:t>‹#›</a:t>
            </a:fld>
            <a:endParaRPr lang="en-US"/>
          </a:p>
        </p:txBody>
      </p:sp>
    </p:spTree>
    <p:extLst>
      <p:ext uri="{BB962C8B-B14F-4D97-AF65-F5344CB8AC3E}">
        <p14:creationId xmlns:p14="http://schemas.microsoft.com/office/powerpoint/2010/main" val="194478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17AF0F-4442-42BF-B078-989F64832F36}" type="datetimeFigureOut">
              <a:rPr lang="en-US" smtClean="0"/>
              <a:t>11/23/2023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1A061F-D6B6-40D9-9777-425CAAB91A12}" type="slidenum">
              <a:rPr lang="en-US" smtClean="0"/>
              <a:t>‹#›</a:t>
            </a:fld>
            <a:endParaRPr lang="en-US" dirty="0"/>
          </a:p>
        </p:txBody>
      </p:sp>
    </p:spTree>
    <p:extLst>
      <p:ext uri="{BB962C8B-B14F-4D97-AF65-F5344CB8AC3E}">
        <p14:creationId xmlns:p14="http://schemas.microsoft.com/office/powerpoint/2010/main" val="190597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913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ชื่อเรื่องและเนื้อหา">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67494"/>
            <a:ext cx="8229600" cy="1399032"/>
          </a:xfrm>
        </p:spPr>
        <p:txBody>
          <a:bodyPr/>
          <a:lstStyle/>
          <a:p>
            <a:r>
              <a:rPr kumimoji="0" lang="th-TH" smtClean="0"/>
              <a:t>คลิกเพื่อแก้ไขลักษณะชื่อเรื่องต้นแบบ</a:t>
            </a:r>
            <a:endParaRPr kumimoji="0" lang="en-US"/>
          </a:p>
        </p:txBody>
      </p:sp>
      <p:sp>
        <p:nvSpPr>
          <p:cNvPr id="3" name="ตัวยึดเนื้อหา 2"/>
          <p:cNvSpPr>
            <a:spLocks noGrp="1"/>
          </p:cNvSpPr>
          <p:nvPr>
            <p:ph idx="1"/>
          </p:nvPr>
        </p:nvSpPr>
        <p:spPr>
          <a:xfrm>
            <a:off x="457200" y="1882808"/>
            <a:ext cx="8229600" cy="4572000"/>
          </a:xfrm>
        </p:spPr>
        <p:txBody>
          <a:bodyPr/>
          <a:lstStyle/>
          <a:p>
            <a:pPr lvl="0" eaLnBrk="1" latinLnBrk="0" hangingPunct="1"/>
            <a:r>
              <a:rPr lang="th-TH" smtClean="0"/>
              <a:t>คลิกเพื่อแก้ไขลักษณะของข้อความต้นแบบ</a:t>
            </a:r>
          </a:p>
          <a:p>
            <a:pPr lvl="1" eaLnBrk="1" latinLnBrk="0" hangingPunct="1"/>
            <a:r>
              <a:rPr lang="th-TH" smtClean="0"/>
              <a:t>ระดับที่สอง</a:t>
            </a:r>
          </a:p>
          <a:p>
            <a:pPr lvl="2" eaLnBrk="1" latinLnBrk="0" hangingPunct="1"/>
            <a:r>
              <a:rPr lang="th-TH" smtClean="0"/>
              <a:t>ระดับที่สาม</a:t>
            </a:r>
          </a:p>
          <a:p>
            <a:pPr lvl="3" eaLnBrk="1" latinLnBrk="0" hangingPunct="1"/>
            <a:r>
              <a:rPr lang="th-TH" smtClean="0"/>
              <a:t>ระดับที่สี่</a:t>
            </a:r>
          </a:p>
          <a:p>
            <a:pPr lvl="4" eaLnBrk="1" latinLnBrk="0" hangingPunct="1"/>
            <a:r>
              <a:rPr lang="th-TH" smtClean="0"/>
              <a:t>ระดับที่ห้า</a:t>
            </a:r>
            <a:endParaRPr kumimoji="0" lang="en-US"/>
          </a:p>
        </p:txBody>
      </p:sp>
      <p:sp>
        <p:nvSpPr>
          <p:cNvPr id="4" name="ตัวยึดวันที่ 3"/>
          <p:cNvSpPr>
            <a:spLocks noGrp="1"/>
          </p:cNvSpPr>
          <p:nvPr>
            <p:ph type="dt" sz="half" idx="10"/>
          </p:nvPr>
        </p:nvSpPr>
        <p:spPr>
          <a:xfrm>
            <a:off x="4791456" y="6480048"/>
            <a:ext cx="2133600" cy="301752"/>
          </a:xfrm>
        </p:spPr>
        <p:txBody>
          <a:bodyPr/>
          <a:lstStyle/>
          <a:p>
            <a:fld id="{B7C8B310-829C-4548-BECB-84206EE8B18D}" type="datetime1">
              <a:rPr lang="th-TH" smtClean="0"/>
              <a:t>23/11/66</a:t>
            </a:fld>
            <a:endParaRPr lang="th-TH"/>
          </a:p>
        </p:txBody>
      </p:sp>
      <p:sp>
        <p:nvSpPr>
          <p:cNvPr id="5" name="ตัวยึดท้ายกระดาษ 4"/>
          <p:cNvSpPr>
            <a:spLocks noGrp="1"/>
          </p:cNvSpPr>
          <p:nvPr>
            <p:ph type="ftr" sz="quarter" idx="11"/>
          </p:nvPr>
        </p:nvSpPr>
        <p:spPr>
          <a:xfrm>
            <a:off x="457200" y="6480969"/>
            <a:ext cx="4260056" cy="300831"/>
          </a:xfrm>
        </p:spPr>
        <p:txBody>
          <a:bodyPr/>
          <a:lstStyle/>
          <a:p>
            <a:endParaRPr lang="th-TH"/>
          </a:p>
        </p:txBody>
      </p:sp>
      <p:sp>
        <p:nvSpPr>
          <p:cNvPr id="6" name="ตัวยึดหมายเลขภาพนิ่ง 5"/>
          <p:cNvSpPr>
            <a:spLocks noGrp="1"/>
          </p:cNvSpPr>
          <p:nvPr>
            <p:ph type="sldNum" sz="quarter" idx="12"/>
          </p:nvPr>
        </p:nvSpPr>
        <p:spPr/>
        <p:txBody>
          <a:bodyPr/>
          <a:lstStyle/>
          <a:p>
            <a:fld id="{B2F4933C-246D-4C2D-BF23-31330A08DB85}" type="slidenum">
              <a:rPr lang="th-TH" smtClean="0"/>
              <a:pPr/>
              <a:t>‹#›</a:t>
            </a:fld>
            <a:endParaRPr lang="th-TH"/>
          </a:p>
        </p:txBody>
      </p:sp>
    </p:spTree>
    <p:extLst>
      <p:ext uri="{BB962C8B-B14F-4D97-AF65-F5344CB8AC3E}">
        <p14:creationId xmlns:p14="http://schemas.microsoft.com/office/powerpoint/2010/main" val="2024457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FA441A-F2C1-46D9-A35C-E2269C12AC96}"/>
              </a:ext>
            </a:extLst>
          </p:cNvPr>
          <p:cNvSpPr/>
          <p:nvPr userDrawn="1"/>
        </p:nvSpPr>
        <p:spPr>
          <a:xfrm>
            <a:off x="0" y="0"/>
            <a:ext cx="9144000" cy="980316"/>
          </a:xfrm>
          <a:prstGeom prst="rect">
            <a:avLst/>
          </a:prstGeom>
          <a:solidFill>
            <a:schemeClr val="bg1">
              <a:lumMod val="95000"/>
            </a:schemeClr>
          </a:solidFill>
          <a:ln>
            <a:noFill/>
          </a:ln>
          <a:effectLst/>
        </p:spPr>
        <p:txBody>
          <a:bodyPr lIns="24490" tIns="12245" rIns="24490" bIns="12245" anchor="ctr"/>
          <a:lstStyle/>
          <a:p>
            <a:pPr marL="48906" marR="0" lvl="0" indent="-48906" algn="just" defTabSz="167130" eaLnBrk="1" fontAlgn="base" latinLnBrk="0" hangingPunct="1">
              <a:lnSpc>
                <a:spcPts val="295"/>
              </a:lnSpc>
              <a:spcBef>
                <a:spcPct val="0"/>
              </a:spcBef>
              <a:spcAft>
                <a:spcPct val="0"/>
              </a:spcAft>
              <a:buClr>
                <a:srgbClr val="000000"/>
              </a:buClr>
              <a:buSzTx/>
              <a:buFont typeface="Wingdings 3" pitchFamily="18" charset="2"/>
              <a:buChar char="}"/>
              <a:tabLst/>
              <a:defRPr/>
            </a:pPr>
            <a:endParaRPr kumimoji="0" lang="en-US" sz="321" b="0" i="0" u="none" strike="noStrike" kern="0" cap="none" spc="0" normalizeH="0" baseline="0" noProof="0" dirty="0">
              <a:ln>
                <a:noFill/>
              </a:ln>
              <a:solidFill>
                <a:srgbClr val="FFFFFF"/>
              </a:solidFill>
              <a:effectLst/>
              <a:uLnTx/>
              <a:uFillTx/>
              <a:latin typeface="Arial" charset="0"/>
              <a:cs typeface="Times New Roman" pitchFamily="18" charset="0"/>
            </a:endParaRPr>
          </a:p>
        </p:txBody>
      </p:sp>
    </p:spTree>
    <p:extLst>
      <p:ext uri="{BB962C8B-B14F-4D97-AF65-F5344CB8AC3E}">
        <p14:creationId xmlns:p14="http://schemas.microsoft.com/office/powerpoint/2010/main" val="485703443"/>
      </p:ext>
    </p:extLst>
  </p:cSld>
  <p:clrMap bg1="lt1" tx1="dk1" bg2="lt2" tx2="dk2" accent1="accent1" accent2="accent2" accent3="accent3" accent4="accent4" accent5="accent5" accent6="accent6" hlink="hlink" folHlink="folHlink"/>
  <p:sldLayoutIdLst>
    <p:sldLayoutId id="2147483661" r:id="rId1"/>
    <p:sldLayoutId id="2147483705" r:id="rId2"/>
  </p:sldLayoutIdLst>
  <p:hf sldNum="0" hdr="0" ftr="0" dt="0"/>
  <p:txStyles>
    <p:title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p:titleStyle>
    <p:bodyStyle>
      <a:lvl1pPr marL="192496" indent="-192496" algn="l" defTabSz="957998" rtl="0" eaLnBrk="1" fontAlgn="base" hangingPunct="1">
        <a:spcBef>
          <a:spcPts val="300"/>
        </a:spcBef>
        <a:spcAft>
          <a:spcPts val="300"/>
        </a:spcAft>
        <a:buFont typeface="Arial" pitchFamily="34" charset="0"/>
        <a:buChar char="•"/>
        <a:tabLst/>
        <a:defRPr sz="1600">
          <a:solidFill>
            <a:schemeClr val="tx2"/>
          </a:solidFill>
          <a:latin typeface="+mn-lt"/>
          <a:ea typeface="+mn-ea"/>
          <a:cs typeface="+mn-cs"/>
        </a:defRPr>
      </a:lvl1pPr>
      <a:lvl2pPr marL="420803" indent="-219355" algn="l" defTabSz="957998" rtl="0" eaLnBrk="1" fontAlgn="base" hangingPunct="1">
        <a:spcBef>
          <a:spcPts val="300"/>
        </a:spcBef>
        <a:spcAft>
          <a:spcPts val="300"/>
        </a:spcAft>
        <a:buFont typeface="Arial" pitchFamily="34" charset="0"/>
        <a:buChar char="‒"/>
        <a:tabLst/>
        <a:defRPr sz="1400">
          <a:solidFill>
            <a:schemeClr val="tx2"/>
          </a:solidFill>
          <a:latin typeface="+mn-lt"/>
        </a:defRPr>
      </a:lvl2pPr>
      <a:lvl3pPr marL="622252" indent="-183542" algn="l" defTabSz="957998" rtl="0" eaLnBrk="1" fontAlgn="base" hangingPunct="1">
        <a:spcBef>
          <a:spcPts val="300"/>
        </a:spcBef>
        <a:spcAft>
          <a:spcPts val="300"/>
        </a:spcAft>
        <a:buFont typeface="Arial" pitchFamily="34" charset="0"/>
        <a:buChar char="‒"/>
        <a:tabLst/>
        <a:defRPr sz="1200">
          <a:solidFill>
            <a:schemeClr val="tx2"/>
          </a:solidFill>
          <a:latin typeface="+mn-lt"/>
        </a:defRPr>
      </a:lvl3pPr>
      <a:lvl4pPr marL="811761" indent="-193988" algn="l" defTabSz="957998" rtl="0" eaLnBrk="1" fontAlgn="base" hangingPunct="1">
        <a:spcBef>
          <a:spcPts val="300"/>
        </a:spcBef>
        <a:spcAft>
          <a:spcPts val="300"/>
        </a:spcAft>
        <a:buFont typeface="Arial" pitchFamily="34" charset="0"/>
        <a:buChar char="‒"/>
        <a:defRPr sz="1100">
          <a:solidFill>
            <a:schemeClr val="tx2"/>
          </a:solidFill>
          <a:latin typeface="+mn-lt"/>
        </a:defRPr>
      </a:lvl4pPr>
      <a:lvl5pPr marL="1002764" indent="-191002" algn="l" defTabSz="957998" rtl="0" eaLnBrk="1" fontAlgn="base" hangingPunct="1">
        <a:spcBef>
          <a:spcPts val="300"/>
        </a:spcBef>
        <a:spcAft>
          <a:spcPts val="300"/>
        </a:spcAft>
        <a:buFont typeface="Arial" pitchFamily="34" charset="0"/>
        <a:buChar char="‒"/>
        <a:defRPr sz="1100">
          <a:solidFill>
            <a:schemeClr val="tx2"/>
          </a:solidFill>
          <a:latin typeface="+mn-lt"/>
        </a:defRPr>
      </a:lvl5pPr>
      <a:lvl6pPr marL="1175860" indent="-180558" algn="l" defTabSz="957998" rtl="0" eaLnBrk="1" fontAlgn="base" hangingPunct="1">
        <a:spcBef>
          <a:spcPct val="0"/>
        </a:spcBef>
        <a:spcAft>
          <a:spcPts val="564"/>
        </a:spcAft>
        <a:buFont typeface="Arial" charset="0"/>
        <a:buChar char="‒"/>
        <a:defRPr sz="1500">
          <a:solidFill>
            <a:schemeClr val="tx2"/>
          </a:solidFill>
          <a:latin typeface="+mn-lt"/>
        </a:defRPr>
      </a:lvl6pPr>
      <a:lvl7pPr marL="1605616" indent="-180558" algn="l" defTabSz="957998" rtl="0" eaLnBrk="1" fontAlgn="base" hangingPunct="1">
        <a:spcBef>
          <a:spcPct val="0"/>
        </a:spcBef>
        <a:spcAft>
          <a:spcPts val="564"/>
        </a:spcAft>
        <a:buFont typeface="Arial" charset="0"/>
        <a:buChar char="‒"/>
        <a:defRPr sz="1500">
          <a:solidFill>
            <a:schemeClr val="tx2"/>
          </a:solidFill>
          <a:latin typeface="+mn-lt"/>
        </a:defRPr>
      </a:lvl7pPr>
      <a:lvl8pPr marL="2035372" indent="-180558" algn="l" defTabSz="957998" rtl="0" eaLnBrk="1" fontAlgn="base" hangingPunct="1">
        <a:spcBef>
          <a:spcPct val="0"/>
        </a:spcBef>
        <a:spcAft>
          <a:spcPts val="564"/>
        </a:spcAft>
        <a:buFont typeface="Arial" charset="0"/>
        <a:buChar char="‒"/>
        <a:defRPr sz="1500">
          <a:solidFill>
            <a:schemeClr val="tx2"/>
          </a:solidFill>
          <a:latin typeface="+mn-lt"/>
        </a:defRPr>
      </a:lvl8pPr>
      <a:lvl9pPr marL="2465128" indent="-180558" algn="l" defTabSz="957998" rtl="0" eaLnBrk="1" fontAlgn="base" hangingPunct="1">
        <a:spcBef>
          <a:spcPct val="0"/>
        </a:spcBef>
        <a:spcAft>
          <a:spcPts val="564"/>
        </a:spcAft>
        <a:buFont typeface="Arial" charset="0"/>
        <a:buChar char="‒"/>
        <a:defRPr sz="1500">
          <a:solidFill>
            <a:schemeClr val="tx2"/>
          </a:solidFill>
          <a:latin typeface="+mn-lt"/>
        </a:defRPr>
      </a:lvl9pPr>
    </p:bodyStyle>
    <p:otherStyle>
      <a:defPPr>
        <a:defRPr lang="en-US"/>
      </a:defPPr>
      <a:lvl1pPr marL="0" algn="l" defTabSz="859512" rtl="0" eaLnBrk="1" latinLnBrk="0" hangingPunct="1">
        <a:defRPr sz="1700" kern="1200">
          <a:solidFill>
            <a:schemeClr val="tx1"/>
          </a:solidFill>
          <a:latin typeface="+mn-lt"/>
          <a:ea typeface="+mn-ea"/>
          <a:cs typeface="+mn-cs"/>
        </a:defRPr>
      </a:lvl1pPr>
      <a:lvl2pPr marL="429756" algn="l" defTabSz="859512" rtl="0" eaLnBrk="1" latinLnBrk="0" hangingPunct="1">
        <a:defRPr sz="1700" kern="1200">
          <a:solidFill>
            <a:schemeClr val="tx1"/>
          </a:solidFill>
          <a:latin typeface="+mn-lt"/>
          <a:ea typeface="+mn-ea"/>
          <a:cs typeface="+mn-cs"/>
        </a:defRPr>
      </a:lvl2pPr>
      <a:lvl3pPr marL="859512" algn="l" defTabSz="859512" rtl="0" eaLnBrk="1" latinLnBrk="0" hangingPunct="1">
        <a:defRPr sz="1700" kern="1200">
          <a:solidFill>
            <a:schemeClr val="tx1"/>
          </a:solidFill>
          <a:latin typeface="+mn-lt"/>
          <a:ea typeface="+mn-ea"/>
          <a:cs typeface="+mn-cs"/>
        </a:defRPr>
      </a:lvl3pPr>
      <a:lvl4pPr marL="1289268" algn="l" defTabSz="859512" rtl="0" eaLnBrk="1" latinLnBrk="0" hangingPunct="1">
        <a:defRPr sz="1700" kern="1200">
          <a:solidFill>
            <a:schemeClr val="tx1"/>
          </a:solidFill>
          <a:latin typeface="+mn-lt"/>
          <a:ea typeface="+mn-ea"/>
          <a:cs typeface="+mn-cs"/>
        </a:defRPr>
      </a:lvl4pPr>
      <a:lvl5pPr marL="1719024" algn="l" defTabSz="859512" rtl="0" eaLnBrk="1" latinLnBrk="0" hangingPunct="1">
        <a:defRPr sz="1700" kern="1200">
          <a:solidFill>
            <a:schemeClr val="tx1"/>
          </a:solidFill>
          <a:latin typeface="+mn-lt"/>
          <a:ea typeface="+mn-ea"/>
          <a:cs typeface="+mn-cs"/>
        </a:defRPr>
      </a:lvl5pPr>
      <a:lvl6pPr marL="2148780" algn="l" defTabSz="859512" rtl="0" eaLnBrk="1" latinLnBrk="0" hangingPunct="1">
        <a:defRPr sz="1700" kern="1200">
          <a:solidFill>
            <a:schemeClr val="tx1"/>
          </a:solidFill>
          <a:latin typeface="+mn-lt"/>
          <a:ea typeface="+mn-ea"/>
          <a:cs typeface="+mn-cs"/>
        </a:defRPr>
      </a:lvl6pPr>
      <a:lvl7pPr marL="2578536" algn="l" defTabSz="859512" rtl="0" eaLnBrk="1" latinLnBrk="0" hangingPunct="1">
        <a:defRPr sz="1700" kern="1200">
          <a:solidFill>
            <a:schemeClr val="tx1"/>
          </a:solidFill>
          <a:latin typeface="+mn-lt"/>
          <a:ea typeface="+mn-ea"/>
          <a:cs typeface="+mn-cs"/>
        </a:defRPr>
      </a:lvl7pPr>
      <a:lvl8pPr marL="3008291" algn="l" defTabSz="859512" rtl="0" eaLnBrk="1" latinLnBrk="0" hangingPunct="1">
        <a:defRPr sz="1700" kern="1200">
          <a:solidFill>
            <a:schemeClr val="tx1"/>
          </a:solidFill>
          <a:latin typeface="+mn-lt"/>
          <a:ea typeface="+mn-ea"/>
          <a:cs typeface="+mn-cs"/>
        </a:defRPr>
      </a:lvl8pPr>
      <a:lvl9pPr marL="3438048" algn="l" defTabSz="859512"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slidebooks.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support.office.com/en-us/article/video-use-conditional-formatting-03ab07da-1564-4913-b69f-2b1a370c8910" TargetMode="External"/><Relationship Id="rId2" Type="http://schemas.openxmlformats.org/officeDocument/2006/relationships/hyperlink" Target="https://support.office.com/en-us/article/video-sort-data-in-a-range-or-table-ffb9fcb0-b9cb-48bf-a15c-8bec9fd3a472" TargetMode="External"/><Relationship Id="rId1" Type="http://schemas.openxmlformats.org/officeDocument/2006/relationships/slideLayout" Target="../slideLayouts/slideLayout2.xml"/><Relationship Id="rId5" Type="http://schemas.openxmlformats.org/officeDocument/2006/relationships/hyperlink" Target="https://support.microsoft.com/en-au/office/video-use-slicers-timelines-and-pivotcharts-to-analyze-your-pivottable-data-4db5de3b-735e-4b03-b3b2-f2105d79dcb5" TargetMode="External"/><Relationship Id="rId4" Type="http://schemas.openxmlformats.org/officeDocument/2006/relationships/hyperlink" Target="https://support.office.com/en-us/article/video-vlookup-when-and-how-to-use-it-9a86157a-5542-4148-a536-724823014785"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BF2711-4A0F-498C-90D2-8CFD2B263A94}"/>
              </a:ext>
            </a:extLst>
          </p:cNvPr>
          <p:cNvSpPr/>
          <p:nvPr/>
        </p:nvSpPr>
        <p:spPr>
          <a:xfrm>
            <a:off x="0" y="-22817"/>
            <a:ext cx="9144000" cy="3135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 name="Rectangle 2">
            <a:hlinkClick r:id="rId2"/>
            <a:extLst>
              <a:ext uri="{FF2B5EF4-FFF2-40B4-BE49-F238E27FC236}">
                <a16:creationId xmlns:a16="http://schemas.microsoft.com/office/drawing/2014/main" id="{FD1865EF-0F65-48A6-AE05-15D009823A16}"/>
              </a:ext>
            </a:extLst>
          </p:cNvPr>
          <p:cNvSpPr/>
          <p:nvPr/>
        </p:nvSpPr>
        <p:spPr>
          <a:xfrm>
            <a:off x="0" y="3112706"/>
            <a:ext cx="9144000" cy="11544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 tIns="11430" rIns="22860" bIns="11430" numCol="1" spcCol="0" rtlCol="0" fromWordArt="0" anchor="ctr" anchorCtr="0" forceAA="0" compatLnSpc="1">
            <a:prstTxWarp prst="textNoShape">
              <a:avLst/>
            </a:prstTxWarp>
            <a:noAutofit/>
          </a:bodyPr>
          <a:lstStyle/>
          <a:p>
            <a:pPr algn="ctr" defTabSz="435356"/>
            <a:endParaRPr lang="en-US" sz="857" dirty="0">
              <a:solidFill>
                <a:prstClr val="white"/>
              </a:solidFill>
            </a:endParaRPr>
          </a:p>
        </p:txBody>
      </p:sp>
      <p:sp>
        <p:nvSpPr>
          <p:cNvPr id="4" name="TextBox 3">
            <a:extLst>
              <a:ext uri="{FF2B5EF4-FFF2-40B4-BE49-F238E27FC236}">
                <a16:creationId xmlns:a16="http://schemas.microsoft.com/office/drawing/2014/main" id="{407B1663-578C-4965-803E-6E8177F96AC7}"/>
              </a:ext>
            </a:extLst>
          </p:cNvPr>
          <p:cNvSpPr txBox="1"/>
          <p:nvPr/>
        </p:nvSpPr>
        <p:spPr>
          <a:xfrm>
            <a:off x="124648" y="3422596"/>
            <a:ext cx="8867736" cy="523220"/>
          </a:xfrm>
          <a:prstGeom prst="rect">
            <a:avLst/>
          </a:prstGeom>
          <a:noFill/>
        </p:spPr>
        <p:txBody>
          <a:bodyPr wrap="square" rtlCol="0">
            <a:spAutoFit/>
          </a:bodyPr>
          <a:lstStyle/>
          <a:p>
            <a:pPr eaLnBrk="0" hangingPunct="0"/>
            <a:r>
              <a:rPr lang="en-US" sz="2800" b="1" dirty="0" smtClean="0">
                <a:solidFill>
                  <a:schemeClr val="bg1"/>
                </a:solidFill>
                <a:latin typeface="Comic Sans MS" panose="030F0702030302020204" pitchFamily="66" charset="0"/>
              </a:rPr>
              <a:t>Creation of Excel Charts and PivotTable</a:t>
            </a:r>
            <a:endParaRPr lang="en-US" sz="2800" dirty="0">
              <a:solidFill>
                <a:schemeClr val="bg1"/>
              </a:solidFill>
              <a:latin typeface="Comic Sans MS" panose="030F0702030302020204" pitchFamily="66" charset="0"/>
            </a:endParaRPr>
          </a:p>
        </p:txBody>
      </p:sp>
      <p:sp>
        <p:nvSpPr>
          <p:cNvPr id="6" name="TextBox 5">
            <a:extLst>
              <a:ext uri="{FF2B5EF4-FFF2-40B4-BE49-F238E27FC236}">
                <a16:creationId xmlns:a16="http://schemas.microsoft.com/office/drawing/2014/main" id="{DDFBAF2D-A175-44E7-9B43-AC97CDAEBEA6}"/>
              </a:ext>
            </a:extLst>
          </p:cNvPr>
          <p:cNvSpPr txBox="1"/>
          <p:nvPr/>
        </p:nvSpPr>
        <p:spPr>
          <a:xfrm>
            <a:off x="124648" y="597254"/>
            <a:ext cx="7876352" cy="461665"/>
          </a:xfrm>
          <a:prstGeom prst="rect">
            <a:avLst/>
          </a:prstGeom>
          <a:noFill/>
          <a:ln>
            <a:noFill/>
          </a:ln>
        </p:spPr>
        <p:txBody>
          <a:bodyPr wrap="square" rtlCol="0">
            <a:spAutoFit/>
          </a:bodyPr>
          <a:lstStyle/>
          <a:p>
            <a:pPr defTabSz="435356"/>
            <a:r>
              <a:rPr lang="en-US" sz="2400" b="1" dirty="0" smtClean="0">
                <a:solidFill>
                  <a:srgbClr val="002060"/>
                </a:solidFill>
              </a:rPr>
              <a:t>University American College Skopje</a:t>
            </a:r>
            <a:endParaRPr lang="en-US" sz="2400" b="1" dirty="0">
              <a:solidFill>
                <a:srgbClr val="002060"/>
              </a:solidFill>
            </a:endParaRPr>
          </a:p>
        </p:txBody>
      </p:sp>
      <p:sp>
        <p:nvSpPr>
          <p:cNvPr id="8" name="TextBox 7">
            <a:extLst>
              <a:ext uri="{FF2B5EF4-FFF2-40B4-BE49-F238E27FC236}">
                <a16:creationId xmlns:a16="http://schemas.microsoft.com/office/drawing/2014/main" id="{DDFBAF2D-A175-44E7-9B43-AC97CDAEBEA6}"/>
              </a:ext>
            </a:extLst>
          </p:cNvPr>
          <p:cNvSpPr txBox="1"/>
          <p:nvPr/>
        </p:nvSpPr>
        <p:spPr>
          <a:xfrm>
            <a:off x="124648" y="1448157"/>
            <a:ext cx="7876352" cy="369332"/>
          </a:xfrm>
          <a:prstGeom prst="rect">
            <a:avLst/>
          </a:prstGeom>
          <a:noFill/>
          <a:ln>
            <a:noFill/>
          </a:ln>
        </p:spPr>
        <p:txBody>
          <a:bodyPr wrap="square" rtlCol="0">
            <a:spAutoFit/>
          </a:bodyPr>
          <a:lstStyle/>
          <a:p>
            <a:pPr defTabSz="435356"/>
            <a:r>
              <a:rPr lang="en-US" b="1" dirty="0" smtClean="0">
                <a:solidFill>
                  <a:srgbClr val="002060"/>
                </a:solidFill>
              </a:rPr>
              <a:t>Course: </a:t>
            </a:r>
            <a:r>
              <a:rPr lang="en-US" b="1" smtClean="0">
                <a:solidFill>
                  <a:srgbClr val="002060"/>
                </a:solidFill>
              </a:rPr>
              <a:t>Computer Applications </a:t>
            </a:r>
            <a:r>
              <a:rPr lang="en-US" b="1" dirty="0" smtClean="0">
                <a:solidFill>
                  <a:srgbClr val="002060"/>
                </a:solidFill>
              </a:rPr>
              <a:t>1</a:t>
            </a:r>
            <a:endParaRPr lang="en-US" b="1" dirty="0">
              <a:solidFill>
                <a:srgbClr val="002060"/>
              </a:solidFill>
            </a:endParaRPr>
          </a:p>
        </p:txBody>
      </p:sp>
      <p:sp>
        <p:nvSpPr>
          <p:cNvPr id="9" name="TextBox 8">
            <a:extLst>
              <a:ext uri="{FF2B5EF4-FFF2-40B4-BE49-F238E27FC236}">
                <a16:creationId xmlns:a16="http://schemas.microsoft.com/office/drawing/2014/main" id="{DDFBAF2D-A175-44E7-9B43-AC97CDAEBEA6}"/>
              </a:ext>
            </a:extLst>
          </p:cNvPr>
          <p:cNvSpPr txBox="1"/>
          <p:nvPr/>
        </p:nvSpPr>
        <p:spPr>
          <a:xfrm>
            <a:off x="111574" y="5410200"/>
            <a:ext cx="7876352" cy="646331"/>
          </a:xfrm>
          <a:prstGeom prst="rect">
            <a:avLst/>
          </a:prstGeom>
          <a:noFill/>
          <a:ln>
            <a:noFill/>
          </a:ln>
        </p:spPr>
        <p:txBody>
          <a:bodyPr wrap="square" rtlCol="0">
            <a:spAutoFit/>
          </a:bodyPr>
          <a:lstStyle/>
          <a:p>
            <a:pPr defTabSz="435356"/>
            <a:endParaRPr lang="en-US" b="1" dirty="0" smtClean="0">
              <a:solidFill>
                <a:srgbClr val="002060"/>
              </a:solidFill>
            </a:endParaRPr>
          </a:p>
          <a:p>
            <a:pPr defTabSz="435356"/>
            <a:r>
              <a:rPr lang="en-US" b="1" dirty="0" smtClean="0">
                <a:solidFill>
                  <a:srgbClr val="002060"/>
                </a:solidFill>
              </a:rPr>
              <a:t>Marija Stanojeska, PhD</a:t>
            </a:r>
          </a:p>
        </p:txBody>
      </p:sp>
    </p:spTree>
    <p:extLst>
      <p:ext uri="{BB962C8B-B14F-4D97-AF65-F5344CB8AC3E}">
        <p14:creationId xmlns:p14="http://schemas.microsoft.com/office/powerpoint/2010/main" val="2995915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228600"/>
            <a:ext cx="9144000" cy="523220"/>
          </a:xfrm>
          <a:prstGeom prst="rect">
            <a:avLst/>
          </a:prstGeom>
          <a:solidFill>
            <a:schemeClr val="bg1">
              <a:lumMod val="95000"/>
            </a:schemeClr>
          </a:solidFill>
        </p:spPr>
        <p:txBody>
          <a:bodyPr wrap="square">
            <a:spAutoFit/>
          </a:bodyPr>
          <a:lstStyle/>
          <a:p>
            <a:pPr algn="ctr"/>
            <a:r>
              <a:rPr lang="en-US" sz="1400" i="1" dirty="0">
                <a:solidFill>
                  <a:schemeClr val="accent1">
                    <a:lumMod val="75000"/>
                  </a:schemeClr>
                </a:solidFill>
              </a:rPr>
              <a:t>Based on the </a:t>
            </a:r>
            <a:r>
              <a:rPr lang="en-US" sz="1400" i="1" dirty="0" smtClean="0">
                <a:solidFill>
                  <a:schemeClr val="accent1">
                    <a:lumMod val="75000"/>
                  </a:schemeClr>
                </a:solidFill>
              </a:rPr>
              <a:t>textbook: </a:t>
            </a:r>
            <a:endParaRPr lang="en-US" sz="1400" i="1" dirty="0">
              <a:solidFill>
                <a:schemeClr val="accent1">
                  <a:lumMod val="75000"/>
                </a:schemeClr>
              </a:solidFill>
            </a:endParaRPr>
          </a:p>
          <a:p>
            <a:pPr algn="ctr"/>
            <a:r>
              <a:rPr lang="en-US" sz="1400" dirty="0">
                <a:solidFill>
                  <a:schemeClr val="accent1">
                    <a:lumMod val="75000"/>
                  </a:schemeClr>
                </a:solidFill>
              </a:rPr>
              <a:t>Microsoft Office Inside Out (Office 2021 and Microsoft 365), J. </a:t>
            </a:r>
            <a:r>
              <a:rPr lang="en-US" sz="1400" dirty="0" err="1">
                <a:solidFill>
                  <a:schemeClr val="accent1">
                    <a:lumMod val="75000"/>
                  </a:schemeClr>
                </a:solidFill>
              </a:rPr>
              <a:t>Habraken</a:t>
            </a:r>
            <a:r>
              <a:rPr lang="en-US" sz="1400" dirty="0">
                <a:solidFill>
                  <a:schemeClr val="accent1">
                    <a:lumMod val="75000"/>
                  </a:schemeClr>
                </a:solidFill>
              </a:rPr>
              <a:t>, Pearson Education, Inc., </a:t>
            </a:r>
            <a:r>
              <a:rPr lang="en-US" sz="1400" dirty="0" smtClean="0">
                <a:solidFill>
                  <a:schemeClr val="accent1">
                    <a:lumMod val="75000"/>
                  </a:schemeClr>
                </a:solidFill>
              </a:rPr>
              <a:t>2022. </a:t>
            </a:r>
            <a:endParaRPr lang="en-US" sz="1400" dirty="0">
              <a:solidFill>
                <a:schemeClr val="accent1">
                  <a:lumMod val="75000"/>
                </a:schemeClr>
              </a:solidFill>
            </a:endParaRPr>
          </a:p>
        </p:txBody>
      </p:sp>
      <p:pic>
        <p:nvPicPr>
          <p:cNvPr id="1026" name="Picture 2" descr="How to use Excel: A beginner's guide | Zapi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133600"/>
            <a:ext cx="6553201" cy="3276601"/>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6080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Understanding Excel charts</a:t>
            </a:r>
          </a:p>
        </p:txBody>
      </p:sp>
      <p:sp>
        <p:nvSpPr>
          <p:cNvPr id="3" name="object 3"/>
          <p:cNvSpPr txBox="1"/>
          <p:nvPr/>
        </p:nvSpPr>
        <p:spPr>
          <a:xfrm>
            <a:off x="609600" y="1447800"/>
            <a:ext cx="7924800" cy="5321970"/>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Charts </a:t>
            </a:r>
            <a:r>
              <a:rPr lang="en-US" sz="1600" dirty="0">
                <a:solidFill>
                  <a:schemeClr val="accent1">
                    <a:lumMod val="75000"/>
                  </a:schemeClr>
                </a:solidFill>
              </a:rPr>
              <a:t>are objects (just like a photo or a SmartArt graphic) that can be included anywhere on a worksheet. </a:t>
            </a:r>
            <a:endParaRPr lang="en-US" sz="1600" dirty="0" smtClean="0">
              <a:solidFill>
                <a:schemeClr val="accent1">
                  <a:lumMod val="75000"/>
                </a:schemeClr>
              </a:solidFill>
            </a:endParaRPr>
          </a:p>
          <a:p>
            <a:pPr algn="just" eaLnBrk="0" hangingPunct="0"/>
            <a:endParaRPr lang="en-US" sz="1600" dirty="0" smtClean="0">
              <a:solidFill>
                <a:schemeClr val="accent1">
                  <a:lumMod val="75000"/>
                </a:schemeClr>
              </a:solidFill>
            </a:endParaRPr>
          </a:p>
          <a:p>
            <a:pPr algn="just" eaLnBrk="0" hangingPunct="0">
              <a:spcAft>
                <a:spcPts val="600"/>
              </a:spcAft>
            </a:pPr>
            <a:r>
              <a:rPr lang="en-US" sz="1600" b="1" dirty="0">
                <a:solidFill>
                  <a:schemeClr val="accent1">
                    <a:lumMod val="75000"/>
                  </a:schemeClr>
                </a:solidFill>
              </a:rPr>
              <a:t>Chart area: </a:t>
            </a:r>
            <a:r>
              <a:rPr lang="en-US" sz="1600" dirty="0">
                <a:solidFill>
                  <a:schemeClr val="accent1">
                    <a:lumMod val="75000"/>
                  </a:schemeClr>
                </a:solidFill>
              </a:rPr>
              <a:t>The area inside the object frame that contains the chart, the axes, the data point labels, the legend, the chart title, and other chart </a:t>
            </a:r>
            <a:r>
              <a:rPr lang="en-US" sz="1600" dirty="0" smtClean="0">
                <a:solidFill>
                  <a:schemeClr val="accent1">
                    <a:lumMod val="75000"/>
                  </a:schemeClr>
                </a:solidFill>
              </a:rPr>
              <a:t>elements.</a:t>
            </a:r>
          </a:p>
          <a:p>
            <a:pPr algn="just" eaLnBrk="0" hangingPunct="0">
              <a:spcAft>
                <a:spcPts val="600"/>
              </a:spcAft>
            </a:pPr>
            <a:r>
              <a:rPr lang="en-US" sz="1600" b="1" dirty="0">
                <a:solidFill>
                  <a:schemeClr val="accent1">
                    <a:lumMod val="75000"/>
                  </a:schemeClr>
                </a:solidFill>
              </a:rPr>
              <a:t>Plot area: </a:t>
            </a:r>
            <a:r>
              <a:rPr lang="en-US" sz="1600" dirty="0">
                <a:solidFill>
                  <a:schemeClr val="accent1">
                    <a:lumMod val="75000"/>
                  </a:schemeClr>
                </a:solidFill>
              </a:rPr>
              <a:t>The area of the chart between the chart axes. This is where the data points are </a:t>
            </a:r>
            <a:r>
              <a:rPr lang="en-US" sz="1600" dirty="0" smtClean="0">
                <a:solidFill>
                  <a:schemeClr val="accent1">
                    <a:lumMod val="75000"/>
                  </a:schemeClr>
                </a:solidFill>
              </a:rPr>
              <a:t>plotted.</a:t>
            </a:r>
          </a:p>
          <a:p>
            <a:pPr algn="just" eaLnBrk="0" hangingPunct="0">
              <a:spcAft>
                <a:spcPts val="600"/>
              </a:spcAft>
            </a:pPr>
            <a:r>
              <a:rPr lang="en-US" sz="1600" b="1" dirty="0">
                <a:solidFill>
                  <a:schemeClr val="accent1">
                    <a:lumMod val="75000"/>
                  </a:schemeClr>
                </a:solidFill>
              </a:rPr>
              <a:t>Data series: </a:t>
            </a:r>
            <a:r>
              <a:rPr lang="en-US" sz="1600" dirty="0">
                <a:solidFill>
                  <a:schemeClr val="accent1">
                    <a:lumMod val="75000"/>
                  </a:schemeClr>
                </a:solidFill>
              </a:rPr>
              <a:t>Related data points are referred to as a data series. </a:t>
            </a:r>
            <a:endParaRPr lang="en-US" sz="1600" dirty="0" smtClean="0">
              <a:solidFill>
                <a:schemeClr val="accent1">
                  <a:lumMod val="75000"/>
                </a:schemeClr>
              </a:solidFill>
            </a:endParaRPr>
          </a:p>
          <a:p>
            <a:pPr algn="just" eaLnBrk="0" hangingPunct="0">
              <a:spcAft>
                <a:spcPts val="600"/>
              </a:spcAft>
            </a:pPr>
            <a:r>
              <a:rPr lang="en-US" sz="1600" b="1" dirty="0" smtClean="0">
                <a:solidFill>
                  <a:schemeClr val="accent1">
                    <a:lumMod val="75000"/>
                  </a:schemeClr>
                </a:solidFill>
              </a:rPr>
              <a:t>Categories</a:t>
            </a:r>
            <a:r>
              <a:rPr lang="en-US" sz="1600" b="1" dirty="0">
                <a:solidFill>
                  <a:schemeClr val="accent1">
                    <a:lumMod val="75000"/>
                  </a:schemeClr>
                </a:solidFill>
              </a:rPr>
              <a:t>: </a:t>
            </a:r>
            <a:r>
              <a:rPr lang="en-US" sz="1600" dirty="0">
                <a:solidFill>
                  <a:schemeClr val="accent1">
                    <a:lumMod val="75000"/>
                  </a:schemeClr>
                </a:solidFill>
              </a:rPr>
              <a:t>Categories reﬂect the number of elements in a series</a:t>
            </a:r>
            <a:r>
              <a:rPr lang="en-US" sz="1600" dirty="0" smtClean="0">
                <a:solidFill>
                  <a:schemeClr val="accent1">
                    <a:lumMod val="75000"/>
                  </a:schemeClr>
                </a:solidFill>
              </a:rPr>
              <a:t>. </a:t>
            </a:r>
          </a:p>
          <a:p>
            <a:pPr algn="just" eaLnBrk="0" hangingPunct="0">
              <a:spcAft>
                <a:spcPts val="600"/>
              </a:spcAft>
            </a:pPr>
            <a:r>
              <a:rPr lang="en-US" sz="1600" b="1" dirty="0" smtClean="0">
                <a:solidFill>
                  <a:schemeClr val="accent1">
                    <a:lumMod val="75000"/>
                  </a:schemeClr>
                </a:solidFill>
              </a:rPr>
              <a:t>Axis: </a:t>
            </a:r>
            <a:r>
              <a:rPr lang="en-US" sz="1600" dirty="0" smtClean="0">
                <a:solidFill>
                  <a:schemeClr val="accent1">
                    <a:lumMod val="75000"/>
                  </a:schemeClr>
                </a:solidFill>
              </a:rPr>
              <a:t>One category, the x-axis often contains labels that deﬁne what each category represents. </a:t>
            </a:r>
          </a:p>
          <a:p>
            <a:pPr algn="just" eaLnBrk="0" hangingPunct="0">
              <a:spcAft>
                <a:spcPts val="600"/>
              </a:spcAft>
            </a:pPr>
            <a:r>
              <a:rPr lang="en-US" sz="1600" b="1" dirty="0" smtClean="0">
                <a:solidFill>
                  <a:schemeClr val="accent1">
                    <a:lumMod val="75000"/>
                  </a:schemeClr>
                </a:solidFill>
              </a:rPr>
              <a:t>Legend</a:t>
            </a:r>
            <a:r>
              <a:rPr lang="en-US" sz="1600" b="1" dirty="0">
                <a:solidFill>
                  <a:schemeClr val="accent1">
                    <a:lumMod val="75000"/>
                  </a:schemeClr>
                </a:solidFill>
              </a:rPr>
              <a:t>: </a:t>
            </a:r>
            <a:r>
              <a:rPr lang="en-US" sz="1600" dirty="0">
                <a:solidFill>
                  <a:schemeClr val="accent1">
                    <a:lumMod val="75000"/>
                  </a:schemeClr>
                </a:solidFill>
              </a:rPr>
              <a:t>The legend provides the key for how color coding or patterns have been used to diﬀerentiate the diﬀerent elements in a data series on the chart. </a:t>
            </a:r>
            <a:endParaRPr lang="en-US" sz="1600" dirty="0" smtClean="0">
              <a:solidFill>
                <a:schemeClr val="accent1">
                  <a:lumMod val="75000"/>
                </a:schemeClr>
              </a:solidFill>
            </a:endParaRPr>
          </a:p>
          <a:p>
            <a:pPr algn="just" eaLnBrk="0" hangingPunct="0">
              <a:spcAft>
                <a:spcPts val="600"/>
              </a:spcAft>
            </a:pPr>
            <a:r>
              <a:rPr lang="en-US" sz="1600" b="1" dirty="0" smtClean="0">
                <a:solidFill>
                  <a:schemeClr val="accent1">
                    <a:lumMod val="75000"/>
                  </a:schemeClr>
                </a:solidFill>
              </a:rPr>
              <a:t>Data </a:t>
            </a:r>
            <a:r>
              <a:rPr lang="en-US" sz="1600" b="1" dirty="0">
                <a:solidFill>
                  <a:schemeClr val="accent1">
                    <a:lumMod val="75000"/>
                  </a:schemeClr>
                </a:solidFill>
              </a:rPr>
              <a:t>labels: </a:t>
            </a:r>
            <a:r>
              <a:rPr lang="en-US" sz="1600" dirty="0">
                <a:solidFill>
                  <a:schemeClr val="accent1">
                    <a:lumMod val="75000"/>
                  </a:schemeClr>
                </a:solidFill>
              </a:rPr>
              <a:t>Labels that appear on the chart denoting the value of the data points used to create the </a:t>
            </a:r>
            <a:r>
              <a:rPr lang="en-US" sz="1600" dirty="0" smtClean="0">
                <a:solidFill>
                  <a:schemeClr val="accent1">
                    <a:lumMod val="75000"/>
                  </a:schemeClr>
                </a:solidFill>
              </a:rPr>
              <a:t>chart.</a:t>
            </a:r>
          </a:p>
          <a:p>
            <a:pPr algn="just">
              <a:spcAft>
                <a:spcPts val="1200"/>
              </a:spcAft>
            </a:pPr>
            <a:r>
              <a:rPr lang="en-US" sz="1600" b="1" dirty="0">
                <a:solidFill>
                  <a:schemeClr val="accent1">
                    <a:lumMod val="75000"/>
                  </a:schemeClr>
                </a:solidFill>
              </a:rPr>
              <a:t>Gridlines: </a:t>
            </a:r>
            <a:r>
              <a:rPr lang="en-US" sz="1600" dirty="0">
                <a:solidFill>
                  <a:schemeClr val="accent1">
                    <a:lumMod val="75000"/>
                  </a:schemeClr>
                </a:solidFill>
              </a:rPr>
              <a:t>Gridlines help visualize the value of a particular data point on the </a:t>
            </a:r>
            <a:r>
              <a:rPr lang="en-US" sz="1600" dirty="0" smtClean="0">
                <a:solidFill>
                  <a:schemeClr val="accent1">
                    <a:lumMod val="75000"/>
                  </a:schemeClr>
                </a:solidFill>
              </a:rPr>
              <a:t>chart.</a:t>
            </a:r>
          </a:p>
          <a:p>
            <a:pPr algn="just">
              <a:spcAft>
                <a:spcPts val="1200"/>
              </a:spcAft>
            </a:pPr>
            <a:r>
              <a:rPr lang="en-US" sz="1600" b="1" dirty="0" smtClean="0">
                <a:solidFill>
                  <a:schemeClr val="accent1">
                    <a:lumMod val="75000"/>
                  </a:schemeClr>
                </a:solidFill>
              </a:rPr>
              <a:t>Background</a:t>
            </a:r>
            <a:r>
              <a:rPr lang="en-US" sz="1600" b="1" dirty="0">
                <a:solidFill>
                  <a:schemeClr val="accent1">
                    <a:lumMod val="75000"/>
                  </a:schemeClr>
                </a:solidFill>
              </a:rPr>
              <a:t>: </a:t>
            </a:r>
            <a:r>
              <a:rPr lang="en-US" sz="1600" dirty="0">
                <a:solidFill>
                  <a:schemeClr val="accent1">
                    <a:lumMod val="75000"/>
                  </a:schemeClr>
                </a:solidFill>
              </a:rPr>
              <a:t>The background consists of the space behind and below the chart area. </a:t>
            </a:r>
            <a:endParaRPr lang="en-US" dirty="0" smtClean="0"/>
          </a:p>
          <a:p>
            <a:pPr eaLnBrk="0" hangingPunct="0">
              <a:spcAft>
                <a:spcPts val="600"/>
              </a:spcAft>
            </a:pPr>
            <a:endParaRPr lang="en-US" dirty="0"/>
          </a:p>
        </p:txBody>
      </p:sp>
    </p:spTree>
    <p:extLst>
      <p:ext uri="{BB962C8B-B14F-4D97-AF65-F5344CB8AC3E}">
        <p14:creationId xmlns:p14="http://schemas.microsoft.com/office/powerpoint/2010/main" val="27500217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algn="just" eaLnBrk="0" hangingPunct="0"/>
            <a:r>
              <a:rPr lang="en-US" dirty="0" smtClean="0">
                <a:solidFill>
                  <a:schemeClr val="accent1">
                    <a:lumMod val="75000"/>
                  </a:schemeClr>
                </a:solidFill>
                <a:latin typeface="Comic Sans MS" panose="030F0702030302020204" pitchFamily="66" charset="0"/>
              </a:rPr>
              <a:t>A line chart example</a:t>
            </a:r>
            <a:endParaRPr lang="en-US" dirty="0">
              <a:solidFill>
                <a:schemeClr val="accent1">
                  <a:lumMod val="75000"/>
                </a:schemeClr>
              </a:solidFill>
              <a:latin typeface="Comic Sans MS" panose="030F0702030302020204" pitchFamily="66" charset="0"/>
            </a:endParaRPr>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676400"/>
            <a:ext cx="5654675" cy="4697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52988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534400" cy="319959"/>
          </a:xfrm>
          <a:prstGeom prst="rect">
            <a:avLst/>
          </a:prstGeom>
        </p:spPr>
        <p:txBody>
          <a:bodyPr vert="horz" wrap="square" lIns="0" tIns="12065" rIns="0" bIns="0" rtlCol="0">
            <a:spAutoFit/>
          </a:bodyPr>
          <a:lstStyle/>
          <a:p>
            <a:pPr algn="just" eaLnBrk="0" hangingPunct="0"/>
            <a:r>
              <a:rPr lang="en-US" dirty="0" smtClean="0">
                <a:latin typeface="Comic Sans MS" panose="030F0702030302020204" pitchFamily="66" charset="0"/>
              </a:rPr>
              <a:t>A </a:t>
            </a:r>
            <a:r>
              <a:rPr lang="en-US" dirty="0">
                <a:latin typeface="Comic Sans MS" panose="030F0702030302020204" pitchFamily="66" charset="0"/>
              </a:rPr>
              <a:t>column chart with multiple data </a:t>
            </a:r>
            <a:r>
              <a:rPr lang="en-US" dirty="0" smtClean="0">
                <a:latin typeface="Comic Sans MS" panose="030F0702030302020204" pitchFamily="66" charset="0"/>
              </a:rPr>
              <a:t>series </a:t>
            </a:r>
            <a:r>
              <a:rPr lang="en-US" dirty="0" smtClean="0">
                <a:solidFill>
                  <a:schemeClr val="accent1">
                    <a:lumMod val="75000"/>
                  </a:schemeClr>
                </a:solidFill>
                <a:latin typeface="Comic Sans MS" panose="030F0702030302020204" pitchFamily="66" charset="0"/>
              </a:rPr>
              <a:t>example</a:t>
            </a:r>
            <a:endParaRPr lang="en-US" dirty="0">
              <a:solidFill>
                <a:schemeClr val="accent1">
                  <a:lumMod val="75000"/>
                </a:schemeClr>
              </a:solidFill>
              <a:latin typeface="Comic Sans MS" panose="030F0702030302020204" pitchFamily="66" charset="0"/>
            </a:endParaRP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5207" y="1905000"/>
            <a:ext cx="6393586" cy="380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02354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5344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A combination chart graphs data series </a:t>
            </a:r>
            <a:r>
              <a:rPr lang="en-US" dirty="0" smtClean="0">
                <a:latin typeface="Comic Sans MS" panose="030F0702030302020204" pitchFamily="66" charset="0"/>
              </a:rPr>
              <a:t>example</a:t>
            </a:r>
            <a:endParaRPr lang="en-US" dirty="0">
              <a:latin typeface="Comic Sans MS" panose="030F0702030302020204" pitchFamily="66" charset="0"/>
            </a:endParaRP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676400"/>
            <a:ext cx="6400800" cy="4209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76738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Column chart/bar chart</a:t>
            </a:r>
          </a:p>
        </p:txBody>
      </p:sp>
      <p:sp>
        <p:nvSpPr>
          <p:cNvPr id="3" name="object 3"/>
          <p:cNvSpPr txBox="1"/>
          <p:nvPr/>
        </p:nvSpPr>
        <p:spPr>
          <a:xfrm>
            <a:off x="609600" y="1295400"/>
            <a:ext cx="7924800" cy="997709"/>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column/bar chart is probably one of the most commonly used business chart types. These types of charts work very well in showing how diﬀerent data series or groups of data points compare. </a:t>
            </a:r>
            <a:r>
              <a:rPr lang="en-US" sz="1600" dirty="0" smtClean="0">
                <a:solidFill>
                  <a:schemeClr val="accent1">
                    <a:lumMod val="75000"/>
                  </a:schemeClr>
                </a:solidFill>
              </a:rPr>
              <a:t>Figure shows </a:t>
            </a:r>
            <a:r>
              <a:rPr lang="en-US" sz="1600" dirty="0">
                <a:solidFill>
                  <a:schemeClr val="accent1">
                    <a:lumMod val="75000"/>
                  </a:schemeClr>
                </a:solidFill>
              </a:rPr>
              <a:t>a bar chart that displays the total sales for each salesperson listed in the worksheet.</a:t>
            </a:r>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261" y="3086862"/>
            <a:ext cx="6652639" cy="2688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44844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Pie chart</a:t>
            </a:r>
          </a:p>
        </p:txBody>
      </p:sp>
      <p:sp>
        <p:nvSpPr>
          <p:cNvPr id="3" name="object 3"/>
          <p:cNvSpPr txBox="1"/>
          <p:nvPr/>
        </p:nvSpPr>
        <p:spPr>
          <a:xfrm>
            <a:off x="598578" y="1219200"/>
            <a:ext cx="7924800" cy="1490152"/>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Pie </a:t>
            </a:r>
            <a:r>
              <a:rPr lang="en-US" sz="1600" dirty="0">
                <a:solidFill>
                  <a:schemeClr val="accent1">
                    <a:lumMod val="75000"/>
                  </a:schemeClr>
                </a:solidFill>
              </a:rPr>
              <a:t>charts enable you to show how the various parts relate to the whole. For example, you might be trying to keep track of your monthly expenses. A pie chart would enable you to visually represent the relative size of each of your monthly expenses as compared with your total expenses.</a:t>
            </a:r>
          </a:p>
          <a:p>
            <a:pPr algn="just" eaLnBrk="0" hangingPunct="0"/>
            <a:r>
              <a:rPr lang="en-US" sz="1600" dirty="0">
                <a:solidFill>
                  <a:schemeClr val="accent1">
                    <a:lumMod val="75000"/>
                  </a:schemeClr>
                </a:solidFill>
              </a:rPr>
              <a:t>Pie charts are great for showing how costs, sales, or other data series for a group of categories relate to each other. </a:t>
            </a:r>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581400"/>
            <a:ext cx="6501001" cy="2444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02221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Area chart</a:t>
            </a:r>
          </a:p>
        </p:txBody>
      </p:sp>
      <p:sp>
        <p:nvSpPr>
          <p:cNvPr id="3" name="object 3"/>
          <p:cNvSpPr txBox="1"/>
          <p:nvPr/>
        </p:nvSpPr>
        <p:spPr>
          <a:xfrm>
            <a:off x="615510" y="1295400"/>
            <a:ext cx="7924800" cy="1490152"/>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Area </a:t>
            </a:r>
            <a:r>
              <a:rPr lang="en-US" sz="1600" dirty="0">
                <a:solidFill>
                  <a:schemeClr val="accent1">
                    <a:lumMod val="75000"/>
                  </a:schemeClr>
                </a:solidFill>
              </a:rPr>
              <a:t>charts enable you to show trends using cumulative totals over time. These types of charts emphasize the general direction of the data series up or down and show the magnitude of change. Area charts are somewhat similar to line charts; however, area charts show not only trends over time, but can also show how data series shown in the chart relate to the whole and each other. This enables you to view trends related to each data series and to compare data series. </a:t>
            </a:r>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200400"/>
            <a:ext cx="5240338" cy="346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55797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X Y (scatter) chart</a:t>
            </a:r>
          </a:p>
        </p:txBody>
      </p:sp>
      <p:sp>
        <p:nvSpPr>
          <p:cNvPr id="3" name="object 3"/>
          <p:cNvSpPr txBox="1"/>
          <p:nvPr/>
        </p:nvSpPr>
        <p:spPr>
          <a:xfrm>
            <a:off x="615510" y="1295400"/>
            <a:ext cx="7924800" cy="997709"/>
          </a:xfrm>
          <a:prstGeom prst="rect">
            <a:avLst/>
          </a:prstGeom>
        </p:spPr>
        <p:txBody>
          <a:bodyPr vert="horz" wrap="square" lIns="0" tIns="12700" rIns="0" bIns="0" rtlCol="0">
            <a:spAutoFit/>
          </a:bodyPr>
          <a:lstStyle/>
          <a:p>
            <a:pPr algn="just"/>
            <a:r>
              <a:rPr lang="en-US" sz="1600" dirty="0" smtClean="0">
                <a:solidFill>
                  <a:schemeClr val="accent1">
                    <a:lumMod val="75000"/>
                  </a:schemeClr>
                </a:solidFill>
              </a:rPr>
              <a:t>Scatter </a:t>
            </a:r>
            <a:r>
              <a:rPr lang="en-US" sz="1600" dirty="0">
                <a:solidFill>
                  <a:schemeClr val="accent1">
                    <a:lumMod val="75000"/>
                  </a:schemeClr>
                </a:solidFill>
              </a:rPr>
              <a:t>charts enable you to determine whether the data points in a series fall on the chart in a pattern called a cluster. Scatter charts are used to see whether there is a correlation between values. One set </a:t>
            </a:r>
            <a:r>
              <a:rPr lang="en-US" sz="1600" dirty="0" smtClean="0">
                <a:solidFill>
                  <a:schemeClr val="accent1">
                    <a:lumMod val="75000"/>
                  </a:schemeClr>
                </a:solidFill>
              </a:rPr>
              <a:t>of </a:t>
            </a:r>
            <a:r>
              <a:rPr lang="en-US" sz="1600" dirty="0">
                <a:solidFill>
                  <a:schemeClr val="accent1">
                    <a:lumMod val="75000"/>
                  </a:schemeClr>
                </a:solidFill>
              </a:rPr>
              <a:t>values is plotted on the x-axis and the other set of values is   plotted along the y-axis. </a:t>
            </a:r>
          </a:p>
        </p:txBody>
      </p:sp>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966798"/>
            <a:ext cx="6097651" cy="276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03423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Stock chart</a:t>
            </a:r>
          </a:p>
        </p:txBody>
      </p:sp>
      <p:sp>
        <p:nvSpPr>
          <p:cNvPr id="3" name="object 3"/>
          <p:cNvSpPr txBox="1"/>
          <p:nvPr/>
        </p:nvSpPr>
        <p:spPr>
          <a:xfrm>
            <a:off x="615510" y="1295400"/>
            <a:ext cx="7924800" cy="1243930"/>
          </a:xfrm>
          <a:prstGeom prst="rect">
            <a:avLst/>
          </a:prstGeom>
        </p:spPr>
        <p:txBody>
          <a:bodyPr vert="horz" wrap="square" lIns="0" tIns="12700" rIns="0" bIns="0" rtlCol="0">
            <a:spAutoFit/>
          </a:bodyPr>
          <a:lstStyle/>
          <a:p>
            <a:pPr algn="just"/>
            <a:r>
              <a:rPr lang="en-US" sz="1600" dirty="0" smtClean="0">
                <a:solidFill>
                  <a:schemeClr val="accent1">
                    <a:lumMod val="75000"/>
                  </a:schemeClr>
                </a:solidFill>
              </a:rPr>
              <a:t>Stock </a:t>
            </a:r>
            <a:r>
              <a:rPr lang="en-US" sz="1600" dirty="0">
                <a:solidFill>
                  <a:schemeClr val="accent1">
                    <a:lumMod val="75000"/>
                  </a:schemeClr>
                </a:solidFill>
              </a:rPr>
              <a:t>charts (also known as box plots, box and whiskers plots, and candlestick plots) are particularly useful when you are tracking a particular stock that is in your stock portfolio or that you are considering making part of your portfolio. Stock charts can be created using three diﬀerent data series, four diﬀerent data series, or ﬁve diﬀerent data </a:t>
            </a:r>
            <a:r>
              <a:rPr lang="en-US" sz="1600" dirty="0" smtClean="0">
                <a:solidFill>
                  <a:schemeClr val="accent1">
                    <a:lumMod val="75000"/>
                  </a:schemeClr>
                </a:solidFill>
              </a:rPr>
              <a:t>series - all </a:t>
            </a:r>
            <a:r>
              <a:rPr lang="en-US" sz="1600" dirty="0">
                <a:solidFill>
                  <a:schemeClr val="accent1">
                    <a:lumMod val="75000"/>
                  </a:schemeClr>
                </a:solidFill>
              </a:rPr>
              <a:t>of which are related to the price of the stock.</a:t>
            </a:r>
          </a:p>
        </p:txBody>
      </p:sp>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6671" y="3124200"/>
            <a:ext cx="6022478"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71162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325628"/>
            <a:ext cx="3033395" cy="299720"/>
          </a:xfrm>
          <a:prstGeom prst="rect">
            <a:avLst/>
          </a:prstGeom>
        </p:spPr>
        <p:txBody>
          <a:bodyPr vert="horz" wrap="square" lIns="0" tIns="12700" rIns="0" bIns="0" rtlCol="0">
            <a:spAutoFit/>
          </a:bodyPr>
          <a:lstStyle/>
          <a:p>
            <a:pPr marL="12700">
              <a:lnSpc>
                <a:spcPct val="100000"/>
              </a:lnSpc>
              <a:spcBef>
                <a:spcPts val="100"/>
              </a:spcBef>
            </a:pPr>
            <a:r>
              <a:rPr lang="en-US" sz="1800" b="1" spc="-5" dirty="0" smtClean="0">
                <a:latin typeface="Comic Sans MS"/>
                <a:cs typeface="Comic Sans MS"/>
              </a:rPr>
              <a:t>Training</a:t>
            </a:r>
            <a:endParaRPr sz="1800" dirty="0">
              <a:latin typeface="Comic Sans MS"/>
              <a:cs typeface="Comic Sans MS"/>
            </a:endParaRPr>
          </a:p>
        </p:txBody>
      </p:sp>
      <p:sp>
        <p:nvSpPr>
          <p:cNvPr id="3" name="object 3"/>
          <p:cNvSpPr/>
          <p:nvPr/>
        </p:nvSpPr>
        <p:spPr>
          <a:xfrm>
            <a:off x="4191000" y="1676400"/>
            <a:ext cx="1411223" cy="1610867"/>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685800" y="3962400"/>
            <a:ext cx="7766050" cy="750847"/>
          </a:xfrm>
          <a:prstGeom prst="rect">
            <a:avLst/>
          </a:prstGeom>
        </p:spPr>
        <p:txBody>
          <a:bodyPr vert="horz" wrap="square" lIns="0" tIns="12065" rIns="0" bIns="0" rtlCol="0">
            <a:spAutoFit/>
          </a:bodyPr>
          <a:lstStyle/>
          <a:p>
            <a:pPr algn="ctr" eaLnBrk="0" hangingPunct="0"/>
            <a:r>
              <a:rPr lang="en-US" sz="1600" dirty="0" smtClean="0">
                <a:solidFill>
                  <a:schemeClr val="accent1">
                    <a:lumMod val="75000"/>
                  </a:schemeClr>
                </a:solidFill>
              </a:rPr>
              <a:t>Exercise </a:t>
            </a:r>
            <a:r>
              <a:rPr lang="en-US" sz="1600" dirty="0" smtClean="0">
                <a:solidFill>
                  <a:schemeClr val="accent1">
                    <a:lumMod val="75000"/>
                  </a:schemeClr>
                </a:solidFill>
              </a:rPr>
              <a:t>1</a:t>
            </a:r>
            <a:endParaRPr lang="en-US" sz="1600" dirty="0" smtClean="0">
              <a:solidFill>
                <a:schemeClr val="accent1">
                  <a:lumMod val="75000"/>
                </a:schemeClr>
              </a:solidFill>
            </a:endParaRPr>
          </a:p>
          <a:p>
            <a:pPr algn="ctr" eaLnBrk="0" hangingPunct="0"/>
            <a:endParaRPr lang="en-US" sz="1600" dirty="0">
              <a:solidFill>
                <a:schemeClr val="accent1">
                  <a:lumMod val="75000"/>
                </a:schemeClr>
              </a:solidFill>
            </a:endParaRPr>
          </a:p>
          <a:p>
            <a:pPr algn="ctr" eaLnBrk="0" hangingPunct="0"/>
            <a:r>
              <a:rPr lang="en-US" sz="1600" dirty="0" smtClean="0">
                <a:solidFill>
                  <a:schemeClr val="accent1">
                    <a:lumMod val="75000"/>
                  </a:schemeClr>
                </a:solidFill>
              </a:rPr>
              <a:t>Insert a chart.</a:t>
            </a:r>
            <a:endParaRPr lang="en-US" sz="1600" dirty="0">
              <a:solidFill>
                <a:schemeClr val="accent1">
                  <a:lumMod val="75000"/>
                </a:schemeClr>
              </a:solidFill>
            </a:endParaRPr>
          </a:p>
        </p:txBody>
      </p:sp>
    </p:spTree>
    <p:extLst>
      <p:ext uri="{BB962C8B-B14F-4D97-AF65-F5344CB8AC3E}">
        <p14:creationId xmlns:p14="http://schemas.microsoft.com/office/powerpoint/2010/main" val="28993134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Inserting a chart from the ribbon</a:t>
            </a:r>
          </a:p>
        </p:txBody>
      </p:sp>
      <p:sp>
        <p:nvSpPr>
          <p:cNvPr id="3" name="object 3"/>
          <p:cNvSpPr txBox="1"/>
          <p:nvPr/>
        </p:nvSpPr>
        <p:spPr>
          <a:xfrm>
            <a:off x="615510" y="1295400"/>
            <a:ext cx="7924800" cy="997709"/>
          </a:xfrm>
          <a:prstGeom prst="rect">
            <a:avLst/>
          </a:prstGeom>
        </p:spPr>
        <p:txBody>
          <a:bodyPr vert="horz" wrap="square" lIns="0" tIns="12700" rIns="0" bIns="0" rtlCol="0">
            <a:spAutoFit/>
          </a:bodyPr>
          <a:lstStyle/>
          <a:p>
            <a:pPr algn="just"/>
            <a:r>
              <a:rPr lang="en-US" sz="1600" dirty="0" smtClean="0">
                <a:solidFill>
                  <a:schemeClr val="accent1">
                    <a:lumMod val="75000"/>
                  </a:schemeClr>
                </a:solidFill>
              </a:rPr>
              <a:t>To </a:t>
            </a:r>
            <a:r>
              <a:rPr lang="en-US" sz="1600" dirty="0">
                <a:solidFill>
                  <a:schemeClr val="accent1">
                    <a:lumMod val="75000"/>
                  </a:schemeClr>
                </a:solidFill>
              </a:rPr>
              <a:t>choose the chart type, switch to the ribbon’s Insert tab. The Charts group provides commands for speciﬁc chart types, including Insert Column Chart, Insert Line Chart, and Insert Pie or Doughnut Chart. Select the drop-down arrow to the right of any of these chart commands to select a chart subtype. </a:t>
            </a:r>
          </a:p>
        </p:txBody>
      </p:sp>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438400"/>
            <a:ext cx="4572000" cy="4325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25633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algn="just" eaLnBrk="0" hangingPunct="0"/>
            <a:r>
              <a:rPr lang="en-US" dirty="0">
                <a:solidFill>
                  <a:schemeClr val="accent1">
                    <a:lumMod val="75000"/>
                  </a:schemeClr>
                </a:solidFill>
                <a:latin typeface="Comic Sans MS" panose="030F0702030302020204" pitchFamily="66" charset="0"/>
              </a:rPr>
              <a:t>Selecting a recommended chart</a:t>
            </a:r>
          </a:p>
        </p:txBody>
      </p:sp>
      <p:sp>
        <p:nvSpPr>
          <p:cNvPr id="3" name="object 3"/>
          <p:cNvSpPr txBox="1"/>
          <p:nvPr/>
        </p:nvSpPr>
        <p:spPr>
          <a:xfrm>
            <a:off x="615510" y="1295400"/>
            <a:ext cx="7924800" cy="1490152"/>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Recommended Charts feature helps you determine the best chart type for your data, and it can be particularly useful in situations where you aren’t quite sure what type of chart would best represent the data in the sheet.</a:t>
            </a:r>
          </a:p>
          <a:p>
            <a:pPr algn="just" eaLnBrk="0" hangingPunct="0"/>
            <a:r>
              <a:rPr lang="en-US" sz="1600" dirty="0">
                <a:solidFill>
                  <a:schemeClr val="accent1">
                    <a:lumMod val="75000"/>
                  </a:schemeClr>
                </a:solidFill>
              </a:rPr>
              <a:t>To view recommended charts for your data, select the cell range for the chart and then navigate to the Insert tab. Select the Recommended Charts command in the Charts group. The Insert Chart dialog box opens with the Recommended Charts tab </a:t>
            </a:r>
            <a:r>
              <a:rPr lang="en-US" sz="1600" dirty="0" smtClean="0">
                <a:solidFill>
                  <a:schemeClr val="accent1">
                    <a:lumMod val="75000"/>
                  </a:schemeClr>
                </a:solidFill>
              </a:rPr>
              <a:t>selected</a:t>
            </a:r>
            <a:r>
              <a:rPr lang="en-US" sz="1600" dirty="0">
                <a:solidFill>
                  <a:schemeClr val="accent1">
                    <a:lumMod val="75000"/>
                  </a:schemeClr>
                </a:solidFill>
              </a:rPr>
              <a:t>.</a:t>
            </a:r>
          </a:p>
        </p:txBody>
      </p:sp>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018" y="3456193"/>
            <a:ext cx="5917784" cy="309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85884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Inserting charts with the Quick Analysis gallery</a:t>
            </a:r>
          </a:p>
        </p:txBody>
      </p:sp>
      <p:sp>
        <p:nvSpPr>
          <p:cNvPr id="3" name="object 3"/>
          <p:cNvSpPr txBox="1"/>
          <p:nvPr/>
        </p:nvSpPr>
        <p:spPr>
          <a:xfrm>
            <a:off x="457200" y="2438400"/>
            <a:ext cx="3810000" cy="1736373"/>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To </a:t>
            </a:r>
            <a:r>
              <a:rPr lang="en-US" sz="1600" dirty="0">
                <a:solidFill>
                  <a:schemeClr val="accent1">
                    <a:lumMod val="75000"/>
                  </a:schemeClr>
                </a:solidFill>
              </a:rPr>
              <a:t>insert a chart using the Quick Analysis gallery, select the cell range for the chart. The Quick Analysis button appears at the very bottom right of the selected range. Click the button, and the gallery opens; select Charts to view the Quick Analysis charting options.</a:t>
            </a:r>
          </a:p>
        </p:txBody>
      </p:sp>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1663348"/>
            <a:ext cx="3762375" cy="502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20084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Tools for quickly customizing a chart</a:t>
            </a:r>
          </a:p>
        </p:txBody>
      </p:sp>
      <p:sp>
        <p:nvSpPr>
          <p:cNvPr id="3" name="object 3"/>
          <p:cNvSpPr txBox="1"/>
          <p:nvPr/>
        </p:nvSpPr>
        <p:spPr>
          <a:xfrm>
            <a:off x="615510" y="1447800"/>
            <a:ext cx="7924800" cy="1736373"/>
          </a:xfrm>
          <a:prstGeom prst="rect">
            <a:avLst/>
          </a:prstGeom>
        </p:spPr>
        <p:txBody>
          <a:bodyPr vert="horz" wrap="square" lIns="0" tIns="12700" rIns="0" bIns="0" rtlCol="0">
            <a:spAutoFit/>
          </a:bodyPr>
          <a:lstStyle/>
          <a:p>
            <a:pPr algn="just"/>
            <a:r>
              <a:rPr lang="en-US" sz="1600" dirty="0" smtClean="0">
                <a:solidFill>
                  <a:schemeClr val="accent1">
                    <a:lumMod val="75000"/>
                  </a:schemeClr>
                </a:solidFill>
              </a:rPr>
              <a:t>The </a:t>
            </a:r>
            <a:r>
              <a:rPr lang="en-US" sz="1600" dirty="0">
                <a:solidFill>
                  <a:schemeClr val="accent1">
                    <a:lumMod val="75000"/>
                  </a:schemeClr>
                </a:solidFill>
              </a:rPr>
              <a:t>chart is selected when you insert a new chart into the current sheet. Three very useful tools that allow you to quickly customize the chart are available next to the chart’s right border: </a:t>
            </a:r>
            <a:endParaRPr lang="en-US" sz="1600" dirty="0" smtClean="0">
              <a:solidFill>
                <a:schemeClr val="accent1">
                  <a:lumMod val="75000"/>
                </a:schemeClr>
              </a:solidFill>
            </a:endParaRPr>
          </a:p>
          <a:p>
            <a:pPr marL="742950" lvl="1" indent="-285750" algn="just">
              <a:buFont typeface="Arial" panose="020B0604020202020204" pitchFamily="34" charset="0"/>
              <a:buChar char="•"/>
            </a:pPr>
            <a:endParaRPr lang="en-US" sz="1600" dirty="0" smtClean="0">
              <a:solidFill>
                <a:schemeClr val="accent1">
                  <a:lumMod val="75000"/>
                </a:schemeClr>
              </a:solidFill>
            </a:endParaRPr>
          </a:p>
          <a:p>
            <a:pPr marL="742950" lvl="1" indent="-285750" algn="just">
              <a:buFont typeface="Arial" panose="020B0604020202020204" pitchFamily="34" charset="0"/>
              <a:buChar char="•"/>
            </a:pPr>
            <a:r>
              <a:rPr lang="en-US" sz="1600" dirty="0" smtClean="0">
                <a:solidFill>
                  <a:schemeClr val="accent1">
                    <a:lumMod val="75000"/>
                  </a:schemeClr>
                </a:solidFill>
              </a:rPr>
              <a:t>Chart Elements</a:t>
            </a:r>
          </a:p>
          <a:p>
            <a:pPr marL="742950" lvl="1" indent="-285750" algn="just">
              <a:buFont typeface="Arial" panose="020B0604020202020204" pitchFamily="34" charset="0"/>
              <a:buChar char="•"/>
            </a:pPr>
            <a:r>
              <a:rPr lang="en-US" sz="1600" dirty="0" smtClean="0">
                <a:solidFill>
                  <a:schemeClr val="accent1">
                    <a:lumMod val="75000"/>
                  </a:schemeClr>
                </a:solidFill>
              </a:rPr>
              <a:t>Chart Styles</a:t>
            </a:r>
          </a:p>
          <a:p>
            <a:pPr marL="742950" lvl="1" indent="-285750" algn="just">
              <a:buFont typeface="Arial" panose="020B0604020202020204" pitchFamily="34" charset="0"/>
              <a:buChar char="•"/>
            </a:pPr>
            <a:r>
              <a:rPr lang="en-US" sz="1600" dirty="0" smtClean="0">
                <a:solidFill>
                  <a:schemeClr val="accent1">
                    <a:lumMod val="75000"/>
                  </a:schemeClr>
                </a:solidFill>
              </a:rPr>
              <a:t>Chart Filters</a:t>
            </a:r>
            <a:endParaRPr lang="en-US" sz="1600" dirty="0">
              <a:solidFill>
                <a:schemeClr val="accent1">
                  <a:lumMod val="75000"/>
                </a:schemeClr>
              </a:solidFill>
            </a:endParaRPr>
          </a:p>
        </p:txBody>
      </p:sp>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9110" y="3581400"/>
            <a:ext cx="5791200" cy="276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206133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solidFill>
                  <a:schemeClr val="accent1">
                    <a:lumMod val="75000"/>
                  </a:schemeClr>
                </a:solidFill>
                <a:latin typeface="Comic Sans MS" panose="030F0702030302020204" pitchFamily="66" charset="0"/>
              </a:rPr>
              <a:t>Changing chart type or chart data</a:t>
            </a:r>
          </a:p>
        </p:txBody>
      </p:sp>
      <p:sp>
        <p:nvSpPr>
          <p:cNvPr id="3" name="object 3"/>
          <p:cNvSpPr txBox="1"/>
          <p:nvPr/>
        </p:nvSpPr>
        <p:spPr>
          <a:xfrm>
            <a:off x="609600" y="1295400"/>
            <a:ext cx="7924800" cy="2228815"/>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To </a:t>
            </a:r>
            <a:r>
              <a:rPr lang="en-US" sz="1600" dirty="0">
                <a:solidFill>
                  <a:schemeClr val="accent1">
                    <a:lumMod val="75000"/>
                  </a:schemeClr>
                </a:solidFill>
              </a:rPr>
              <a:t>change the chart type, select the Change Chart Type command in the Type group. The Change Chart Type dialog box opens. This dialog box is the same as the Insert Chart dialog box. Select a chart type and/or subtype as needed to change the chart type of the currently selected chart. To apply the change in type or subtype, click OK</a:t>
            </a:r>
            <a:r>
              <a:rPr lang="en-US" sz="1600" dirty="0" smtClean="0">
                <a:solidFill>
                  <a:schemeClr val="accent1">
                    <a:lumMod val="75000"/>
                  </a:schemeClr>
                </a:solidFill>
              </a:rPr>
              <a:t>.</a:t>
            </a:r>
          </a:p>
          <a:p>
            <a:pPr algn="just" eaLnBrk="0" hangingPunct="0"/>
            <a:endParaRPr lang="en-US" sz="1600" dirty="0">
              <a:solidFill>
                <a:schemeClr val="accent1">
                  <a:lumMod val="75000"/>
                </a:schemeClr>
              </a:solidFill>
            </a:endParaRPr>
          </a:p>
          <a:p>
            <a:pPr algn="just" eaLnBrk="0" hangingPunct="0"/>
            <a:r>
              <a:rPr lang="en-US" sz="1600" dirty="0">
                <a:solidFill>
                  <a:schemeClr val="accent1">
                    <a:lumMod val="75000"/>
                  </a:schemeClr>
                </a:solidFill>
              </a:rPr>
              <a:t>Another command that can be useful in cases where a chart doesn’t look quite right is the Switch Row/Column command. This command can be used in cases where the chart has based the x-axis or y-axis  on column data rather than row data and you want to swap the data on the x-axis with the y-axis, or vice versa.</a:t>
            </a:r>
          </a:p>
        </p:txBody>
      </p:sp>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886200"/>
            <a:ext cx="519747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54977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Selecting chart layouts and styles</a:t>
            </a:r>
          </a:p>
        </p:txBody>
      </p:sp>
      <p:sp>
        <p:nvSpPr>
          <p:cNvPr id="3" name="object 3"/>
          <p:cNvSpPr txBox="1"/>
          <p:nvPr/>
        </p:nvSpPr>
        <p:spPr>
          <a:xfrm>
            <a:off x="609600" y="1295400"/>
            <a:ext cx="7924800" cy="751488"/>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various layouts for the currently selected chart can be accessed for a speciﬁc chart type by using the Quick Layout button, which is located on the Design tab’s Chart Layouts group. </a:t>
            </a:r>
          </a:p>
        </p:txBody>
      </p:sp>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514600"/>
            <a:ext cx="5715000" cy="3586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38712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Selecting chart layouts and </a:t>
            </a:r>
            <a:r>
              <a:rPr lang="en-US" dirty="0" smtClean="0">
                <a:latin typeface="Comic Sans MS" panose="030F0702030302020204" pitchFamily="66" charset="0"/>
              </a:rPr>
              <a:t>styles </a:t>
            </a:r>
            <a:r>
              <a:rPr lang="en-US" sz="1400" i="1" dirty="0" smtClean="0">
                <a:latin typeface="Comic Sans MS" panose="030F0702030302020204" pitchFamily="66" charset="0"/>
              </a:rPr>
              <a:t>(cont.)</a:t>
            </a:r>
            <a:endParaRPr lang="en-US" sz="1400" i="1" dirty="0">
              <a:latin typeface="Comic Sans MS" panose="030F0702030302020204" pitchFamily="66" charset="0"/>
            </a:endParaRPr>
          </a:p>
        </p:txBody>
      </p:sp>
      <p:sp>
        <p:nvSpPr>
          <p:cNvPr id="3" name="object 3"/>
          <p:cNvSpPr txBox="1"/>
          <p:nvPr/>
        </p:nvSpPr>
        <p:spPr>
          <a:xfrm>
            <a:off x="609600" y="1447800"/>
            <a:ext cx="7924800" cy="1243930"/>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You can also modify the chart using one of the chart styles provided in the Chart Styles gallery. </a:t>
            </a:r>
            <a:r>
              <a:rPr lang="en-US" sz="1600" dirty="0" smtClean="0">
                <a:solidFill>
                  <a:schemeClr val="accent1">
                    <a:lumMod val="75000"/>
                  </a:schemeClr>
                </a:solidFill>
              </a:rPr>
              <a:t>Figure shows </a:t>
            </a:r>
            <a:r>
              <a:rPr lang="en-US" sz="1600" dirty="0">
                <a:solidFill>
                  <a:schemeClr val="accent1">
                    <a:lumMod val="75000"/>
                  </a:schemeClr>
                </a:solidFill>
              </a:rPr>
              <a:t>the Chart Styles gallery and the chart styles available for a bar chart. These styles aﬀect the data series and the background of the chart (such as the back wall, ﬂoor, and so on). Color schemes for a particular style can be controlled using the Change Colors command (also in the Chart Styles group).</a:t>
            </a:r>
          </a:p>
        </p:txBody>
      </p:sp>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886200"/>
            <a:ext cx="7842437"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37653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Working with chart elements</a:t>
            </a:r>
          </a:p>
        </p:txBody>
      </p:sp>
      <p:sp>
        <p:nvSpPr>
          <p:cNvPr id="3" name="object 3"/>
          <p:cNvSpPr txBox="1"/>
          <p:nvPr/>
        </p:nvSpPr>
        <p:spPr>
          <a:xfrm>
            <a:off x="609600" y="1295400"/>
            <a:ext cx="7924800" cy="1490152"/>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You </a:t>
            </a:r>
            <a:r>
              <a:rPr lang="en-US" sz="1600" dirty="0">
                <a:solidFill>
                  <a:schemeClr val="accent1">
                    <a:lumMod val="75000"/>
                  </a:schemeClr>
                </a:solidFill>
              </a:rPr>
              <a:t>can select a chart element (including the chart area) using the Current Selection group’s drop-down menu. The Current Selection group is on the far left of the Chart Tools, Format tab. The Current Selection group also provides the Format Selection command. This command opens the Format task pane for the currently selected chart element. Individual chart elements are manipulated using the Add Chart Element command on the Chart Tools, Design tab. </a:t>
            </a:r>
          </a:p>
        </p:txBody>
      </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276600"/>
            <a:ext cx="5626525" cy="333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194512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Working with chart </a:t>
            </a:r>
            <a:r>
              <a:rPr lang="en-US" dirty="0" smtClean="0">
                <a:latin typeface="Comic Sans MS" panose="030F0702030302020204" pitchFamily="66" charset="0"/>
              </a:rPr>
              <a:t>elements </a:t>
            </a:r>
            <a:r>
              <a:rPr lang="en-US" sz="1400" b="0" i="1" dirty="0" smtClean="0">
                <a:latin typeface="Comic Sans MS" panose="030F0702030302020204" pitchFamily="66" charset="0"/>
              </a:rPr>
              <a:t>(cont.)</a:t>
            </a:r>
            <a:endParaRPr lang="en-US" sz="1400" b="0" i="1" dirty="0">
              <a:latin typeface="Comic Sans MS" panose="030F0702030302020204" pitchFamily="66" charset="0"/>
            </a:endParaRPr>
          </a:p>
        </p:txBody>
      </p:sp>
      <p:sp>
        <p:nvSpPr>
          <p:cNvPr id="3" name="object 3"/>
          <p:cNvSpPr txBox="1"/>
          <p:nvPr/>
        </p:nvSpPr>
        <p:spPr>
          <a:xfrm>
            <a:off x="609600" y="1295400"/>
            <a:ext cx="7924800" cy="1490152"/>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If you need more control over a particular chart element, you can open the element’s formatting pane. </a:t>
            </a:r>
            <a:r>
              <a:rPr lang="en-US" sz="1600" dirty="0" smtClean="0">
                <a:solidFill>
                  <a:schemeClr val="accent1">
                    <a:lumMod val="75000"/>
                  </a:schemeClr>
                </a:solidFill>
              </a:rPr>
              <a:t>You </a:t>
            </a:r>
            <a:r>
              <a:rPr lang="en-US" sz="1600" dirty="0">
                <a:solidFill>
                  <a:schemeClr val="accent1">
                    <a:lumMod val="75000"/>
                  </a:schemeClr>
                </a:solidFill>
              </a:rPr>
              <a:t>can open a format task pane for a particular chart element using the Add Chart Element command; select Add Chart Element, then point at the chart element you want to format. On the submenu for the chart element, select the More (name of element) Options command. You can also double-click a chart element in the chart frame to open the associated format task pane.</a:t>
            </a:r>
          </a:p>
        </p:txBody>
      </p:sp>
      <p:pic>
        <p:nvPicPr>
          <p:cNvPr id="37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456193"/>
            <a:ext cx="5562600" cy="315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23800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Working with the legend and data points</a:t>
            </a:r>
          </a:p>
        </p:txBody>
      </p:sp>
      <p:sp>
        <p:nvSpPr>
          <p:cNvPr id="3" name="object 3"/>
          <p:cNvSpPr txBox="1"/>
          <p:nvPr/>
        </p:nvSpPr>
        <p:spPr>
          <a:xfrm>
            <a:off x="516636" y="2057400"/>
            <a:ext cx="5596128" cy="1982594"/>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A shortcut formatting toolbar appears along with a chart-oriented shortcut menu that you can use  to access commands such as Select Data, Add Data Labels, </a:t>
            </a:r>
            <a:r>
              <a:rPr lang="en-US" sz="1600" dirty="0" smtClean="0">
                <a:solidFill>
                  <a:schemeClr val="accent1">
                    <a:lumMod val="75000"/>
                  </a:schemeClr>
                </a:solidFill>
              </a:rPr>
              <a:t>and </a:t>
            </a:r>
            <a:r>
              <a:rPr lang="en-US" sz="1600" dirty="0">
                <a:solidFill>
                  <a:schemeClr val="accent1">
                    <a:lumMod val="75000"/>
                  </a:schemeClr>
                </a:solidFill>
              </a:rPr>
              <a:t>Format Data Series. </a:t>
            </a:r>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formatting toolbar allows you to access both the Fill and Outline for the currently selected chart element. Select a new ﬁll color using the Fill Color palette. You can also use this  shortcut toolbar to change the outline color for the data series.</a:t>
            </a:r>
          </a:p>
        </p:txBody>
      </p:sp>
      <p:pic>
        <p:nvPicPr>
          <p:cNvPr id="38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76200"/>
            <a:ext cx="2286000" cy="6691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1832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Adding error bars and up/down bars to a chart</a:t>
            </a:r>
          </a:p>
        </p:txBody>
      </p:sp>
      <p:sp>
        <p:nvSpPr>
          <p:cNvPr id="3" name="object 3"/>
          <p:cNvSpPr txBox="1"/>
          <p:nvPr/>
        </p:nvSpPr>
        <p:spPr>
          <a:xfrm>
            <a:off x="609600" y="1295400"/>
            <a:ext cx="7924800" cy="1243930"/>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error bars are created on the chart based on an error amount. You can quickly create error bars that use the standard error, percentage, or standard deviation as the error amount. Select Add Chart Element, point at Error Bars, and then select one of the error bar types. </a:t>
            </a:r>
            <a:r>
              <a:rPr lang="en-US" sz="1600" dirty="0" smtClean="0">
                <a:solidFill>
                  <a:schemeClr val="accent1">
                    <a:lumMod val="75000"/>
                  </a:schemeClr>
                </a:solidFill>
              </a:rPr>
              <a:t>Figure shows </a:t>
            </a:r>
            <a:r>
              <a:rPr lang="en-US" sz="1600" dirty="0">
                <a:solidFill>
                  <a:schemeClr val="accent1">
                    <a:lumMod val="75000"/>
                  </a:schemeClr>
                </a:solidFill>
              </a:rPr>
              <a:t>standard error bars on a scatter chart. The ﬁgure also shows the Format Error Bars task pane.</a:t>
            </a:r>
          </a:p>
        </p:txBody>
      </p:sp>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048000"/>
            <a:ext cx="6274146"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68234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Creating a combination chart</a:t>
            </a:r>
          </a:p>
        </p:txBody>
      </p:sp>
      <p:sp>
        <p:nvSpPr>
          <p:cNvPr id="3" name="object 3"/>
          <p:cNvSpPr txBox="1"/>
          <p:nvPr/>
        </p:nvSpPr>
        <p:spPr>
          <a:xfrm>
            <a:off x="609600" y="1295400"/>
            <a:ext cx="7924800" cy="997709"/>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Before </a:t>
            </a:r>
            <a:r>
              <a:rPr lang="en-US" sz="1600" dirty="0">
                <a:solidFill>
                  <a:schemeClr val="accent1">
                    <a:lumMod val="75000"/>
                  </a:schemeClr>
                </a:solidFill>
              </a:rPr>
              <a:t>we end our discussion of Excel charts, we should look at how you create a combination chart. A combination chart combines two or more chart types in a single chart. Excel provides premade combination charts such as pie of pie and bar of pie charts</a:t>
            </a:r>
            <a:r>
              <a:rPr lang="en-US" sz="1600" dirty="0" smtClean="0">
                <a:solidFill>
                  <a:schemeClr val="accent1">
                    <a:lumMod val="75000"/>
                  </a:schemeClr>
                </a:solidFill>
              </a:rPr>
              <a:t>.</a:t>
            </a:r>
            <a:endParaRPr lang="en-US" sz="1600" dirty="0">
              <a:solidFill>
                <a:schemeClr val="accent1">
                  <a:lumMod val="75000"/>
                </a:schemeClr>
              </a:solidFill>
            </a:endParaRPr>
          </a:p>
        </p:txBody>
      </p:sp>
      <p:pic>
        <p:nvPicPr>
          <p:cNvPr id="40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606728"/>
            <a:ext cx="5791200" cy="3797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31699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Creating a combination chart</a:t>
            </a:r>
          </a:p>
        </p:txBody>
      </p:sp>
      <p:sp>
        <p:nvSpPr>
          <p:cNvPr id="3" name="object 3"/>
          <p:cNvSpPr txBox="1"/>
          <p:nvPr/>
        </p:nvSpPr>
        <p:spPr>
          <a:xfrm>
            <a:off x="609600" y="1295400"/>
            <a:ext cx="8077200" cy="1736373"/>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To create a combination chart, select all the data you want to include in the chart, including the data series that serves as the secondary plot. </a:t>
            </a:r>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Select </a:t>
            </a:r>
            <a:r>
              <a:rPr lang="en-US" sz="1600" dirty="0">
                <a:solidFill>
                  <a:schemeClr val="accent1">
                    <a:lumMod val="75000"/>
                  </a:schemeClr>
                </a:solidFill>
              </a:rPr>
              <a:t>the Insert tab, and then use the chart type commands to insert the chart that serves as the primary plot or chart</a:t>
            </a:r>
            <a:r>
              <a:rPr lang="en-US" sz="1600" dirty="0" smtClean="0">
                <a:solidFill>
                  <a:schemeClr val="accent1">
                    <a:lumMod val="75000"/>
                  </a:schemeClr>
                </a:solidFill>
              </a:rPr>
              <a:t>. Now </a:t>
            </a:r>
            <a:r>
              <a:rPr lang="en-US" sz="1600" dirty="0">
                <a:solidFill>
                  <a:schemeClr val="accent1">
                    <a:lumMod val="75000"/>
                  </a:schemeClr>
                </a:solidFill>
              </a:rPr>
              <a:t>you need to select the series that you want to convert to a secondary chart. </a:t>
            </a:r>
            <a:r>
              <a:rPr lang="en-US" sz="1600" dirty="0" smtClean="0">
                <a:solidFill>
                  <a:schemeClr val="accent1">
                    <a:lumMod val="75000"/>
                  </a:schemeClr>
                </a:solidFill>
              </a:rPr>
              <a:t>Use </a:t>
            </a:r>
            <a:r>
              <a:rPr lang="en-US" sz="1600" dirty="0">
                <a:solidFill>
                  <a:schemeClr val="accent1">
                    <a:lumMod val="75000"/>
                  </a:schemeClr>
                </a:solidFill>
              </a:rPr>
              <a:t>the drop-down menu in the Current Selection group (on the Chart Tools, Format tab) to select the data series that provides the values for the secondary plot. </a:t>
            </a:r>
          </a:p>
        </p:txBody>
      </p:sp>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7243" y="3200400"/>
            <a:ext cx="3699557"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bject 3"/>
          <p:cNvSpPr txBox="1"/>
          <p:nvPr/>
        </p:nvSpPr>
        <p:spPr>
          <a:xfrm>
            <a:off x="609600" y="3711558"/>
            <a:ext cx="3962400" cy="1490152"/>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To </a:t>
            </a:r>
            <a:r>
              <a:rPr lang="en-US" sz="1600" dirty="0">
                <a:solidFill>
                  <a:schemeClr val="accent1">
                    <a:lumMod val="75000"/>
                  </a:schemeClr>
                </a:solidFill>
              </a:rPr>
              <a:t>change the data </a:t>
            </a:r>
            <a:r>
              <a:rPr lang="en-US" sz="1600" dirty="0" smtClean="0">
                <a:solidFill>
                  <a:schemeClr val="accent1">
                    <a:lumMod val="75000"/>
                  </a:schemeClr>
                </a:solidFill>
              </a:rPr>
              <a:t>series to </a:t>
            </a:r>
            <a:r>
              <a:rPr lang="en-US" sz="1600" dirty="0">
                <a:solidFill>
                  <a:schemeClr val="accent1">
                    <a:lumMod val="75000"/>
                  </a:schemeClr>
                </a:solidFill>
              </a:rPr>
              <a:t>another chart type, you can select the data series and then </a:t>
            </a:r>
            <a:r>
              <a:rPr lang="en-US" sz="1600" dirty="0" smtClean="0">
                <a:solidFill>
                  <a:schemeClr val="accent1">
                    <a:lumMod val="75000"/>
                  </a:schemeClr>
                </a:solidFill>
              </a:rPr>
              <a:t>select </a:t>
            </a:r>
            <a:r>
              <a:rPr lang="en-US" sz="1600" dirty="0">
                <a:solidFill>
                  <a:schemeClr val="accent1">
                    <a:lumMod val="75000"/>
                  </a:schemeClr>
                </a:solidFill>
              </a:rPr>
              <a:t>Change Chart Type, or you can right-click the selected data series and select Change Series Chart Type from the shortcut menu. </a:t>
            </a:r>
          </a:p>
        </p:txBody>
      </p:sp>
    </p:spTree>
    <p:extLst>
      <p:ext uri="{BB962C8B-B14F-4D97-AF65-F5344CB8AC3E}">
        <p14:creationId xmlns:p14="http://schemas.microsoft.com/office/powerpoint/2010/main" val="27018010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Creating </a:t>
            </a:r>
            <a:r>
              <a:rPr lang="en-US" dirty="0" err="1">
                <a:latin typeface="Comic Sans MS" panose="030F0702030302020204" pitchFamily="66" charset="0"/>
              </a:rPr>
              <a:t>sparklines</a:t>
            </a:r>
            <a:endParaRPr lang="en-US" dirty="0">
              <a:latin typeface="Comic Sans MS" panose="030F0702030302020204" pitchFamily="66" charset="0"/>
            </a:endParaRPr>
          </a:p>
        </p:txBody>
      </p:sp>
      <p:sp>
        <p:nvSpPr>
          <p:cNvPr id="3" name="object 3"/>
          <p:cNvSpPr txBox="1"/>
          <p:nvPr/>
        </p:nvSpPr>
        <p:spPr>
          <a:xfrm>
            <a:off x="762000" y="1219200"/>
            <a:ext cx="7924800" cy="1567096"/>
          </a:xfrm>
          <a:prstGeom prst="rect">
            <a:avLst/>
          </a:prstGeom>
        </p:spPr>
        <p:txBody>
          <a:bodyPr vert="horz" wrap="square" lIns="0" tIns="12700" rIns="0" bIns="0" rtlCol="0">
            <a:spAutoFit/>
          </a:bodyPr>
          <a:lstStyle/>
          <a:p>
            <a:pPr algn="just" eaLnBrk="0" hangingPunct="0"/>
            <a:r>
              <a:rPr lang="en-US" sz="1600" b="1" dirty="0" smtClean="0">
                <a:solidFill>
                  <a:schemeClr val="accent1">
                    <a:lumMod val="75000"/>
                  </a:schemeClr>
                </a:solidFill>
              </a:rPr>
              <a:t>Insert tab &gt; </a:t>
            </a:r>
            <a:r>
              <a:rPr lang="en-US" sz="1600" b="1" dirty="0" err="1" smtClean="0">
                <a:solidFill>
                  <a:schemeClr val="accent1">
                    <a:lumMod val="75000"/>
                  </a:schemeClr>
                </a:solidFill>
              </a:rPr>
              <a:t>Sparklines</a:t>
            </a:r>
            <a:r>
              <a:rPr lang="en-US" sz="1600" b="1" dirty="0" smtClean="0">
                <a:solidFill>
                  <a:schemeClr val="accent1">
                    <a:lumMod val="75000"/>
                  </a:schemeClr>
                </a:solidFill>
              </a:rPr>
              <a:t> group</a:t>
            </a:r>
          </a:p>
          <a:p>
            <a:pPr algn="just" eaLnBrk="0" hangingPunct="0"/>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To </a:t>
            </a:r>
            <a:r>
              <a:rPr lang="en-US" sz="1600" dirty="0">
                <a:solidFill>
                  <a:schemeClr val="accent1">
                    <a:lumMod val="75000"/>
                  </a:schemeClr>
                </a:solidFill>
              </a:rPr>
              <a:t>insert a </a:t>
            </a:r>
            <a:r>
              <a:rPr lang="en-US" sz="1600" dirty="0" err="1">
                <a:solidFill>
                  <a:schemeClr val="accent1">
                    <a:lumMod val="75000"/>
                  </a:schemeClr>
                </a:solidFill>
              </a:rPr>
              <a:t>sparkline</a:t>
            </a:r>
            <a:r>
              <a:rPr lang="en-US" sz="1600" dirty="0">
                <a:solidFill>
                  <a:schemeClr val="accent1">
                    <a:lumMod val="75000"/>
                  </a:schemeClr>
                </a:solidFill>
              </a:rPr>
              <a:t>, follow these </a:t>
            </a:r>
            <a:r>
              <a:rPr lang="en-US" sz="1600" dirty="0" smtClean="0">
                <a:solidFill>
                  <a:schemeClr val="accent1">
                    <a:lumMod val="75000"/>
                  </a:schemeClr>
                </a:solidFill>
              </a:rPr>
              <a:t>steps:</a:t>
            </a:r>
          </a:p>
          <a:p>
            <a:pPr algn="just" eaLnBrk="0" hangingPunct="0"/>
            <a:endParaRPr lang="en-US" sz="1600" dirty="0" smtClean="0">
              <a:solidFill>
                <a:schemeClr val="accent1">
                  <a:lumMod val="75000"/>
                </a:schemeClr>
              </a:solidFill>
            </a:endParaRPr>
          </a:p>
          <a:p>
            <a:pPr marL="342900" indent="-342900" algn="just" eaLnBrk="0" hangingPunct="0">
              <a:spcAft>
                <a:spcPts val="600"/>
              </a:spcAft>
              <a:buFont typeface="+mj-lt"/>
              <a:buAutoNum type="arabicPeriod"/>
            </a:pPr>
            <a:r>
              <a:rPr lang="en-US" sz="1600" dirty="0" smtClean="0">
                <a:solidFill>
                  <a:schemeClr val="accent1">
                    <a:lumMod val="75000"/>
                  </a:schemeClr>
                </a:solidFill>
              </a:rPr>
              <a:t>Select </a:t>
            </a:r>
            <a:r>
              <a:rPr lang="en-US" sz="1600" dirty="0">
                <a:solidFill>
                  <a:schemeClr val="accent1">
                    <a:lumMod val="75000"/>
                  </a:schemeClr>
                </a:solidFill>
              </a:rPr>
              <a:t>the cell or cell range where you want to insert the </a:t>
            </a:r>
            <a:r>
              <a:rPr lang="en-US" sz="1600" dirty="0" err="1">
                <a:solidFill>
                  <a:schemeClr val="accent1">
                    <a:lumMod val="75000"/>
                  </a:schemeClr>
                </a:solidFill>
              </a:rPr>
              <a:t>sparkline</a:t>
            </a:r>
            <a:r>
              <a:rPr lang="en-US" sz="1600" dirty="0" smtClean="0">
                <a:solidFill>
                  <a:schemeClr val="accent1">
                    <a:lumMod val="75000"/>
                  </a:schemeClr>
                </a:solidFill>
              </a:rPr>
              <a:t>. </a:t>
            </a:r>
          </a:p>
          <a:p>
            <a:pPr marL="342900" indent="-342900" algn="just" eaLnBrk="0" hangingPunct="0">
              <a:buFont typeface="+mj-lt"/>
              <a:buAutoNum type="arabicPeriod"/>
            </a:pPr>
            <a:r>
              <a:rPr lang="en-US" sz="1600" dirty="0" smtClean="0">
                <a:solidFill>
                  <a:schemeClr val="accent1">
                    <a:lumMod val="75000"/>
                  </a:schemeClr>
                </a:solidFill>
              </a:rPr>
              <a:t>Select </a:t>
            </a:r>
            <a:r>
              <a:rPr lang="en-US" sz="1600" dirty="0">
                <a:solidFill>
                  <a:schemeClr val="accent1">
                    <a:lumMod val="75000"/>
                  </a:schemeClr>
                </a:solidFill>
              </a:rPr>
              <a:t>the </a:t>
            </a:r>
            <a:r>
              <a:rPr lang="en-US" sz="1600" dirty="0" err="1">
                <a:solidFill>
                  <a:schemeClr val="accent1">
                    <a:lumMod val="75000"/>
                  </a:schemeClr>
                </a:solidFill>
              </a:rPr>
              <a:t>sparkline</a:t>
            </a:r>
            <a:r>
              <a:rPr lang="en-US" sz="1600" dirty="0">
                <a:solidFill>
                  <a:schemeClr val="accent1">
                    <a:lumMod val="75000"/>
                  </a:schemeClr>
                </a:solidFill>
              </a:rPr>
              <a:t> type that you want to insert from the </a:t>
            </a:r>
            <a:r>
              <a:rPr lang="en-US" sz="1600" dirty="0" err="1">
                <a:solidFill>
                  <a:schemeClr val="accent1">
                    <a:lumMod val="75000"/>
                  </a:schemeClr>
                </a:solidFill>
              </a:rPr>
              <a:t>Sparklines</a:t>
            </a:r>
            <a:r>
              <a:rPr lang="en-US" sz="1600" dirty="0">
                <a:solidFill>
                  <a:schemeClr val="accent1">
                    <a:lumMod val="75000"/>
                  </a:schemeClr>
                </a:solidFill>
              </a:rPr>
              <a:t> group. </a:t>
            </a:r>
          </a:p>
        </p:txBody>
      </p:sp>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200400"/>
            <a:ext cx="4394469" cy="2723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72026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Creating </a:t>
            </a:r>
            <a:r>
              <a:rPr lang="en-US" dirty="0" err="1" smtClean="0">
                <a:latin typeface="Comic Sans MS" panose="030F0702030302020204" pitchFamily="66" charset="0"/>
              </a:rPr>
              <a:t>sparklines</a:t>
            </a:r>
            <a:r>
              <a:rPr lang="en-US" dirty="0" smtClean="0">
                <a:latin typeface="Comic Sans MS" panose="030F0702030302020204" pitchFamily="66" charset="0"/>
              </a:rPr>
              <a:t> </a:t>
            </a:r>
            <a:r>
              <a:rPr lang="en-US" sz="1400" b="0" i="1" dirty="0" smtClean="0">
                <a:latin typeface="Comic Sans MS" panose="030F0702030302020204" pitchFamily="66" charset="0"/>
              </a:rPr>
              <a:t>(cont.)</a:t>
            </a:r>
            <a:endParaRPr lang="en-US" sz="1400" b="0" i="1" dirty="0">
              <a:latin typeface="Comic Sans MS" panose="030F0702030302020204" pitchFamily="66" charset="0"/>
            </a:endParaRPr>
          </a:p>
        </p:txBody>
      </p:sp>
      <p:sp>
        <p:nvSpPr>
          <p:cNvPr id="3" name="object 3"/>
          <p:cNvSpPr txBox="1"/>
          <p:nvPr/>
        </p:nvSpPr>
        <p:spPr>
          <a:xfrm>
            <a:off x="609600" y="1371600"/>
            <a:ext cx="7924800" cy="2382704"/>
          </a:xfrm>
          <a:prstGeom prst="rect">
            <a:avLst/>
          </a:prstGeom>
        </p:spPr>
        <p:txBody>
          <a:bodyPr vert="horz" wrap="square" lIns="0" tIns="12700" rIns="0" bIns="0" rtlCol="0">
            <a:spAutoFit/>
          </a:bodyPr>
          <a:lstStyle/>
          <a:p>
            <a:pPr marL="342900" indent="-342900" algn="just" eaLnBrk="0" hangingPunct="0">
              <a:spcAft>
                <a:spcPts val="600"/>
              </a:spcAft>
              <a:buFont typeface="+mj-lt"/>
              <a:buAutoNum type="arabicPeriod" startAt="3"/>
            </a:pPr>
            <a:r>
              <a:rPr lang="en-US" sz="1600" dirty="0" smtClean="0">
                <a:solidFill>
                  <a:schemeClr val="accent1">
                    <a:lumMod val="75000"/>
                  </a:schemeClr>
                </a:solidFill>
              </a:rPr>
              <a:t>The </a:t>
            </a:r>
            <a:r>
              <a:rPr lang="en-US" sz="1600" dirty="0">
                <a:solidFill>
                  <a:schemeClr val="accent1">
                    <a:lumMod val="75000"/>
                  </a:schemeClr>
                </a:solidFill>
              </a:rPr>
              <a:t>Create </a:t>
            </a:r>
            <a:r>
              <a:rPr lang="en-US" sz="1600" dirty="0" err="1">
                <a:solidFill>
                  <a:schemeClr val="accent1">
                    <a:lumMod val="75000"/>
                  </a:schemeClr>
                </a:solidFill>
              </a:rPr>
              <a:t>Sparklines</a:t>
            </a:r>
            <a:r>
              <a:rPr lang="en-US" sz="1600" dirty="0">
                <a:solidFill>
                  <a:schemeClr val="accent1">
                    <a:lumMod val="75000"/>
                  </a:schemeClr>
                </a:solidFill>
              </a:rPr>
              <a:t> dialog box requires that you specify a data range and a location range. To specify the data range, click the Shrink button and then select the cells that contain the values that are used to create the </a:t>
            </a:r>
            <a:r>
              <a:rPr lang="en-US" sz="1600" dirty="0" err="1">
                <a:solidFill>
                  <a:schemeClr val="accent1">
                    <a:lumMod val="75000"/>
                  </a:schemeClr>
                </a:solidFill>
              </a:rPr>
              <a:t>sparklines</a:t>
            </a:r>
            <a:r>
              <a:rPr lang="en-US" sz="1600" dirty="0">
                <a:solidFill>
                  <a:schemeClr val="accent1">
                    <a:lumMod val="75000"/>
                  </a:schemeClr>
                </a:solidFill>
              </a:rPr>
              <a:t>. </a:t>
            </a:r>
          </a:p>
          <a:p>
            <a:pPr marL="342900" indent="-342900" algn="just" eaLnBrk="0" hangingPunct="0">
              <a:spcAft>
                <a:spcPts val="600"/>
              </a:spcAft>
              <a:buFont typeface="+mj-lt"/>
              <a:buAutoNum type="arabicPeriod" startAt="3"/>
            </a:pPr>
            <a:r>
              <a:rPr lang="en-US" sz="1600" dirty="0" smtClean="0">
                <a:solidFill>
                  <a:schemeClr val="accent1">
                    <a:lumMod val="75000"/>
                  </a:schemeClr>
                </a:solidFill>
              </a:rPr>
              <a:t>If </a:t>
            </a:r>
            <a:r>
              <a:rPr lang="en-US" sz="1600" dirty="0">
                <a:solidFill>
                  <a:schemeClr val="accent1">
                    <a:lumMod val="75000"/>
                  </a:schemeClr>
                </a:solidFill>
              </a:rPr>
              <a:t>you selected the cell range where the </a:t>
            </a:r>
            <a:r>
              <a:rPr lang="en-US" sz="1600" dirty="0" err="1">
                <a:solidFill>
                  <a:schemeClr val="accent1">
                    <a:lumMod val="75000"/>
                  </a:schemeClr>
                </a:solidFill>
              </a:rPr>
              <a:t>sparklines</a:t>
            </a:r>
            <a:r>
              <a:rPr lang="en-US" sz="1600" dirty="0">
                <a:solidFill>
                  <a:schemeClr val="accent1">
                    <a:lumMod val="75000"/>
                  </a:schemeClr>
                </a:solidFill>
              </a:rPr>
              <a:t> were to be inserted, a location range is already shown in the Location Range text box. If you need to specify the range or edit the current range, click the Shrink button and select the </a:t>
            </a:r>
            <a:r>
              <a:rPr lang="en-US" sz="1600" dirty="0" smtClean="0">
                <a:solidFill>
                  <a:schemeClr val="accent1">
                    <a:lumMod val="75000"/>
                  </a:schemeClr>
                </a:solidFill>
              </a:rPr>
              <a:t>location range</a:t>
            </a:r>
            <a:r>
              <a:rPr lang="en-US" sz="1600" dirty="0">
                <a:solidFill>
                  <a:schemeClr val="accent1">
                    <a:lumMod val="75000"/>
                  </a:schemeClr>
                </a:solidFill>
              </a:rPr>
              <a:t>. This range will automatically be speciﬁed as an absolute reference</a:t>
            </a:r>
            <a:r>
              <a:rPr lang="en-US" sz="1600" dirty="0" smtClean="0">
                <a:solidFill>
                  <a:schemeClr val="accent1">
                    <a:lumMod val="75000"/>
                  </a:schemeClr>
                </a:solidFill>
              </a:rPr>
              <a:t>. </a:t>
            </a:r>
          </a:p>
          <a:p>
            <a:pPr marL="342900" indent="-342900" algn="just" eaLnBrk="0" hangingPunct="0">
              <a:spcAft>
                <a:spcPts val="600"/>
              </a:spcAft>
              <a:buFont typeface="+mj-lt"/>
              <a:buAutoNum type="arabicPeriod" startAt="3"/>
            </a:pPr>
            <a:r>
              <a:rPr lang="en-US" sz="1600" dirty="0" smtClean="0">
                <a:solidFill>
                  <a:schemeClr val="accent1">
                    <a:lumMod val="75000"/>
                  </a:schemeClr>
                </a:solidFill>
              </a:rPr>
              <a:t>After </a:t>
            </a:r>
            <a:r>
              <a:rPr lang="en-US" sz="1600" dirty="0">
                <a:solidFill>
                  <a:schemeClr val="accent1">
                    <a:lumMod val="75000"/>
                  </a:schemeClr>
                </a:solidFill>
              </a:rPr>
              <a:t>the data range and the location range have been selected for the </a:t>
            </a:r>
            <a:r>
              <a:rPr lang="en-US" sz="1600" dirty="0" err="1">
                <a:solidFill>
                  <a:schemeClr val="accent1">
                    <a:lumMod val="75000"/>
                  </a:schemeClr>
                </a:solidFill>
              </a:rPr>
              <a:t>sparklines</a:t>
            </a:r>
            <a:r>
              <a:rPr lang="en-US" sz="1600" dirty="0">
                <a:solidFill>
                  <a:schemeClr val="accent1">
                    <a:lumMod val="75000"/>
                  </a:schemeClr>
                </a:solidFill>
              </a:rPr>
              <a:t>, click OK. The </a:t>
            </a:r>
            <a:r>
              <a:rPr lang="en-US" sz="1600" dirty="0" err="1">
                <a:solidFill>
                  <a:schemeClr val="accent1">
                    <a:lumMod val="75000"/>
                  </a:schemeClr>
                </a:solidFill>
              </a:rPr>
              <a:t>sparklines</a:t>
            </a:r>
            <a:r>
              <a:rPr lang="en-US" sz="1600" dirty="0">
                <a:solidFill>
                  <a:schemeClr val="accent1">
                    <a:lumMod val="75000"/>
                  </a:schemeClr>
                </a:solidFill>
              </a:rPr>
              <a:t> appear in the location range cells. </a:t>
            </a:r>
          </a:p>
        </p:txBody>
      </p:sp>
      <p:pic>
        <p:nvPicPr>
          <p:cNvPr id="44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4343400"/>
            <a:ext cx="6781800" cy="1816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16749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325628"/>
            <a:ext cx="3033395" cy="299720"/>
          </a:xfrm>
          <a:prstGeom prst="rect">
            <a:avLst/>
          </a:prstGeom>
        </p:spPr>
        <p:txBody>
          <a:bodyPr vert="horz" wrap="square" lIns="0" tIns="12700" rIns="0" bIns="0" rtlCol="0">
            <a:spAutoFit/>
          </a:bodyPr>
          <a:lstStyle/>
          <a:p>
            <a:pPr marL="12700">
              <a:lnSpc>
                <a:spcPct val="100000"/>
              </a:lnSpc>
              <a:spcBef>
                <a:spcPts val="100"/>
              </a:spcBef>
            </a:pPr>
            <a:r>
              <a:rPr lang="en-US" sz="1800" b="1" spc="-5" dirty="0" smtClean="0">
                <a:latin typeface="Comic Sans MS"/>
                <a:cs typeface="Comic Sans MS"/>
              </a:rPr>
              <a:t>Training</a:t>
            </a:r>
            <a:endParaRPr sz="1800" dirty="0">
              <a:latin typeface="Comic Sans MS"/>
              <a:cs typeface="Comic Sans MS"/>
            </a:endParaRPr>
          </a:p>
        </p:txBody>
      </p:sp>
      <p:sp>
        <p:nvSpPr>
          <p:cNvPr id="3" name="object 3"/>
          <p:cNvSpPr/>
          <p:nvPr/>
        </p:nvSpPr>
        <p:spPr>
          <a:xfrm>
            <a:off x="4191000" y="1676400"/>
            <a:ext cx="1411223" cy="1610867"/>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685800" y="3962400"/>
            <a:ext cx="7766050" cy="750847"/>
          </a:xfrm>
          <a:prstGeom prst="rect">
            <a:avLst/>
          </a:prstGeom>
        </p:spPr>
        <p:txBody>
          <a:bodyPr vert="horz" wrap="square" lIns="0" tIns="12065" rIns="0" bIns="0" rtlCol="0">
            <a:spAutoFit/>
          </a:bodyPr>
          <a:lstStyle/>
          <a:p>
            <a:pPr algn="ctr" eaLnBrk="0" hangingPunct="0"/>
            <a:r>
              <a:rPr lang="en-US" sz="1600" dirty="0" smtClean="0">
                <a:solidFill>
                  <a:schemeClr val="accent1">
                    <a:lumMod val="75000"/>
                  </a:schemeClr>
                </a:solidFill>
              </a:rPr>
              <a:t>Exercise </a:t>
            </a:r>
            <a:r>
              <a:rPr lang="en-US" sz="1600" dirty="0" smtClean="0">
                <a:solidFill>
                  <a:schemeClr val="accent1">
                    <a:lumMod val="75000"/>
                  </a:schemeClr>
                </a:solidFill>
              </a:rPr>
              <a:t>2</a:t>
            </a:r>
            <a:endParaRPr lang="en-US" sz="1600" dirty="0" smtClean="0">
              <a:solidFill>
                <a:schemeClr val="accent1">
                  <a:lumMod val="75000"/>
                </a:schemeClr>
              </a:solidFill>
            </a:endParaRPr>
          </a:p>
          <a:p>
            <a:pPr algn="ctr" eaLnBrk="0" hangingPunct="0"/>
            <a:endParaRPr lang="en-US" sz="1600" dirty="0">
              <a:solidFill>
                <a:schemeClr val="accent1">
                  <a:lumMod val="75000"/>
                </a:schemeClr>
              </a:solidFill>
            </a:endParaRPr>
          </a:p>
          <a:p>
            <a:pPr algn="ctr" eaLnBrk="0" hangingPunct="0"/>
            <a:r>
              <a:rPr lang="en-US" sz="1600" dirty="0" smtClean="0">
                <a:solidFill>
                  <a:schemeClr val="accent1">
                    <a:lumMod val="75000"/>
                  </a:schemeClr>
                </a:solidFill>
              </a:rPr>
              <a:t>Create a PivotTable.</a:t>
            </a:r>
            <a:endParaRPr lang="en-US" sz="1600" dirty="0">
              <a:solidFill>
                <a:schemeClr val="accent1">
                  <a:lumMod val="75000"/>
                </a:schemeClr>
              </a:solidFill>
            </a:endParaRPr>
          </a:p>
        </p:txBody>
      </p:sp>
    </p:spTree>
    <p:extLst>
      <p:ext uri="{BB962C8B-B14F-4D97-AF65-F5344CB8AC3E}">
        <p14:creationId xmlns:p14="http://schemas.microsoft.com/office/powerpoint/2010/main" val="41751892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the Recommended PivotTables command</a:t>
            </a:r>
          </a:p>
        </p:txBody>
      </p:sp>
      <p:sp>
        <p:nvSpPr>
          <p:cNvPr id="3" name="object 3"/>
          <p:cNvSpPr txBox="1"/>
          <p:nvPr/>
        </p:nvSpPr>
        <p:spPr>
          <a:xfrm>
            <a:off x="533400" y="1828800"/>
            <a:ext cx="3124200" cy="3706143"/>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Recommended PivotTables command is in the Insert tab’s Tables group.</a:t>
            </a:r>
          </a:p>
          <a:p>
            <a:pPr algn="just" eaLnBrk="0" hangingPunct="0"/>
            <a:r>
              <a:rPr lang="en-US" sz="1600" dirty="0">
                <a:solidFill>
                  <a:schemeClr val="accent1">
                    <a:lumMod val="75000"/>
                  </a:schemeClr>
                </a:solidFill>
              </a:rPr>
              <a:t>Although you can specify the data source for a recommended pivot table, the Recommended </a:t>
            </a:r>
            <a:r>
              <a:rPr lang="en-US" sz="1600" dirty="0" smtClean="0">
                <a:solidFill>
                  <a:schemeClr val="accent1">
                    <a:lumMod val="75000"/>
                  </a:schemeClr>
                </a:solidFill>
              </a:rPr>
              <a:t>PivotTables </a:t>
            </a:r>
            <a:r>
              <a:rPr lang="en-US" sz="1600" dirty="0">
                <a:solidFill>
                  <a:schemeClr val="accent1">
                    <a:lumMod val="75000"/>
                  </a:schemeClr>
                </a:solidFill>
              </a:rPr>
              <a:t>command works best (and fastest) when you are on a sheet that contains a table and you have already selected the table range that you want to use as the data source for the pivot table.</a:t>
            </a:r>
          </a:p>
          <a:p>
            <a:pPr algn="just" eaLnBrk="0" hangingPunct="0"/>
            <a:r>
              <a:rPr lang="en-US" sz="1600" dirty="0">
                <a:solidFill>
                  <a:schemeClr val="accent1">
                    <a:lumMod val="75000"/>
                  </a:schemeClr>
                </a:solidFill>
              </a:rPr>
              <a:t>Then all you have to do is select Recommended PivotTables.</a:t>
            </a:r>
          </a:p>
        </p:txBody>
      </p:sp>
      <p:pic>
        <p:nvPicPr>
          <p:cNvPr id="450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676400"/>
            <a:ext cx="4744404" cy="444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17620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Creating a pivot table</a:t>
            </a:r>
          </a:p>
        </p:txBody>
      </p:sp>
      <p:sp>
        <p:nvSpPr>
          <p:cNvPr id="3" name="object 3"/>
          <p:cNvSpPr txBox="1"/>
          <p:nvPr/>
        </p:nvSpPr>
        <p:spPr>
          <a:xfrm>
            <a:off x="495300" y="1295400"/>
            <a:ext cx="8077200" cy="1243930"/>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You </a:t>
            </a:r>
            <a:r>
              <a:rPr lang="en-US" sz="1600" dirty="0">
                <a:solidFill>
                  <a:schemeClr val="accent1">
                    <a:lumMod val="75000"/>
                  </a:schemeClr>
                </a:solidFill>
              </a:rPr>
              <a:t>can also create a new pivot table using the Create PivotTable dialog box, which is opened using the PivotTable command on the ribbon’s Insert tab</a:t>
            </a:r>
            <a:r>
              <a:rPr lang="en-US" sz="1600" dirty="0" smtClean="0">
                <a:solidFill>
                  <a:schemeClr val="accent1">
                    <a:lumMod val="75000"/>
                  </a:schemeClr>
                </a:solidFill>
              </a:rPr>
              <a:t>.</a:t>
            </a:r>
            <a:r>
              <a:rPr lang="en-US" sz="1600" b="1" dirty="0">
                <a:solidFill>
                  <a:schemeClr val="accent1">
                    <a:lumMod val="75000"/>
                  </a:schemeClr>
                </a:solidFill>
              </a:rPr>
              <a:t> </a:t>
            </a:r>
            <a:r>
              <a:rPr lang="en-US" sz="1600" dirty="0" smtClean="0">
                <a:solidFill>
                  <a:schemeClr val="accent1">
                    <a:lumMod val="75000"/>
                  </a:schemeClr>
                </a:solidFill>
              </a:rPr>
              <a:t>To </a:t>
            </a:r>
            <a:r>
              <a:rPr lang="en-US" sz="1600" dirty="0">
                <a:solidFill>
                  <a:schemeClr val="accent1">
                    <a:lumMod val="75000"/>
                  </a:schemeClr>
                </a:solidFill>
              </a:rPr>
              <a:t>insert a pivot table, follow these steps</a:t>
            </a:r>
            <a:r>
              <a:rPr lang="en-US" sz="1600" dirty="0" smtClean="0">
                <a:solidFill>
                  <a:schemeClr val="accent1">
                    <a:lumMod val="75000"/>
                  </a:schemeClr>
                </a:solidFill>
              </a:rPr>
              <a:t>:</a:t>
            </a:r>
          </a:p>
          <a:p>
            <a:pPr algn="just" eaLnBrk="0" hangingPunct="0"/>
            <a:endParaRPr lang="en-US" sz="1600" dirty="0" smtClean="0">
              <a:solidFill>
                <a:schemeClr val="accent1">
                  <a:lumMod val="75000"/>
                </a:schemeClr>
              </a:solidFill>
            </a:endParaRPr>
          </a:p>
          <a:p>
            <a:pPr marL="342900" lvl="0" indent="-342900" algn="just" eaLnBrk="0" hangingPunct="0">
              <a:buFont typeface="+mj-lt"/>
              <a:buAutoNum type="arabicPeriod"/>
            </a:pPr>
            <a:r>
              <a:rPr lang="en-US" sz="1600" dirty="0">
                <a:solidFill>
                  <a:schemeClr val="accent1">
                    <a:lumMod val="75000"/>
                  </a:schemeClr>
                </a:solidFill>
              </a:rPr>
              <a:t>On the ribbon’s Insert tab, select pivot table</a:t>
            </a:r>
            <a:r>
              <a:rPr lang="en-US" sz="1600" dirty="0" smtClean="0">
                <a:solidFill>
                  <a:schemeClr val="accent1">
                    <a:lumMod val="75000"/>
                  </a:schemeClr>
                </a:solidFill>
              </a:rPr>
              <a:t>. The </a:t>
            </a:r>
            <a:r>
              <a:rPr lang="en-US" sz="1600" dirty="0">
                <a:solidFill>
                  <a:schemeClr val="accent1">
                    <a:lumMod val="75000"/>
                  </a:schemeClr>
                </a:solidFill>
              </a:rPr>
              <a:t>Create PivotTable dialog box opens</a:t>
            </a:r>
          </a:p>
        </p:txBody>
      </p:sp>
      <p:pic>
        <p:nvPicPr>
          <p:cNvPr id="46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971800"/>
            <a:ext cx="4057743" cy="3604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915749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Creating a pivot table </a:t>
            </a:r>
            <a:r>
              <a:rPr lang="en-US" sz="1400" b="0" i="1" dirty="0">
                <a:latin typeface="Comic Sans MS" panose="030F0702030302020204" pitchFamily="66" charset="0"/>
              </a:rPr>
              <a:t>(cont.)</a:t>
            </a:r>
            <a:endParaRPr lang="en-US" dirty="0">
              <a:latin typeface="Comic Sans MS" panose="030F0702030302020204" pitchFamily="66" charset="0"/>
            </a:endParaRPr>
          </a:p>
        </p:txBody>
      </p:sp>
      <p:sp>
        <p:nvSpPr>
          <p:cNvPr id="3" name="object 3"/>
          <p:cNvSpPr txBox="1"/>
          <p:nvPr/>
        </p:nvSpPr>
        <p:spPr>
          <a:xfrm>
            <a:off x="590550" y="1447800"/>
            <a:ext cx="5448300" cy="4598695"/>
          </a:xfrm>
          <a:prstGeom prst="rect">
            <a:avLst/>
          </a:prstGeom>
        </p:spPr>
        <p:txBody>
          <a:bodyPr vert="horz" wrap="square" lIns="0" tIns="12700" rIns="0" bIns="0" rtlCol="0">
            <a:spAutoFit/>
          </a:bodyPr>
          <a:lstStyle/>
          <a:p>
            <a:pPr marL="342900" lvl="0" indent="-342900" algn="just" eaLnBrk="0" hangingPunct="0">
              <a:spcAft>
                <a:spcPts val="600"/>
              </a:spcAft>
              <a:buFont typeface="+mj-lt"/>
              <a:buAutoNum type="arabicPeriod" startAt="2"/>
            </a:pPr>
            <a:r>
              <a:rPr lang="en-US" sz="1600" dirty="0">
                <a:solidFill>
                  <a:schemeClr val="accent1">
                    <a:lumMod val="75000"/>
                  </a:schemeClr>
                </a:solidFill>
              </a:rPr>
              <a:t>To create the pivot table from a table or range on the current worksheet or in the current workbook, click the Table/Range box and then select the range</a:t>
            </a:r>
            <a:r>
              <a:rPr lang="en-US" sz="1600" dirty="0" smtClean="0">
                <a:solidFill>
                  <a:schemeClr val="accent1">
                    <a:lumMod val="75000"/>
                  </a:schemeClr>
                </a:solidFill>
              </a:rPr>
              <a:t>. If </a:t>
            </a:r>
            <a:r>
              <a:rPr lang="en-US" sz="1600" dirty="0">
                <a:solidFill>
                  <a:schemeClr val="accent1">
                    <a:lumMod val="75000"/>
                  </a:schemeClr>
                </a:solidFill>
              </a:rPr>
              <a:t>you are going to use an external data source, click the Use an External Data Source option button and then click the Choose Connection </a:t>
            </a:r>
            <a:r>
              <a:rPr lang="en-US" sz="1600" dirty="0" smtClean="0">
                <a:solidFill>
                  <a:schemeClr val="accent1">
                    <a:lumMod val="75000"/>
                  </a:schemeClr>
                </a:solidFill>
              </a:rPr>
              <a:t>button. In </a:t>
            </a:r>
            <a:r>
              <a:rPr lang="en-US" sz="1600" dirty="0">
                <a:solidFill>
                  <a:schemeClr val="accent1">
                    <a:lumMod val="75000"/>
                  </a:schemeClr>
                </a:solidFill>
              </a:rPr>
              <a:t>the Existing Connections dialog box, select a data source and then click Open</a:t>
            </a:r>
            <a:r>
              <a:rPr lang="en-US" sz="1600" dirty="0" smtClean="0">
                <a:solidFill>
                  <a:schemeClr val="accent1">
                    <a:lumMod val="75000"/>
                  </a:schemeClr>
                </a:solidFill>
              </a:rPr>
              <a:t>. </a:t>
            </a:r>
          </a:p>
          <a:p>
            <a:pPr marL="342900" lvl="0" indent="-342900" algn="just" eaLnBrk="0" hangingPunct="0">
              <a:spcAft>
                <a:spcPts val="600"/>
              </a:spcAft>
              <a:buFont typeface="+mj-lt"/>
              <a:buAutoNum type="arabicPeriod" startAt="2"/>
            </a:pPr>
            <a:r>
              <a:rPr lang="en-US" sz="1600" dirty="0" smtClean="0">
                <a:solidFill>
                  <a:schemeClr val="accent1">
                    <a:lumMod val="75000"/>
                  </a:schemeClr>
                </a:solidFill>
              </a:rPr>
              <a:t>After you have speciﬁed the range for the pivot table or speciﬁed a connection, select either the New Worksheet or Existing Worksheet option button to specify where the pivot table is created. In the case of the Existing Worksheet option, also specify a location for the pivot table. All </a:t>
            </a:r>
            <a:r>
              <a:rPr lang="en-US" sz="1600" dirty="0">
                <a:solidFill>
                  <a:schemeClr val="accent1">
                    <a:lumMod val="75000"/>
                  </a:schemeClr>
                </a:solidFill>
              </a:rPr>
              <a:t>you need to do is select the cell that serves as the upper-left corner for the pivot table.</a:t>
            </a:r>
          </a:p>
          <a:p>
            <a:pPr marL="342900" lvl="0" indent="-342900" algn="just" eaLnBrk="0" hangingPunct="0">
              <a:spcAft>
                <a:spcPts val="600"/>
              </a:spcAft>
              <a:buFont typeface="+mj-lt"/>
              <a:buAutoNum type="arabicPeriod" startAt="2"/>
            </a:pPr>
            <a:r>
              <a:rPr lang="en-US" sz="1600" dirty="0">
                <a:solidFill>
                  <a:schemeClr val="accent1">
                    <a:lumMod val="75000"/>
                  </a:schemeClr>
                </a:solidFill>
              </a:rPr>
              <a:t>Click OK, and the new pivot table’s blank frame is inserted into the current worksheet or a new worksheet</a:t>
            </a:r>
            <a:r>
              <a:rPr lang="en-US" sz="1600" dirty="0" smtClean="0">
                <a:solidFill>
                  <a:schemeClr val="accent1">
                    <a:lumMod val="75000"/>
                  </a:schemeClr>
                </a:solidFill>
              </a:rPr>
              <a:t>. The </a:t>
            </a:r>
            <a:r>
              <a:rPr lang="en-US" sz="1600" dirty="0">
                <a:solidFill>
                  <a:schemeClr val="accent1">
                    <a:lumMod val="75000"/>
                  </a:schemeClr>
                </a:solidFill>
              </a:rPr>
              <a:t>PivotTable Fields task pane also opens on the right of the Excel </a:t>
            </a:r>
            <a:r>
              <a:rPr lang="en-US" sz="1600" dirty="0" smtClean="0">
                <a:solidFill>
                  <a:schemeClr val="accent1">
                    <a:lumMod val="75000"/>
                  </a:schemeClr>
                </a:solidFill>
              </a:rPr>
              <a:t>window.</a:t>
            </a:r>
            <a:endParaRPr lang="en-US" sz="1600" dirty="0">
              <a:solidFill>
                <a:schemeClr val="accent1">
                  <a:lumMod val="75000"/>
                </a:schemeClr>
              </a:solidFill>
            </a:endParaRPr>
          </a:p>
        </p:txBody>
      </p:sp>
      <p:pic>
        <p:nvPicPr>
          <p:cNvPr id="471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990600"/>
            <a:ext cx="2300288"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606628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Creating a pivot </a:t>
            </a:r>
            <a:r>
              <a:rPr lang="en-US" dirty="0" smtClean="0">
                <a:latin typeface="Comic Sans MS" panose="030F0702030302020204" pitchFamily="66" charset="0"/>
              </a:rPr>
              <a:t>table </a:t>
            </a:r>
            <a:r>
              <a:rPr lang="en-US" sz="1400" b="0" i="1" dirty="0" smtClean="0">
                <a:latin typeface="Comic Sans MS" panose="030F0702030302020204" pitchFamily="66" charset="0"/>
              </a:rPr>
              <a:t>(cont.)</a:t>
            </a:r>
            <a:endParaRPr lang="en-US" sz="1400" b="0" i="1" dirty="0">
              <a:latin typeface="Comic Sans MS" panose="030F0702030302020204" pitchFamily="66" charset="0"/>
            </a:endParaRPr>
          </a:p>
        </p:txBody>
      </p:sp>
      <p:sp>
        <p:nvSpPr>
          <p:cNvPr id="3" name="object 3"/>
          <p:cNvSpPr txBox="1"/>
          <p:nvPr/>
        </p:nvSpPr>
        <p:spPr>
          <a:xfrm>
            <a:off x="495300" y="1295400"/>
            <a:ext cx="8077200" cy="1243930"/>
          </a:xfrm>
          <a:prstGeom prst="rect">
            <a:avLst/>
          </a:prstGeom>
        </p:spPr>
        <p:txBody>
          <a:bodyPr vert="horz" wrap="square" lIns="0" tIns="12700" rIns="0" bIns="0" rtlCol="0">
            <a:spAutoFit/>
          </a:bodyPr>
          <a:lstStyle/>
          <a:p>
            <a:pPr marL="342900" lvl="0" indent="-342900" algn="just" eaLnBrk="0" hangingPunct="0">
              <a:buFont typeface="+mj-lt"/>
              <a:buAutoNum type="arabicPeriod" startAt="5"/>
            </a:pPr>
            <a:r>
              <a:rPr lang="en-US" sz="1600" dirty="0" smtClean="0">
                <a:solidFill>
                  <a:schemeClr val="accent1">
                    <a:lumMod val="75000"/>
                  </a:schemeClr>
                </a:solidFill>
              </a:rPr>
              <a:t>The </a:t>
            </a:r>
            <a:r>
              <a:rPr lang="en-US" sz="1600" dirty="0">
                <a:solidFill>
                  <a:schemeClr val="accent1">
                    <a:lumMod val="75000"/>
                  </a:schemeClr>
                </a:solidFill>
              </a:rPr>
              <a:t>PivotTable Fields task pane is used to specify the data source table ﬁelds that are used in the pivot table</a:t>
            </a:r>
            <a:r>
              <a:rPr lang="en-US" sz="1600" dirty="0" smtClean="0">
                <a:solidFill>
                  <a:schemeClr val="accent1">
                    <a:lumMod val="75000"/>
                  </a:schemeClr>
                </a:solidFill>
              </a:rPr>
              <a:t>. Select </a:t>
            </a:r>
            <a:r>
              <a:rPr lang="en-US" sz="1600" dirty="0">
                <a:solidFill>
                  <a:schemeClr val="accent1">
                    <a:lumMod val="75000"/>
                  </a:schemeClr>
                </a:solidFill>
              </a:rPr>
              <a:t>the ﬁelds you want to add to the pivot table report</a:t>
            </a:r>
            <a:r>
              <a:rPr lang="en-US" sz="1600" dirty="0" smtClean="0">
                <a:solidFill>
                  <a:schemeClr val="accent1">
                    <a:lumMod val="75000"/>
                  </a:schemeClr>
                </a:solidFill>
              </a:rPr>
              <a:t>. You </a:t>
            </a:r>
            <a:r>
              <a:rPr lang="en-US" sz="1600" dirty="0">
                <a:solidFill>
                  <a:schemeClr val="accent1">
                    <a:lumMod val="75000"/>
                  </a:schemeClr>
                </a:solidFill>
              </a:rPr>
              <a:t>can drag the ﬁeld names to the diﬀerent report areas, or you can click in an area and then select the check box next to a ﬁeld</a:t>
            </a:r>
            <a:r>
              <a:rPr lang="en-US" sz="1600" dirty="0" smtClean="0">
                <a:solidFill>
                  <a:schemeClr val="accent1">
                    <a:lumMod val="75000"/>
                  </a:schemeClr>
                </a:solidFill>
              </a:rPr>
              <a:t>. As </a:t>
            </a:r>
            <a:r>
              <a:rPr lang="en-US" sz="1600" dirty="0">
                <a:solidFill>
                  <a:schemeClr val="accent1">
                    <a:lumMod val="75000"/>
                  </a:schemeClr>
                </a:solidFill>
              </a:rPr>
              <a:t>you specify the ﬁelds for the pivot table, the pivot table begins to appear on the sheet.</a:t>
            </a:r>
          </a:p>
        </p:txBody>
      </p:sp>
      <p:pic>
        <p:nvPicPr>
          <p:cNvPr id="481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895600"/>
            <a:ext cx="4343400" cy="3818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895786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The Analyze tab</a:t>
            </a:r>
          </a:p>
        </p:txBody>
      </p:sp>
      <p:sp>
        <p:nvSpPr>
          <p:cNvPr id="3" name="object 3"/>
          <p:cNvSpPr txBox="1"/>
          <p:nvPr/>
        </p:nvSpPr>
        <p:spPr>
          <a:xfrm>
            <a:off x="609600" y="1152464"/>
            <a:ext cx="8077200" cy="2967479"/>
          </a:xfrm>
          <a:prstGeom prst="rect">
            <a:avLst/>
          </a:prstGeom>
        </p:spPr>
        <p:txBody>
          <a:bodyPr vert="horz" wrap="square" lIns="0" tIns="12700" rIns="0" bIns="0" rtlCol="0">
            <a:spAutoFit/>
          </a:bodyPr>
          <a:lstStyle/>
          <a:p>
            <a:pPr algn="just" eaLnBrk="0" hangingPunct="0"/>
            <a:r>
              <a:rPr lang="en-US" sz="1600" b="1" dirty="0">
                <a:solidFill>
                  <a:schemeClr val="accent1">
                    <a:lumMod val="75000"/>
                  </a:schemeClr>
                </a:solidFill>
              </a:rPr>
              <a:t>Home ribbon &gt; PivotChart Tools &gt; </a:t>
            </a:r>
            <a:r>
              <a:rPr lang="en-US" sz="1600" b="1" dirty="0" smtClean="0">
                <a:solidFill>
                  <a:schemeClr val="accent1">
                    <a:lumMod val="75000"/>
                  </a:schemeClr>
                </a:solidFill>
              </a:rPr>
              <a:t>Analyze </a:t>
            </a:r>
            <a:r>
              <a:rPr lang="en-US" sz="1600" b="1" dirty="0">
                <a:solidFill>
                  <a:schemeClr val="accent1">
                    <a:lumMod val="75000"/>
                  </a:schemeClr>
                </a:solidFill>
              </a:rPr>
              <a:t>&gt; </a:t>
            </a:r>
            <a:r>
              <a:rPr lang="en-US" sz="1600" b="1" dirty="0" smtClean="0">
                <a:solidFill>
                  <a:schemeClr val="accent1">
                    <a:lumMod val="75000"/>
                  </a:schemeClr>
                </a:solidFill>
              </a:rPr>
              <a:t>Insert Slicer/ Insert Timeline </a:t>
            </a:r>
            <a:endParaRPr lang="en-US" sz="1600" b="1" dirty="0">
              <a:solidFill>
                <a:schemeClr val="accent1">
                  <a:lumMod val="75000"/>
                </a:schemeClr>
              </a:solidFill>
            </a:endParaRPr>
          </a:p>
          <a:p>
            <a:pPr algn="just" eaLnBrk="0" hangingPunct="0"/>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Analyze tab enables you to manipulate the ﬁelds in the table and also ﬁlter the data in the pivot table; for example, you can insert a slicer for the pivot table.</a:t>
            </a:r>
          </a:p>
          <a:p>
            <a:pPr algn="just" eaLnBrk="0" hangingPunct="0"/>
            <a:r>
              <a:rPr lang="en-US" sz="1600" dirty="0">
                <a:solidFill>
                  <a:schemeClr val="accent1">
                    <a:lumMod val="75000"/>
                  </a:schemeClr>
                </a:solidFill>
              </a:rPr>
              <a:t>You can use the Expand Entire</a:t>
            </a:r>
          </a:p>
          <a:p>
            <a:pPr algn="just" eaLnBrk="0" hangingPunct="0"/>
            <a:r>
              <a:rPr lang="en-US" sz="1600" dirty="0" smtClean="0">
                <a:solidFill>
                  <a:schemeClr val="accent1">
                    <a:lumMod val="75000"/>
                  </a:schemeClr>
                </a:solidFill>
              </a:rPr>
              <a:t>Field </a:t>
            </a:r>
            <a:r>
              <a:rPr lang="en-US" sz="1600" dirty="0">
                <a:solidFill>
                  <a:schemeClr val="accent1">
                    <a:lumMod val="75000"/>
                  </a:schemeClr>
                </a:solidFill>
              </a:rPr>
              <a:t>or </a:t>
            </a:r>
            <a:r>
              <a:rPr lang="en-US" sz="1600" b="1" dirty="0">
                <a:solidFill>
                  <a:schemeClr val="accent1">
                    <a:lumMod val="75000"/>
                  </a:schemeClr>
                </a:solidFill>
              </a:rPr>
              <a:t>Collapse Entire Field command </a:t>
            </a:r>
            <a:r>
              <a:rPr lang="en-US" sz="1600" dirty="0">
                <a:solidFill>
                  <a:schemeClr val="accent1">
                    <a:lumMod val="75000"/>
                  </a:schemeClr>
                </a:solidFill>
              </a:rPr>
              <a:t>in the Active Field group to expand or collapse the currently selected ﬁeld or ﬁelds as needed</a:t>
            </a:r>
            <a:r>
              <a:rPr lang="en-US" sz="1600" dirty="0" smtClean="0">
                <a:solidFill>
                  <a:schemeClr val="accent1">
                    <a:lumMod val="75000"/>
                  </a:schemeClr>
                </a:solidFill>
              </a:rPr>
              <a:t>.</a:t>
            </a:r>
          </a:p>
          <a:p>
            <a:pPr algn="just" eaLnBrk="0" hangingPunct="0"/>
            <a:endParaRPr lang="en-US" sz="1600" dirty="0">
              <a:solidFill>
                <a:schemeClr val="accent1">
                  <a:lumMod val="75000"/>
                </a:schemeClr>
              </a:solidFill>
            </a:endParaRPr>
          </a:p>
          <a:p>
            <a:pPr algn="just" eaLnBrk="0" hangingPunct="0"/>
            <a:r>
              <a:rPr lang="en-US" sz="1600" b="1" dirty="0" smtClean="0">
                <a:solidFill>
                  <a:schemeClr val="accent1">
                    <a:lumMod val="75000"/>
                  </a:schemeClr>
                </a:solidFill>
              </a:rPr>
              <a:t>The </a:t>
            </a:r>
            <a:r>
              <a:rPr lang="en-US" sz="1600" b="1" dirty="0">
                <a:solidFill>
                  <a:schemeClr val="accent1">
                    <a:lumMod val="75000"/>
                  </a:schemeClr>
                </a:solidFill>
              </a:rPr>
              <a:t>Filter group contains the Insert Slicer and Insert Timeline command.</a:t>
            </a:r>
          </a:p>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Insert Timeline command is interesting in that it allows you to ﬁlter the data in a pivot table so that only the data that falls within the date range you have speciﬁed on the Timeline slicers shows in the pivot table</a:t>
            </a:r>
            <a:r>
              <a:rPr lang="en-US" sz="1600" dirty="0" smtClean="0">
                <a:solidFill>
                  <a:schemeClr val="accent1">
                    <a:lumMod val="75000"/>
                  </a:schemeClr>
                </a:solidFill>
              </a:rPr>
              <a:t>.</a:t>
            </a:r>
            <a:endParaRPr lang="en-US" sz="1600" dirty="0">
              <a:solidFill>
                <a:schemeClr val="accent1">
                  <a:lumMod val="75000"/>
                </a:schemeClr>
              </a:solidFill>
            </a:endParaRPr>
          </a:p>
        </p:txBody>
      </p:sp>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4267200"/>
            <a:ext cx="4800600" cy="251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477734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The </a:t>
            </a:r>
            <a:r>
              <a:rPr lang="en-US" dirty="0" smtClean="0">
                <a:latin typeface="Comic Sans MS" panose="030F0702030302020204" pitchFamily="66" charset="0"/>
              </a:rPr>
              <a:t>Design </a:t>
            </a:r>
            <a:r>
              <a:rPr lang="en-US" dirty="0">
                <a:latin typeface="Comic Sans MS" panose="030F0702030302020204" pitchFamily="66" charset="0"/>
              </a:rPr>
              <a:t>tab</a:t>
            </a:r>
          </a:p>
        </p:txBody>
      </p:sp>
      <p:sp>
        <p:nvSpPr>
          <p:cNvPr id="3" name="object 3"/>
          <p:cNvSpPr txBox="1"/>
          <p:nvPr/>
        </p:nvSpPr>
        <p:spPr>
          <a:xfrm>
            <a:off x="533400" y="1219200"/>
            <a:ext cx="8077200" cy="5245026"/>
          </a:xfrm>
          <a:prstGeom prst="rect">
            <a:avLst/>
          </a:prstGeom>
        </p:spPr>
        <p:txBody>
          <a:bodyPr vert="horz" wrap="square" lIns="0" tIns="12700" rIns="0" bIns="0" rtlCol="0">
            <a:spAutoFit/>
          </a:bodyPr>
          <a:lstStyle/>
          <a:p>
            <a:pPr algn="just" eaLnBrk="0" hangingPunct="0"/>
            <a:r>
              <a:rPr lang="en-US" sz="1600" b="1" dirty="0" smtClean="0">
                <a:solidFill>
                  <a:schemeClr val="accent1">
                    <a:lumMod val="75000"/>
                  </a:schemeClr>
                </a:solidFill>
              </a:rPr>
              <a:t>Home ribbon &gt; PivotChart Tools &gt; Design &gt; Subtotals/Grand Totals/ Report Layout/ Blanc rows </a:t>
            </a:r>
          </a:p>
          <a:p>
            <a:pPr algn="just" eaLnBrk="0" hangingPunct="0"/>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PivotTable Tools, Design tab enables you to manipulate the layout of your calculated ﬁelds and to also assign styles to the pivot table</a:t>
            </a:r>
            <a:r>
              <a:rPr lang="en-US" sz="1600" dirty="0" smtClean="0">
                <a:solidFill>
                  <a:schemeClr val="accent1">
                    <a:lumMod val="75000"/>
                  </a:schemeClr>
                </a:solidFill>
              </a:rPr>
              <a:t>. </a:t>
            </a:r>
          </a:p>
          <a:p>
            <a:pPr algn="just" eaLnBrk="0" hangingPunct="0"/>
            <a:endParaRPr lang="en-US" sz="1600" dirty="0">
              <a:solidFill>
                <a:schemeClr val="accent1">
                  <a:lumMod val="75000"/>
                </a:schemeClr>
              </a:solidFill>
            </a:endParaRPr>
          </a:p>
          <a:p>
            <a:pPr marL="285750" indent="-285750" algn="just" eaLnBrk="0" hangingPunct="0">
              <a:spcAft>
                <a:spcPts val="600"/>
              </a:spcAft>
              <a:buFont typeface="Arial" panose="020B0604020202020204" pitchFamily="34" charset="0"/>
              <a:buChar char="•"/>
            </a:pPr>
            <a:r>
              <a:rPr lang="en-US" sz="1600" dirty="0">
                <a:solidFill>
                  <a:schemeClr val="accent1">
                    <a:lumMod val="75000"/>
                  </a:schemeClr>
                </a:solidFill>
              </a:rPr>
              <a:t>The </a:t>
            </a:r>
            <a:r>
              <a:rPr lang="en-US" sz="1600" b="1" dirty="0">
                <a:solidFill>
                  <a:srgbClr val="C00000"/>
                </a:solidFill>
              </a:rPr>
              <a:t>Subtotals</a:t>
            </a:r>
            <a:r>
              <a:rPr lang="en-US" sz="1600" dirty="0">
                <a:solidFill>
                  <a:schemeClr val="accent1">
                    <a:lumMod val="75000"/>
                  </a:schemeClr>
                </a:solidFill>
              </a:rPr>
              <a:t> command enables you to hide the subtotals or to specify that the subtotals appear at the bottom (the default) or top of a group in the pivot table.</a:t>
            </a:r>
          </a:p>
          <a:p>
            <a:pPr marL="285750" indent="-285750" algn="just" eaLnBrk="0" hangingPunct="0">
              <a:spcAft>
                <a:spcPts val="600"/>
              </a:spcAft>
              <a:buFont typeface="Arial" panose="020B0604020202020204" pitchFamily="34" charset="0"/>
              <a:buChar char="•"/>
            </a:pPr>
            <a:r>
              <a:rPr lang="en-US" sz="1600" dirty="0">
                <a:solidFill>
                  <a:schemeClr val="accent1">
                    <a:lumMod val="75000"/>
                  </a:schemeClr>
                </a:solidFill>
              </a:rPr>
              <a:t>The </a:t>
            </a:r>
            <a:r>
              <a:rPr lang="en-US" sz="1600" b="1" dirty="0">
                <a:solidFill>
                  <a:srgbClr val="C00000"/>
                </a:solidFill>
              </a:rPr>
              <a:t>Grand Totals </a:t>
            </a:r>
            <a:r>
              <a:rPr lang="en-US" sz="1600" dirty="0">
                <a:solidFill>
                  <a:schemeClr val="accent1">
                    <a:lumMod val="75000"/>
                  </a:schemeClr>
                </a:solidFill>
              </a:rPr>
              <a:t>command enables you to turn the grand totals oﬀ or on for rows and columns or specify that grand totals are shown only for the rows or columns in the pivot table.</a:t>
            </a:r>
          </a:p>
          <a:p>
            <a:pPr marL="285750" indent="-285750" algn="just" eaLnBrk="0" hangingPunct="0">
              <a:spcAft>
                <a:spcPts val="600"/>
              </a:spcAft>
              <a:buFont typeface="Arial" panose="020B0604020202020204" pitchFamily="34" charset="0"/>
              <a:buChar char="•"/>
            </a:pPr>
            <a:r>
              <a:rPr lang="en-US" sz="1600" dirty="0">
                <a:solidFill>
                  <a:schemeClr val="accent1">
                    <a:lumMod val="75000"/>
                  </a:schemeClr>
                </a:solidFill>
              </a:rPr>
              <a:t>The </a:t>
            </a:r>
            <a:r>
              <a:rPr lang="en-US" sz="1600" b="1" dirty="0">
                <a:solidFill>
                  <a:srgbClr val="C00000"/>
                </a:solidFill>
              </a:rPr>
              <a:t>Report Layout </a:t>
            </a:r>
            <a:r>
              <a:rPr lang="en-US" sz="1600" dirty="0">
                <a:solidFill>
                  <a:schemeClr val="accent1">
                    <a:lumMod val="75000"/>
                  </a:schemeClr>
                </a:solidFill>
              </a:rPr>
              <a:t>command enables you to choose from a number of diﬀerent formats for the pivot table, such as Compact, Outline, and Tabular.</a:t>
            </a:r>
          </a:p>
          <a:p>
            <a:pPr marL="285750" indent="-285750" algn="just" eaLnBrk="0" hangingPunct="0">
              <a:spcAft>
                <a:spcPts val="600"/>
              </a:spcAft>
              <a:buFont typeface="Arial" panose="020B0604020202020204" pitchFamily="34" charset="0"/>
              <a:buChar char="•"/>
            </a:pPr>
            <a:r>
              <a:rPr lang="en-US" sz="1600" dirty="0">
                <a:solidFill>
                  <a:schemeClr val="accent1">
                    <a:lumMod val="75000"/>
                  </a:schemeClr>
                </a:solidFill>
              </a:rPr>
              <a:t>The </a:t>
            </a:r>
            <a:r>
              <a:rPr lang="en-US" sz="1600" b="1" dirty="0">
                <a:solidFill>
                  <a:srgbClr val="C00000"/>
                </a:solidFill>
              </a:rPr>
              <a:t>Blank Rows </a:t>
            </a:r>
            <a:r>
              <a:rPr lang="en-US" sz="1600" dirty="0">
                <a:solidFill>
                  <a:schemeClr val="accent1">
                    <a:lumMod val="75000"/>
                  </a:schemeClr>
                </a:solidFill>
              </a:rPr>
              <a:t>command is used to insert or remove blank lines after each item in the pivot table</a:t>
            </a:r>
            <a:r>
              <a:rPr lang="en-US" sz="1600" dirty="0" smtClean="0">
                <a:solidFill>
                  <a:schemeClr val="accent1">
                    <a:lumMod val="75000"/>
                  </a:schemeClr>
                </a:solidFill>
              </a:rPr>
              <a:t>.</a:t>
            </a:r>
          </a:p>
          <a:p>
            <a:pPr algn="just" eaLnBrk="0" hangingPunct="0"/>
            <a:endParaRPr lang="en-US" sz="1600" dirty="0">
              <a:solidFill>
                <a:schemeClr val="accent1">
                  <a:lumMod val="75000"/>
                </a:schemeClr>
              </a:solidFill>
            </a:endParaRPr>
          </a:p>
          <a:p>
            <a:pPr algn="just" eaLnBrk="0" hangingPunct="0"/>
            <a:r>
              <a:rPr lang="en-US" sz="1600" dirty="0">
                <a:solidFill>
                  <a:schemeClr val="accent1">
                    <a:lumMod val="75000"/>
                  </a:schemeClr>
                </a:solidFill>
              </a:rPr>
              <a:t>The </a:t>
            </a:r>
            <a:r>
              <a:rPr lang="en-US" sz="1600" b="1" dirty="0">
                <a:solidFill>
                  <a:srgbClr val="C00000"/>
                </a:solidFill>
              </a:rPr>
              <a:t>PivotTable Styles gallery </a:t>
            </a:r>
            <a:r>
              <a:rPr lang="en-US" sz="1600" dirty="0">
                <a:solidFill>
                  <a:schemeClr val="accent1">
                    <a:lumMod val="75000"/>
                  </a:schemeClr>
                </a:solidFill>
              </a:rPr>
              <a:t>provides a number of diﬀerent styles that can be applied to the pivot </a:t>
            </a:r>
            <a:r>
              <a:rPr lang="en-US" sz="1600" dirty="0" smtClean="0">
                <a:solidFill>
                  <a:schemeClr val="accent1">
                    <a:lumMod val="75000"/>
                  </a:schemeClr>
                </a:solidFill>
              </a:rPr>
              <a:t>table. If </a:t>
            </a:r>
            <a:r>
              <a:rPr lang="en-US" sz="1600" dirty="0">
                <a:solidFill>
                  <a:schemeClr val="accent1">
                    <a:lumMod val="75000"/>
                  </a:schemeClr>
                </a:solidFill>
              </a:rPr>
              <a:t>you apply a particular style, you can then use the PivotTable Style Options check boxes to hide or show elements such as row headers, column headers, or banded rows and columns.</a:t>
            </a:r>
          </a:p>
        </p:txBody>
      </p:sp>
    </p:spTree>
    <p:extLst>
      <p:ext uri="{BB962C8B-B14F-4D97-AF65-F5344CB8AC3E}">
        <p14:creationId xmlns:p14="http://schemas.microsoft.com/office/powerpoint/2010/main" val="30218781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slicers</a:t>
            </a:r>
          </a:p>
        </p:txBody>
      </p:sp>
      <p:sp>
        <p:nvSpPr>
          <p:cNvPr id="3" name="object 3"/>
          <p:cNvSpPr txBox="1"/>
          <p:nvPr/>
        </p:nvSpPr>
        <p:spPr>
          <a:xfrm>
            <a:off x="533400" y="1219200"/>
            <a:ext cx="8077200" cy="5675913"/>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A </a:t>
            </a:r>
            <a:r>
              <a:rPr lang="en-US" sz="1600" dirty="0">
                <a:solidFill>
                  <a:schemeClr val="accent1">
                    <a:lumMod val="75000"/>
                  </a:schemeClr>
                </a:solidFill>
              </a:rPr>
              <a:t>slicer is an easily accessible workspace object that resides on the sheet with the pivot table.</a:t>
            </a:r>
          </a:p>
          <a:p>
            <a:pPr algn="just" eaLnBrk="0" hangingPunct="0"/>
            <a:r>
              <a:rPr lang="en-US" sz="1600" dirty="0" smtClean="0">
                <a:solidFill>
                  <a:schemeClr val="accent1">
                    <a:lumMod val="75000"/>
                  </a:schemeClr>
                </a:solidFill>
              </a:rPr>
              <a:t>To </a:t>
            </a:r>
            <a:r>
              <a:rPr lang="en-US" sz="1600" dirty="0">
                <a:solidFill>
                  <a:schemeClr val="accent1">
                    <a:lumMod val="75000"/>
                  </a:schemeClr>
                </a:solidFill>
              </a:rPr>
              <a:t>create a new slicer, select the Insert Slicer command on the PivotTable Tools, Analyze tab.</a:t>
            </a:r>
          </a:p>
          <a:p>
            <a:pPr algn="just" eaLnBrk="0" hangingPunct="0"/>
            <a:r>
              <a:rPr lang="en-US" sz="1600" dirty="0">
                <a:solidFill>
                  <a:schemeClr val="accent1">
                    <a:lumMod val="75000"/>
                  </a:schemeClr>
                </a:solidFill>
              </a:rPr>
              <a:t>The Insert Slicers dialog box opens and shows all the ﬁelds available to your pivot table.</a:t>
            </a:r>
          </a:p>
          <a:p>
            <a:pPr algn="just" eaLnBrk="0" hangingPunct="0"/>
            <a:r>
              <a:rPr lang="en-US" sz="1600" dirty="0">
                <a:solidFill>
                  <a:schemeClr val="accent1">
                    <a:lumMod val="75000"/>
                  </a:schemeClr>
                </a:solidFill>
              </a:rPr>
              <a:t>A slicer can ﬁlter the data in the pivot table by only a single ﬁeld</a:t>
            </a:r>
            <a:r>
              <a:rPr lang="en-US" sz="1600" dirty="0" smtClean="0">
                <a:solidFill>
                  <a:schemeClr val="accent1">
                    <a:lumMod val="75000"/>
                  </a:schemeClr>
                </a:solidFill>
              </a:rPr>
              <a:t>.</a:t>
            </a:r>
            <a:endParaRPr lang="en-US" sz="1600" dirty="0">
              <a:solidFill>
                <a:schemeClr val="accent1">
                  <a:lumMod val="75000"/>
                </a:schemeClr>
              </a:solidFill>
            </a:endParaRPr>
          </a:p>
          <a:p>
            <a:pPr algn="just" eaLnBrk="0" hangingPunct="0"/>
            <a:r>
              <a:rPr lang="en-US" sz="1600" dirty="0">
                <a:solidFill>
                  <a:schemeClr val="accent1">
                    <a:lumMod val="75000"/>
                  </a:schemeClr>
                </a:solidFill>
              </a:rPr>
              <a:t>However, you can create multiple slicers by selecting more than one ﬁeld in the Insert Slicers dialog box.</a:t>
            </a:r>
          </a:p>
          <a:p>
            <a:pPr algn="just" eaLnBrk="0" hangingPunct="0"/>
            <a:r>
              <a:rPr lang="en-US" sz="1600" dirty="0">
                <a:solidFill>
                  <a:schemeClr val="accent1">
                    <a:lumMod val="75000"/>
                  </a:schemeClr>
                </a:solidFill>
              </a:rPr>
              <a:t>After selecting a ﬁeld (for a single slicer) or multiple ﬁelds (for multiple slicers), click OK.</a:t>
            </a:r>
          </a:p>
          <a:p>
            <a:pPr algn="just" eaLnBrk="0" hangingPunct="0"/>
            <a:r>
              <a:rPr lang="en-US" sz="1600" dirty="0">
                <a:solidFill>
                  <a:schemeClr val="accent1">
                    <a:lumMod val="75000"/>
                  </a:schemeClr>
                </a:solidFill>
              </a:rPr>
              <a:t>The new slicer (or slicers) appears on the current worksheet.</a:t>
            </a:r>
          </a:p>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slicer lists the ﬁeld values in the ﬁeld that you selected in the Insert Slicers dialog box.</a:t>
            </a:r>
          </a:p>
          <a:p>
            <a:pPr algn="just" eaLnBrk="0" hangingPunct="0"/>
            <a:r>
              <a:rPr lang="en-US" sz="1600" dirty="0">
                <a:solidFill>
                  <a:schemeClr val="accent1">
                    <a:lumMod val="75000"/>
                  </a:schemeClr>
                </a:solidFill>
              </a:rPr>
              <a:t>Select a particular ﬁeld value to ﬁlter the pivot table by that value</a:t>
            </a:r>
            <a:r>
              <a:rPr lang="en-US" sz="1600" dirty="0" smtClean="0">
                <a:solidFill>
                  <a:schemeClr val="accent1">
                    <a:lumMod val="75000"/>
                  </a:schemeClr>
                </a:solidFill>
              </a:rPr>
              <a:t>. To </a:t>
            </a:r>
            <a:r>
              <a:rPr lang="en-US" sz="1600" dirty="0">
                <a:solidFill>
                  <a:schemeClr val="accent1">
                    <a:lumMod val="75000"/>
                  </a:schemeClr>
                </a:solidFill>
              </a:rPr>
              <a:t>remove the ﬁlter, click the remove ﬁlter icon in the upper-right corner of the </a:t>
            </a:r>
            <a:r>
              <a:rPr lang="en-US" sz="1600" dirty="0" smtClean="0">
                <a:solidFill>
                  <a:schemeClr val="accent1">
                    <a:lumMod val="75000"/>
                  </a:schemeClr>
                </a:solidFill>
              </a:rPr>
              <a:t>slicer’s frame.</a:t>
            </a:r>
            <a:r>
              <a:rPr lang="en-US" sz="1600" dirty="0">
                <a:solidFill>
                  <a:schemeClr val="accent1">
                    <a:lumMod val="75000"/>
                  </a:schemeClr>
                </a:solidFill>
              </a:rPr>
              <a:t/>
            </a:r>
            <a:br>
              <a:rPr lang="en-US" sz="1600" dirty="0">
                <a:solidFill>
                  <a:schemeClr val="accent1">
                    <a:lumMod val="75000"/>
                  </a:schemeClr>
                </a:solidFill>
              </a:rPr>
            </a:br>
            <a:r>
              <a:rPr lang="en-US" sz="1600" dirty="0">
                <a:solidFill>
                  <a:schemeClr val="accent1">
                    <a:lumMod val="75000"/>
                  </a:schemeClr>
                </a:solidFill>
              </a:rPr>
              <a:t>When you have a slicer selected, the Slicer Tools, Options tab becomes available on the ribbon</a:t>
            </a:r>
            <a:r>
              <a:rPr lang="en-US" sz="1600" dirty="0" smtClean="0">
                <a:solidFill>
                  <a:schemeClr val="accent1">
                    <a:lumMod val="75000"/>
                  </a:schemeClr>
                </a:solidFill>
              </a:rPr>
              <a:t>.</a:t>
            </a:r>
          </a:p>
          <a:p>
            <a:pPr algn="just" eaLnBrk="0" hangingPunct="0"/>
            <a:r>
              <a:rPr lang="en-US" sz="1600" dirty="0">
                <a:solidFill>
                  <a:schemeClr val="accent1">
                    <a:lumMod val="75000"/>
                  </a:schemeClr>
                </a:solidFill>
              </a:rPr>
              <a:t>You can use the styles available and the size settings to format the slicer</a:t>
            </a:r>
            <a:r>
              <a:rPr lang="en-US" sz="1600" dirty="0" smtClean="0">
                <a:solidFill>
                  <a:schemeClr val="accent1">
                    <a:lumMod val="75000"/>
                  </a:schemeClr>
                </a:solidFill>
              </a:rPr>
              <a:t>. If </a:t>
            </a:r>
            <a:r>
              <a:rPr lang="en-US" sz="1600" dirty="0">
                <a:solidFill>
                  <a:schemeClr val="accent1">
                    <a:lumMod val="75000"/>
                  </a:schemeClr>
                </a:solidFill>
              </a:rPr>
              <a:t>you have multiple pivot tables on a worksheet, you can associate the slicer with those pivot tables.</a:t>
            </a:r>
          </a:p>
          <a:p>
            <a:pPr algn="just" eaLnBrk="0" hangingPunct="0"/>
            <a:r>
              <a:rPr lang="en-US" sz="1600" dirty="0">
                <a:solidFill>
                  <a:schemeClr val="accent1">
                    <a:lumMod val="75000"/>
                  </a:schemeClr>
                </a:solidFill>
              </a:rPr>
              <a:t>This enables you to ﬁlter more than one pivot table using a single slicer</a:t>
            </a:r>
            <a:r>
              <a:rPr lang="en-US" sz="1600" dirty="0" smtClean="0">
                <a:solidFill>
                  <a:schemeClr val="accent1">
                    <a:lumMod val="75000"/>
                  </a:schemeClr>
                </a:solidFill>
              </a:rPr>
              <a:t>. </a:t>
            </a:r>
            <a:endParaRPr lang="en-US" sz="1600" dirty="0">
              <a:solidFill>
                <a:schemeClr val="accent1">
                  <a:lumMod val="75000"/>
                </a:schemeClr>
              </a:solidFill>
            </a:endParaRPr>
          </a:p>
          <a:p>
            <a:pPr algn="just" eaLnBrk="0" hangingPunct="0"/>
            <a:r>
              <a:rPr lang="en-US" sz="1600" dirty="0">
                <a:solidFill>
                  <a:schemeClr val="accent1">
                    <a:lumMod val="75000"/>
                  </a:schemeClr>
                </a:solidFill>
              </a:rPr>
              <a:t>Select the PivotTable Connections command, and the PivotTable Connections dialog box opens</a:t>
            </a:r>
            <a:r>
              <a:rPr lang="en-US" sz="1600" dirty="0" smtClean="0">
                <a:solidFill>
                  <a:schemeClr val="accent1">
                    <a:lumMod val="75000"/>
                  </a:schemeClr>
                </a:solidFill>
              </a:rPr>
              <a:t>. Select </a:t>
            </a:r>
            <a:r>
              <a:rPr lang="en-US" sz="1600" dirty="0">
                <a:solidFill>
                  <a:schemeClr val="accent1">
                    <a:lumMod val="75000"/>
                  </a:schemeClr>
                </a:solidFill>
              </a:rPr>
              <a:t>the pivot tables listed in the dialog box that you want to associate with the slicer</a:t>
            </a:r>
            <a:r>
              <a:rPr lang="en-US" sz="1600" dirty="0" smtClean="0">
                <a:solidFill>
                  <a:schemeClr val="accent1">
                    <a:lumMod val="75000"/>
                  </a:schemeClr>
                </a:solidFill>
              </a:rPr>
              <a:t>. Then click OK.</a:t>
            </a:r>
            <a:endParaRPr lang="en-US" sz="1600" dirty="0">
              <a:solidFill>
                <a:schemeClr val="accent1">
                  <a:lumMod val="75000"/>
                </a:schemeClr>
              </a:solidFill>
            </a:endParaRPr>
          </a:p>
          <a:p>
            <a:pPr algn="just" eaLnBrk="0" hangingPunct="0"/>
            <a:endParaRPr lang="en-US" sz="1600" dirty="0">
              <a:solidFill>
                <a:schemeClr val="accent1">
                  <a:lumMod val="75000"/>
                </a:schemeClr>
              </a:solidFill>
            </a:endParaRPr>
          </a:p>
        </p:txBody>
      </p:sp>
    </p:spTree>
    <p:extLst>
      <p:ext uri="{BB962C8B-B14F-4D97-AF65-F5344CB8AC3E}">
        <p14:creationId xmlns:p14="http://schemas.microsoft.com/office/powerpoint/2010/main" val="429114912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304800" y="304800"/>
            <a:ext cx="8229600" cy="494506"/>
          </a:xfrm>
        </p:spPr>
        <p:txBody>
          <a:bodyPr/>
          <a:lstStyle/>
          <a:p>
            <a:pPr>
              <a:defRPr/>
            </a:pPr>
            <a:r>
              <a:rPr lang="en-US" sz="1800" dirty="0" smtClean="0">
                <a:solidFill>
                  <a:srgbClr val="C00000"/>
                </a:solidFill>
                <a:latin typeface="Comic Sans MS" panose="030F0702030302020204" pitchFamily="66" charset="0"/>
              </a:rPr>
              <a:t>Useful links</a:t>
            </a:r>
            <a:endParaRPr lang="en-US" sz="1800" b="1" u="sng" dirty="0" smtClean="0">
              <a:solidFill>
                <a:srgbClr val="C00000"/>
              </a:solidFill>
              <a:latin typeface="Comic Sans MS" panose="030F0702030302020204" pitchFamily="66" charset="0"/>
            </a:endParaRPr>
          </a:p>
        </p:txBody>
      </p:sp>
      <p:sp>
        <p:nvSpPr>
          <p:cNvPr id="2" name="Rectangle 1"/>
          <p:cNvSpPr/>
          <p:nvPr/>
        </p:nvSpPr>
        <p:spPr>
          <a:xfrm>
            <a:off x="1143000" y="1371600"/>
            <a:ext cx="7010400" cy="4832092"/>
          </a:xfrm>
          <a:prstGeom prst="rect">
            <a:avLst/>
          </a:prstGeom>
        </p:spPr>
        <p:txBody>
          <a:bodyPr wrap="square">
            <a:spAutoFit/>
          </a:bodyPr>
          <a:lstStyle/>
          <a:p>
            <a:endParaRPr lang="en-US" sz="1400" dirty="0">
              <a:solidFill>
                <a:schemeClr val="accent1">
                  <a:lumMod val="75000"/>
                </a:schemeClr>
              </a:solidFill>
              <a:hlinkClick r:id=""/>
            </a:endParaRPr>
          </a:p>
          <a:p>
            <a:pPr algn="ctr"/>
            <a:r>
              <a:rPr lang="en-US" sz="1400" dirty="0">
                <a:solidFill>
                  <a:schemeClr val="accent1">
                    <a:lumMod val="75000"/>
                  </a:schemeClr>
                </a:solidFill>
                <a:hlinkClick r:id="rId2"/>
              </a:rPr>
              <a:t>https://</a:t>
            </a:r>
            <a:r>
              <a:rPr lang="en-US" sz="1400" dirty="0" smtClean="0">
                <a:solidFill>
                  <a:schemeClr val="accent1">
                    <a:lumMod val="75000"/>
                  </a:schemeClr>
                </a:solidFill>
                <a:hlinkClick r:id="rId2"/>
              </a:rPr>
              <a:t>support.office.com/en-us/article/video-sort-data-in-a-range-or-table-ffb9fcb0-b9cb-48bf-a15c-8bec9fd3a472</a:t>
            </a:r>
            <a:endParaRPr lang="en-US" sz="1400" dirty="0" smtClean="0">
              <a:solidFill>
                <a:schemeClr val="accent1">
                  <a:lumMod val="75000"/>
                </a:schemeClr>
              </a:solidFill>
            </a:endParaRPr>
          </a:p>
          <a:p>
            <a:pPr algn="ctr"/>
            <a:endParaRPr lang="en-US" sz="1400" dirty="0">
              <a:solidFill>
                <a:schemeClr val="accent1">
                  <a:lumMod val="75000"/>
                </a:schemeClr>
              </a:solidFill>
            </a:endParaRPr>
          </a:p>
          <a:p>
            <a:pPr algn="ctr"/>
            <a:r>
              <a:rPr lang="pt-BR" sz="1400" dirty="0">
                <a:solidFill>
                  <a:schemeClr val="accent1">
                    <a:lumMod val="75000"/>
                  </a:schemeClr>
                </a:solidFill>
                <a:hlinkClick r:id="rId3"/>
              </a:rPr>
              <a:t>https://</a:t>
            </a:r>
            <a:r>
              <a:rPr lang="pt-BR" sz="1400" dirty="0" smtClean="0">
                <a:solidFill>
                  <a:schemeClr val="accent1">
                    <a:lumMod val="75000"/>
                  </a:schemeClr>
                </a:solidFill>
                <a:hlinkClick r:id="rId3"/>
              </a:rPr>
              <a:t>support.office.com/en-us/article/video-use-conditional-formatting-03ab07da-1564-4913-b69f-2b1a370c8910</a:t>
            </a:r>
            <a:endParaRPr lang="pt-BR" sz="1400" dirty="0" smtClean="0">
              <a:solidFill>
                <a:schemeClr val="accent1">
                  <a:lumMod val="75000"/>
                </a:schemeClr>
              </a:solidFill>
            </a:endParaRPr>
          </a:p>
          <a:p>
            <a:pPr algn="ctr"/>
            <a:endParaRPr lang="pt-BR" sz="1400" dirty="0">
              <a:solidFill>
                <a:schemeClr val="accent1">
                  <a:lumMod val="75000"/>
                </a:schemeClr>
              </a:solidFill>
            </a:endParaRPr>
          </a:p>
          <a:p>
            <a:pPr algn="ctr"/>
            <a:r>
              <a:rPr lang="pt-BR" sz="1400" dirty="0">
                <a:solidFill>
                  <a:schemeClr val="accent1">
                    <a:lumMod val="75000"/>
                  </a:schemeClr>
                </a:solidFill>
                <a:hlinkClick r:id="rId4"/>
              </a:rPr>
              <a:t>https://</a:t>
            </a:r>
            <a:r>
              <a:rPr lang="pt-BR" sz="1400" dirty="0" smtClean="0">
                <a:solidFill>
                  <a:schemeClr val="accent1">
                    <a:lumMod val="75000"/>
                  </a:schemeClr>
                </a:solidFill>
                <a:hlinkClick r:id="rId4"/>
              </a:rPr>
              <a:t>support.office.com/en-us/article/video-vlookup-when-and-how-to-use-it-9a86157a-5542-4148-a536-724823014785</a:t>
            </a:r>
            <a:endParaRPr lang="pt-BR" sz="1400" dirty="0" smtClean="0">
              <a:solidFill>
                <a:schemeClr val="accent1">
                  <a:lumMod val="75000"/>
                </a:schemeClr>
              </a:solidFill>
            </a:endParaRPr>
          </a:p>
          <a:p>
            <a:pPr algn="ctr"/>
            <a:endParaRPr lang="pt-BR" sz="1400" dirty="0">
              <a:solidFill>
                <a:schemeClr val="accent1">
                  <a:lumMod val="75000"/>
                </a:schemeClr>
              </a:solidFill>
            </a:endParaRPr>
          </a:p>
          <a:p>
            <a:pPr algn="ctr"/>
            <a:r>
              <a:rPr lang="pt-BR" sz="1400" dirty="0">
                <a:solidFill>
                  <a:schemeClr val="accent1">
                    <a:lumMod val="75000"/>
                  </a:schemeClr>
                </a:solidFill>
                <a:hlinkClick r:id="rId5"/>
              </a:rPr>
              <a:t>https://</a:t>
            </a:r>
            <a:r>
              <a:rPr lang="pt-BR" sz="1400" dirty="0" smtClean="0">
                <a:solidFill>
                  <a:schemeClr val="accent1">
                    <a:lumMod val="75000"/>
                  </a:schemeClr>
                </a:solidFill>
                <a:hlinkClick r:id="rId5"/>
              </a:rPr>
              <a:t>support.microsoft.com/en-au/office/video-create-a-pivottable-and-analyze-your-data-7810597d-0837-41f7-9699-5911aa282760</a:t>
            </a:r>
          </a:p>
          <a:p>
            <a:pPr algn="ctr"/>
            <a:endParaRPr lang="pt-BR" sz="1400" dirty="0">
              <a:solidFill>
                <a:schemeClr val="accent1">
                  <a:lumMod val="75000"/>
                </a:schemeClr>
              </a:solidFill>
              <a:hlinkClick r:id="rId5"/>
            </a:endParaRPr>
          </a:p>
          <a:p>
            <a:pPr algn="ctr"/>
            <a:r>
              <a:rPr lang="pt-BR" sz="1400" dirty="0">
                <a:solidFill>
                  <a:schemeClr val="accent1">
                    <a:lumMod val="75000"/>
                  </a:schemeClr>
                </a:solidFill>
                <a:hlinkClick r:id="rId5"/>
              </a:rPr>
              <a:t>https://</a:t>
            </a:r>
            <a:r>
              <a:rPr lang="pt-BR" sz="1400" dirty="0" smtClean="0">
                <a:solidFill>
                  <a:schemeClr val="accent1">
                    <a:lumMod val="75000"/>
                  </a:schemeClr>
                </a:solidFill>
                <a:hlinkClick r:id="rId5"/>
              </a:rPr>
              <a:t>support.microsoft.com/en-au/office/video-create-a-pivottable-manually-9b49f876-8abb-4e9a-bb2e-ac4e781df657</a:t>
            </a:r>
          </a:p>
          <a:p>
            <a:pPr algn="ctr"/>
            <a:endParaRPr lang="pt-BR" sz="1400" dirty="0">
              <a:solidFill>
                <a:schemeClr val="accent1">
                  <a:lumMod val="75000"/>
                </a:schemeClr>
              </a:solidFill>
              <a:hlinkClick r:id="rId5"/>
            </a:endParaRPr>
          </a:p>
          <a:p>
            <a:pPr algn="ctr"/>
            <a:r>
              <a:rPr lang="pt-BR" sz="1400" dirty="0" smtClean="0">
                <a:solidFill>
                  <a:schemeClr val="accent1">
                    <a:lumMod val="75000"/>
                  </a:schemeClr>
                </a:solidFill>
                <a:hlinkClick r:id="rId5"/>
              </a:rPr>
              <a:t>https</a:t>
            </a:r>
            <a:r>
              <a:rPr lang="pt-BR" sz="1400" dirty="0">
                <a:solidFill>
                  <a:schemeClr val="accent1">
                    <a:lumMod val="75000"/>
                  </a:schemeClr>
                </a:solidFill>
                <a:hlinkClick r:id="rId5"/>
              </a:rPr>
              <a:t>://</a:t>
            </a:r>
            <a:r>
              <a:rPr lang="pt-BR" sz="1400" dirty="0" smtClean="0">
                <a:solidFill>
                  <a:schemeClr val="accent1">
                    <a:lumMod val="75000"/>
                  </a:schemeClr>
                </a:solidFill>
                <a:hlinkClick r:id="rId5"/>
              </a:rPr>
              <a:t>support.microsoft.com/en-au/office/video-use-slicers-timelines-and-pivotcharts-to-analyze-your-pivottable-data-4db5de3b-735e-4b03-b3b2-f2105d79dcb5</a:t>
            </a:r>
            <a:endParaRPr lang="pt-BR" sz="1400" dirty="0" smtClean="0">
              <a:solidFill>
                <a:schemeClr val="accent1">
                  <a:lumMod val="75000"/>
                </a:schemeClr>
              </a:solidFill>
            </a:endParaRPr>
          </a:p>
          <a:p>
            <a:pPr algn="ctr"/>
            <a:endParaRPr lang="pt-BR" sz="1400" dirty="0" smtClean="0">
              <a:solidFill>
                <a:schemeClr val="accent1">
                  <a:lumMod val="75000"/>
                </a:schemeClr>
              </a:solidFill>
            </a:endParaRPr>
          </a:p>
          <a:p>
            <a:pPr algn="ctr"/>
            <a:endParaRPr lang="pt-BR" sz="1400" dirty="0">
              <a:solidFill>
                <a:schemeClr val="accent1">
                  <a:lumMod val="75000"/>
                </a:schemeClr>
              </a:solidFill>
            </a:endParaRPr>
          </a:p>
          <a:p>
            <a:pPr algn="ctr"/>
            <a:endParaRPr lang="pt-BR" sz="1400" dirty="0" smtClean="0">
              <a:solidFill>
                <a:schemeClr val="accent1">
                  <a:lumMod val="75000"/>
                </a:schemeClr>
              </a:solidFill>
            </a:endParaRPr>
          </a:p>
          <a:p>
            <a:pPr algn="ctr"/>
            <a:r>
              <a:rPr lang="en-US" sz="1400" dirty="0" smtClean="0">
                <a:solidFill>
                  <a:schemeClr val="accent1">
                    <a:lumMod val="75000"/>
                  </a:schemeClr>
                </a:solidFill>
              </a:rPr>
              <a:t>MS Excel </a:t>
            </a:r>
            <a:r>
              <a:rPr lang="en-US" sz="1400" dirty="0">
                <a:solidFill>
                  <a:schemeClr val="accent1">
                    <a:lumMod val="75000"/>
                  </a:schemeClr>
                </a:solidFill>
              </a:rPr>
              <a:t>Tutorial</a:t>
            </a:r>
          </a:p>
        </p:txBody>
      </p:sp>
    </p:spTree>
    <p:extLst>
      <p:ext uri="{BB962C8B-B14F-4D97-AF65-F5344CB8AC3E}">
        <p14:creationId xmlns:p14="http://schemas.microsoft.com/office/powerpoint/2010/main" val="12598206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Rot="1" noChangeArrowheads="1"/>
          </p:cNvSpPr>
          <p:nvPr>
            <p:ph type="body" idx="1"/>
          </p:nvPr>
        </p:nvSpPr>
        <p:spPr>
          <a:xfrm>
            <a:off x="698090" y="3124200"/>
            <a:ext cx="8001000" cy="1143000"/>
          </a:xfrm>
        </p:spPr>
        <p:txBody>
          <a:bodyPr/>
          <a:lstStyle/>
          <a:p>
            <a:pPr marL="0" indent="0" algn="ctr">
              <a:buNone/>
            </a:pPr>
            <a:r>
              <a:rPr lang="en-US" sz="1400" b="1" dirty="0" smtClean="0"/>
              <a:t>Thank </a:t>
            </a:r>
            <a:r>
              <a:rPr lang="en-US" sz="1400" b="1" dirty="0"/>
              <a:t>y</a:t>
            </a:r>
            <a:r>
              <a:rPr lang="en-US" sz="1400" b="1" dirty="0" smtClean="0"/>
              <a:t>ou for your attention!</a:t>
            </a:r>
            <a:endParaRPr lang="en-US" sz="1400" b="1" dirty="0"/>
          </a:p>
        </p:txBody>
      </p:sp>
    </p:spTree>
    <p:extLst>
      <p:ext uri="{BB962C8B-B14F-4D97-AF65-F5344CB8AC3E}">
        <p14:creationId xmlns:p14="http://schemas.microsoft.com/office/powerpoint/2010/main" val="2929430128"/>
      </p:ext>
    </p:extLst>
  </p:cSld>
  <p:clrMapOvr>
    <a:masterClrMapping/>
  </p:clrMapOvr>
  <p:timing>
    <p:tnLst>
      <p:par>
        <p:cTn id="1" dur="indefinite" restart="never" nodeType="tmRoot"/>
      </p:par>
    </p:tnLst>
  </p:timing>
</p:sld>
</file>

<file path=ppt/theme/theme1.xml><?xml version="1.0" encoding="utf-8"?>
<a:theme xmlns:a="http://schemas.openxmlformats.org/drawingml/2006/main" name="Presentation slides">
  <a:themeElements>
    <a:clrScheme name="Deloitte 2008">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8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FF">
            <a:lumMod val="95000"/>
          </a:srgbClr>
        </a:solidFill>
        <a:ln>
          <a:solidFill>
            <a:srgbClr val="FFFFFF">
              <a:lumMod val="75000"/>
            </a:srgbClr>
          </a:solidFill>
        </a:ln>
      </a:spPr>
      <a:bodyPr wrap="square" lIns="91428" tIns="45715" rIns="91428" bIns="45715" rtlCol="0">
        <a:noAutofit/>
      </a:bodyPr>
      <a:lstStyle>
        <a:defPPr marL="182553" indent="-182553" algn="just" defTabSz="623853" rtl="0" fontAlgn="base">
          <a:lnSpc>
            <a:spcPts val="1100"/>
          </a:lnSpc>
          <a:spcBef>
            <a:spcPct val="0"/>
          </a:spcBef>
          <a:spcAft>
            <a:spcPct val="0"/>
          </a:spcAft>
          <a:buClr>
            <a:srgbClr val="000000"/>
          </a:buClr>
          <a:buFont typeface="Wingdings 3" pitchFamily="18" charset="2"/>
          <a:buChar char="}"/>
          <a:defRPr sz="1200" kern="1200" dirty="0">
            <a:solidFill>
              <a:srgbClr val="0C2870"/>
            </a:solidFill>
            <a:latin typeface="Arial" charset="0"/>
            <a:ea typeface="+mn-ea"/>
            <a:cs typeface="Times New Roman" pitchFamily="18" charset="0"/>
          </a:defRPr>
        </a:defPPr>
      </a:lstStyle>
    </a:spDef>
  </a:objectDefaults>
  <a:extraClrSchemeLst>
    <a:extraClrScheme>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27526</TotalTime>
  <Words>3018</Words>
  <Application>Microsoft Office PowerPoint</Application>
  <PresentationFormat>On-screen Show (4:3)</PresentationFormat>
  <Paragraphs>153</Paragraphs>
  <Slides>37</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Comic Sans MS</vt:lpstr>
      <vt:lpstr>Times New Roman</vt:lpstr>
      <vt:lpstr>Wingdings 3</vt:lpstr>
      <vt:lpstr>Presentation slides</vt:lpstr>
      <vt:lpstr>PowerPoint Presentation</vt:lpstr>
      <vt:lpstr>PowerPoint Presentation</vt:lpstr>
      <vt:lpstr>Understanding Excel charts</vt:lpstr>
      <vt:lpstr>A line chart example</vt:lpstr>
      <vt:lpstr>A column chart with multiple data series example</vt:lpstr>
      <vt:lpstr>A combination chart graphs data series example</vt:lpstr>
      <vt:lpstr>Column chart/bar chart</vt:lpstr>
      <vt:lpstr>Pie chart</vt:lpstr>
      <vt:lpstr>Area chart</vt:lpstr>
      <vt:lpstr>X Y (scatter) chart</vt:lpstr>
      <vt:lpstr>Stock chart</vt:lpstr>
      <vt:lpstr>Training</vt:lpstr>
      <vt:lpstr>Inserting a chart from the ribbon</vt:lpstr>
      <vt:lpstr>Selecting a recommended chart</vt:lpstr>
      <vt:lpstr>Inserting charts with the Quick Analysis gallery</vt:lpstr>
      <vt:lpstr>Tools for quickly customizing a chart</vt:lpstr>
      <vt:lpstr>Changing chart type or chart data</vt:lpstr>
      <vt:lpstr>Selecting chart layouts and styles</vt:lpstr>
      <vt:lpstr>Selecting chart layouts and styles (cont.)</vt:lpstr>
      <vt:lpstr>Working with chart elements</vt:lpstr>
      <vt:lpstr>Working with chart elements (cont.)</vt:lpstr>
      <vt:lpstr>Working with the legend and data points</vt:lpstr>
      <vt:lpstr>Adding error bars and up/down bars to a chart</vt:lpstr>
      <vt:lpstr>Creating a combination chart</vt:lpstr>
      <vt:lpstr>Creating a combination chart</vt:lpstr>
      <vt:lpstr>Creating sparklines</vt:lpstr>
      <vt:lpstr>Creating sparklines (cont.)</vt:lpstr>
      <vt:lpstr>Training</vt:lpstr>
      <vt:lpstr>Using the Recommended PivotTables command</vt:lpstr>
      <vt:lpstr>Creating a pivot table</vt:lpstr>
      <vt:lpstr>Creating a pivot table (cont.)</vt:lpstr>
      <vt:lpstr>Creating a pivot table (cont.)</vt:lpstr>
      <vt:lpstr>The Analyze tab</vt:lpstr>
      <vt:lpstr>The Design tab</vt:lpstr>
      <vt:lpstr>Using slicers</vt:lpstr>
      <vt:lpstr>Useful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Aurelien</dc:creator>
  <cp:lastModifiedBy>MS</cp:lastModifiedBy>
  <cp:revision>3478</cp:revision>
  <dcterms:created xsi:type="dcterms:W3CDTF">2013-11-13T03:56:02Z</dcterms:created>
  <dcterms:modified xsi:type="dcterms:W3CDTF">2023-11-23T21:29:41Z</dcterms:modified>
</cp:coreProperties>
</file>